
<file path=[Content_Types].xml><?xml version="1.0" encoding="utf-8"?>
<Types xmlns="http://schemas.openxmlformats.org/package/2006/content-types">
  <Default Extension="xml" ContentType="application/xml"/>
  <Default Extension="fntdata" ContentType="application/x-fontdata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Montserrat"/>
      <p:regular r:id="rIdFont1"/>
      <p:bold r:id="rIdFont2"/>
    </p:embeddedFont>
    <p:embeddedFont>
      <p:font typeface="Roboto"/>
      <p:regular r:id="rIdFont3"/>
      <p:bold r:id="rIdFont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9298B0"/>
                </a:solidFill>
                <a:latin typeface="Roboto"/>
              </a:defRPr>
            </a:pPr>
            <a:r>
              <a:rPr sz="1100" b="0" i="0" u="none" strike="noStrike">
                <a:solidFill>
                  <a:srgbClr val="9298B0"/>
                </a:solidFill>
                <a:latin typeface="Roboto"/>
              </a:rPr>
              <a:t>Evidence weights, published and renormalised per project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E8B84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0F0F0"/>
                    </a:solidFill>
                    <a:latin typeface="Robo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Geochemical anomaly</c:v>
                  </c:pt>
                  <c:pt idx="1">
                    <c:v>Structure proximity</c:v>
                  </c:pt>
                  <c:pt idx="2">
                    <c:v>Magnetic amplitude (inv.)</c:v>
                  </c:pt>
                  <c:pt idx="3">
                    <c:v>Lithology</c:v>
                  </c:pt>
                  <c:pt idx="4">
                    <c:v>Deposit proximity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0F0F0"/>
                  </a:solidFill>
                  <a:latin typeface="Robot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B1F3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298B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B1F3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70D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6070D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rra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D">
              <a:alpha val="8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MINERAL INTELLIGENCE &amp; EXPLORATION PLATFORM</a:t>
            </a:r>
            <a:endParaRPr lang="en-US" sz="1200" dirty="0"/>
          </a:p>
        </p:txBody>
      </p:sp>
      <p:pic>
        <p:nvPicPr>
          <p:cNvPr id="5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4023360" cy="13011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32461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layer of evidence, one ranked list of targets, and the paper trail to defend it.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 features · seven groups · five platform systems · twelve integrated data sources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Africa · Ghana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0" y="6172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BRIEFING ·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failures, all expensive, none solved by another GIS licence.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64992" cy="37033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3976" y="2331720"/>
            <a:ext cx="822960" cy="82296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25328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38328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 doesn't meet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3856" y="4114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Magnetics, soil geochemistry, assay PDFs and imagery: getting them onto one comparable grid is senior GIS work measured in weeks.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98848" y="1965960"/>
            <a:ext cx="3364992" cy="37033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9864" y="2331720"/>
            <a:ext cx="822960" cy="82296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1" name="Image 1" descr="icons/alertTriang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328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38328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reasoning doesn't survive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9744" y="4114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target is a judgement made reading several screens at once. When the geologist leaves, only the conclusion remains.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1965960"/>
            <a:ext cx="3364992" cy="37033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45752" y="2331720"/>
            <a:ext cx="822960" cy="82296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6" name="Image 2" descr="icons/refreshC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328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338328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 doesn't re-run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85632" y="4114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assays land and the integration starts again: a one-off deliverable, not something you re-run on fresh data.</a:t>
            </a:r>
            <a:endParaRPr lang="en-US" sz="1250" dirty="0"/>
          </a:p>
        </p:txBody>
      </p:sp>
      <p:pic>
        <p:nvPicPr>
          <p:cNvPr id="19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TERRAPULSE · MINERAL INTELLIGENCE &amp; EXPLORATION PLATFORM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TERRAPULSE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claims. Everything else is in service of these.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64992" cy="37033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3976" y="2331720"/>
            <a:ext cx="822960" cy="82296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uploadClou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25328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38328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Assembly is automatic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3856" y="4114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what you hold; the platform fetches the rest: imagery, terrain, magnetics, lithology and deposits, to your licence boundary.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98848" y="1965960"/>
            <a:ext cx="3364992" cy="37033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9864" y="2331720"/>
            <a:ext cx="822960" cy="82296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1" name="Image 1" descr="icons/targe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328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38328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ranking explains itself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9744" y="4114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target carries per-target evidence attribution: which layers pushed the score up, and by how much.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1965960"/>
            <a:ext cx="3364992" cy="37033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45752" y="2331720"/>
            <a:ext cx="822960" cy="82296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6" name="Image 2" descr="icons/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328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338328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output is defensible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85632" y="4114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Source, checksum, processing steps and parameters recorded on every layer, built for the moment someone asks you to show your working.</a:t>
            </a:r>
            <a:endParaRPr lang="en-US" sz="1250" dirty="0"/>
          </a:p>
        </p:txBody>
      </p:sp>
      <p:pic>
        <p:nvPicPr>
          <p:cNvPr id="19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TERRAPULSE · MINERAL INTELLIGENCE &amp; EXPLORATION PLATFORM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works, end to end.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pipeline, five stages. Each stage writes provenance, so the last can always answer for the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50112" y="231343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0112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3788" y="240030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8" name="Image 0" descr="icons/lay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104" y="264261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0868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6588" y="3977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survey data, validated and checksummed</a:t>
            </a:r>
            <a:endParaRPr lang="en-US" sz="1100" dirty="0"/>
          </a:p>
        </p:txBody>
      </p:sp>
      <p:pic>
        <p:nvPicPr>
          <p:cNvPr id="11" name="Image 1" descr="icons/arrow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116" y="2715768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36112" y="231343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36112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29788" y="240030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5" name="Image 2" descr="icons/glob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104" y="264261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26868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872588" y="3977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sources fetched to your boundary</a:t>
            </a:r>
            <a:endParaRPr lang="en-US" sz="1100" dirty="0"/>
          </a:p>
        </p:txBody>
      </p:sp>
      <p:pic>
        <p:nvPicPr>
          <p:cNvPr id="18" name="Image 3" descr="icons/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116" y="2715768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922112" y="231343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922112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615788" y="240030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2" name="Image 4" descr="icons/gri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104" y="264261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12868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Normalise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158588" y="3977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on one comparable 50m grid</a:t>
            </a:r>
            <a:endParaRPr lang="en-US" sz="1100" dirty="0"/>
          </a:p>
        </p:txBody>
      </p:sp>
      <p:pic>
        <p:nvPicPr>
          <p:cNvPr id="25" name="Image 5" descr="icons/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116" y="2715768"/>
            <a:ext cx="292608" cy="29260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208112" y="231343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8208112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7901788" y="240030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9" name="Image 6" descr="icons/barChar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104" y="2642616"/>
            <a:ext cx="475488" cy="4754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398868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&amp; Rank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444588" y="3977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Weighted model scores every cell 0 to 100</a:t>
            </a:r>
            <a:endParaRPr lang="en-US" sz="1100" dirty="0"/>
          </a:p>
        </p:txBody>
      </p:sp>
      <p:pic>
        <p:nvPicPr>
          <p:cNvPr id="32" name="Image 7" descr="icons/arrowRight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3116" y="2715768"/>
            <a:ext cx="292608" cy="29260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10494112" y="231343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10494112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10187788" y="240030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36" name="Image 8" descr="icons/fileText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0104" y="2642616"/>
            <a:ext cx="475488" cy="47548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684868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&amp; Export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730588" y="3977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targets, lineage, reports</a:t>
            </a:r>
            <a:endParaRPr lang="en-US" sz="1100" dirty="0"/>
          </a:p>
        </p:txBody>
      </p:sp>
      <p:pic>
        <p:nvPicPr>
          <p:cNvPr id="39" name="Image 9" descr="lo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TERRAPULSE · MINERAL INTELLIGENCE &amp; EXPLORATION PLATFORM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SCIENTIFIC BASIS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published weights, not a black box.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7452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icons/check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93392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35240" y="19659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Weights are published, not hidden, so a geologist can disagree with a specific number.</a:t>
            </a:r>
            <a:endParaRPr lang="en-US" sz="1300" dirty="0"/>
          </a:p>
        </p:txBody>
      </p:sp>
      <p:pic>
        <p:nvPicPr>
          <p:cNvPr id="7" name="Image 1" descr="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319272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35240" y="3291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XGBoost surrogate plus SHAP explains every cell, decomposing a stated expert prior, not discovering geology.</a:t>
            </a:r>
            <a:endParaRPr lang="en-US" sz="1300" dirty="0"/>
          </a:p>
        </p:txBody>
      </p:sp>
      <p:pic>
        <p:nvPicPr>
          <p:cNvPr id="9" name="Image 2" descr="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4645152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35240" y="46177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data scores unfavourable, not neutral. Protected areas veto rather than get down-weighted.</a:t>
            </a:r>
            <a:endParaRPr lang="en-US" sz="1300" dirty="0"/>
          </a:p>
        </p:txBody>
      </p:sp>
      <p:pic>
        <p:nvPicPr>
          <p:cNvPr id="11" name="Image 3" descr="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TERRAPULSE · MINERAL INTELLIGENCE &amp; EXPLORATION PLATFORM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at a glance.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249424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ma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4323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93392" y="19476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Multi-layer 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93392" y="231343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basemaps; every processed layer as a toggleable overlay.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08576" y="169164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01184" y="2249424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1" name="Image 1" descr="icons/crosshai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43230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79008" y="19476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Ranked targets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779008" y="231343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Clustered, scored 0 to 100, each with a depth-to-source estimate.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94192" y="169164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0" y="2249424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6" name="Image 2" descr="icons/message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43230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64624" y="19476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Exploration Copilot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564624" y="231343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Grounded Q&amp;A that can only cite your project's real data.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379476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15568" y="4352544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1" name="Image 3" descr="icons/fileTex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5354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93392" y="405079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 &amp; export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993392" y="441655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report types, five personas, PDF / CSV / KML / shapefile.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08576" y="379476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901184" y="4352544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6" name="Image 4" descr="icons/databas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453542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79008" y="405079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779008" y="441655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Geophysics, geochemistry and assay PDFs, validated and checksummed.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94192" y="379476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86800" y="4352544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31" name="Image 5" descr="icons/wifiOff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453542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64624" y="405079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field mode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564624" y="441655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Targets, notes and map tiles stay usable without a connection.</a:t>
            </a:r>
            <a:endParaRPr lang="en-US" sz="1150" dirty="0"/>
          </a:p>
        </p:txBody>
      </p:sp>
      <p:pic>
        <p:nvPicPr>
          <p:cNvPr id="34" name="Image 6" descr="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TERRAPULSE · MINERAL INTELLIGENCE &amp; EXPLORATION PLATFORM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trusted, licensed data.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Twelve integrated sources, fetched to your boundary: public data for context, your own survey data as primary evidence.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2516" y="2368296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7" name="Image 0" descr="icons/glob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250545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Sentinel-2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Alteration &amp; vegetation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30168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9724" y="2368296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2" name="Image 1" descr="icons/glob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5054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Copernicus DEM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67328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Terrain &amp; access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37376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56932" y="2368296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7" name="Image 2" descr="icons/glob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092" y="250545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4536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NOAA EMAG2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574536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magnetics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244584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264140" y="2368296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2" name="Image 3" descr="icons/glob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25054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81744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Macrostrat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381744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Lithology favourability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22960" y="3950208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842516" y="4169664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7" name="Image 4" descr="icons/glob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676" y="430682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4818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OneGeology / BRGM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60120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Interpretation backdrop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630168" y="3950208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49724" y="4169664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32" name="Image 5" descr="icons/glob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884" y="4306824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67328" y="4818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USGS MRDS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767328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Known deposits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437376" y="3950208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456932" y="4169664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37" name="Image 6" descr="icons/glob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092" y="4306824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74536" y="4818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WDPA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574536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Protected-area exclusion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244584" y="3950208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10264140" y="4169664"/>
            <a:ext cx="566928" cy="566928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42" name="Image 7" descr="icons/globe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300" y="4306824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81744" y="4818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OpenStreetMap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381744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Roads &amp; logistics</a:t>
            </a:r>
            <a:endParaRPr lang="en-US" sz="1000" dirty="0"/>
          </a:p>
        </p:txBody>
      </p:sp>
      <p:pic>
        <p:nvPicPr>
          <p:cNvPr id="45" name="Image 8" descr="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TERRAPULSE · MINERAL INTELLIGENCE &amp; EXPLORATION PLATFORM</a:t>
            </a:r>
            <a:endParaRPr lang="en-US" sz="800" dirty="0"/>
          </a:p>
        </p:txBody>
      </p:sp>
      <p:sp>
        <p:nvSpPr>
          <p:cNvPr id="47" name="Text 36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rra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D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10048" y="1645920"/>
            <a:ext cx="1371600" cy="1371600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5" name="Image 1" descr="icons/play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384" y="2048256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33375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97280" y="365760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 licence boundary to ranked, defensible drill targets.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097280" y="45262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98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walk through it.</a:t>
            </a:r>
            <a:endParaRPr lang="en-US" sz="1600" dirty="0"/>
          </a:p>
        </p:txBody>
      </p:sp>
      <p:pic>
        <p:nvPicPr>
          <p:cNvPr id="9" name="Image 2" descr="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8" y="5989320"/>
            <a:ext cx="2011680" cy="6505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2026-08-12T20:08:01Z</dcterms:created>
  <dcterms:modified xsi:type="dcterms:W3CDTF">2026-08-12T20:08:01Z</dcterms:modified>
</cp:coreProperties>
</file>