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are in this room because the data you have to work with never meets on the same grid, the judgement that picks a target walks out the door with the geologist who made it, and the analysis you commissioned for one season never re-runs when fresh assays land. TerraPulse replaces those three things — weeks of GIS assembly, reasoning that doesn't survive, and one-off deliverables — with a platform that produces ranked drill targets, each one carrying the evidence that produced it and the lineage you need to defend it. Every slide that follows will state the problem before the point and the impact for each. By the end you will see the full pipeline, the seven feature groups behind it, and a defensible paper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failures, and you have lived through every one. First, the data doesn't meet — magnetics in one format, soil geochem in another, assay certificates as PDFs. By the time your GIS team gets them on the same grid, the season has moved on and the rig is paid for but idle. Second, the reasoning doesn't survive — a target is a judgement an experienced geologist makes staring at several screens, and when they leave or the board asks why, only the conclusion is left. Third, the work doesn't re-run — last year's analysis was a one-off deliverable, not something you can press a button on when fresh assays arrive. The next three slides pick each of these up, one at a time, and answer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long does it take your GIS team to put magnetics, soil, assays and one satellite scene on the same grid? In West Africa, with orogenic gold, the answer is usually measured in weeks — and that is before anyone has looked at the data. TerraPulse inverts that. You upload what you already hold — your magnetics, your soil geochem, your assay certificates — and the platform auto-fetches the rest to your licence boundary: Sentinel-2 for iron-oxide and clay alteration, Copernicus DEM for slope and drainage, NOAA EMAG2 for regional magnetics, Macrostrat and OneGeology for lithology, USGS MRDS for known deposits, WDPA to keep you out of protected areas, OpenStreetMap for access. Twelve sources, all commercial-use licensed. What took a six-week consultancy is now a boundary polygon and a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all know the geologist who leaves and takes the reasoning with them. A target was a coloured pixel on a map they loved, and when they walked out the door the why walked with them. TerraPulse kills that pattern. A target here is not a coloured pixel — it is a row of evidence with a number per layer. Look at T-07: twenty-eight points for the gold geochemistry anomaly, twenty-one for the magnetic low, sixteen for iron-oxide alteration, twelve for the structural intersection, down to three points for road distance, with a depth-to-source estimate of a hundred and forty-two metres. You can argue with twenty-eight points for gold geochemistry. You cannot argue with a shade of orange.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disclosure context, a target without provenance is an opinion. The lineage stack on the right is what we attach to every layer we ship — ingest, reproject, krige, reduce-to-pole, register — and each step carries its own metadata: the SHA checksum of the source file, the EPSG projection code, the variogram range, the IGRF model used, the layer version. When a target like T-07 is exported, the QP note travels with it: who reviewed it, on what date, against what senior competent person number. That note is preserved through PDF, CSV, KML and shapefile exports, so the audit trail survives the format change. We are deliberately making the boring middle visible — the part the last consultant lost between the PDF and the shapefile. When the regulator or the board asks, you press export — you don't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assays should not be a project. TerraPulse is one pipeline with five stages — ingest, augment, normalise, score and rank, explain and export. Stage one takes your survey data — geophysics, geochem, assay PDFs — validated and checksummed. Stage two augments with public sources fetched to your licence boundary: Sentinel-2 alteration, terrain, regional magnetics, geology, deposits, roads, reserves. Stage three normalises everything onto one comparable 50m grid with kriging, percentile classes, RTP and depth estimation. Stage four scores with an expert-weighted deposit model — zero to one hundred per cell, then clustered into distinct targets with evidence contribution per target. Stage five exports to the audience: PDF, CSV, KML, shapefile, with full lineage. The critical design choice is that each stage writes provenance, so stage five can always answer for stage one. The deliverable that doesn't die with the project folder — point at fresh data, press a button, the integration runs again and the new run writes its own provenance.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groups are the boring half of the product — and the half that decides whether the rest is trustworthy. Group one is multi-tenancy from the database up: every row is tenant-prefixed, every storage bucket is tenant-prefixed, and a bug in a query still cannot cross tenants because row-level security is enforced in the database, not in application code. Group two is data in, processed properly — the 500-megabyte drag-drop is content-validated, not extension-validated, so renaming a TIFF to a CSV will not pass; the processing pipeline runs parse, reproject, krige, RTP, depth, cloud-optimised GeoTIFF and register, all in one job, with stage-by-stage progress reported in plain English. Group three is the map — the multi-layer viewer carries five basemaps, the licence boundary is always drawn, and click-to-inspect returns both WGS84 and the local UTM coordinates. Small things a senior geologist notices.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pays for everything else. Group four is ranked drill targets — the core. We assemble an evidence grid of mag, alteration, geochem, lithology, slope, roads, deposits and protected areas, then run an orogenic-gold deposit model over it with published weights — magnetic low, structural intersection, iron oxide, clay alteration, gold geochemistry, deposit proximity. Each cell gets a score from zero to one hundred, cells are clustered into distinct targets, and each target carries rank, score, coordinates in both WGS84 and the local UTM, depth-to-source, and a full provenance panel listing datasets, checksums, processing steps, contribution per layer, and model version. Look at T-07 on the right — eighty-four out of one hundred, rank one of six, gold-geochemistry plus twenty-eight, magnetic low plus twenty-one, iron-oxide plus sixteen, structural intersection plus twelve. You are not arguing with the consultant. You are arguing with a published weight — and you can change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junior geologist asks: why is T-07 ranked first? The Copilot answers — and cites which layer contributed which points. Grounded Q&amp;A is the entry point; nothing comes back without a citation attached. From there the team moves to charts from live data: ask for a bar chart of geochemistry across the target cluster, and the figure is resolved server-side, never written by the model itself. Verified deposit names is the third guardrail — the assistant only ever uses names that match the known-deposits register; anything unverified is stripped on the way out. The fourteen tiles you see here are the entire surface area of the assistant. There is no hidden path. It cannot hallucinate a grade — it does not have the authority to write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many of you have filed a report and then had the map disagree with it two weeks later? Group 6 fixes the document side: five report types — Technical Exploration, Executive Summary, Drill Program, Data QA, Comprehensive — across five personas, from the exploration geologist through the QP to the investor. Versioning means draft, review and final are kept, not overwritten; human edits are recorded; export covers PDF, shapefile, KML and CSV; the QP and investor voices strip unsupported claims before they reach the page. Group 7 takes the same data to the field. Offline map tiles cache the current view and surrounding zoom levels on load. The QP note written in the truck queues on the device and syncs the moment connectivity returns. Connectivity state is explicit — actions that need a network are disabled and explained. The PDF and the screen are the same database — they cannot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Automation is easy to claim — what is the platform refusing to do? Walk through the four deliberate constraints. One: the model cannot write a number; every figure is resolved from the database server-side. Two: ranking is withheld where the model does not apply — gold-only today, every other commodity gets full data but no targets. That second constraint is the one that protects a senior geologist from being handed numbers derived from the wrong deposit model. Three: deposit names are verified before they are shown, stripped if there is no match. Four: nothing is a black box — weights published, contributions per-target, parameters recorded, files checksummed. Underneath sit twelve licensed sources fetched to your boundary. And the commercial shape is sized for exactly this: the Pilot plan — ten seats, fifteen projects, one hundred and fifty runs, sixty reports, near-Pro capability — exists for a real Gold Fields evaluation, not a trial.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going to close on the gaps because that is how I would want to be closed to. Limit one: ranking is gold-only. Copper, lithium, nickel — every other commodity gets the full data, every map, every geochemical treatment, but no ranked targets. The weights and lithology favourability are tuned for orogenic gold. Returning numbers from the wrong deposit model would be worse than returning none. That is protection, not a missing feature — per-commodity profiles are specified, and we will offer you a date. Limit two: a licence boundary is required. Without one, imagery, terrain, magnetics and analysis all refuse rather than extrapolate past your ground. Limit three: smaller gaps — social sign-in, self-service password, branding accent — visible in the interface, not yet functional, next release window. Pilot plan, ten seats, fifteen projects, near-Pro capability. Sized for a real evaluation. Ready when you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6"/>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0E1116"/>
          </a:solidFill>
          <a:ln/>
        </p:spPr>
        <p:txBody>
          <a:bodyPr wrap="square" rtlCol="0" anchor="ctr"/>
          <a:lstStyle/>
          <a:p>
            <a:pPr indent="0" marL="0">
              <a:buNone/>
            </a:pPr>
            <a:endParaRPr lang="en-US" dirty="0"/>
          </a:p>
        </p:txBody>
      </p:sp>
      <p:pic>
        <p:nvPicPr>
          <p:cNvPr id="3" name="Image 0" descr="/tmp/h2p-fit-1786580041082-unxmj6.png">    </p:cNvPr>
          <p:cNvPicPr>
            <a:picLocks noChangeAspect="1"/>
          </p:cNvPicPr>
          <p:nvPr/>
        </p:nvPicPr>
        <p:blipFill>
          <a:blip r:embed="rId1"/>
          <a:stretch>
            <a:fillRect/>
          </a:stretch>
        </p:blipFill>
        <p:spPr>
          <a:xfrm>
            <a:off x="0" y="0"/>
            <a:ext cx="9144000" cy="5143500"/>
          </a:xfrm>
          <a:prstGeom prst="rect">
            <a:avLst/>
          </a:prstGeom>
        </p:spPr>
      </p:pic>
      <p:pic>
        <p:nvPicPr>
          <p:cNvPr id="4"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5" name="Shape 1"/>
          <p:cNvSpPr/>
          <p:nvPr/>
        </p:nvSpPr>
        <p:spPr>
          <a:xfrm>
            <a:off x="200025" y="203597"/>
            <a:ext cx="128588" cy="0"/>
          </a:xfrm>
          <a:prstGeom prst="line">
            <a:avLst/>
          </a:prstGeom>
          <a:noFill/>
          <a:ln w="7144">
            <a:solidFill>
              <a:srgbClr val="D4A437"/>
            </a:solidFill>
            <a:prstDash val="solid"/>
          </a:ln>
        </p:spPr>
      </p:sp>
      <p:sp>
        <p:nvSpPr>
          <p:cNvPr id="6" name="Shape 2"/>
          <p:cNvSpPr/>
          <p:nvPr/>
        </p:nvSpPr>
        <p:spPr>
          <a:xfrm>
            <a:off x="203597" y="200025"/>
            <a:ext cx="0" cy="128588"/>
          </a:xfrm>
          <a:prstGeom prst="line">
            <a:avLst/>
          </a:prstGeom>
          <a:noFill/>
          <a:ln w="7144">
            <a:solidFill>
              <a:srgbClr val="D4A437"/>
            </a:solidFill>
            <a:prstDash val="solid"/>
          </a:ln>
        </p:spPr>
      </p:sp>
      <p:sp>
        <p:nvSpPr>
          <p:cNvPr id="7" name="Shape 3"/>
          <p:cNvSpPr/>
          <p:nvPr/>
        </p:nvSpPr>
        <p:spPr>
          <a:xfrm>
            <a:off x="8815388" y="203597"/>
            <a:ext cx="128588" cy="0"/>
          </a:xfrm>
          <a:prstGeom prst="line">
            <a:avLst/>
          </a:prstGeom>
          <a:noFill/>
          <a:ln w="7144">
            <a:solidFill>
              <a:srgbClr val="D4A437"/>
            </a:solidFill>
            <a:prstDash val="solid"/>
          </a:ln>
        </p:spPr>
      </p:sp>
      <p:sp>
        <p:nvSpPr>
          <p:cNvPr id="8" name="Shape 4"/>
          <p:cNvSpPr/>
          <p:nvPr/>
        </p:nvSpPr>
        <p:spPr>
          <a:xfrm>
            <a:off x="8940403" y="200025"/>
            <a:ext cx="0" cy="128588"/>
          </a:xfrm>
          <a:prstGeom prst="line">
            <a:avLst/>
          </a:prstGeom>
          <a:noFill/>
          <a:ln w="7144">
            <a:solidFill>
              <a:srgbClr val="D4A437"/>
            </a:solidFill>
            <a:prstDash val="solid"/>
          </a:ln>
        </p:spPr>
      </p:sp>
      <p:sp>
        <p:nvSpPr>
          <p:cNvPr id="9" name="Shape 5"/>
          <p:cNvSpPr/>
          <p:nvPr/>
        </p:nvSpPr>
        <p:spPr>
          <a:xfrm>
            <a:off x="200025" y="4939903"/>
            <a:ext cx="128588" cy="0"/>
          </a:xfrm>
          <a:prstGeom prst="line">
            <a:avLst/>
          </a:prstGeom>
          <a:noFill/>
          <a:ln w="7144">
            <a:solidFill>
              <a:srgbClr val="D4A437"/>
            </a:solidFill>
            <a:prstDash val="solid"/>
          </a:ln>
        </p:spPr>
      </p:sp>
      <p:sp>
        <p:nvSpPr>
          <p:cNvPr id="10" name="Shape 6"/>
          <p:cNvSpPr/>
          <p:nvPr/>
        </p:nvSpPr>
        <p:spPr>
          <a:xfrm>
            <a:off x="203597" y="4814888"/>
            <a:ext cx="0" cy="128588"/>
          </a:xfrm>
          <a:prstGeom prst="line">
            <a:avLst/>
          </a:prstGeom>
          <a:noFill/>
          <a:ln w="7144">
            <a:solidFill>
              <a:srgbClr val="D4A437"/>
            </a:solidFill>
            <a:prstDash val="solid"/>
          </a:ln>
        </p:spPr>
      </p:sp>
      <p:sp>
        <p:nvSpPr>
          <p:cNvPr id="11" name="Shape 7"/>
          <p:cNvSpPr/>
          <p:nvPr/>
        </p:nvSpPr>
        <p:spPr>
          <a:xfrm>
            <a:off x="8940403" y="4814888"/>
            <a:ext cx="0" cy="128588"/>
          </a:xfrm>
          <a:prstGeom prst="line">
            <a:avLst/>
          </a:prstGeom>
          <a:noFill/>
          <a:ln w="7144">
            <a:solidFill>
              <a:srgbClr val="D4A437"/>
            </a:solidFill>
            <a:prstDash val="solid"/>
          </a:ln>
        </p:spPr>
      </p:sp>
      <p:sp>
        <p:nvSpPr>
          <p:cNvPr id="12" name="Shape 8"/>
          <p:cNvSpPr/>
          <p:nvPr/>
        </p:nvSpPr>
        <p:spPr>
          <a:xfrm>
            <a:off x="8815388" y="4939903"/>
            <a:ext cx="128588" cy="0"/>
          </a:xfrm>
          <a:prstGeom prst="line">
            <a:avLst/>
          </a:prstGeom>
          <a:noFill/>
          <a:ln w="7144">
            <a:solidFill>
              <a:srgbClr val="D4A437"/>
            </a:solidFill>
            <a:prstDash val="solid"/>
          </a:ln>
        </p:spPr>
      </p:sp>
      <p:sp>
        <p:nvSpPr>
          <p:cNvPr id="13" name="Text 9"/>
          <p:cNvSpPr/>
          <p:nvPr/>
        </p:nvSpPr>
        <p:spPr>
          <a:xfrm>
            <a:off x="514350" y="400050"/>
            <a:ext cx="6854651" cy="164592"/>
          </a:xfrm>
          <a:prstGeom prst="rect">
            <a:avLst/>
          </a:prstGeom>
          <a:noFill/>
          <a:ln/>
        </p:spPr>
        <p:txBody>
          <a:bodyPr wrap="none" lIns="0" tIns="0" rIns="0" bIns="0" rtlCol="0" anchor="t"/>
          <a:lstStyle/>
          <a:p>
            <a:pPr algn="l" indent="0" marL="0">
              <a:lnSpc>
                <a:spcPts val="928"/>
              </a:lnSpc>
              <a:buNone/>
            </a:pPr>
            <a:r>
              <a:rPr lang="en-US" sz="800" b="1" spc="136" kern="0" dirty="0">
                <a:solidFill>
                  <a:srgbClr val="D4A437"/>
                </a:solidFill>
                <a:latin typeface="Carlito" pitchFamily="34" charset="0"/>
                <a:ea typeface="Carlito" pitchFamily="34" charset="-122"/>
                <a:cs typeface="Carlito" pitchFamily="34" charset="-120"/>
              </a:rPr>
              <a:t>TERRAPULSE · EXPLORATION INTELLIGENCE PLATFORM</a:t>
            </a:r>
            <a:endParaRPr lang="en-US" sz="800" dirty="0"/>
          </a:p>
        </p:txBody>
      </p:sp>
      <p:sp>
        <p:nvSpPr>
          <p:cNvPr id="14" name="Text 10"/>
          <p:cNvSpPr/>
          <p:nvPr/>
        </p:nvSpPr>
        <p:spPr>
          <a:xfrm>
            <a:off x="7033957" y="400050"/>
            <a:ext cx="1595693" cy="164592"/>
          </a:xfrm>
          <a:prstGeom prst="rect">
            <a:avLst/>
          </a:prstGeom>
          <a:noFill/>
          <a:ln/>
        </p:spPr>
        <p:txBody>
          <a:bodyPr wrap="none" lIns="0" tIns="0" rIns="0" bIns="0" rtlCol="0" anchor="t"/>
          <a:lstStyle/>
          <a:p>
            <a:pPr algn="r" indent="0" marL="0">
              <a:lnSpc>
                <a:spcPts val="928"/>
              </a:lnSpc>
              <a:buNone/>
            </a:pPr>
            <a:r>
              <a:rPr lang="en-US" sz="800" spc="87" kern="0" dirty="0">
                <a:solidFill>
                  <a:srgbClr val="D4A437"/>
                </a:solidFill>
                <a:latin typeface="Courier New" pitchFamily="34" charset="0"/>
                <a:ea typeface="Courier New" pitchFamily="34" charset="-122"/>
                <a:cs typeface="Courier New" pitchFamily="34" charset="-120"/>
              </a:rPr>
              <a:t>●</a:t>
            </a:r>
            <a:pPr algn="r" indent="0" marL="0">
              <a:lnSpc>
                <a:spcPts val="928"/>
              </a:lnSpc>
              <a:buNone/>
            </a:pPr>
            <a:r>
              <a:rPr lang="en-US" sz="800" spc="87" kern="0" dirty="0">
                <a:solidFill>
                  <a:srgbClr val="6B6760"/>
                </a:solidFill>
                <a:latin typeface="Liberation Sans Narrow" pitchFamily="34" charset="0"/>
                <a:ea typeface="Liberation Sans Narrow" pitchFamily="34" charset="-122"/>
                <a:cs typeface="Liberation Sans Narrow" pitchFamily="34" charset="-120"/>
              </a:rPr>
              <a:t> CONFIDENTIAL / 2025</a:t>
            </a:r>
            <a:endParaRPr lang="en-US" sz="800" dirty="0"/>
          </a:p>
        </p:txBody>
      </p:sp>
      <p:sp>
        <p:nvSpPr>
          <p:cNvPr id="15" name="Text 11"/>
          <p:cNvSpPr/>
          <p:nvPr/>
        </p:nvSpPr>
        <p:spPr>
          <a:xfrm>
            <a:off x="514350" y="1516373"/>
            <a:ext cx="584329" cy="164592"/>
          </a:xfrm>
          <a:prstGeom prst="rect">
            <a:avLst/>
          </a:prstGeom>
          <a:noFill/>
          <a:ln/>
        </p:spPr>
        <p:txBody>
          <a:bodyPr wrap="none" lIns="0" tIns="0" rIns="0" bIns="0" rtlCol="0" anchor="t"/>
          <a:lstStyle/>
          <a:p>
            <a:pPr algn="l" indent="0" marL="0">
              <a:lnSpc>
                <a:spcPts val="1013"/>
              </a:lnSpc>
              <a:buNone/>
            </a:pPr>
            <a:r>
              <a:rPr lang="en-US" sz="800" spc="122" kern="0" dirty="0">
                <a:solidFill>
                  <a:srgbClr val="D4A437"/>
                </a:solidFill>
                <a:latin typeface="Liberation Sans Narrow" pitchFamily="34" charset="0"/>
                <a:ea typeface="Liberation Sans Narrow" pitchFamily="34" charset="-122"/>
                <a:cs typeface="Liberation Sans Narrow" pitchFamily="34" charset="-120"/>
              </a:rPr>
              <a:t>VOL. 01</a:t>
            </a:r>
            <a:endParaRPr lang="en-US" sz="800" dirty="0"/>
          </a:p>
        </p:txBody>
      </p:sp>
      <p:sp>
        <p:nvSpPr>
          <p:cNvPr id="16" name="Text 12"/>
          <p:cNvSpPr/>
          <p:nvPr/>
        </p:nvSpPr>
        <p:spPr>
          <a:xfrm>
            <a:off x="1022449" y="1577094"/>
            <a:ext cx="257175" cy="7144"/>
          </a:xfrm>
          <a:prstGeom prst="rect">
            <a:avLst/>
          </a:prstGeom>
          <a:solidFill>
            <a:srgbClr val="D4A437">
              <a:alpha val="70000"/>
            </a:srgbClr>
          </a:solidFill>
          <a:ln/>
        </p:spPr>
        <p:txBody>
          <a:bodyPr wrap="square" rtlCol="0" anchor="ctr"/>
          <a:lstStyle/>
          <a:p>
            <a:pPr indent="0" marL="0">
              <a:buNone/>
            </a:pPr>
            <a:endParaRPr lang="en-US" dirty="0"/>
          </a:p>
        </p:txBody>
      </p:sp>
      <p:sp>
        <p:nvSpPr>
          <p:cNvPr id="17" name="Text 13"/>
          <p:cNvSpPr/>
          <p:nvPr/>
        </p:nvSpPr>
        <p:spPr>
          <a:xfrm>
            <a:off x="1379637" y="1521730"/>
            <a:ext cx="7250013" cy="164592"/>
          </a:xfrm>
          <a:prstGeom prst="rect">
            <a:avLst/>
          </a:prstGeom>
          <a:noFill/>
          <a:ln/>
        </p:spPr>
        <p:txBody>
          <a:bodyPr wrap="square" lIns="0" tIns="0" rIns="0" bIns="0" rtlCol="0" anchor="t"/>
          <a:lstStyle/>
          <a:p>
            <a:pPr algn="l" indent="0" marL="0">
              <a:lnSpc>
                <a:spcPts val="928"/>
              </a:lnSpc>
              <a:buNone/>
            </a:pPr>
            <a:r>
              <a:rPr lang="en-US" sz="800" spc="136" kern="0" dirty="0">
                <a:solidFill>
                  <a:srgbClr val="A8A39C"/>
                </a:solidFill>
                <a:latin typeface="Carlito" pitchFamily="34" charset="0"/>
                <a:ea typeface="Carlito" pitchFamily="34" charset="-122"/>
                <a:cs typeface="Carlito" pitchFamily="34" charset="-120"/>
              </a:rPr>
              <a:t>A BRIEFING FOR GOLD FIELDS GHANA</a:t>
            </a:r>
            <a:endParaRPr lang="en-US" sz="800" dirty="0"/>
          </a:p>
        </p:txBody>
      </p:sp>
      <p:sp>
        <p:nvSpPr>
          <p:cNvPr id="18" name="Text 14"/>
          <p:cNvSpPr/>
          <p:nvPr/>
        </p:nvSpPr>
        <p:spPr>
          <a:xfrm>
            <a:off x="514350" y="1773548"/>
            <a:ext cx="6915150" cy="1471925"/>
          </a:xfrm>
          <a:prstGeom prst="rect">
            <a:avLst/>
          </a:prstGeom>
          <a:noFill/>
          <a:ln/>
        </p:spPr>
        <p:txBody>
          <a:bodyPr wrap="none" lIns="0" tIns="0" rIns="0" bIns="0" rtlCol="0" anchor="t"/>
          <a:lstStyle/>
          <a:p>
            <a:pPr algn="l" indent="0" marL="0">
              <a:lnSpc>
                <a:spcPts val="3578"/>
              </a:lnSpc>
              <a:buNone/>
            </a:pPr>
            <a:r>
              <a:rPr lang="en-US" sz="3375" b="1" spc="-51" kern="0" dirty="0">
                <a:solidFill>
                  <a:srgbClr val="E8E6E1"/>
                </a:solidFill>
                <a:latin typeface="Carlito" pitchFamily="34" charset="0"/>
                <a:ea typeface="Carlito" pitchFamily="34" charset="-122"/>
                <a:cs typeface="Carlito" pitchFamily="34" charset="-120"/>
              </a:rPr>
              <a:t>Every layer of evidence.</a:t>
            </a:r>
            <a:endParaRPr lang="en-US" sz="3375" dirty="0"/>
          </a:p>
          <a:p>
            <a:pPr algn="l" indent="0" marL="0">
              <a:lnSpc>
                <a:spcPts val="3578"/>
              </a:lnSpc>
              <a:buNone/>
            </a:pPr>
            <a:r>
              <a:rPr lang="en-US" sz="3375" b="1" spc="-51" kern="0" dirty="0">
                <a:solidFill>
                  <a:srgbClr val="E8E6E1"/>
                </a:solidFill>
                <a:latin typeface="Carlito" pitchFamily="34" charset="0"/>
                <a:ea typeface="Carlito" pitchFamily="34" charset="-122"/>
                <a:cs typeface="Carlito" pitchFamily="34" charset="-120"/>
              </a:rPr>
              <a:t>One ranked list of targets.</a:t>
            </a:r>
            <a:endParaRPr lang="en-US" sz="3375" dirty="0"/>
          </a:p>
          <a:p>
            <a:pPr algn="l" indent="0" marL="0">
              <a:lnSpc>
                <a:spcPts val="3578"/>
              </a:lnSpc>
              <a:buNone/>
            </a:pPr>
            <a:r>
              <a:rPr lang="en-US" sz="3375" b="1" spc="-51" kern="0" dirty="0">
                <a:solidFill>
                  <a:srgbClr val="D4A437"/>
                </a:solidFill>
                <a:latin typeface="Carlito" pitchFamily="34" charset="0"/>
                <a:ea typeface="Carlito" pitchFamily="34" charset="-122"/>
                <a:cs typeface="Carlito" pitchFamily="34" charset="-120"/>
              </a:rPr>
              <a:t>The paper trail to defend it.</a:t>
            </a:r>
            <a:endParaRPr lang="en-US" sz="3375" dirty="0"/>
          </a:p>
        </p:txBody>
      </p:sp>
      <p:sp>
        <p:nvSpPr>
          <p:cNvPr id="19" name="Text 15"/>
          <p:cNvSpPr/>
          <p:nvPr/>
        </p:nvSpPr>
        <p:spPr>
          <a:xfrm>
            <a:off x="514350" y="3293604"/>
            <a:ext cx="5429250" cy="763810"/>
          </a:xfrm>
          <a:prstGeom prst="rect">
            <a:avLst/>
          </a:prstGeom>
          <a:noFill/>
          <a:ln/>
        </p:spPr>
        <p:txBody>
          <a:bodyPr wrap="square" lIns="0" tIns="0" rIns="0" bIns="0" rtlCol="0" anchor="t"/>
          <a:lstStyle/>
          <a:p>
            <a:pPr algn="l" indent="0" marL="0">
              <a:lnSpc>
                <a:spcPts val="1856"/>
              </a:lnSpc>
              <a:buNone/>
            </a:pPr>
            <a:r>
              <a:rPr lang="en-US" sz="1238" dirty="0">
                <a:solidFill>
                  <a:srgbClr val="A8A39C"/>
                </a:solidFill>
                <a:latin typeface="Carlito" pitchFamily="34" charset="0"/>
                <a:ea typeface="Carlito" pitchFamily="34" charset="-122"/>
                <a:cs typeface="Carlito" pitchFamily="34" charset="-120"/>
              </a:rPr>
              <a:t>TerraPulse takes an exploration project's data — yours and the world's public record — and returns ranked drill targets, each carrying the evidence that produced it and the full lineage needed to stand behind it.</a:t>
            </a:r>
            <a:endParaRPr lang="en-US" sz="1238" dirty="0"/>
          </a:p>
        </p:txBody>
      </p:sp>
      <p:sp>
        <p:nvSpPr>
          <p:cNvPr id="20" name="Text 16"/>
          <p:cNvSpPr/>
          <p:nvPr/>
        </p:nvSpPr>
        <p:spPr>
          <a:xfrm>
            <a:off x="514350" y="4427786"/>
            <a:ext cx="3524771" cy="130400"/>
          </a:xfrm>
          <a:prstGeom prst="rect">
            <a:avLst/>
          </a:prstGeom>
          <a:noFill/>
          <a:ln/>
        </p:spPr>
        <p:txBody>
          <a:bodyPr wrap="square" lIns="0" tIns="0" rIns="0" bIns="0" rtlCol="0" anchor="t">
            <a:normAutofit/>
          </a:bodyPr>
          <a:lstStyle/>
          <a:p>
            <a:pPr algn="l" indent="0" marL="0">
              <a:lnSpc>
                <a:spcPts val="1243"/>
              </a:lnSpc>
              <a:buNone/>
            </a:pPr>
            <a:r>
              <a:rPr lang="en-US" sz="800" spc="59" kern="0" dirty="0">
                <a:solidFill>
                  <a:srgbClr val="6B6760"/>
                </a:solidFill>
                <a:latin typeface="Carlito" pitchFamily="34" charset="0"/>
                <a:ea typeface="Carlito" pitchFamily="34" charset="-122"/>
                <a:cs typeface="Carlito" pitchFamily="34" charset="-120"/>
              </a:rPr>
              <a:t>PREPARED FOR/</a:t>
            </a:r>
            <a:pPr algn="l" indent="0" marL="0">
              <a:lnSpc>
                <a:spcPts val="1243"/>
              </a:lnSpc>
              <a:buNone/>
            </a:pPr>
            <a:r>
              <a:rPr lang="en-US" sz="800" spc="59" kern="0" dirty="0">
                <a:solidFill>
                  <a:srgbClr val="A8A39C"/>
                </a:solidFill>
                <a:latin typeface="Carlito" pitchFamily="34" charset="0"/>
                <a:ea typeface="Carlito" pitchFamily="34" charset="-122"/>
                <a:cs typeface="Carlito" pitchFamily="34" charset="-120"/>
              </a:rPr>
              <a:t>Senior Geologists, Gold Fields Ghana Limited</a:t>
            </a:r>
            <a:endParaRPr lang="en-US" sz="800" dirty="0"/>
          </a:p>
        </p:txBody>
      </p:sp>
      <p:sp>
        <p:nvSpPr>
          <p:cNvPr id="21" name="Text 17"/>
          <p:cNvSpPr/>
          <p:nvPr/>
        </p:nvSpPr>
        <p:spPr>
          <a:xfrm>
            <a:off x="514350" y="4585618"/>
            <a:ext cx="3524771" cy="186485"/>
          </a:xfrm>
          <a:prstGeom prst="rect">
            <a:avLst/>
          </a:prstGeom>
          <a:noFill/>
          <a:ln/>
        </p:spPr>
        <p:txBody>
          <a:bodyPr wrap="square" lIns="0" tIns="0" rIns="0" bIns="0" rtlCol="0" anchor="t"/>
          <a:lstStyle/>
          <a:p>
            <a:pPr algn="l" indent="0" marL="0">
              <a:lnSpc>
                <a:spcPts val="1243"/>
              </a:lnSpc>
              <a:buNone/>
            </a:pPr>
            <a:r>
              <a:rPr lang="en-US" sz="731" spc="59" kern="0" dirty="0">
                <a:solidFill>
                  <a:srgbClr val="6B6760"/>
                </a:solidFill>
                <a:latin typeface="Carlito" pitchFamily="34" charset="0"/>
                <a:ea typeface="Carlito" pitchFamily="34" charset="-122"/>
                <a:cs typeface="Carlito" pitchFamily="34" charset="-120"/>
              </a:rPr>
              <a:t>OVERVIEW/</a:t>
            </a:r>
            <a:pPr algn="l" indent="0" marL="0">
              <a:lnSpc>
                <a:spcPts val="1243"/>
              </a:lnSpc>
              <a:buNone/>
            </a:pPr>
            <a:r>
              <a:rPr lang="en-US" sz="731" spc="59" kern="0" dirty="0">
                <a:solidFill>
                  <a:srgbClr val="A8A39C"/>
                </a:solidFill>
                <a:latin typeface="Carlito" pitchFamily="34" charset="0"/>
                <a:ea typeface="Carlito" pitchFamily="34" charset="-122"/>
                <a:cs typeface="Carlito" pitchFamily="34" charset="-120"/>
              </a:rPr>
              <a:t>32 features · 7 groups · 12 data sources · 5-stage pipeline</a:t>
            </a:r>
            <a:endParaRPr lang="en-US" sz="731" dirty="0"/>
          </a:p>
        </p:txBody>
      </p:sp>
      <p:sp>
        <p:nvSpPr>
          <p:cNvPr id="22" name="Text 18"/>
          <p:cNvSpPr/>
          <p:nvPr/>
        </p:nvSpPr>
        <p:spPr>
          <a:xfrm>
            <a:off x="7772400" y="4561284"/>
            <a:ext cx="857250" cy="7144"/>
          </a:xfrm>
          <a:prstGeom prst="rect">
            <a:avLst/>
          </a:prstGeom>
          <a:solidFill>
            <a:srgbClr val="D4A437"/>
          </a:solidFill>
          <a:ln/>
        </p:spPr>
        <p:txBody>
          <a:bodyPr wrap="square" rtlCol="0" anchor="ctr"/>
          <a:lstStyle/>
          <a:p>
            <a:pPr indent="0" marL="0">
              <a:buNone/>
            </a:pPr>
            <a:endParaRPr lang="en-US" dirty="0"/>
          </a:p>
        </p:txBody>
      </p:sp>
      <p:sp>
        <p:nvSpPr>
          <p:cNvPr id="23" name="Text 19"/>
          <p:cNvSpPr/>
          <p:nvPr/>
        </p:nvSpPr>
        <p:spPr>
          <a:xfrm>
            <a:off x="7465826" y="4625578"/>
            <a:ext cx="1163824" cy="164592"/>
          </a:xfrm>
          <a:prstGeom prst="rect">
            <a:avLst/>
          </a:prstGeom>
          <a:noFill/>
          <a:ln/>
        </p:spPr>
        <p:txBody>
          <a:bodyPr wrap="none" lIns="0" tIns="0" rIns="0" bIns="0" rtlCol="0" anchor="t"/>
          <a:lstStyle/>
          <a:p>
            <a:pPr algn="r" indent="0" marL="0">
              <a:lnSpc>
                <a:spcPts val="928"/>
              </a:lnSpc>
              <a:buNone/>
            </a:pPr>
            <a:r>
              <a:rPr lang="en-US" sz="800" b="1" spc="149" kern="0" dirty="0">
                <a:solidFill>
                  <a:srgbClr val="D4A437"/>
                </a:solidFill>
                <a:latin typeface="Carlito" pitchFamily="34" charset="0"/>
                <a:ea typeface="Carlito" pitchFamily="34" charset="-122"/>
                <a:cs typeface="Carlito" pitchFamily="34" charset="-120"/>
              </a:rPr>
              <a:t>TERRAPULSE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116"/>
        </a:solidFill>
      </p:bgPr>
    </p:bg>
    <p:spTree>
      <p:nvGrpSpPr>
        <p:cNvPr id="1" name=""/>
        <p:cNvGrpSpPr/>
        <p:nvPr/>
      </p:nvGrpSpPr>
      <p:grpSpPr>
        <a:xfrm>
          <a:off x="0" y="0"/>
          <a:ext cx="0" cy="0"/>
          <a:chOff x="0" y="0"/>
          <a:chExt cx="0" cy="0"/>
        </a:xfrm>
      </p:grpSpPr>
      <p:sp>
        <p:nvSpPr>
          <p:cNvPr id="2" name="Text 0"/>
          <p:cNvSpPr/>
          <p:nvPr/>
        </p:nvSpPr>
        <p:spPr>
          <a:xfrm>
            <a:off x="457200" y="171450"/>
            <a:ext cx="7852209" cy="164592"/>
          </a:xfrm>
          <a:prstGeom prst="rect">
            <a:avLst/>
          </a:prstGeom>
          <a:noFill/>
          <a:ln/>
        </p:spPr>
        <p:txBody>
          <a:bodyPr wrap="none" lIns="0" tIns="0" rIns="0" bIns="0" rtlCol="0" anchor="t"/>
          <a:lstStyle/>
          <a:p>
            <a:pPr algn="l" indent="0" marL="0">
              <a:lnSpc>
                <a:spcPts val="928"/>
              </a:lnSpc>
              <a:buNone/>
            </a:pPr>
            <a:r>
              <a:rPr lang="en-US" sz="800" b="1" spc="99" kern="0" dirty="0">
                <a:solidFill>
                  <a:srgbClr val="D4A437"/>
                </a:solidFill>
                <a:latin typeface="Carlito" pitchFamily="34" charset="0"/>
                <a:ea typeface="Carlito" pitchFamily="34" charset="-122"/>
                <a:cs typeface="Carlito" pitchFamily="34" charset="-120"/>
              </a:rPr>
              <a:t>TERRAPULSE</a:t>
            </a:r>
            <a:pPr algn="l" indent="0" marL="0">
              <a:lnSpc>
                <a:spcPts val="928"/>
              </a:lnSpc>
              <a:buNone/>
            </a:pPr>
            <a:r>
              <a:rPr lang="en-US" sz="800" spc="99" kern="0" dirty="0">
                <a:solidFill>
                  <a:srgbClr val="6B6760"/>
                </a:solidFill>
                <a:latin typeface="Carlito" pitchFamily="34" charset="0"/>
                <a:ea typeface="Carlito" pitchFamily="34" charset="-122"/>
                <a:cs typeface="Carlito" pitchFamily="34" charset="-120"/>
              </a:rPr>
              <a:t> / THE PROBLEM</a:t>
            </a:r>
            <a:endParaRPr lang="en-US" sz="800" dirty="0"/>
          </a:p>
        </p:txBody>
      </p:sp>
      <p:sp>
        <p:nvSpPr>
          <p:cNvPr id="3" name="Text 1"/>
          <p:cNvSpPr/>
          <p:nvPr/>
        </p:nvSpPr>
        <p:spPr>
          <a:xfrm>
            <a:off x="8323697" y="171450"/>
            <a:ext cx="538755"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6B6760"/>
                </a:solidFill>
                <a:latin typeface="Liberation Sans Narrow" pitchFamily="34" charset="0"/>
                <a:ea typeface="Liberation Sans Narrow" pitchFamily="34" charset="-122"/>
                <a:cs typeface="Liberation Sans Narrow" pitchFamily="34" charset="-120"/>
              </a:rPr>
              <a:t>02 / 12</a:t>
            </a:r>
            <a:endParaRPr lang="en-US" sz="800" dirty="0"/>
          </a:p>
        </p:txBody>
      </p:sp>
      <p:sp>
        <p:nvSpPr>
          <p:cNvPr id="4" name="Text 2"/>
          <p:cNvSpPr/>
          <p:nvPr/>
        </p:nvSpPr>
        <p:spPr>
          <a:xfrm>
            <a:off x="415661" y="600075"/>
            <a:ext cx="544028" cy="324041"/>
          </a:xfrm>
          <a:prstGeom prst="rect">
            <a:avLst/>
          </a:prstGeom>
          <a:noFill/>
          <a:ln/>
        </p:spPr>
        <p:txBody>
          <a:bodyPr wrap="none" lIns="0" tIns="0" rIns="0" bIns="0" rtlCol="0" anchor="t"/>
          <a:lstStyle/>
          <a:p>
            <a:pPr algn="l" indent="0" marL="0">
              <a:lnSpc>
                <a:spcPts val="2363"/>
              </a:lnSpc>
              <a:buNone/>
            </a:pPr>
            <a:r>
              <a:rPr lang="en-US" sz="2363" spc="-47" kern="0" dirty="0">
                <a:solidFill>
                  <a:srgbClr val="D4A437"/>
                </a:solidFill>
                <a:latin typeface="Liberation Sans Narrow" pitchFamily="34" charset="0"/>
                <a:ea typeface="Liberation Sans Narrow" pitchFamily="34" charset="-122"/>
                <a:cs typeface="Liberation Sans Narrow" pitchFamily="34" charset="-120"/>
              </a:rPr>
              <a:t>01</a:t>
            </a:r>
            <a:endParaRPr lang="en-US" sz="2363" dirty="0"/>
          </a:p>
        </p:txBody>
      </p:sp>
      <p:sp>
        <p:nvSpPr>
          <p:cNvPr id="5" name="Text 3"/>
          <p:cNvSpPr/>
          <p:nvPr/>
        </p:nvSpPr>
        <p:spPr>
          <a:xfrm>
            <a:off x="888169" y="600075"/>
            <a:ext cx="8255831" cy="489597"/>
          </a:xfrm>
          <a:prstGeom prst="rect">
            <a:avLst/>
          </a:prstGeom>
          <a:noFill/>
          <a:ln/>
        </p:spPr>
        <p:txBody>
          <a:bodyPr wrap="none" lIns="0" tIns="0" rIns="0" bIns="0" rtlCol="0" anchor="t">
            <a:normAutofit/>
          </a:bodyPr>
          <a:lstStyle/>
          <a:p>
            <a:pPr algn="l" indent="0" marL="0">
              <a:lnSpc>
                <a:spcPts val="1811"/>
              </a:lnSpc>
              <a:buNone/>
            </a:pPr>
            <a:r>
              <a:rPr lang="en-US" sz="1575" b="1" spc="-16" kern="0" dirty="0">
                <a:solidFill>
                  <a:srgbClr val="E8E6E1"/>
                </a:solidFill>
                <a:latin typeface="Carlito" pitchFamily="34" charset="0"/>
                <a:ea typeface="Carlito" pitchFamily="34" charset="-122"/>
                <a:cs typeface="Carlito" pitchFamily="34" charset="-120"/>
              </a:rPr>
              <a:t>The problem, as exploration teams</a:t>
            </a:r>
            <a:endParaRPr lang="en-US" sz="1575" dirty="0"/>
          </a:p>
          <a:p>
            <a:pPr algn="l" indent="0" marL="0">
              <a:lnSpc>
                <a:spcPts val="1811"/>
              </a:lnSpc>
              <a:buNone/>
            </a:pPr>
            <a:r>
              <a:rPr lang="en-US" sz="1575" b="1" spc="-16" kern="0" dirty="0">
                <a:solidFill>
                  <a:srgbClr val="E8E6E1"/>
                </a:solidFill>
                <a:latin typeface="Carlito" pitchFamily="34" charset="0"/>
                <a:ea typeface="Carlito" pitchFamily="34" charset="-122"/>
                <a:cs typeface="Carlito" pitchFamily="34" charset="-120"/>
              </a:rPr>
              <a:t>actually experience it</a:t>
            </a:r>
            <a:endParaRPr lang="en-US" sz="1575" dirty="0"/>
          </a:p>
        </p:txBody>
      </p:sp>
      <p:sp>
        <p:nvSpPr>
          <p:cNvPr id="6" name="Text 4"/>
          <p:cNvSpPr/>
          <p:nvPr/>
        </p:nvSpPr>
        <p:spPr>
          <a:xfrm>
            <a:off x="888169" y="1117104"/>
            <a:ext cx="6429375" cy="173593"/>
          </a:xfrm>
          <a:prstGeom prst="rect">
            <a:avLst/>
          </a:prstGeom>
          <a:noFill/>
          <a:ln/>
        </p:spPr>
        <p:txBody>
          <a:bodyPr wrap="square" lIns="0" tIns="0" rIns="0" bIns="0" rtlCol="0" anchor="t"/>
          <a:lstStyle/>
          <a:p>
            <a:pPr algn="l" indent="0" marL="0">
              <a:lnSpc>
                <a:spcPts val="1266"/>
              </a:lnSpc>
              <a:buNone/>
            </a:pPr>
            <a:r>
              <a:rPr lang="en-US" sz="844" dirty="0">
                <a:solidFill>
                  <a:srgbClr val="A8A39C"/>
                </a:solidFill>
                <a:latin typeface="Carlito" pitchFamily="34" charset="0"/>
                <a:ea typeface="Carlito" pitchFamily="34" charset="-122"/>
                <a:cs typeface="Carlito" pitchFamily="34" charset="-120"/>
              </a:rPr>
              <a:t>Three failures every exploration team has lived through. Each one of the slides that follows picks one up and answers it.</a:t>
            </a:r>
            <a:endParaRPr lang="en-US" sz="844" dirty="0"/>
          </a:p>
        </p:txBody>
      </p:sp>
      <p:sp>
        <p:nvSpPr>
          <p:cNvPr id="7" name="Text 5"/>
          <p:cNvSpPr/>
          <p:nvPr/>
        </p:nvSpPr>
        <p:spPr>
          <a:xfrm>
            <a:off x="460772" y="1438573"/>
            <a:ext cx="2640732" cy="3301305"/>
          </a:xfrm>
          <a:prstGeom prst="roundRect">
            <a:avLst>
              <a:gd name="adj" fmla="val 2886"/>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8" name="Shape 6"/>
          <p:cNvSpPr/>
          <p:nvPr/>
        </p:nvSpPr>
        <p:spPr>
          <a:xfrm>
            <a:off x="617934" y="2370832"/>
            <a:ext cx="0" cy="203597"/>
          </a:xfrm>
          <a:prstGeom prst="line">
            <a:avLst/>
          </a:prstGeom>
          <a:noFill/>
          <a:ln w="21431">
            <a:solidFill>
              <a:srgbClr val="D4633F"/>
            </a:solidFill>
            <a:prstDash val="solid"/>
          </a:ln>
        </p:spPr>
      </p:sp>
      <p:sp>
        <p:nvSpPr>
          <p:cNvPr id="9" name="Text 7"/>
          <p:cNvSpPr/>
          <p:nvPr/>
        </p:nvSpPr>
        <p:spPr>
          <a:xfrm>
            <a:off x="3251522" y="1438573"/>
            <a:ext cx="2640843" cy="3301305"/>
          </a:xfrm>
          <a:prstGeom prst="roundRect">
            <a:avLst>
              <a:gd name="adj" fmla="val 2885"/>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10" name="Shape 8"/>
          <p:cNvSpPr/>
          <p:nvPr/>
        </p:nvSpPr>
        <p:spPr>
          <a:xfrm>
            <a:off x="3408685" y="2370832"/>
            <a:ext cx="0" cy="203597"/>
          </a:xfrm>
          <a:prstGeom prst="line">
            <a:avLst/>
          </a:prstGeom>
          <a:noFill/>
          <a:ln w="21431">
            <a:solidFill>
              <a:srgbClr val="D4633F"/>
            </a:solidFill>
            <a:prstDash val="solid"/>
          </a:ln>
        </p:spPr>
      </p:sp>
      <p:sp>
        <p:nvSpPr>
          <p:cNvPr id="11" name="Text 9"/>
          <p:cNvSpPr/>
          <p:nvPr/>
        </p:nvSpPr>
        <p:spPr>
          <a:xfrm>
            <a:off x="6042385" y="1438573"/>
            <a:ext cx="2640732" cy="3301305"/>
          </a:xfrm>
          <a:prstGeom prst="roundRect">
            <a:avLst>
              <a:gd name="adj" fmla="val 2886"/>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12" name="Shape 10"/>
          <p:cNvSpPr/>
          <p:nvPr/>
        </p:nvSpPr>
        <p:spPr>
          <a:xfrm>
            <a:off x="6199547" y="2370832"/>
            <a:ext cx="0" cy="203597"/>
          </a:xfrm>
          <a:prstGeom prst="line">
            <a:avLst/>
          </a:prstGeom>
          <a:noFill/>
          <a:ln w="21431">
            <a:solidFill>
              <a:srgbClr val="D4633F"/>
            </a:solidFill>
            <a:prstDash val="solid"/>
          </a:ln>
        </p:spPr>
      </p:sp>
      <p:sp>
        <p:nvSpPr>
          <p:cNvPr id="13" name="Text 11"/>
          <p:cNvSpPr/>
          <p:nvPr/>
        </p:nvSpPr>
        <p:spPr>
          <a:xfrm>
            <a:off x="457200" y="4868466"/>
            <a:ext cx="7119640" cy="164592"/>
          </a:xfrm>
          <a:prstGeom prst="rect">
            <a:avLst/>
          </a:prstGeom>
          <a:noFill/>
          <a:ln/>
        </p:spPr>
        <p:txBody>
          <a:bodyPr wrap="square" lIns="0" tIns="0" rIns="0" bIns="0" rtlCol="0" anchor="t"/>
          <a:lstStyle/>
          <a:p>
            <a:pPr algn="l" indent="0" marL="0">
              <a:lnSpc>
                <a:spcPts val="928"/>
              </a:lnSpc>
              <a:buNone/>
            </a:pPr>
            <a:r>
              <a:rPr lang="en-US" sz="800" spc="62" kern="0" dirty="0">
                <a:solidFill>
                  <a:srgbClr val="6B6760"/>
                </a:solidFill>
                <a:latin typeface="Carlito" pitchFamily="34" charset="0"/>
                <a:ea typeface="Carlito" pitchFamily="34" charset="-122"/>
                <a:cs typeface="Carlito" pitchFamily="34" charset="-120"/>
              </a:rPr>
              <a:t>Gold Fields Ghana · Senior Geologist Briefing</a:t>
            </a:r>
            <a:endParaRPr lang="en-US" sz="800" dirty="0"/>
          </a:p>
        </p:txBody>
      </p:sp>
      <p:sp>
        <p:nvSpPr>
          <p:cNvPr id="14" name="Text 12"/>
          <p:cNvSpPr/>
          <p:nvPr/>
        </p:nvSpPr>
        <p:spPr>
          <a:xfrm>
            <a:off x="7591127" y="4868466"/>
            <a:ext cx="1183326" cy="164592"/>
          </a:xfrm>
          <a:prstGeom prst="rect">
            <a:avLst/>
          </a:prstGeom>
          <a:noFill/>
          <a:ln/>
        </p:spPr>
        <p:txBody>
          <a:bodyPr wrap="square" lIns="0" tIns="0" rIns="0" bIns="0" rtlCol="0" anchor="t"/>
          <a:lstStyle/>
          <a:p>
            <a:pPr algn="l" indent="0" marL="0">
              <a:lnSpc>
                <a:spcPts val="928"/>
              </a:lnSpc>
              <a:buNone/>
            </a:pPr>
            <a:r>
              <a:rPr lang="en-US" sz="619" spc="62" kern="0" dirty="0">
                <a:solidFill>
                  <a:srgbClr val="6B6760"/>
                </a:solidFill>
                <a:latin typeface="Carlito" pitchFamily="34" charset="0"/>
                <a:ea typeface="Carlito" pitchFamily="34" charset="-122"/>
                <a:cs typeface="Carlito" pitchFamily="34" charset="-120"/>
              </a:rPr>
              <a:t>TerraPulse · Confidential</a:t>
            </a:r>
            <a:endParaRPr lang="en-US" sz="619" dirty="0"/>
          </a:p>
        </p:txBody>
      </p:sp>
      <p:sp>
        <p:nvSpPr>
          <p:cNvPr id="15" name="Text 13"/>
          <p:cNvSpPr/>
          <p:nvPr/>
        </p:nvSpPr>
        <p:spPr>
          <a:xfrm>
            <a:off x="664369" y="1785045"/>
            <a:ext cx="2290688" cy="848678"/>
          </a:xfrm>
          <a:prstGeom prst="rect">
            <a:avLst/>
          </a:prstGeom>
          <a:noFill/>
          <a:ln/>
        </p:spPr>
        <p:txBody>
          <a:bodyPr wrap="none" lIns="0" tIns="0" rIns="0" bIns="0" rtlCol="0" anchor="t"/>
          <a:lstStyle/>
          <a:p>
            <a:pPr algn="l" indent="0" marL="0">
              <a:lnSpc>
                <a:spcPts val="6188"/>
              </a:lnSpc>
              <a:buNone/>
            </a:pPr>
            <a:r>
              <a:rPr lang="en-US" sz="6188" dirty="0">
                <a:solidFill>
                  <a:srgbClr val="2A323C">
                    <a:alpha val="35000"/>
                  </a:srgbClr>
                </a:solidFill>
                <a:latin typeface="Liberation Sans Narrow" pitchFamily="34" charset="0"/>
                <a:ea typeface="Liberation Sans Narrow" pitchFamily="34" charset="-122"/>
                <a:cs typeface="Liberation Sans Narrow" pitchFamily="34" charset="-120"/>
              </a:rPr>
              <a:t>01</a:t>
            </a:r>
            <a:endParaRPr lang="en-US" sz="6188" dirty="0"/>
          </a:p>
        </p:txBody>
      </p:sp>
      <p:sp>
        <p:nvSpPr>
          <p:cNvPr id="16" name="Text 14"/>
          <p:cNvSpPr/>
          <p:nvPr/>
        </p:nvSpPr>
        <p:spPr>
          <a:xfrm>
            <a:off x="2840757" y="1556445"/>
            <a:ext cx="142875" cy="142875"/>
          </a:xfrm>
          <a:prstGeom prst="rect">
            <a:avLst/>
          </a:prstGeom>
          <a:noFill/>
          <a:ln/>
        </p:spPr>
        <p:txBody>
          <a:bodyPr wrap="none" lIns="0" tIns="0" rIns="0" bIns="0" rtlCol="0" anchor="ctr"/>
          <a:lstStyle/>
          <a:p>
            <a:pPr algn="ctr" indent="0" marL="0">
              <a:buNone/>
            </a:pPr>
            <a:r>
              <a:rPr lang="en-US" sz="1406" dirty="0">
                <a:solidFill>
                  <a:srgbClr val="6B6760"/>
                </a:solidFill>
                <a:latin typeface="Segoe UI Symbol" pitchFamily="34" charset="0"/>
                <a:ea typeface="Segoe UI Symbol" pitchFamily="34" charset="-122"/>
                <a:cs typeface="Segoe UI Symbol" pitchFamily="34" charset="-120"/>
              </a:rPr>
              <a:t>✦</a:t>
            </a:r>
            <a:endParaRPr lang="en-US" sz="1406" dirty="0"/>
          </a:p>
        </p:txBody>
      </p:sp>
      <p:sp>
        <p:nvSpPr>
          <p:cNvPr id="17" name="Text 15"/>
          <p:cNvSpPr/>
          <p:nvPr/>
        </p:nvSpPr>
        <p:spPr>
          <a:xfrm>
            <a:off x="607219" y="2370832"/>
            <a:ext cx="2347838" cy="203597"/>
          </a:xfrm>
          <a:prstGeom prst="roundRect">
            <a:avLst>
              <a:gd name="adj" fmla="val 9357"/>
            </a:avLst>
          </a:prstGeom>
          <a:solidFill>
            <a:srgbClr val="D4633F">
              <a:alpha val="8000"/>
            </a:srgbClr>
          </a:solidFill>
          <a:ln/>
        </p:spPr>
        <p:txBody>
          <a:bodyPr wrap="square" rtlCol="0" anchor="ctr"/>
          <a:lstStyle/>
          <a:p>
            <a:pPr indent="0" marL="0">
              <a:buNone/>
            </a:pPr>
            <a:endParaRPr lang="en-US" dirty="0"/>
          </a:p>
        </p:txBody>
      </p:sp>
      <p:sp>
        <p:nvSpPr>
          <p:cNvPr id="18" name="Text 16"/>
          <p:cNvSpPr/>
          <p:nvPr/>
        </p:nvSpPr>
        <p:spPr>
          <a:xfrm>
            <a:off x="607219" y="2370832"/>
            <a:ext cx="2347838" cy="203597"/>
          </a:xfrm>
          <a:prstGeom prst="rect">
            <a:avLst/>
          </a:prstGeom>
          <a:noFill/>
          <a:ln/>
        </p:spPr>
        <p:txBody>
          <a:bodyPr wrap="none" lIns="0" tIns="0" rIns="0" bIns="0" rtlCol="0" anchor="ctr"/>
          <a:lstStyle/>
          <a:p>
            <a:pPr algn="ctr" indent="0" marL="0">
              <a:lnSpc>
                <a:spcPts val="928"/>
              </a:lnSpc>
              <a:buNone/>
            </a:pPr>
            <a:r>
              <a:rPr lang="en-US" sz="800" b="1" spc="87" kern="0" dirty="0">
                <a:solidFill>
                  <a:srgbClr val="D4633F"/>
                </a:solidFill>
                <a:latin typeface="Carlito" pitchFamily="34" charset="0"/>
                <a:ea typeface="Carlito" pitchFamily="34" charset="-122"/>
                <a:cs typeface="Carlito" pitchFamily="34" charset="-120"/>
              </a:rPr>
              <a:t>PROBLEM</a:t>
            </a:r>
            <a:endParaRPr lang="en-US" sz="800" dirty="0"/>
          </a:p>
        </p:txBody>
      </p:sp>
      <p:sp>
        <p:nvSpPr>
          <p:cNvPr id="19" name="Text 17"/>
          <p:cNvSpPr/>
          <p:nvPr/>
        </p:nvSpPr>
        <p:spPr>
          <a:xfrm>
            <a:off x="607219" y="2660154"/>
            <a:ext cx="2347838" cy="185166"/>
          </a:xfrm>
          <a:prstGeom prst="rect">
            <a:avLst/>
          </a:prstGeom>
          <a:noFill/>
          <a:ln/>
        </p:spPr>
        <p:txBody>
          <a:bodyPr wrap="none" lIns="0" tIns="0" rIns="0" bIns="0" rtlCol="0" anchor="t"/>
          <a:lstStyle/>
          <a:p>
            <a:pPr algn="l" indent="0" marL="0">
              <a:lnSpc>
                <a:spcPts val="1350"/>
              </a:lnSpc>
              <a:buNone/>
            </a:pPr>
            <a:r>
              <a:rPr lang="en-US" sz="1125" b="1" spc="-6" kern="0" dirty="0">
                <a:solidFill>
                  <a:srgbClr val="E8E6E1"/>
                </a:solidFill>
                <a:latin typeface="Carlito" pitchFamily="34" charset="0"/>
                <a:ea typeface="Carlito" pitchFamily="34" charset="-122"/>
                <a:cs typeface="Carlito" pitchFamily="34" charset="-120"/>
              </a:rPr>
              <a:t>The data doesn't meet</a:t>
            </a:r>
            <a:endParaRPr lang="en-US" sz="1125" dirty="0"/>
          </a:p>
        </p:txBody>
      </p:sp>
      <p:sp>
        <p:nvSpPr>
          <p:cNvPr id="20" name="Text 18"/>
          <p:cNvSpPr/>
          <p:nvPr/>
        </p:nvSpPr>
        <p:spPr>
          <a:xfrm>
            <a:off x="607219" y="2903041"/>
            <a:ext cx="2347838" cy="1351870"/>
          </a:xfrm>
          <a:prstGeom prst="rect">
            <a:avLst/>
          </a:prstGeom>
          <a:noFill/>
          <a:ln/>
        </p:spPr>
        <p:txBody>
          <a:bodyPr wrap="square" lIns="0" tIns="0" rIns="0" bIns="0" rtlCol="0" anchor="t">
            <a:normAutofit/>
          </a:bodyPr>
          <a:lstStyle/>
          <a:p>
            <a:pPr algn="l" indent="0" marL="0">
              <a:lnSpc>
                <a:spcPts val="1097"/>
              </a:lnSpc>
              <a:buNone/>
            </a:pPr>
            <a:r>
              <a:rPr lang="en-US" sz="800" dirty="0">
                <a:solidFill>
                  <a:srgbClr val="A8A39C"/>
                </a:solidFill>
                <a:latin typeface="Carlito" pitchFamily="34" charset="0"/>
                <a:ea typeface="Carlito" pitchFamily="34" charset="-122"/>
                <a:cs typeface="Carlito" pitchFamily="34" charset="-120"/>
              </a:rPr>
              <a:t>Magnetics in one format, soil geochem in another, assay certificates as PDFs, imagery and geology somewhere else entirely. Getting them onto one grid is senior GIS work measured in weeks. By the time they align, the season has moved on.</a:t>
            </a:r>
            <a:endParaRPr lang="en-US" sz="800" dirty="0"/>
          </a:p>
        </p:txBody>
      </p:sp>
      <p:sp>
        <p:nvSpPr>
          <p:cNvPr id="21" name="Text 19"/>
          <p:cNvSpPr/>
          <p:nvPr/>
        </p:nvSpPr>
        <p:spPr>
          <a:xfrm>
            <a:off x="607219" y="4282343"/>
            <a:ext cx="2347838" cy="7144"/>
          </a:xfrm>
          <a:prstGeom prst="rect">
            <a:avLst/>
          </a:prstGeom>
          <a:solidFill>
            <a:srgbClr val="2A323C"/>
          </a:solidFill>
          <a:ln/>
        </p:spPr>
        <p:txBody>
          <a:bodyPr wrap="square" rtlCol="0" anchor="ctr"/>
          <a:lstStyle/>
          <a:p>
            <a:pPr indent="0" marL="0">
              <a:buNone/>
            </a:pPr>
            <a:endParaRPr lang="en-US" dirty="0"/>
          </a:p>
        </p:txBody>
      </p:sp>
      <p:sp>
        <p:nvSpPr>
          <p:cNvPr id="22" name="Text 20"/>
          <p:cNvSpPr/>
          <p:nvPr/>
        </p:nvSpPr>
        <p:spPr>
          <a:xfrm>
            <a:off x="607219" y="4346637"/>
            <a:ext cx="2347838" cy="108299"/>
          </a:xfrm>
          <a:prstGeom prst="rect">
            <a:avLst/>
          </a:prstGeom>
          <a:noFill/>
          <a:ln/>
        </p:spPr>
        <p:txBody>
          <a:bodyPr wrap="none" lIns="0" tIns="0" rIns="0" bIns="0" rtlCol="0" anchor="t">
            <a:normAutofit/>
          </a:bodyPr>
          <a:lstStyle/>
          <a:p>
            <a:pPr algn="l" indent="0" marL="0">
              <a:lnSpc>
                <a:spcPts val="844"/>
              </a:lnSpc>
              <a:buNone/>
            </a:pPr>
            <a:r>
              <a:rPr lang="en-US" sz="800" spc="101" kern="0" dirty="0">
                <a:solidFill>
                  <a:srgbClr val="6B6760"/>
                </a:solidFill>
                <a:latin typeface="Carlito" pitchFamily="34" charset="0"/>
                <a:ea typeface="Carlito" pitchFamily="34" charset="-122"/>
                <a:cs typeface="Carlito" pitchFamily="34" charset="-120"/>
              </a:rPr>
              <a:t>IMPACT</a:t>
            </a:r>
            <a:endParaRPr lang="en-US" sz="800" dirty="0"/>
          </a:p>
        </p:txBody>
      </p:sp>
      <p:sp>
        <p:nvSpPr>
          <p:cNvPr id="23" name="Text 21"/>
          <p:cNvSpPr/>
          <p:nvPr/>
        </p:nvSpPr>
        <p:spPr>
          <a:xfrm>
            <a:off x="607219" y="4482368"/>
            <a:ext cx="2347838" cy="125350"/>
          </a:xfrm>
          <a:prstGeom prst="rect">
            <a:avLst/>
          </a:prstGeom>
          <a:noFill/>
          <a:ln/>
        </p:spPr>
        <p:txBody>
          <a:bodyPr wrap="square" lIns="0" tIns="0" rIns="0" bIns="0" rtlCol="0" anchor="t"/>
          <a:lstStyle/>
          <a:p>
            <a:pPr algn="l" indent="0" marL="0">
              <a:lnSpc>
                <a:spcPts val="987"/>
              </a:lnSpc>
              <a:buNone/>
            </a:pPr>
            <a:r>
              <a:rPr lang="en-US" sz="731" dirty="0">
                <a:solidFill>
                  <a:srgbClr val="6BAE85"/>
                </a:solidFill>
                <a:latin typeface="Carlito" pitchFamily="34" charset="0"/>
                <a:ea typeface="Carlito" pitchFamily="34" charset="-122"/>
                <a:cs typeface="Carlito" pitchFamily="34" charset="-120"/>
              </a:rPr>
              <a:t>Weeks of rig time lost before a target is even debated.</a:t>
            </a:r>
            <a:endParaRPr lang="en-US" sz="731" dirty="0"/>
          </a:p>
        </p:txBody>
      </p:sp>
      <p:sp>
        <p:nvSpPr>
          <p:cNvPr id="24" name="Text 22"/>
          <p:cNvSpPr/>
          <p:nvPr/>
        </p:nvSpPr>
        <p:spPr>
          <a:xfrm>
            <a:off x="3455119" y="1785045"/>
            <a:ext cx="2290800" cy="848678"/>
          </a:xfrm>
          <a:prstGeom prst="rect">
            <a:avLst/>
          </a:prstGeom>
          <a:noFill/>
          <a:ln/>
        </p:spPr>
        <p:txBody>
          <a:bodyPr wrap="none" lIns="0" tIns="0" rIns="0" bIns="0" rtlCol="0" anchor="t"/>
          <a:lstStyle/>
          <a:p>
            <a:pPr algn="l" indent="0" marL="0">
              <a:lnSpc>
                <a:spcPts val="6188"/>
              </a:lnSpc>
              <a:buNone/>
            </a:pPr>
            <a:r>
              <a:rPr lang="en-US" sz="6188" dirty="0">
                <a:solidFill>
                  <a:srgbClr val="2A323C">
                    <a:alpha val="35000"/>
                  </a:srgbClr>
                </a:solidFill>
                <a:latin typeface="Liberation Sans Narrow" pitchFamily="34" charset="0"/>
                <a:ea typeface="Liberation Sans Narrow" pitchFamily="34" charset="-122"/>
                <a:cs typeface="Liberation Sans Narrow" pitchFamily="34" charset="-120"/>
              </a:rPr>
              <a:t>02</a:t>
            </a:r>
            <a:endParaRPr lang="en-US" sz="6188" dirty="0"/>
          </a:p>
        </p:txBody>
      </p:sp>
      <p:sp>
        <p:nvSpPr>
          <p:cNvPr id="25" name="Text 23"/>
          <p:cNvSpPr/>
          <p:nvPr/>
        </p:nvSpPr>
        <p:spPr>
          <a:xfrm>
            <a:off x="5631619" y="1556445"/>
            <a:ext cx="142875" cy="142875"/>
          </a:xfrm>
          <a:prstGeom prst="rect">
            <a:avLst/>
          </a:prstGeom>
          <a:noFill/>
          <a:ln/>
        </p:spPr>
        <p:txBody>
          <a:bodyPr wrap="none" lIns="0" tIns="0" rIns="0" bIns="0" rtlCol="0" anchor="ctr"/>
          <a:lstStyle/>
          <a:p>
            <a:pPr algn="ctr" indent="0" marL="0">
              <a:buNone/>
            </a:pPr>
            <a:r>
              <a:rPr lang="en-US" sz="1406" dirty="0">
                <a:solidFill>
                  <a:srgbClr val="6B6760"/>
                </a:solidFill>
                <a:latin typeface="Segoe UI Symbol" pitchFamily="34" charset="0"/>
                <a:ea typeface="Segoe UI Symbol" pitchFamily="34" charset="-122"/>
                <a:cs typeface="Segoe UI Symbol" pitchFamily="34" charset="-120"/>
              </a:rPr>
              <a:t>☻</a:t>
            </a:r>
            <a:endParaRPr lang="en-US" sz="1406" dirty="0"/>
          </a:p>
        </p:txBody>
      </p:sp>
      <p:sp>
        <p:nvSpPr>
          <p:cNvPr id="26" name="Text 24"/>
          <p:cNvSpPr/>
          <p:nvPr/>
        </p:nvSpPr>
        <p:spPr>
          <a:xfrm>
            <a:off x="3397969" y="2370832"/>
            <a:ext cx="2347950" cy="203597"/>
          </a:xfrm>
          <a:prstGeom prst="roundRect">
            <a:avLst>
              <a:gd name="adj" fmla="val 9357"/>
            </a:avLst>
          </a:prstGeom>
          <a:solidFill>
            <a:srgbClr val="D4633F">
              <a:alpha val="8000"/>
            </a:srgbClr>
          </a:solidFill>
          <a:ln/>
        </p:spPr>
        <p:txBody>
          <a:bodyPr wrap="square" rtlCol="0" anchor="ctr"/>
          <a:lstStyle/>
          <a:p>
            <a:pPr indent="0" marL="0">
              <a:buNone/>
            </a:pPr>
            <a:endParaRPr lang="en-US" dirty="0"/>
          </a:p>
        </p:txBody>
      </p:sp>
      <p:sp>
        <p:nvSpPr>
          <p:cNvPr id="27" name="Text 25"/>
          <p:cNvSpPr/>
          <p:nvPr/>
        </p:nvSpPr>
        <p:spPr>
          <a:xfrm>
            <a:off x="3397969" y="2370832"/>
            <a:ext cx="2347950" cy="203597"/>
          </a:xfrm>
          <a:prstGeom prst="rect">
            <a:avLst/>
          </a:prstGeom>
          <a:noFill/>
          <a:ln/>
        </p:spPr>
        <p:txBody>
          <a:bodyPr wrap="none" lIns="0" tIns="0" rIns="0" bIns="0" rtlCol="0" anchor="ctr"/>
          <a:lstStyle/>
          <a:p>
            <a:pPr algn="ctr" indent="0" marL="0">
              <a:lnSpc>
                <a:spcPts val="928"/>
              </a:lnSpc>
              <a:buNone/>
            </a:pPr>
            <a:r>
              <a:rPr lang="en-US" sz="800" b="1" spc="87" kern="0" dirty="0">
                <a:solidFill>
                  <a:srgbClr val="D4633F"/>
                </a:solidFill>
                <a:latin typeface="Carlito" pitchFamily="34" charset="0"/>
                <a:ea typeface="Carlito" pitchFamily="34" charset="-122"/>
                <a:cs typeface="Carlito" pitchFamily="34" charset="-120"/>
              </a:rPr>
              <a:t>PROBLEM</a:t>
            </a:r>
            <a:endParaRPr lang="en-US" sz="800" dirty="0"/>
          </a:p>
        </p:txBody>
      </p:sp>
      <p:sp>
        <p:nvSpPr>
          <p:cNvPr id="28" name="Text 26"/>
          <p:cNvSpPr/>
          <p:nvPr/>
        </p:nvSpPr>
        <p:spPr>
          <a:xfrm>
            <a:off x="3397969" y="2660154"/>
            <a:ext cx="2457678" cy="185166"/>
          </a:xfrm>
          <a:prstGeom prst="rect">
            <a:avLst/>
          </a:prstGeom>
          <a:noFill/>
          <a:ln/>
        </p:spPr>
        <p:txBody>
          <a:bodyPr wrap="square" lIns="0" tIns="0" rIns="0" bIns="0" rtlCol="0" anchor="t"/>
          <a:lstStyle/>
          <a:p>
            <a:pPr algn="l" indent="0" marL="0">
              <a:lnSpc>
                <a:spcPts val="1350"/>
              </a:lnSpc>
              <a:buNone/>
            </a:pPr>
            <a:r>
              <a:rPr lang="en-US" sz="1125" b="1" spc="-6" kern="0" dirty="0">
                <a:solidFill>
                  <a:srgbClr val="E8E6E1"/>
                </a:solidFill>
                <a:latin typeface="Carlito" pitchFamily="34" charset="0"/>
                <a:ea typeface="Carlito" pitchFamily="34" charset="-122"/>
                <a:cs typeface="Carlito" pitchFamily="34" charset="-120"/>
              </a:rPr>
              <a:t>The reasoning doesn't survive</a:t>
            </a:r>
            <a:endParaRPr lang="en-US" sz="1125" dirty="0"/>
          </a:p>
        </p:txBody>
      </p:sp>
      <p:sp>
        <p:nvSpPr>
          <p:cNvPr id="29" name="Text 27"/>
          <p:cNvSpPr/>
          <p:nvPr/>
        </p:nvSpPr>
        <p:spPr>
          <a:xfrm>
            <a:off x="3397969" y="2903041"/>
            <a:ext cx="2347950" cy="1351870"/>
          </a:xfrm>
          <a:prstGeom prst="rect">
            <a:avLst/>
          </a:prstGeom>
          <a:noFill/>
          <a:ln/>
        </p:spPr>
        <p:txBody>
          <a:bodyPr wrap="square" lIns="0" tIns="0" rIns="0" bIns="0" rtlCol="0" anchor="t">
            <a:normAutofit/>
          </a:bodyPr>
          <a:lstStyle/>
          <a:p>
            <a:pPr algn="l" indent="0" marL="0">
              <a:lnSpc>
                <a:spcPts val="1097"/>
              </a:lnSpc>
              <a:buNone/>
            </a:pPr>
            <a:r>
              <a:rPr lang="en-US" sz="800" dirty="0">
                <a:solidFill>
                  <a:srgbClr val="A8A39C"/>
                </a:solidFill>
                <a:latin typeface="Carlito" pitchFamily="34" charset="0"/>
                <a:ea typeface="Carlito" pitchFamily="34" charset="-122"/>
                <a:cs typeface="Carlito" pitchFamily="34" charset="-120"/>
              </a:rPr>
              <a:t>A target is a judgement made by an experienced geologist looking at several screens. When they leave, or the board asks why, the reasoning is gone — only the conclusion remains. The next geologist starts again from the colour ramp.</a:t>
            </a:r>
            <a:endParaRPr lang="en-US" sz="800" dirty="0"/>
          </a:p>
        </p:txBody>
      </p:sp>
      <p:sp>
        <p:nvSpPr>
          <p:cNvPr id="30" name="Text 28"/>
          <p:cNvSpPr/>
          <p:nvPr/>
        </p:nvSpPr>
        <p:spPr>
          <a:xfrm>
            <a:off x="3397969" y="4282343"/>
            <a:ext cx="2347950" cy="7144"/>
          </a:xfrm>
          <a:prstGeom prst="rect">
            <a:avLst/>
          </a:prstGeom>
          <a:solidFill>
            <a:srgbClr val="2A323C"/>
          </a:solidFill>
          <a:ln/>
        </p:spPr>
        <p:txBody>
          <a:bodyPr wrap="square" rtlCol="0" anchor="ctr"/>
          <a:lstStyle/>
          <a:p>
            <a:pPr indent="0" marL="0">
              <a:buNone/>
            </a:pPr>
            <a:endParaRPr lang="en-US" dirty="0"/>
          </a:p>
        </p:txBody>
      </p:sp>
      <p:sp>
        <p:nvSpPr>
          <p:cNvPr id="31" name="Text 29"/>
          <p:cNvSpPr/>
          <p:nvPr/>
        </p:nvSpPr>
        <p:spPr>
          <a:xfrm>
            <a:off x="3397969" y="4346637"/>
            <a:ext cx="2347950" cy="108299"/>
          </a:xfrm>
          <a:prstGeom prst="rect">
            <a:avLst/>
          </a:prstGeom>
          <a:noFill/>
          <a:ln/>
        </p:spPr>
        <p:txBody>
          <a:bodyPr wrap="none" lIns="0" tIns="0" rIns="0" bIns="0" rtlCol="0" anchor="t">
            <a:normAutofit/>
          </a:bodyPr>
          <a:lstStyle/>
          <a:p>
            <a:pPr algn="l" indent="0" marL="0">
              <a:lnSpc>
                <a:spcPts val="844"/>
              </a:lnSpc>
              <a:buNone/>
            </a:pPr>
            <a:r>
              <a:rPr lang="en-US" sz="800" spc="101" kern="0" dirty="0">
                <a:solidFill>
                  <a:srgbClr val="6B6760"/>
                </a:solidFill>
                <a:latin typeface="Carlito" pitchFamily="34" charset="0"/>
                <a:ea typeface="Carlito" pitchFamily="34" charset="-122"/>
                <a:cs typeface="Carlito" pitchFamily="34" charset="-120"/>
              </a:rPr>
              <a:t>IMPACT</a:t>
            </a:r>
            <a:endParaRPr lang="en-US" sz="800" dirty="0"/>
          </a:p>
        </p:txBody>
      </p:sp>
      <p:sp>
        <p:nvSpPr>
          <p:cNvPr id="32" name="Text 30"/>
          <p:cNvSpPr/>
          <p:nvPr/>
        </p:nvSpPr>
        <p:spPr>
          <a:xfrm>
            <a:off x="3397969" y="4482368"/>
            <a:ext cx="2347950" cy="125350"/>
          </a:xfrm>
          <a:prstGeom prst="rect">
            <a:avLst/>
          </a:prstGeom>
          <a:noFill/>
          <a:ln/>
        </p:spPr>
        <p:txBody>
          <a:bodyPr wrap="square" lIns="0" tIns="0" rIns="0" bIns="0" rtlCol="0" anchor="t"/>
          <a:lstStyle/>
          <a:p>
            <a:pPr algn="l" indent="0" marL="0">
              <a:lnSpc>
                <a:spcPts val="987"/>
              </a:lnSpc>
              <a:buNone/>
            </a:pPr>
            <a:r>
              <a:rPr lang="en-US" sz="731" dirty="0">
                <a:solidFill>
                  <a:srgbClr val="6BAE85"/>
                </a:solidFill>
                <a:latin typeface="Carlito" pitchFamily="34" charset="0"/>
                <a:ea typeface="Carlito" pitchFamily="34" charset="-122"/>
                <a:cs typeface="Carlito" pitchFamily="34" charset="-120"/>
              </a:rPr>
              <a:t>Institutional knowledge leaves with the geologist.</a:t>
            </a:r>
            <a:endParaRPr lang="en-US" sz="731" dirty="0"/>
          </a:p>
        </p:txBody>
      </p:sp>
      <p:sp>
        <p:nvSpPr>
          <p:cNvPr id="33" name="Text 31"/>
          <p:cNvSpPr/>
          <p:nvPr/>
        </p:nvSpPr>
        <p:spPr>
          <a:xfrm>
            <a:off x="6245982" y="1785045"/>
            <a:ext cx="2290688" cy="848678"/>
          </a:xfrm>
          <a:prstGeom prst="rect">
            <a:avLst/>
          </a:prstGeom>
          <a:noFill/>
          <a:ln/>
        </p:spPr>
        <p:txBody>
          <a:bodyPr wrap="none" lIns="0" tIns="0" rIns="0" bIns="0" rtlCol="0" anchor="t"/>
          <a:lstStyle/>
          <a:p>
            <a:pPr algn="l" indent="0" marL="0">
              <a:lnSpc>
                <a:spcPts val="6188"/>
              </a:lnSpc>
              <a:buNone/>
            </a:pPr>
            <a:r>
              <a:rPr lang="en-US" sz="6188" dirty="0">
                <a:solidFill>
                  <a:srgbClr val="2A323C">
                    <a:alpha val="35000"/>
                  </a:srgbClr>
                </a:solidFill>
                <a:latin typeface="Liberation Sans Narrow" pitchFamily="34" charset="0"/>
                <a:ea typeface="Liberation Sans Narrow" pitchFamily="34" charset="-122"/>
                <a:cs typeface="Liberation Sans Narrow" pitchFamily="34" charset="-120"/>
              </a:rPr>
              <a:t>03</a:t>
            </a:r>
            <a:endParaRPr lang="en-US" sz="6188" dirty="0"/>
          </a:p>
        </p:txBody>
      </p:sp>
      <p:sp>
        <p:nvSpPr>
          <p:cNvPr id="34" name="Text 32"/>
          <p:cNvSpPr/>
          <p:nvPr/>
        </p:nvSpPr>
        <p:spPr>
          <a:xfrm>
            <a:off x="8422370" y="1556445"/>
            <a:ext cx="142875" cy="142875"/>
          </a:xfrm>
          <a:prstGeom prst="rect">
            <a:avLst/>
          </a:prstGeom>
          <a:noFill/>
          <a:ln/>
        </p:spPr>
        <p:txBody>
          <a:bodyPr wrap="none" lIns="0" tIns="0" rIns="0" bIns="0" rtlCol="0" anchor="ctr"/>
          <a:lstStyle/>
          <a:p>
            <a:pPr algn="ctr" indent="0" marL="0">
              <a:buNone/>
            </a:pPr>
            <a:r>
              <a:rPr lang="en-US" sz="1406" dirty="0">
                <a:solidFill>
                  <a:srgbClr val="6B6760"/>
                </a:solidFill>
                <a:latin typeface="Segoe UI Symbol" pitchFamily="34" charset="0"/>
                <a:ea typeface="Segoe UI Symbol" pitchFamily="34" charset="-122"/>
                <a:cs typeface="Segoe UI Symbol" pitchFamily="34" charset="-120"/>
              </a:rPr>
              <a:t>↻</a:t>
            </a:r>
            <a:endParaRPr lang="en-US" sz="1406" dirty="0"/>
          </a:p>
        </p:txBody>
      </p:sp>
      <p:sp>
        <p:nvSpPr>
          <p:cNvPr id="35" name="Text 33"/>
          <p:cNvSpPr/>
          <p:nvPr/>
        </p:nvSpPr>
        <p:spPr>
          <a:xfrm>
            <a:off x="6188832" y="2370832"/>
            <a:ext cx="2347838" cy="203597"/>
          </a:xfrm>
          <a:prstGeom prst="roundRect">
            <a:avLst>
              <a:gd name="adj" fmla="val 9357"/>
            </a:avLst>
          </a:prstGeom>
          <a:solidFill>
            <a:srgbClr val="D4633F">
              <a:alpha val="8000"/>
            </a:srgbClr>
          </a:solidFill>
          <a:ln/>
        </p:spPr>
        <p:txBody>
          <a:bodyPr wrap="square" rtlCol="0" anchor="ctr"/>
          <a:lstStyle/>
          <a:p>
            <a:pPr indent="0" marL="0">
              <a:buNone/>
            </a:pPr>
            <a:endParaRPr lang="en-US" dirty="0"/>
          </a:p>
        </p:txBody>
      </p:sp>
      <p:sp>
        <p:nvSpPr>
          <p:cNvPr id="36" name="Text 34"/>
          <p:cNvSpPr/>
          <p:nvPr/>
        </p:nvSpPr>
        <p:spPr>
          <a:xfrm>
            <a:off x="6188832" y="2370832"/>
            <a:ext cx="2347838" cy="203597"/>
          </a:xfrm>
          <a:prstGeom prst="rect">
            <a:avLst/>
          </a:prstGeom>
          <a:noFill/>
          <a:ln/>
        </p:spPr>
        <p:txBody>
          <a:bodyPr wrap="none" lIns="0" tIns="0" rIns="0" bIns="0" rtlCol="0" anchor="ctr"/>
          <a:lstStyle/>
          <a:p>
            <a:pPr algn="ctr" indent="0" marL="0">
              <a:lnSpc>
                <a:spcPts val="928"/>
              </a:lnSpc>
              <a:buNone/>
            </a:pPr>
            <a:r>
              <a:rPr lang="en-US" sz="800" b="1" spc="87" kern="0" dirty="0">
                <a:solidFill>
                  <a:srgbClr val="D4633F"/>
                </a:solidFill>
                <a:latin typeface="Carlito" pitchFamily="34" charset="0"/>
                <a:ea typeface="Carlito" pitchFamily="34" charset="-122"/>
                <a:cs typeface="Carlito" pitchFamily="34" charset="-120"/>
              </a:rPr>
              <a:t>PROBLEM</a:t>
            </a:r>
            <a:endParaRPr lang="en-US" sz="800" dirty="0"/>
          </a:p>
        </p:txBody>
      </p:sp>
      <p:sp>
        <p:nvSpPr>
          <p:cNvPr id="37" name="Text 35"/>
          <p:cNvSpPr/>
          <p:nvPr/>
        </p:nvSpPr>
        <p:spPr>
          <a:xfrm>
            <a:off x="6188832" y="2660154"/>
            <a:ext cx="2347838" cy="185166"/>
          </a:xfrm>
          <a:prstGeom prst="rect">
            <a:avLst/>
          </a:prstGeom>
          <a:noFill/>
          <a:ln/>
        </p:spPr>
        <p:txBody>
          <a:bodyPr wrap="none" lIns="0" tIns="0" rIns="0" bIns="0" rtlCol="0" anchor="t"/>
          <a:lstStyle/>
          <a:p>
            <a:pPr algn="l" indent="0" marL="0">
              <a:lnSpc>
                <a:spcPts val="1350"/>
              </a:lnSpc>
              <a:buNone/>
            </a:pPr>
            <a:r>
              <a:rPr lang="en-US" sz="1125" b="1" spc="-6" kern="0" dirty="0">
                <a:solidFill>
                  <a:srgbClr val="E8E6E1"/>
                </a:solidFill>
                <a:latin typeface="Carlito" pitchFamily="34" charset="0"/>
                <a:ea typeface="Carlito" pitchFamily="34" charset="-122"/>
                <a:cs typeface="Carlito" pitchFamily="34" charset="-120"/>
              </a:rPr>
              <a:t>The work doesn't re-run</a:t>
            </a:r>
            <a:endParaRPr lang="en-US" sz="1125" dirty="0"/>
          </a:p>
        </p:txBody>
      </p:sp>
      <p:sp>
        <p:nvSpPr>
          <p:cNvPr id="38" name="Text 36"/>
          <p:cNvSpPr/>
          <p:nvPr/>
        </p:nvSpPr>
        <p:spPr>
          <a:xfrm>
            <a:off x="6188832" y="2903041"/>
            <a:ext cx="2347838" cy="1351870"/>
          </a:xfrm>
          <a:prstGeom prst="rect">
            <a:avLst/>
          </a:prstGeom>
          <a:noFill/>
          <a:ln/>
        </p:spPr>
        <p:txBody>
          <a:bodyPr wrap="square" lIns="0" tIns="0" rIns="0" bIns="0" rtlCol="0" anchor="t">
            <a:normAutofit/>
          </a:bodyPr>
          <a:lstStyle/>
          <a:p>
            <a:pPr algn="l" indent="0" marL="0">
              <a:lnSpc>
                <a:spcPts val="1097"/>
              </a:lnSpc>
              <a:buNone/>
            </a:pPr>
            <a:r>
              <a:rPr lang="en-US" sz="800" dirty="0">
                <a:solidFill>
                  <a:srgbClr val="A8A39C"/>
                </a:solidFill>
                <a:latin typeface="Carlito" pitchFamily="34" charset="0"/>
                <a:ea typeface="Carlito" pitchFamily="34" charset="-122"/>
                <a:cs typeface="Carlito" pitchFamily="34" charset="-120"/>
              </a:rPr>
              <a:t>New assays land and the integration starts again. The last analysis was a one-off deliverable, not something you can point at fresh data and press a button on. The pipeline dies with the project folder.</a:t>
            </a:r>
            <a:endParaRPr lang="en-US" sz="800" dirty="0"/>
          </a:p>
        </p:txBody>
      </p:sp>
      <p:sp>
        <p:nvSpPr>
          <p:cNvPr id="39" name="Text 37"/>
          <p:cNvSpPr/>
          <p:nvPr/>
        </p:nvSpPr>
        <p:spPr>
          <a:xfrm>
            <a:off x="6188832" y="4282343"/>
            <a:ext cx="2347838" cy="7144"/>
          </a:xfrm>
          <a:prstGeom prst="rect">
            <a:avLst/>
          </a:prstGeom>
          <a:solidFill>
            <a:srgbClr val="2A323C"/>
          </a:solidFill>
          <a:ln/>
        </p:spPr>
        <p:txBody>
          <a:bodyPr wrap="square" rtlCol="0" anchor="ctr"/>
          <a:lstStyle/>
          <a:p>
            <a:pPr indent="0" marL="0">
              <a:buNone/>
            </a:pPr>
            <a:endParaRPr lang="en-US" dirty="0"/>
          </a:p>
        </p:txBody>
      </p:sp>
      <p:sp>
        <p:nvSpPr>
          <p:cNvPr id="40" name="Text 38"/>
          <p:cNvSpPr/>
          <p:nvPr/>
        </p:nvSpPr>
        <p:spPr>
          <a:xfrm>
            <a:off x="6188832" y="4346637"/>
            <a:ext cx="2347838" cy="108299"/>
          </a:xfrm>
          <a:prstGeom prst="rect">
            <a:avLst/>
          </a:prstGeom>
          <a:noFill/>
          <a:ln/>
        </p:spPr>
        <p:txBody>
          <a:bodyPr wrap="none" lIns="0" tIns="0" rIns="0" bIns="0" rtlCol="0" anchor="t">
            <a:normAutofit/>
          </a:bodyPr>
          <a:lstStyle/>
          <a:p>
            <a:pPr algn="l" indent="0" marL="0">
              <a:lnSpc>
                <a:spcPts val="844"/>
              </a:lnSpc>
              <a:buNone/>
            </a:pPr>
            <a:r>
              <a:rPr lang="en-US" sz="800" spc="101" kern="0" dirty="0">
                <a:solidFill>
                  <a:srgbClr val="6B6760"/>
                </a:solidFill>
                <a:latin typeface="Carlito" pitchFamily="34" charset="0"/>
                <a:ea typeface="Carlito" pitchFamily="34" charset="-122"/>
                <a:cs typeface="Carlito" pitchFamily="34" charset="-120"/>
              </a:rPr>
              <a:t>IMPACT</a:t>
            </a:r>
            <a:endParaRPr lang="en-US" sz="800" dirty="0"/>
          </a:p>
        </p:txBody>
      </p:sp>
      <p:sp>
        <p:nvSpPr>
          <p:cNvPr id="41" name="Text 39"/>
          <p:cNvSpPr/>
          <p:nvPr/>
        </p:nvSpPr>
        <p:spPr>
          <a:xfrm>
            <a:off x="6188832" y="4482368"/>
            <a:ext cx="2457566" cy="125350"/>
          </a:xfrm>
          <a:prstGeom prst="rect">
            <a:avLst/>
          </a:prstGeom>
          <a:noFill/>
          <a:ln/>
        </p:spPr>
        <p:txBody>
          <a:bodyPr wrap="square" lIns="0" tIns="0" rIns="0" bIns="0" rtlCol="0" anchor="t"/>
          <a:lstStyle/>
          <a:p>
            <a:pPr algn="l" indent="0" marL="0">
              <a:lnSpc>
                <a:spcPts val="987"/>
              </a:lnSpc>
              <a:buNone/>
            </a:pPr>
            <a:r>
              <a:rPr lang="en-US" sz="800" dirty="0">
                <a:solidFill>
                  <a:srgbClr val="6BAE85"/>
                </a:solidFill>
                <a:latin typeface="Carlito" pitchFamily="34" charset="0"/>
                <a:ea typeface="Carlito" pitchFamily="34" charset="-122"/>
                <a:cs typeface="Carlito" pitchFamily="34" charset="-120"/>
              </a:rPr>
              <a:t>Every new dataset resets the clock to zero.</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116"/>
        </a:solidFill>
      </p:bgPr>
    </p:bg>
    <p:spTree>
      <p:nvGrpSpPr>
        <p:cNvPr id="1" name=""/>
        <p:cNvGrpSpPr/>
        <p:nvPr/>
      </p:nvGrpSpPr>
      <p:grpSpPr>
        <a:xfrm>
          <a:off x="0" y="0"/>
          <a:ext cx="0" cy="0"/>
          <a:chOff x="0" y="0"/>
          <a:chExt cx="0" cy="0"/>
        </a:xfrm>
      </p:grpSpPr>
      <p:sp>
        <p:nvSpPr>
          <p:cNvPr id="2" name="Text 0"/>
          <p:cNvSpPr/>
          <p:nvPr/>
        </p:nvSpPr>
        <p:spPr>
          <a:xfrm>
            <a:off x="457200" y="171450"/>
            <a:ext cx="7852209" cy="164592"/>
          </a:xfrm>
          <a:prstGeom prst="rect">
            <a:avLst/>
          </a:prstGeom>
          <a:noFill/>
          <a:ln/>
        </p:spPr>
        <p:txBody>
          <a:bodyPr wrap="none" lIns="0" tIns="0" rIns="0" bIns="0" rtlCol="0" anchor="t"/>
          <a:lstStyle/>
          <a:p>
            <a:pPr algn="l" indent="0" marL="0">
              <a:lnSpc>
                <a:spcPts val="928"/>
              </a:lnSpc>
              <a:buNone/>
            </a:pPr>
            <a:r>
              <a:rPr lang="en-US" sz="800" b="1" spc="99" kern="0" dirty="0">
                <a:solidFill>
                  <a:srgbClr val="D4A437"/>
                </a:solidFill>
                <a:latin typeface="Carlito" pitchFamily="34" charset="0"/>
                <a:ea typeface="Carlito" pitchFamily="34" charset="-122"/>
                <a:cs typeface="Carlito" pitchFamily="34" charset="-120"/>
              </a:rPr>
              <a:t>TERRAPULSE</a:t>
            </a:r>
            <a:pPr algn="l" indent="0" marL="0">
              <a:lnSpc>
                <a:spcPts val="928"/>
              </a:lnSpc>
              <a:buNone/>
            </a:pPr>
            <a:r>
              <a:rPr lang="en-US" sz="800" spc="99" kern="0" dirty="0">
                <a:solidFill>
                  <a:srgbClr val="6B6760"/>
                </a:solidFill>
                <a:latin typeface="Liberation Sans Narrow" pitchFamily="34" charset="0"/>
                <a:ea typeface="Liberation Sans Narrow" pitchFamily="34" charset="-122"/>
                <a:cs typeface="Liberation Sans Narrow" pitchFamily="34" charset="-120"/>
              </a:rPr>
              <a:t> / CLAIM 01</a:t>
            </a:r>
            <a:endParaRPr lang="en-US" sz="800" dirty="0"/>
          </a:p>
        </p:txBody>
      </p:sp>
      <p:sp>
        <p:nvSpPr>
          <p:cNvPr id="3" name="Text 1"/>
          <p:cNvSpPr/>
          <p:nvPr/>
        </p:nvSpPr>
        <p:spPr>
          <a:xfrm>
            <a:off x="8323697" y="171450"/>
            <a:ext cx="538755"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6B6760"/>
                </a:solidFill>
                <a:latin typeface="Liberation Sans Narrow" pitchFamily="34" charset="0"/>
                <a:ea typeface="Liberation Sans Narrow" pitchFamily="34" charset="-122"/>
                <a:cs typeface="Liberation Sans Narrow" pitchFamily="34" charset="-120"/>
              </a:rPr>
              <a:t>03 / 12</a:t>
            </a:r>
            <a:endParaRPr lang="en-US" sz="800" dirty="0"/>
          </a:p>
        </p:txBody>
      </p:sp>
      <p:sp>
        <p:nvSpPr>
          <p:cNvPr id="4" name="Text 2"/>
          <p:cNvSpPr/>
          <p:nvPr/>
        </p:nvSpPr>
        <p:spPr>
          <a:xfrm>
            <a:off x="457200" y="859706"/>
            <a:ext cx="4607384" cy="203597"/>
          </a:xfrm>
          <a:prstGeom prst="roundRect">
            <a:avLst>
              <a:gd name="adj" fmla="val 9357"/>
            </a:avLst>
          </a:prstGeom>
          <a:solidFill>
            <a:srgbClr val="D4633F">
              <a:alpha val="8000"/>
            </a:srgbClr>
          </a:solidFill>
          <a:ln/>
        </p:spPr>
        <p:txBody>
          <a:bodyPr wrap="square" rtlCol="0" anchor="ctr"/>
          <a:lstStyle/>
          <a:p>
            <a:pPr indent="0" marL="0">
              <a:buNone/>
            </a:pPr>
            <a:endParaRPr lang="en-US" dirty="0"/>
          </a:p>
        </p:txBody>
      </p:sp>
      <p:sp>
        <p:nvSpPr>
          <p:cNvPr id="5" name="Shape 3"/>
          <p:cNvSpPr/>
          <p:nvPr/>
        </p:nvSpPr>
        <p:spPr>
          <a:xfrm>
            <a:off x="467916" y="859706"/>
            <a:ext cx="0" cy="203597"/>
          </a:xfrm>
          <a:prstGeom prst="line">
            <a:avLst/>
          </a:prstGeom>
          <a:noFill/>
          <a:ln w="21431">
            <a:solidFill>
              <a:srgbClr val="D4633F"/>
            </a:solidFill>
            <a:prstDash val="solid"/>
          </a:ln>
        </p:spPr>
      </p:sp>
      <p:sp>
        <p:nvSpPr>
          <p:cNvPr id="6" name="Text 4"/>
          <p:cNvSpPr/>
          <p:nvPr/>
        </p:nvSpPr>
        <p:spPr>
          <a:xfrm>
            <a:off x="457200" y="859706"/>
            <a:ext cx="4607384" cy="203597"/>
          </a:xfrm>
          <a:prstGeom prst="rect">
            <a:avLst/>
          </a:prstGeom>
          <a:noFill/>
          <a:ln/>
        </p:spPr>
        <p:txBody>
          <a:bodyPr wrap="none" lIns="0" tIns="0" rIns="0" bIns="0" rtlCol="0" anchor="ctr"/>
          <a:lstStyle/>
          <a:p>
            <a:pPr algn="ctr" indent="0" marL="0">
              <a:lnSpc>
                <a:spcPts val="928"/>
              </a:lnSpc>
              <a:buNone/>
            </a:pPr>
            <a:r>
              <a:rPr lang="en-US" sz="800" b="1" spc="87" kern="0" dirty="0">
                <a:solidFill>
                  <a:srgbClr val="D4633F"/>
                </a:solidFill>
                <a:latin typeface="Carlito" pitchFamily="34" charset="0"/>
                <a:ea typeface="Carlito" pitchFamily="34" charset="-122"/>
                <a:cs typeface="Carlito" pitchFamily="34" charset="-120"/>
              </a:rPr>
              <a:t>PROBLEM · GIS ASSEMBLY</a:t>
            </a:r>
            <a:endParaRPr lang="en-US" sz="800" dirty="0"/>
          </a:p>
        </p:txBody>
      </p:sp>
      <p:sp>
        <p:nvSpPr>
          <p:cNvPr id="7" name="Text 5"/>
          <p:cNvSpPr/>
          <p:nvPr/>
        </p:nvSpPr>
        <p:spPr>
          <a:xfrm>
            <a:off x="457200" y="1220465"/>
            <a:ext cx="3857625" cy="916186"/>
          </a:xfrm>
          <a:prstGeom prst="rect">
            <a:avLst/>
          </a:prstGeom>
          <a:noFill/>
          <a:ln/>
        </p:spPr>
        <p:txBody>
          <a:bodyPr wrap="square" lIns="0" tIns="0" rIns="0" bIns="0" rtlCol="0" anchor="t"/>
          <a:lstStyle/>
          <a:p>
            <a:pPr algn="l" indent="0" marL="0">
              <a:lnSpc>
                <a:spcPts val="1671"/>
              </a:lnSpc>
              <a:buNone/>
            </a:pPr>
            <a:r>
              <a:rPr lang="en-US" sz="1238" spc="-6" kern="0" dirty="0">
                <a:solidFill>
                  <a:srgbClr val="E8E6E1"/>
                </a:solidFill>
                <a:latin typeface="Carlito" pitchFamily="34" charset="0"/>
                <a:ea typeface="Carlito" pitchFamily="34" charset="-122"/>
                <a:cs typeface="Carlito" pitchFamily="34" charset="-120"/>
              </a:rPr>
              <a:t>Magnetics in one format, soil geochem in another, assay certificates as PDFs, imagery and geology somewhere else entirely. Getting them onto one grid is senior GIS work measured in weeks.</a:t>
            </a:r>
            <a:endParaRPr lang="en-US" sz="1238" dirty="0"/>
          </a:p>
        </p:txBody>
      </p:sp>
      <p:sp>
        <p:nvSpPr>
          <p:cNvPr id="8" name="Text 6"/>
          <p:cNvSpPr/>
          <p:nvPr/>
        </p:nvSpPr>
        <p:spPr>
          <a:xfrm>
            <a:off x="351232" y="2225948"/>
            <a:ext cx="1243493" cy="740664"/>
          </a:xfrm>
          <a:prstGeom prst="rect">
            <a:avLst/>
          </a:prstGeom>
          <a:noFill/>
          <a:ln/>
        </p:spPr>
        <p:txBody>
          <a:bodyPr wrap="none" lIns="0" tIns="0" rIns="0" bIns="0" rtlCol="0" anchor="t"/>
          <a:lstStyle/>
          <a:p>
            <a:pPr algn="l" indent="0" marL="0">
              <a:lnSpc>
                <a:spcPts val="5400"/>
              </a:lnSpc>
              <a:buNone/>
            </a:pPr>
            <a:r>
              <a:rPr lang="en-US" sz="5400" spc="-162" kern="0" dirty="0">
                <a:solidFill>
                  <a:srgbClr val="D4A437"/>
                </a:solidFill>
                <a:latin typeface="Liberation Sans Narrow" pitchFamily="34" charset="0"/>
                <a:ea typeface="Liberation Sans Narrow" pitchFamily="34" charset="-122"/>
                <a:cs typeface="Liberation Sans Narrow" pitchFamily="34" charset="-120"/>
              </a:rPr>
              <a:t>01</a:t>
            </a:r>
            <a:endParaRPr lang="en-US" sz="5400" dirty="0"/>
          </a:p>
        </p:txBody>
      </p:sp>
      <p:sp>
        <p:nvSpPr>
          <p:cNvPr id="9" name="Text 7"/>
          <p:cNvSpPr/>
          <p:nvPr/>
        </p:nvSpPr>
        <p:spPr>
          <a:xfrm>
            <a:off x="1230511" y="2590279"/>
            <a:ext cx="3834073" cy="271480"/>
          </a:xfrm>
          <a:prstGeom prst="rect">
            <a:avLst/>
          </a:prstGeom>
          <a:noFill/>
          <a:ln/>
        </p:spPr>
        <p:txBody>
          <a:bodyPr wrap="none" lIns="0" tIns="0" rIns="0" bIns="0" rtlCol="0" anchor="t"/>
          <a:lstStyle/>
          <a:p>
            <a:pPr algn="l" indent="0" marL="0">
              <a:lnSpc>
                <a:spcPts val="1980"/>
              </a:lnSpc>
              <a:buNone/>
            </a:pPr>
            <a:r>
              <a:rPr lang="en-US" sz="1800" b="1" spc="-18" kern="0" dirty="0">
                <a:solidFill>
                  <a:srgbClr val="E8E6E1"/>
                </a:solidFill>
                <a:latin typeface="Carlito" pitchFamily="34" charset="0"/>
                <a:ea typeface="Carlito" pitchFamily="34" charset="-122"/>
                <a:cs typeface="Carlito" pitchFamily="34" charset="-120"/>
              </a:rPr>
              <a:t>Assembly is automatic</a:t>
            </a:r>
            <a:endParaRPr lang="en-US" sz="1800" dirty="0"/>
          </a:p>
        </p:txBody>
      </p:sp>
      <p:sp>
        <p:nvSpPr>
          <p:cNvPr id="10" name="Text 8"/>
          <p:cNvSpPr/>
          <p:nvPr/>
        </p:nvSpPr>
        <p:spPr>
          <a:xfrm>
            <a:off x="457200" y="3068910"/>
            <a:ext cx="4000500" cy="789849"/>
          </a:xfrm>
          <a:prstGeom prst="rect">
            <a:avLst/>
          </a:prstGeom>
          <a:noFill/>
          <a:ln/>
        </p:spPr>
        <p:txBody>
          <a:bodyPr wrap="square" lIns="0" tIns="0" rIns="0" bIns="0" rtlCol="0" anchor="t"/>
          <a:lstStyle/>
          <a:p>
            <a:pPr algn="l" indent="0" marL="0">
              <a:lnSpc>
                <a:spcPts val="1440"/>
              </a:lnSpc>
              <a:buNone/>
            </a:pPr>
            <a:r>
              <a:rPr lang="en-US" sz="900" dirty="0">
                <a:solidFill>
                  <a:srgbClr val="A8A39C"/>
                </a:solidFill>
                <a:latin typeface="Carlito" pitchFamily="34" charset="0"/>
                <a:ea typeface="Carlito" pitchFamily="34" charset="-122"/>
                <a:cs typeface="Carlito" pitchFamily="34" charset="-120"/>
              </a:rPr>
              <a:t>Upload what you hold; the platform fetches the rest. Sentinel-2 imagery, Copernicus terrain, NOAA regional magnetics, Macrostrat and OneGeology lithology, USGS known deposits, protected areas and road networks are pulled to your licence boundary and put on the same grid as your own survey data.</a:t>
            </a:r>
            <a:endParaRPr lang="en-US" sz="900" dirty="0"/>
          </a:p>
        </p:txBody>
      </p:sp>
      <p:sp>
        <p:nvSpPr>
          <p:cNvPr id="11" name="Text 9"/>
          <p:cNvSpPr/>
          <p:nvPr/>
        </p:nvSpPr>
        <p:spPr>
          <a:xfrm>
            <a:off x="457200" y="3957414"/>
            <a:ext cx="4607384" cy="203597"/>
          </a:xfrm>
          <a:prstGeom prst="roundRect">
            <a:avLst>
              <a:gd name="adj" fmla="val 9357"/>
            </a:avLst>
          </a:prstGeom>
          <a:solidFill>
            <a:srgbClr val="6BAE85">
              <a:alpha val="8000"/>
            </a:srgbClr>
          </a:solidFill>
          <a:ln/>
        </p:spPr>
        <p:txBody>
          <a:bodyPr wrap="square" rtlCol="0" anchor="ctr"/>
          <a:lstStyle/>
          <a:p>
            <a:pPr indent="0" marL="0">
              <a:buNone/>
            </a:pPr>
            <a:endParaRPr lang="en-US" dirty="0"/>
          </a:p>
        </p:txBody>
      </p:sp>
      <p:sp>
        <p:nvSpPr>
          <p:cNvPr id="12" name="Shape 10"/>
          <p:cNvSpPr/>
          <p:nvPr/>
        </p:nvSpPr>
        <p:spPr>
          <a:xfrm>
            <a:off x="467916" y="3957414"/>
            <a:ext cx="0" cy="203597"/>
          </a:xfrm>
          <a:prstGeom prst="line">
            <a:avLst/>
          </a:prstGeom>
          <a:noFill/>
          <a:ln w="21431">
            <a:solidFill>
              <a:srgbClr val="6BAE85"/>
            </a:solidFill>
            <a:prstDash val="solid"/>
          </a:ln>
        </p:spPr>
      </p:sp>
      <p:sp>
        <p:nvSpPr>
          <p:cNvPr id="13" name="Text 11"/>
          <p:cNvSpPr/>
          <p:nvPr/>
        </p:nvSpPr>
        <p:spPr>
          <a:xfrm>
            <a:off x="457200" y="3957414"/>
            <a:ext cx="4607384" cy="203597"/>
          </a:xfrm>
          <a:prstGeom prst="rect">
            <a:avLst/>
          </a:prstGeom>
          <a:noFill/>
          <a:ln/>
        </p:spPr>
        <p:txBody>
          <a:bodyPr wrap="none" lIns="0" tIns="0" rIns="0" bIns="0" rtlCol="0" anchor="ctr"/>
          <a:lstStyle/>
          <a:p>
            <a:pPr algn="ctr" indent="0" marL="0">
              <a:lnSpc>
                <a:spcPts val="928"/>
              </a:lnSpc>
              <a:buNone/>
            </a:pPr>
            <a:r>
              <a:rPr lang="en-US" sz="800" b="1" spc="87" kern="0" dirty="0">
                <a:solidFill>
                  <a:srgbClr val="6BAE85"/>
                </a:solidFill>
                <a:latin typeface="Carlito" pitchFamily="34" charset="0"/>
                <a:ea typeface="Carlito" pitchFamily="34" charset="-122"/>
                <a:cs typeface="Carlito" pitchFamily="34" charset="-120"/>
              </a:rPr>
              <a:t>IMPACT · TIME-TO-TARGET</a:t>
            </a:r>
            <a:endParaRPr lang="en-US" sz="800" dirty="0"/>
          </a:p>
        </p:txBody>
      </p:sp>
      <p:sp>
        <p:nvSpPr>
          <p:cNvPr id="14" name="Text 12"/>
          <p:cNvSpPr/>
          <p:nvPr/>
        </p:nvSpPr>
        <p:spPr>
          <a:xfrm>
            <a:off x="457200" y="4318174"/>
            <a:ext cx="4000500" cy="194328"/>
          </a:xfrm>
          <a:prstGeom prst="rect">
            <a:avLst/>
          </a:prstGeom>
          <a:noFill/>
          <a:ln/>
        </p:spPr>
        <p:txBody>
          <a:bodyPr wrap="square" lIns="0" tIns="0" rIns="0" bIns="0" rtlCol="0" anchor="t"/>
          <a:lstStyle/>
          <a:p>
            <a:pPr algn="l" indent="0" marL="0">
              <a:lnSpc>
                <a:spcPts val="1418"/>
              </a:lnSpc>
              <a:buNone/>
            </a:pPr>
            <a:r>
              <a:rPr lang="en-US" sz="1013" dirty="0">
                <a:solidFill>
                  <a:srgbClr val="6BAE85"/>
                </a:solidFill>
                <a:latin typeface="Carlito" pitchFamily="34" charset="0"/>
                <a:ea typeface="Carlito" pitchFamily="34" charset="-122"/>
                <a:cs typeface="Carlito" pitchFamily="34" charset="-120"/>
              </a:rPr>
              <a:t>What took weeks of GIS assembly is a boundary polygon and a wait.</a:t>
            </a:r>
            <a:endParaRPr lang="en-US" sz="1013" dirty="0"/>
          </a:p>
        </p:txBody>
      </p:sp>
      <p:sp>
        <p:nvSpPr>
          <p:cNvPr id="15" name="Text 13"/>
          <p:cNvSpPr/>
          <p:nvPr/>
        </p:nvSpPr>
        <p:spPr>
          <a:xfrm>
            <a:off x="5353906" y="617934"/>
            <a:ext cx="3329322" cy="4121944"/>
          </a:xfrm>
          <a:prstGeom prst="roundRect">
            <a:avLst>
              <a:gd name="adj" fmla="val 2289"/>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16" name="Text 14"/>
          <p:cNvSpPr/>
          <p:nvPr/>
        </p:nvSpPr>
        <p:spPr>
          <a:xfrm>
            <a:off x="5557503" y="821531"/>
            <a:ext cx="3031857" cy="164592"/>
          </a:xfrm>
          <a:prstGeom prst="rect">
            <a:avLst/>
          </a:prstGeom>
          <a:noFill/>
          <a:ln/>
        </p:spPr>
        <p:txBody>
          <a:bodyPr wrap="square" lIns="0" tIns="0" rIns="0" bIns="0" rtlCol="0" anchor="t"/>
          <a:lstStyle/>
          <a:p>
            <a:pPr algn="l" indent="0" marL="0">
              <a:lnSpc>
                <a:spcPts val="1181"/>
              </a:lnSpc>
              <a:buNone/>
            </a:pPr>
            <a:r>
              <a:rPr lang="en-US" sz="800" b="1" spc="142" kern="0" dirty="0">
                <a:solidFill>
                  <a:srgbClr val="D4A437"/>
                </a:solidFill>
                <a:latin typeface="Carlito" pitchFamily="34" charset="0"/>
                <a:ea typeface="Carlito" pitchFamily="34" charset="-122"/>
                <a:cs typeface="Carlito" pitchFamily="34" charset="-120"/>
              </a:rPr>
              <a:t>AUTO-FETCHED TO YOUR BOUNDARY</a:t>
            </a:r>
            <a:endParaRPr lang="en-US" sz="800" dirty="0"/>
          </a:p>
        </p:txBody>
      </p:sp>
      <p:sp>
        <p:nvSpPr>
          <p:cNvPr id="17" name="Text 15"/>
          <p:cNvSpPr/>
          <p:nvPr/>
        </p:nvSpPr>
        <p:spPr>
          <a:xfrm>
            <a:off x="5557503" y="1014413"/>
            <a:ext cx="2922129" cy="164592"/>
          </a:xfrm>
          <a:prstGeom prst="rect">
            <a:avLst/>
          </a:prstGeom>
          <a:noFill/>
          <a:ln/>
        </p:spPr>
        <p:txBody>
          <a:bodyPr wrap="square" lIns="0" tIns="0" rIns="0" bIns="0" rtlCol="0" anchor="t"/>
          <a:lstStyle/>
          <a:p>
            <a:pPr algn="l" indent="0" marL="0">
              <a:lnSpc>
                <a:spcPts val="1013"/>
              </a:lnSpc>
              <a:buNone/>
            </a:pPr>
            <a:r>
              <a:rPr lang="en-US" sz="800" spc="27" kern="0" dirty="0">
                <a:solidFill>
                  <a:srgbClr val="6B6760"/>
                </a:solidFill>
                <a:latin typeface="Carlito" pitchFamily="34" charset="0"/>
                <a:ea typeface="Carlito" pitchFamily="34" charset="-122"/>
                <a:cs typeface="Carlito" pitchFamily="34" charset="-120"/>
              </a:rPr>
              <a:t>12 integrated sources · all commercial-use licensed</a:t>
            </a:r>
            <a:endParaRPr lang="en-US" sz="800" dirty="0"/>
          </a:p>
        </p:txBody>
      </p:sp>
      <p:sp>
        <p:nvSpPr>
          <p:cNvPr id="18" name="Text 16"/>
          <p:cNvSpPr/>
          <p:nvPr/>
        </p:nvSpPr>
        <p:spPr>
          <a:xfrm>
            <a:off x="5557503" y="1343025"/>
            <a:ext cx="28575" cy="28575"/>
          </a:xfrm>
          <a:prstGeom prst="ellipse">
            <a:avLst/>
          </a:prstGeom>
          <a:solidFill>
            <a:srgbClr val="D4A437"/>
          </a:solidFill>
          <a:ln/>
        </p:spPr>
        <p:txBody>
          <a:bodyPr wrap="square" rtlCol="0" anchor="ctr"/>
          <a:lstStyle/>
          <a:p>
            <a:pPr indent="0" marL="0">
              <a:buNone/>
            </a:pPr>
            <a:endParaRPr lang="en-US" dirty="0"/>
          </a:p>
        </p:txBody>
      </p:sp>
      <p:sp>
        <p:nvSpPr>
          <p:cNvPr id="19" name="Text 17"/>
          <p:cNvSpPr/>
          <p:nvPr/>
        </p:nvSpPr>
        <p:spPr>
          <a:xfrm>
            <a:off x="5657515" y="1285875"/>
            <a:ext cx="1519735" cy="106848"/>
          </a:xfrm>
          <a:prstGeom prst="rect">
            <a:avLst/>
          </a:prstGeom>
          <a:noFill/>
          <a:ln/>
        </p:spPr>
        <p:txBody>
          <a:bodyPr wrap="none" lIns="0" tIns="0" rIns="0" bIns="0" rtlCol="0" anchor="t">
            <a:normAutofit/>
          </a:bodyPr>
          <a:lstStyle/>
          <a:p>
            <a:pPr algn="l" indent="0" marL="0">
              <a:lnSpc>
                <a:spcPts val="945"/>
              </a:lnSpc>
              <a:buNone/>
            </a:pPr>
            <a:r>
              <a:rPr lang="en-US" sz="800" dirty="0">
                <a:solidFill>
                  <a:srgbClr val="E8E6E1"/>
                </a:solidFill>
                <a:latin typeface="Liberation Sans Narrow" pitchFamily="34" charset="0"/>
                <a:ea typeface="Liberation Sans Narrow" pitchFamily="34" charset="-122"/>
                <a:cs typeface="Liberation Sans Narrow" pitchFamily="34" charset="-120"/>
              </a:rPr>
              <a:t>Sentinel-2</a:t>
            </a:r>
            <a:endParaRPr lang="en-US" sz="800" dirty="0"/>
          </a:p>
        </p:txBody>
      </p:sp>
      <p:sp>
        <p:nvSpPr>
          <p:cNvPr id="20" name="Text 18"/>
          <p:cNvSpPr/>
          <p:nvPr/>
        </p:nvSpPr>
        <p:spPr>
          <a:xfrm>
            <a:off x="5657515" y="1420155"/>
            <a:ext cx="1374504" cy="296037"/>
          </a:xfrm>
          <a:prstGeom prst="rect">
            <a:avLst/>
          </a:prstGeom>
          <a:noFill/>
          <a:ln/>
        </p:spPr>
        <p:txBody>
          <a:bodyPr wrap="square" lIns="0" tIns="0" rIns="0" bIns="0" rtlCol="0" anchor="t"/>
          <a:lstStyle/>
          <a:p>
            <a:pPr algn="l" indent="0" marL="0">
              <a:lnSpc>
                <a:spcPts val="911"/>
              </a:lnSpc>
              <a:buNone/>
            </a:pPr>
            <a:r>
              <a:rPr lang="en-US" sz="800" dirty="0">
                <a:solidFill>
                  <a:srgbClr val="A8A39C"/>
                </a:solidFill>
                <a:latin typeface="Carlito" pitchFamily="34" charset="0"/>
                <a:ea typeface="Carlito" pitchFamily="34" charset="-122"/>
                <a:cs typeface="Carlito" pitchFamily="34" charset="-120"/>
              </a:rPr>
              <a:t>Iron oxide, clay/hydroxyl, vegetation indices</a:t>
            </a:r>
            <a:endParaRPr lang="en-US" sz="800" dirty="0"/>
          </a:p>
        </p:txBody>
      </p:sp>
      <p:sp>
        <p:nvSpPr>
          <p:cNvPr id="21" name="Text 19"/>
          <p:cNvSpPr/>
          <p:nvPr/>
        </p:nvSpPr>
        <p:spPr>
          <a:xfrm>
            <a:off x="7082805" y="1343025"/>
            <a:ext cx="28575" cy="28575"/>
          </a:xfrm>
          <a:prstGeom prst="ellipse">
            <a:avLst/>
          </a:prstGeom>
          <a:solidFill>
            <a:srgbClr val="D4A437"/>
          </a:solidFill>
          <a:ln/>
        </p:spPr>
        <p:txBody>
          <a:bodyPr wrap="square" rtlCol="0" anchor="ctr"/>
          <a:lstStyle/>
          <a:p>
            <a:pPr indent="0" marL="0">
              <a:buNone/>
            </a:pPr>
            <a:endParaRPr lang="en-US" dirty="0"/>
          </a:p>
        </p:txBody>
      </p:sp>
      <p:sp>
        <p:nvSpPr>
          <p:cNvPr id="22" name="Text 20"/>
          <p:cNvSpPr/>
          <p:nvPr/>
        </p:nvSpPr>
        <p:spPr>
          <a:xfrm>
            <a:off x="7182817" y="1285875"/>
            <a:ext cx="1141535" cy="106848"/>
          </a:xfrm>
          <a:prstGeom prst="rect">
            <a:avLst/>
          </a:prstGeom>
          <a:noFill/>
          <a:ln/>
        </p:spPr>
        <p:txBody>
          <a:bodyPr wrap="none" lIns="0" tIns="0" rIns="0" bIns="0" rtlCol="0" anchor="t">
            <a:normAutofit/>
          </a:bodyPr>
          <a:lstStyle/>
          <a:p>
            <a:pPr algn="l" indent="0" marL="0">
              <a:lnSpc>
                <a:spcPts val="945"/>
              </a:lnSpc>
              <a:buNone/>
            </a:pPr>
            <a:r>
              <a:rPr lang="en-US" sz="800" dirty="0">
                <a:solidFill>
                  <a:srgbClr val="E8E6E1"/>
                </a:solidFill>
                <a:latin typeface="Carlito" pitchFamily="34" charset="0"/>
                <a:ea typeface="Carlito" pitchFamily="34" charset="-122"/>
                <a:cs typeface="Carlito" pitchFamily="34" charset="-120"/>
              </a:rPr>
              <a:t>Copernicus DEM</a:t>
            </a:r>
            <a:endParaRPr lang="en-US" sz="800" dirty="0"/>
          </a:p>
        </p:txBody>
      </p:sp>
      <p:sp>
        <p:nvSpPr>
          <p:cNvPr id="23" name="Text 21"/>
          <p:cNvSpPr/>
          <p:nvPr/>
        </p:nvSpPr>
        <p:spPr>
          <a:xfrm>
            <a:off x="7182817" y="1420155"/>
            <a:ext cx="1051926" cy="148019"/>
          </a:xfrm>
          <a:prstGeom prst="rect">
            <a:avLst/>
          </a:prstGeom>
          <a:noFill/>
          <a:ln/>
        </p:spPr>
        <p:txBody>
          <a:bodyPr wrap="square" lIns="0" tIns="0" rIns="0" bIns="0" rtlCol="0" anchor="t"/>
          <a:lstStyle/>
          <a:p>
            <a:pPr algn="l" indent="0" marL="0">
              <a:lnSpc>
                <a:spcPts val="911"/>
              </a:lnSpc>
              <a:buNone/>
            </a:pPr>
            <a:r>
              <a:rPr lang="en-US" sz="675" dirty="0">
                <a:solidFill>
                  <a:srgbClr val="A8A39C"/>
                </a:solidFill>
                <a:latin typeface="Carlito" pitchFamily="34" charset="0"/>
                <a:ea typeface="Carlito" pitchFamily="34" charset="-122"/>
                <a:cs typeface="Carlito" pitchFamily="34" charset="-120"/>
              </a:rPr>
              <a:t>Slope, hillshade, drainage</a:t>
            </a:r>
            <a:endParaRPr lang="en-US" sz="675" dirty="0"/>
          </a:p>
        </p:txBody>
      </p:sp>
      <p:sp>
        <p:nvSpPr>
          <p:cNvPr id="24" name="Text 22"/>
          <p:cNvSpPr/>
          <p:nvPr/>
        </p:nvSpPr>
        <p:spPr>
          <a:xfrm>
            <a:off x="5557503" y="2186099"/>
            <a:ext cx="28575" cy="28575"/>
          </a:xfrm>
          <a:prstGeom prst="ellipse">
            <a:avLst/>
          </a:prstGeom>
          <a:solidFill>
            <a:srgbClr val="D4A437"/>
          </a:solidFill>
          <a:ln/>
        </p:spPr>
        <p:txBody>
          <a:bodyPr wrap="square" rtlCol="0" anchor="ctr"/>
          <a:lstStyle/>
          <a:p>
            <a:pPr indent="0" marL="0">
              <a:buNone/>
            </a:pPr>
            <a:endParaRPr lang="en-US" dirty="0"/>
          </a:p>
        </p:txBody>
      </p:sp>
      <p:sp>
        <p:nvSpPr>
          <p:cNvPr id="25" name="Text 23"/>
          <p:cNvSpPr/>
          <p:nvPr/>
        </p:nvSpPr>
        <p:spPr>
          <a:xfrm>
            <a:off x="5657515" y="2128949"/>
            <a:ext cx="1201973" cy="106848"/>
          </a:xfrm>
          <a:prstGeom prst="rect">
            <a:avLst/>
          </a:prstGeom>
          <a:noFill/>
          <a:ln/>
        </p:spPr>
        <p:txBody>
          <a:bodyPr wrap="none" lIns="0" tIns="0" rIns="0" bIns="0" rtlCol="0" anchor="t">
            <a:normAutofit/>
          </a:bodyPr>
          <a:lstStyle/>
          <a:p>
            <a:pPr algn="l" indent="0" marL="0">
              <a:lnSpc>
                <a:spcPts val="945"/>
              </a:lnSpc>
              <a:buNone/>
            </a:pPr>
            <a:r>
              <a:rPr lang="en-US" sz="800" dirty="0">
                <a:solidFill>
                  <a:srgbClr val="E8E6E1"/>
                </a:solidFill>
                <a:latin typeface="Liberation Sans Narrow" pitchFamily="34" charset="0"/>
                <a:ea typeface="Liberation Sans Narrow" pitchFamily="34" charset="-122"/>
                <a:cs typeface="Liberation Sans Narrow" pitchFamily="34" charset="-120"/>
              </a:rPr>
              <a:t>NOAA EMAG2</a:t>
            </a:r>
            <a:endParaRPr lang="en-US" sz="800" dirty="0"/>
          </a:p>
        </p:txBody>
      </p:sp>
      <p:sp>
        <p:nvSpPr>
          <p:cNvPr id="26" name="Text 24"/>
          <p:cNvSpPr/>
          <p:nvPr/>
        </p:nvSpPr>
        <p:spPr>
          <a:xfrm>
            <a:off x="5657515" y="2263229"/>
            <a:ext cx="1107621" cy="148019"/>
          </a:xfrm>
          <a:prstGeom prst="rect">
            <a:avLst/>
          </a:prstGeom>
          <a:noFill/>
          <a:ln/>
        </p:spPr>
        <p:txBody>
          <a:bodyPr wrap="square" lIns="0" tIns="0" rIns="0" bIns="0" rtlCol="0" anchor="t"/>
          <a:lstStyle/>
          <a:p>
            <a:pPr algn="l" indent="0" marL="0">
              <a:lnSpc>
                <a:spcPts val="911"/>
              </a:lnSpc>
              <a:buNone/>
            </a:pPr>
            <a:r>
              <a:rPr lang="en-US" sz="675" dirty="0">
                <a:solidFill>
                  <a:srgbClr val="A8A39C"/>
                </a:solidFill>
                <a:latin typeface="Carlito" pitchFamily="34" charset="0"/>
                <a:ea typeface="Carlito" pitchFamily="34" charset="-122"/>
                <a:cs typeface="Carlito" pitchFamily="34" charset="-120"/>
              </a:rPr>
              <a:t>Regional magnetic anomaly</a:t>
            </a:r>
            <a:endParaRPr lang="en-US" sz="675" dirty="0"/>
          </a:p>
        </p:txBody>
      </p:sp>
      <p:sp>
        <p:nvSpPr>
          <p:cNvPr id="27" name="Text 25"/>
          <p:cNvSpPr/>
          <p:nvPr/>
        </p:nvSpPr>
        <p:spPr>
          <a:xfrm>
            <a:off x="7082805" y="2186099"/>
            <a:ext cx="28575" cy="28575"/>
          </a:xfrm>
          <a:prstGeom prst="ellipse">
            <a:avLst/>
          </a:prstGeom>
          <a:solidFill>
            <a:srgbClr val="D4A437"/>
          </a:solidFill>
          <a:ln/>
        </p:spPr>
        <p:txBody>
          <a:bodyPr wrap="square" rtlCol="0" anchor="ctr"/>
          <a:lstStyle/>
          <a:p>
            <a:pPr indent="0" marL="0">
              <a:buNone/>
            </a:pPr>
            <a:endParaRPr lang="en-US" dirty="0"/>
          </a:p>
        </p:txBody>
      </p:sp>
      <p:sp>
        <p:nvSpPr>
          <p:cNvPr id="28" name="Text 26"/>
          <p:cNvSpPr/>
          <p:nvPr/>
        </p:nvSpPr>
        <p:spPr>
          <a:xfrm>
            <a:off x="7182817" y="2128949"/>
            <a:ext cx="1296814" cy="106848"/>
          </a:xfrm>
          <a:prstGeom prst="rect">
            <a:avLst/>
          </a:prstGeom>
          <a:noFill/>
          <a:ln/>
        </p:spPr>
        <p:txBody>
          <a:bodyPr wrap="none" lIns="0" tIns="0" rIns="0" bIns="0" rtlCol="0" anchor="t">
            <a:normAutofit/>
          </a:bodyPr>
          <a:lstStyle/>
          <a:p>
            <a:pPr algn="l" indent="0" marL="0">
              <a:lnSpc>
                <a:spcPts val="945"/>
              </a:lnSpc>
              <a:buNone/>
            </a:pPr>
            <a:r>
              <a:rPr lang="en-US" sz="800" dirty="0">
                <a:solidFill>
                  <a:srgbClr val="E8E6E1"/>
                </a:solidFill>
                <a:latin typeface="Carlito" pitchFamily="34" charset="0"/>
                <a:ea typeface="Carlito" pitchFamily="34" charset="-122"/>
                <a:cs typeface="Carlito" pitchFamily="34" charset="-120"/>
              </a:rPr>
              <a:t>Macrostrat</a:t>
            </a:r>
            <a:endParaRPr lang="en-US" sz="800" dirty="0"/>
          </a:p>
        </p:txBody>
      </p:sp>
      <p:sp>
        <p:nvSpPr>
          <p:cNvPr id="29" name="Text 27"/>
          <p:cNvSpPr/>
          <p:nvPr/>
        </p:nvSpPr>
        <p:spPr>
          <a:xfrm>
            <a:off x="7182817" y="2263229"/>
            <a:ext cx="1222264" cy="148019"/>
          </a:xfrm>
          <a:prstGeom prst="rect">
            <a:avLst/>
          </a:prstGeom>
          <a:noFill/>
          <a:ln/>
        </p:spPr>
        <p:txBody>
          <a:bodyPr wrap="square" lIns="0" tIns="0" rIns="0" bIns="0" rtlCol="0" anchor="t"/>
          <a:lstStyle/>
          <a:p>
            <a:pPr algn="l" indent="0" marL="0">
              <a:lnSpc>
                <a:spcPts val="911"/>
              </a:lnSpc>
              <a:buNone/>
            </a:pPr>
            <a:r>
              <a:rPr lang="en-US" sz="675" dirty="0">
                <a:solidFill>
                  <a:srgbClr val="A8A39C"/>
                </a:solidFill>
                <a:latin typeface="Carlito" pitchFamily="34" charset="0"/>
                <a:ea typeface="Carlito" pitchFamily="34" charset="-122"/>
                <a:cs typeface="Carlito" pitchFamily="34" charset="-120"/>
              </a:rPr>
              <a:t>Lithology, age, structural units</a:t>
            </a:r>
            <a:endParaRPr lang="en-US" sz="675" dirty="0"/>
          </a:p>
        </p:txBody>
      </p:sp>
      <p:sp>
        <p:nvSpPr>
          <p:cNvPr id="30" name="Text 28"/>
          <p:cNvSpPr/>
          <p:nvPr/>
        </p:nvSpPr>
        <p:spPr>
          <a:xfrm>
            <a:off x="5557503" y="2913534"/>
            <a:ext cx="28575" cy="28575"/>
          </a:xfrm>
          <a:prstGeom prst="ellipse">
            <a:avLst/>
          </a:prstGeom>
          <a:solidFill>
            <a:srgbClr val="D4A437"/>
          </a:solidFill>
          <a:ln/>
        </p:spPr>
        <p:txBody>
          <a:bodyPr wrap="square" rtlCol="0" anchor="ctr"/>
          <a:lstStyle/>
          <a:p>
            <a:pPr indent="0" marL="0">
              <a:buNone/>
            </a:pPr>
            <a:endParaRPr lang="en-US" dirty="0"/>
          </a:p>
        </p:txBody>
      </p:sp>
      <p:sp>
        <p:nvSpPr>
          <p:cNvPr id="31" name="Text 29"/>
          <p:cNvSpPr/>
          <p:nvPr/>
        </p:nvSpPr>
        <p:spPr>
          <a:xfrm>
            <a:off x="5657515" y="2856384"/>
            <a:ext cx="1055978" cy="106848"/>
          </a:xfrm>
          <a:prstGeom prst="rect">
            <a:avLst/>
          </a:prstGeom>
          <a:noFill/>
          <a:ln/>
        </p:spPr>
        <p:txBody>
          <a:bodyPr wrap="none" lIns="0" tIns="0" rIns="0" bIns="0" rtlCol="0" anchor="t">
            <a:normAutofit/>
          </a:bodyPr>
          <a:lstStyle/>
          <a:p>
            <a:pPr algn="l" indent="0" marL="0">
              <a:lnSpc>
                <a:spcPts val="945"/>
              </a:lnSpc>
              <a:buNone/>
            </a:pPr>
            <a:r>
              <a:rPr lang="en-US" sz="800" dirty="0">
                <a:solidFill>
                  <a:srgbClr val="E8E6E1"/>
                </a:solidFill>
                <a:latin typeface="Carlito" pitchFamily="34" charset="0"/>
                <a:ea typeface="Carlito" pitchFamily="34" charset="-122"/>
                <a:cs typeface="Carlito" pitchFamily="34" charset="-120"/>
              </a:rPr>
              <a:t>OneGeology / BRGM</a:t>
            </a:r>
            <a:endParaRPr lang="en-US" sz="800" dirty="0"/>
          </a:p>
        </p:txBody>
      </p:sp>
      <p:sp>
        <p:nvSpPr>
          <p:cNvPr id="32" name="Text 30"/>
          <p:cNvSpPr/>
          <p:nvPr/>
        </p:nvSpPr>
        <p:spPr>
          <a:xfrm>
            <a:off x="5657515" y="2990664"/>
            <a:ext cx="991106" cy="148019"/>
          </a:xfrm>
          <a:prstGeom prst="rect">
            <a:avLst/>
          </a:prstGeom>
          <a:noFill/>
          <a:ln/>
        </p:spPr>
        <p:txBody>
          <a:bodyPr wrap="none" lIns="0" tIns="0" rIns="0" bIns="0" rtlCol="0" anchor="t"/>
          <a:lstStyle/>
          <a:p>
            <a:pPr algn="l" indent="0" marL="0">
              <a:lnSpc>
                <a:spcPts val="911"/>
              </a:lnSpc>
              <a:buNone/>
            </a:pPr>
            <a:r>
              <a:rPr lang="en-US" sz="675" dirty="0">
                <a:solidFill>
                  <a:srgbClr val="A8A39C"/>
                </a:solidFill>
                <a:latin typeface="Carlito" pitchFamily="34" charset="0"/>
                <a:ea typeface="Carlito" pitchFamily="34" charset="-122"/>
                <a:cs typeface="Carlito" pitchFamily="34" charset="-120"/>
              </a:rPr>
              <a:t>Geological map context</a:t>
            </a:r>
            <a:endParaRPr lang="en-US" sz="675" dirty="0"/>
          </a:p>
        </p:txBody>
      </p:sp>
      <p:sp>
        <p:nvSpPr>
          <p:cNvPr id="33" name="Text 31"/>
          <p:cNvSpPr/>
          <p:nvPr/>
        </p:nvSpPr>
        <p:spPr>
          <a:xfrm>
            <a:off x="7082805" y="2913534"/>
            <a:ext cx="28575" cy="28575"/>
          </a:xfrm>
          <a:prstGeom prst="ellipse">
            <a:avLst/>
          </a:prstGeom>
          <a:solidFill>
            <a:srgbClr val="D4A437"/>
          </a:solidFill>
          <a:ln/>
        </p:spPr>
        <p:txBody>
          <a:bodyPr wrap="square" rtlCol="0" anchor="ctr"/>
          <a:lstStyle/>
          <a:p>
            <a:pPr indent="0" marL="0">
              <a:buNone/>
            </a:pPr>
            <a:endParaRPr lang="en-US" dirty="0"/>
          </a:p>
        </p:txBody>
      </p:sp>
      <p:sp>
        <p:nvSpPr>
          <p:cNvPr id="34" name="Text 32"/>
          <p:cNvSpPr/>
          <p:nvPr/>
        </p:nvSpPr>
        <p:spPr>
          <a:xfrm>
            <a:off x="7182817" y="2856384"/>
            <a:ext cx="1296814" cy="106848"/>
          </a:xfrm>
          <a:prstGeom prst="rect">
            <a:avLst/>
          </a:prstGeom>
          <a:noFill/>
          <a:ln/>
        </p:spPr>
        <p:txBody>
          <a:bodyPr wrap="none" lIns="0" tIns="0" rIns="0" bIns="0" rtlCol="0" anchor="t">
            <a:normAutofit/>
          </a:bodyPr>
          <a:lstStyle/>
          <a:p>
            <a:pPr algn="l" indent="0" marL="0">
              <a:lnSpc>
                <a:spcPts val="945"/>
              </a:lnSpc>
              <a:buNone/>
            </a:pPr>
            <a:r>
              <a:rPr lang="en-US" sz="800" dirty="0">
                <a:solidFill>
                  <a:srgbClr val="E8E6E1"/>
                </a:solidFill>
                <a:latin typeface="Carlito" pitchFamily="34" charset="0"/>
                <a:ea typeface="Carlito" pitchFamily="34" charset="-122"/>
                <a:cs typeface="Carlito" pitchFamily="34" charset="-120"/>
              </a:rPr>
              <a:t>USGS MRDS</a:t>
            </a:r>
            <a:endParaRPr lang="en-US" sz="800" dirty="0"/>
          </a:p>
        </p:txBody>
      </p:sp>
      <p:sp>
        <p:nvSpPr>
          <p:cNvPr id="35" name="Text 33"/>
          <p:cNvSpPr/>
          <p:nvPr/>
        </p:nvSpPr>
        <p:spPr>
          <a:xfrm>
            <a:off x="7182817" y="2990664"/>
            <a:ext cx="1338596" cy="148019"/>
          </a:xfrm>
          <a:prstGeom prst="rect">
            <a:avLst/>
          </a:prstGeom>
          <a:noFill/>
          <a:ln/>
        </p:spPr>
        <p:txBody>
          <a:bodyPr wrap="square" lIns="0" tIns="0" rIns="0" bIns="0" rtlCol="0" anchor="t"/>
          <a:lstStyle/>
          <a:p>
            <a:pPr algn="l" indent="0" marL="0">
              <a:lnSpc>
                <a:spcPts val="911"/>
              </a:lnSpc>
              <a:buNone/>
            </a:pPr>
            <a:r>
              <a:rPr lang="en-US" sz="675" dirty="0">
                <a:solidFill>
                  <a:srgbClr val="A8A39C"/>
                </a:solidFill>
                <a:latin typeface="Carlito" pitchFamily="34" charset="0"/>
                <a:ea typeface="Carlito" pitchFamily="34" charset="-122"/>
                <a:cs typeface="Carlito" pitchFamily="34" charset="-120"/>
              </a:rPr>
              <a:t>Known deposits and occurrences</a:t>
            </a:r>
            <a:endParaRPr lang="en-US" sz="675" dirty="0"/>
          </a:p>
        </p:txBody>
      </p:sp>
      <p:sp>
        <p:nvSpPr>
          <p:cNvPr id="36" name="Text 34"/>
          <p:cNvSpPr/>
          <p:nvPr/>
        </p:nvSpPr>
        <p:spPr>
          <a:xfrm>
            <a:off x="5557503" y="3640968"/>
            <a:ext cx="28575" cy="28575"/>
          </a:xfrm>
          <a:prstGeom prst="ellipse">
            <a:avLst/>
          </a:prstGeom>
          <a:solidFill>
            <a:srgbClr val="D4A437"/>
          </a:solidFill>
          <a:ln/>
        </p:spPr>
        <p:txBody>
          <a:bodyPr wrap="square" rtlCol="0" anchor="ctr"/>
          <a:lstStyle/>
          <a:p>
            <a:pPr indent="0" marL="0">
              <a:buNone/>
            </a:pPr>
            <a:endParaRPr lang="en-US" dirty="0"/>
          </a:p>
        </p:txBody>
      </p:sp>
      <p:sp>
        <p:nvSpPr>
          <p:cNvPr id="37" name="Text 35"/>
          <p:cNvSpPr/>
          <p:nvPr/>
        </p:nvSpPr>
        <p:spPr>
          <a:xfrm>
            <a:off x="5657515" y="3583818"/>
            <a:ext cx="1457803" cy="106848"/>
          </a:xfrm>
          <a:prstGeom prst="rect">
            <a:avLst/>
          </a:prstGeom>
          <a:noFill/>
          <a:ln/>
        </p:spPr>
        <p:txBody>
          <a:bodyPr wrap="none" lIns="0" tIns="0" rIns="0" bIns="0" rtlCol="0" anchor="t">
            <a:normAutofit/>
          </a:bodyPr>
          <a:lstStyle/>
          <a:p>
            <a:pPr algn="l" indent="0" marL="0">
              <a:lnSpc>
                <a:spcPts val="945"/>
              </a:lnSpc>
              <a:buNone/>
            </a:pPr>
            <a:r>
              <a:rPr lang="en-US" sz="800" dirty="0">
                <a:solidFill>
                  <a:srgbClr val="E8E6E1"/>
                </a:solidFill>
                <a:latin typeface="Carlito" pitchFamily="34" charset="0"/>
                <a:ea typeface="Carlito" pitchFamily="34" charset="-122"/>
                <a:cs typeface="Carlito" pitchFamily="34" charset="-120"/>
              </a:rPr>
              <a:t>WDPA</a:t>
            </a:r>
            <a:endParaRPr lang="en-US" sz="800" dirty="0"/>
          </a:p>
        </p:txBody>
      </p:sp>
      <p:sp>
        <p:nvSpPr>
          <p:cNvPr id="38" name="Text 36"/>
          <p:cNvSpPr/>
          <p:nvPr/>
        </p:nvSpPr>
        <p:spPr>
          <a:xfrm>
            <a:off x="5657515" y="3718099"/>
            <a:ext cx="996473" cy="148019"/>
          </a:xfrm>
          <a:prstGeom prst="rect">
            <a:avLst/>
          </a:prstGeom>
          <a:noFill/>
          <a:ln/>
        </p:spPr>
        <p:txBody>
          <a:bodyPr wrap="square" lIns="0" tIns="0" rIns="0" bIns="0" rtlCol="0" anchor="t"/>
          <a:lstStyle/>
          <a:p>
            <a:pPr algn="l" indent="0" marL="0">
              <a:lnSpc>
                <a:spcPts val="911"/>
              </a:lnSpc>
              <a:buNone/>
            </a:pPr>
            <a:r>
              <a:rPr lang="en-US" sz="675" dirty="0">
                <a:solidFill>
                  <a:srgbClr val="A8A39C"/>
                </a:solidFill>
                <a:latin typeface="Carlito" pitchFamily="34" charset="0"/>
                <a:ea typeface="Carlito" pitchFamily="34" charset="-122"/>
                <a:cs typeface="Carlito" pitchFamily="34" charset="-120"/>
              </a:rPr>
              <a:t>Protected-area exclusion</a:t>
            </a:r>
            <a:endParaRPr lang="en-US" sz="675" dirty="0"/>
          </a:p>
        </p:txBody>
      </p:sp>
      <p:sp>
        <p:nvSpPr>
          <p:cNvPr id="39" name="Text 37"/>
          <p:cNvSpPr/>
          <p:nvPr/>
        </p:nvSpPr>
        <p:spPr>
          <a:xfrm>
            <a:off x="7082805" y="3640968"/>
            <a:ext cx="28575" cy="28575"/>
          </a:xfrm>
          <a:prstGeom prst="ellipse">
            <a:avLst/>
          </a:prstGeom>
          <a:solidFill>
            <a:srgbClr val="D4A437"/>
          </a:solidFill>
          <a:ln/>
        </p:spPr>
        <p:txBody>
          <a:bodyPr wrap="square" rtlCol="0" anchor="ctr"/>
          <a:lstStyle/>
          <a:p>
            <a:pPr indent="0" marL="0">
              <a:buNone/>
            </a:pPr>
            <a:endParaRPr lang="en-US" dirty="0"/>
          </a:p>
        </p:txBody>
      </p:sp>
      <p:sp>
        <p:nvSpPr>
          <p:cNvPr id="40" name="Text 38"/>
          <p:cNvSpPr/>
          <p:nvPr/>
        </p:nvSpPr>
        <p:spPr>
          <a:xfrm>
            <a:off x="7182817" y="3583818"/>
            <a:ext cx="1181827" cy="106848"/>
          </a:xfrm>
          <a:prstGeom prst="rect">
            <a:avLst/>
          </a:prstGeom>
          <a:noFill/>
          <a:ln/>
        </p:spPr>
        <p:txBody>
          <a:bodyPr wrap="none" lIns="0" tIns="0" rIns="0" bIns="0" rtlCol="0" anchor="t">
            <a:normAutofit/>
          </a:bodyPr>
          <a:lstStyle/>
          <a:p>
            <a:pPr algn="l" indent="0" marL="0">
              <a:lnSpc>
                <a:spcPts val="945"/>
              </a:lnSpc>
              <a:buNone/>
            </a:pPr>
            <a:r>
              <a:rPr lang="en-US" sz="800" dirty="0">
                <a:solidFill>
                  <a:srgbClr val="E8E6E1"/>
                </a:solidFill>
                <a:latin typeface="Carlito" pitchFamily="34" charset="0"/>
                <a:ea typeface="Carlito" pitchFamily="34" charset="-122"/>
                <a:cs typeface="Carlito" pitchFamily="34" charset="-120"/>
              </a:rPr>
              <a:t>OpenStreetMap</a:t>
            </a:r>
            <a:endParaRPr lang="en-US" sz="800" dirty="0"/>
          </a:p>
        </p:txBody>
      </p:sp>
      <p:sp>
        <p:nvSpPr>
          <p:cNvPr id="41" name="Text 39"/>
          <p:cNvSpPr/>
          <p:nvPr/>
        </p:nvSpPr>
        <p:spPr>
          <a:xfrm>
            <a:off x="7182817" y="3718099"/>
            <a:ext cx="1089056" cy="148019"/>
          </a:xfrm>
          <a:prstGeom prst="rect">
            <a:avLst/>
          </a:prstGeom>
          <a:noFill/>
          <a:ln/>
        </p:spPr>
        <p:txBody>
          <a:bodyPr wrap="square" lIns="0" tIns="0" rIns="0" bIns="0" rtlCol="0" anchor="t"/>
          <a:lstStyle/>
          <a:p>
            <a:pPr algn="l" indent="0" marL="0">
              <a:lnSpc>
                <a:spcPts val="911"/>
              </a:lnSpc>
              <a:buNone/>
            </a:pPr>
            <a:r>
              <a:rPr lang="en-US" sz="675" dirty="0">
                <a:solidFill>
                  <a:srgbClr val="A8A39C"/>
                </a:solidFill>
                <a:latin typeface="Carlito" pitchFamily="34" charset="0"/>
                <a:ea typeface="Carlito" pitchFamily="34" charset="-122"/>
                <a:cs typeface="Carlito" pitchFamily="34" charset="-120"/>
              </a:rPr>
              <a:t>Road network, settlements</a:t>
            </a:r>
            <a:endParaRPr lang="en-US" sz="675" dirty="0"/>
          </a:p>
        </p:txBody>
      </p:sp>
      <p:sp>
        <p:nvSpPr>
          <p:cNvPr id="42" name="Text 40"/>
          <p:cNvSpPr/>
          <p:nvPr/>
        </p:nvSpPr>
        <p:spPr>
          <a:xfrm>
            <a:off x="5557503" y="4339828"/>
            <a:ext cx="2922129" cy="7144"/>
          </a:xfrm>
          <a:prstGeom prst="rect">
            <a:avLst/>
          </a:prstGeom>
          <a:solidFill>
            <a:srgbClr val="2A323C"/>
          </a:solidFill>
          <a:ln/>
        </p:spPr>
        <p:txBody>
          <a:bodyPr wrap="square" rtlCol="0" anchor="ctr"/>
          <a:lstStyle/>
          <a:p>
            <a:pPr indent="0" marL="0">
              <a:buNone/>
            </a:pPr>
            <a:endParaRPr lang="en-US" dirty="0"/>
          </a:p>
        </p:txBody>
      </p:sp>
      <p:sp>
        <p:nvSpPr>
          <p:cNvPr id="43" name="Text 41"/>
          <p:cNvSpPr/>
          <p:nvPr/>
        </p:nvSpPr>
        <p:spPr>
          <a:xfrm>
            <a:off x="5557503" y="4418409"/>
            <a:ext cx="2922129" cy="117872"/>
          </a:xfrm>
          <a:prstGeom prst="rect">
            <a:avLst/>
          </a:prstGeom>
          <a:noFill/>
          <a:ln/>
        </p:spPr>
        <p:txBody>
          <a:bodyPr wrap="square" lIns="0" tIns="0" rIns="0" bIns="0" rtlCol="0" anchor="t"/>
          <a:lstStyle/>
          <a:p>
            <a:pPr algn="l" indent="0" marL="0">
              <a:lnSpc>
                <a:spcPts val="928"/>
              </a:lnSpc>
              <a:buNone/>
            </a:pPr>
            <a:r>
              <a:rPr lang="en-US" sz="619" spc="50" kern="0" dirty="0">
                <a:solidFill>
                  <a:srgbClr val="6B6760"/>
                </a:solidFill>
                <a:latin typeface="Courier New" pitchFamily="34" charset="0"/>
                <a:ea typeface="Courier New" pitchFamily="34" charset="-122"/>
                <a:cs typeface="Courier New" pitchFamily="34" charset="-120"/>
              </a:rPr>
              <a:t>YOUR_SURVEY_DATA · MAG / GEOCHEM / ASSAY · UPLOADED</a:t>
            </a:r>
            <a:endParaRPr lang="en-US" sz="619" dirty="0"/>
          </a:p>
        </p:txBody>
      </p:sp>
      <p:sp>
        <p:nvSpPr>
          <p:cNvPr id="44" name="Text 42"/>
          <p:cNvSpPr/>
          <p:nvPr/>
        </p:nvSpPr>
        <p:spPr>
          <a:xfrm>
            <a:off x="457200" y="4868466"/>
            <a:ext cx="7119640" cy="164592"/>
          </a:xfrm>
          <a:prstGeom prst="rect">
            <a:avLst/>
          </a:prstGeom>
          <a:noFill/>
          <a:ln/>
        </p:spPr>
        <p:txBody>
          <a:bodyPr wrap="square" lIns="0" tIns="0" rIns="0" bIns="0" rtlCol="0" anchor="t"/>
          <a:lstStyle/>
          <a:p>
            <a:pPr algn="l" indent="0" marL="0">
              <a:lnSpc>
                <a:spcPts val="928"/>
              </a:lnSpc>
              <a:buNone/>
            </a:pPr>
            <a:r>
              <a:rPr lang="en-US" sz="800" spc="62" kern="0" dirty="0">
                <a:solidFill>
                  <a:srgbClr val="6B6760"/>
                </a:solidFill>
                <a:latin typeface="Carlito" pitchFamily="34" charset="0"/>
                <a:ea typeface="Carlito" pitchFamily="34" charset="-122"/>
                <a:cs typeface="Carlito" pitchFamily="34" charset="-120"/>
              </a:rPr>
              <a:t>Gold Fields Ghana · Senior Geologist Briefing</a:t>
            </a:r>
            <a:endParaRPr lang="en-US" sz="800" dirty="0"/>
          </a:p>
        </p:txBody>
      </p:sp>
      <p:sp>
        <p:nvSpPr>
          <p:cNvPr id="45" name="Text 43"/>
          <p:cNvSpPr/>
          <p:nvPr/>
        </p:nvSpPr>
        <p:spPr>
          <a:xfrm>
            <a:off x="7591127" y="4868466"/>
            <a:ext cx="1183326" cy="164592"/>
          </a:xfrm>
          <a:prstGeom prst="rect">
            <a:avLst/>
          </a:prstGeom>
          <a:noFill/>
          <a:ln/>
        </p:spPr>
        <p:txBody>
          <a:bodyPr wrap="square" lIns="0" tIns="0" rIns="0" bIns="0" rtlCol="0" anchor="t"/>
          <a:lstStyle/>
          <a:p>
            <a:pPr algn="l" indent="0" marL="0">
              <a:lnSpc>
                <a:spcPts val="928"/>
              </a:lnSpc>
              <a:buNone/>
            </a:pPr>
            <a:r>
              <a:rPr lang="en-US" sz="619" spc="62" kern="0" dirty="0">
                <a:solidFill>
                  <a:srgbClr val="6B6760"/>
                </a:solidFill>
                <a:latin typeface="Carlito" pitchFamily="34" charset="0"/>
                <a:ea typeface="Carlito" pitchFamily="34" charset="-122"/>
                <a:cs typeface="Carlito" pitchFamily="34" charset="-120"/>
              </a:rPr>
              <a:t>TerraPulse · Confidential</a:t>
            </a:r>
            <a:endParaRPr lang="en-US" sz="619"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116"/>
        </a:solidFill>
      </p:bgPr>
    </p:bg>
    <p:spTree>
      <p:nvGrpSpPr>
        <p:cNvPr id="1" name=""/>
        <p:cNvGrpSpPr/>
        <p:nvPr/>
      </p:nvGrpSpPr>
      <p:grpSpPr>
        <a:xfrm>
          <a:off x="0" y="0"/>
          <a:ext cx="0" cy="0"/>
          <a:chOff x="0" y="0"/>
          <a:chExt cx="0" cy="0"/>
        </a:xfrm>
      </p:grpSpPr>
      <p:sp>
        <p:nvSpPr>
          <p:cNvPr id="2" name="Text 0"/>
          <p:cNvSpPr/>
          <p:nvPr/>
        </p:nvSpPr>
        <p:spPr>
          <a:xfrm>
            <a:off x="6294330" y="-285750"/>
            <a:ext cx="2849670" cy="1697355"/>
          </a:xfrm>
          <a:prstGeom prst="rect">
            <a:avLst/>
          </a:prstGeom>
          <a:noFill/>
          <a:ln/>
        </p:spPr>
        <p:txBody>
          <a:bodyPr wrap="square" lIns="0" tIns="0" rIns="0" bIns="0" rtlCol="0" anchor="t"/>
          <a:lstStyle/>
          <a:p>
            <a:pPr algn="l" indent="0" marL="0">
              <a:lnSpc>
                <a:spcPts val="12375"/>
              </a:lnSpc>
              <a:buNone/>
            </a:pPr>
            <a:r>
              <a:rPr lang="en-US" sz="12375" b="1" dirty="0">
                <a:solidFill>
                  <a:srgbClr val="2A323C">
                    <a:alpha val="20000"/>
                  </a:srgbClr>
                </a:solidFill>
                <a:latin typeface="Liberation Sans Narrow" pitchFamily="34" charset="0"/>
                <a:ea typeface="Liberation Sans Narrow" pitchFamily="34" charset="-122"/>
                <a:cs typeface="Liberation Sans Narrow" pitchFamily="34" charset="-120"/>
              </a:rPr>
              <a:t>02</a:t>
            </a:r>
            <a:endParaRPr lang="en-US" sz="12375" dirty="0"/>
          </a:p>
        </p:txBody>
      </p:sp>
      <p:sp>
        <p:nvSpPr>
          <p:cNvPr id="3" name="Text 1"/>
          <p:cNvSpPr/>
          <p:nvPr/>
        </p:nvSpPr>
        <p:spPr>
          <a:xfrm>
            <a:off x="457200" y="171450"/>
            <a:ext cx="7852209" cy="164592"/>
          </a:xfrm>
          <a:prstGeom prst="rect">
            <a:avLst/>
          </a:prstGeom>
          <a:noFill/>
          <a:ln/>
        </p:spPr>
        <p:txBody>
          <a:bodyPr wrap="none" lIns="0" tIns="0" rIns="0" bIns="0" rtlCol="0" anchor="t"/>
          <a:lstStyle/>
          <a:p>
            <a:pPr algn="l" indent="0" marL="0">
              <a:lnSpc>
                <a:spcPts val="928"/>
              </a:lnSpc>
              <a:buNone/>
            </a:pPr>
            <a:r>
              <a:rPr lang="en-US" sz="800" b="1" spc="99" kern="0" dirty="0">
                <a:solidFill>
                  <a:srgbClr val="D4A437"/>
                </a:solidFill>
                <a:latin typeface="Carlito" pitchFamily="34" charset="0"/>
                <a:ea typeface="Carlito" pitchFamily="34" charset="-122"/>
                <a:cs typeface="Carlito" pitchFamily="34" charset="-120"/>
              </a:rPr>
              <a:t>TERRAPULSE</a:t>
            </a:r>
            <a:pPr algn="l" indent="0" marL="0">
              <a:lnSpc>
                <a:spcPts val="928"/>
              </a:lnSpc>
              <a:buNone/>
            </a:pPr>
            <a:r>
              <a:rPr lang="en-US" sz="800" spc="99" kern="0" dirty="0">
                <a:solidFill>
                  <a:srgbClr val="6B6760"/>
                </a:solidFill>
                <a:latin typeface="Liberation Sans Narrow" pitchFamily="34" charset="0"/>
                <a:ea typeface="Liberation Sans Narrow" pitchFamily="34" charset="-122"/>
                <a:cs typeface="Liberation Sans Narrow" pitchFamily="34" charset="-120"/>
              </a:rPr>
              <a:t> / CLAIM 02</a:t>
            </a:r>
            <a:endParaRPr lang="en-US" sz="800" dirty="0"/>
          </a:p>
        </p:txBody>
      </p:sp>
      <p:sp>
        <p:nvSpPr>
          <p:cNvPr id="4" name="Text 2"/>
          <p:cNvSpPr/>
          <p:nvPr/>
        </p:nvSpPr>
        <p:spPr>
          <a:xfrm>
            <a:off x="8323697" y="171450"/>
            <a:ext cx="538755"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6B6760"/>
                </a:solidFill>
                <a:latin typeface="Liberation Sans Narrow" pitchFamily="34" charset="0"/>
                <a:ea typeface="Liberation Sans Narrow" pitchFamily="34" charset="-122"/>
                <a:cs typeface="Liberation Sans Narrow" pitchFamily="34" charset="-120"/>
              </a:rPr>
              <a:t>04 / 12</a:t>
            </a:r>
            <a:endParaRPr lang="en-US" sz="800" dirty="0"/>
          </a:p>
        </p:txBody>
      </p:sp>
      <p:sp>
        <p:nvSpPr>
          <p:cNvPr id="5" name="Text 3"/>
          <p:cNvSpPr/>
          <p:nvPr/>
        </p:nvSpPr>
        <p:spPr>
          <a:xfrm>
            <a:off x="460772" y="617934"/>
            <a:ext cx="8222456" cy="795635"/>
          </a:xfrm>
          <a:prstGeom prst="roundRect">
            <a:avLst>
              <a:gd name="adj" fmla="val 9577"/>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6" name="Text 4"/>
          <p:cNvSpPr/>
          <p:nvPr/>
        </p:nvSpPr>
        <p:spPr>
          <a:xfrm>
            <a:off x="635794" y="721519"/>
            <a:ext cx="7872413" cy="203597"/>
          </a:xfrm>
          <a:prstGeom prst="roundRect">
            <a:avLst>
              <a:gd name="adj" fmla="val 9357"/>
            </a:avLst>
          </a:prstGeom>
          <a:solidFill>
            <a:srgbClr val="D4633F">
              <a:alpha val="8000"/>
            </a:srgbClr>
          </a:solidFill>
          <a:ln/>
        </p:spPr>
        <p:txBody>
          <a:bodyPr wrap="square" rtlCol="0" anchor="ctr"/>
          <a:lstStyle/>
          <a:p>
            <a:pPr indent="0" marL="0">
              <a:buNone/>
            </a:pPr>
            <a:endParaRPr lang="en-US" dirty="0"/>
          </a:p>
        </p:txBody>
      </p:sp>
      <p:sp>
        <p:nvSpPr>
          <p:cNvPr id="7" name="Shape 5"/>
          <p:cNvSpPr/>
          <p:nvPr/>
        </p:nvSpPr>
        <p:spPr>
          <a:xfrm>
            <a:off x="646509" y="721519"/>
            <a:ext cx="0" cy="203597"/>
          </a:xfrm>
          <a:prstGeom prst="line">
            <a:avLst/>
          </a:prstGeom>
          <a:noFill/>
          <a:ln w="21431">
            <a:solidFill>
              <a:srgbClr val="D4633F"/>
            </a:solidFill>
            <a:prstDash val="solid"/>
          </a:ln>
        </p:spPr>
      </p:sp>
      <p:sp>
        <p:nvSpPr>
          <p:cNvPr id="8" name="Text 6"/>
          <p:cNvSpPr/>
          <p:nvPr/>
        </p:nvSpPr>
        <p:spPr>
          <a:xfrm>
            <a:off x="635794" y="721519"/>
            <a:ext cx="7872413" cy="233315"/>
          </a:xfrm>
          <a:prstGeom prst="rect">
            <a:avLst/>
          </a:prstGeom>
          <a:noFill/>
          <a:ln/>
        </p:spPr>
        <p:txBody>
          <a:bodyPr wrap="square" lIns="71438" tIns="42863" rIns="85725" bIns="42863" rtlCol="0" anchor="t">
            <a:normAutofit/>
          </a:bodyPr>
          <a:lstStyle/>
          <a:p>
            <a:pPr algn="l" indent="0" marL="0">
              <a:lnSpc>
                <a:spcPts val="928"/>
              </a:lnSpc>
              <a:buNone/>
            </a:pPr>
            <a:r>
              <a:rPr lang="en-US" sz="800" b="1" spc="87" kern="0" dirty="0">
                <a:solidFill>
                  <a:srgbClr val="D4633F"/>
                </a:solidFill>
                <a:latin typeface="Carlito" pitchFamily="34" charset="0"/>
                <a:ea typeface="Carlito" pitchFamily="34" charset="-122"/>
                <a:cs typeface="Carlito" pitchFamily="34" charset="-120"/>
              </a:rPr>
              <a:t>PROBLEM · REASONING WALKS OUT THE DOOR</a:t>
            </a:r>
            <a:endParaRPr lang="en-US" sz="800" dirty="0"/>
          </a:p>
        </p:txBody>
      </p:sp>
      <p:sp>
        <p:nvSpPr>
          <p:cNvPr id="9" name="Text 7"/>
          <p:cNvSpPr/>
          <p:nvPr/>
        </p:nvSpPr>
        <p:spPr>
          <a:xfrm>
            <a:off x="635794" y="982266"/>
            <a:ext cx="7715250" cy="327720"/>
          </a:xfrm>
          <a:prstGeom prst="rect">
            <a:avLst/>
          </a:prstGeom>
          <a:noFill/>
          <a:ln/>
        </p:spPr>
        <p:txBody>
          <a:bodyPr wrap="square" lIns="0" tIns="0" rIns="0" bIns="0" rtlCol="0" anchor="t"/>
          <a:lstStyle/>
          <a:p>
            <a:pPr algn="l" indent="0" marL="0">
              <a:lnSpc>
                <a:spcPts val="1291"/>
              </a:lnSpc>
              <a:buNone/>
            </a:pPr>
            <a:r>
              <a:rPr lang="en-US" sz="956" spc="-5" kern="0" dirty="0">
                <a:solidFill>
                  <a:srgbClr val="E8E6E1"/>
                </a:solidFill>
                <a:latin typeface="Carlito" pitchFamily="34" charset="0"/>
                <a:ea typeface="Carlito" pitchFamily="34" charset="-122"/>
                <a:cs typeface="Carlito" pitchFamily="34" charset="-120"/>
              </a:rPr>
              <a:t>A target is a judgement made by an experienced geologist looking at several screens. When they leave, or the board asks why, the reasoning is gone — only the conclusion remains.</a:t>
            </a:r>
            <a:endParaRPr lang="en-US" sz="956" dirty="0"/>
          </a:p>
        </p:txBody>
      </p:sp>
      <p:sp>
        <p:nvSpPr>
          <p:cNvPr id="10" name="Text 8"/>
          <p:cNvSpPr/>
          <p:nvPr/>
        </p:nvSpPr>
        <p:spPr>
          <a:xfrm>
            <a:off x="364478" y="1560686"/>
            <a:ext cx="1088056" cy="648081"/>
          </a:xfrm>
          <a:prstGeom prst="rect">
            <a:avLst/>
          </a:prstGeom>
          <a:noFill/>
          <a:ln/>
        </p:spPr>
        <p:txBody>
          <a:bodyPr wrap="none" lIns="0" tIns="0" rIns="0" bIns="0" rtlCol="0" anchor="t"/>
          <a:lstStyle/>
          <a:p>
            <a:pPr algn="l" indent="0" marL="0">
              <a:lnSpc>
                <a:spcPts val="4725"/>
              </a:lnSpc>
              <a:buNone/>
            </a:pPr>
            <a:r>
              <a:rPr lang="en-US" sz="4725" spc="-142" kern="0" dirty="0">
                <a:solidFill>
                  <a:srgbClr val="D4A437"/>
                </a:solidFill>
                <a:latin typeface="Liberation Sans Narrow" pitchFamily="34" charset="0"/>
                <a:ea typeface="Liberation Sans Narrow" pitchFamily="34" charset="-122"/>
                <a:cs typeface="Liberation Sans Narrow" pitchFamily="34" charset="-120"/>
              </a:rPr>
              <a:t>02</a:t>
            </a:r>
            <a:endParaRPr lang="en-US" sz="4725" dirty="0"/>
          </a:p>
        </p:txBody>
      </p:sp>
      <p:sp>
        <p:nvSpPr>
          <p:cNvPr id="11" name="Text 9"/>
          <p:cNvSpPr/>
          <p:nvPr/>
        </p:nvSpPr>
        <p:spPr>
          <a:xfrm>
            <a:off x="1178496" y="1545729"/>
            <a:ext cx="7700963" cy="271480"/>
          </a:xfrm>
          <a:prstGeom prst="rect">
            <a:avLst/>
          </a:prstGeom>
          <a:noFill/>
          <a:ln/>
        </p:spPr>
        <p:txBody>
          <a:bodyPr wrap="square" lIns="0" tIns="0" rIns="0" bIns="0" rtlCol="0" anchor="t"/>
          <a:lstStyle/>
          <a:p>
            <a:pPr algn="l" indent="0" marL="0">
              <a:lnSpc>
                <a:spcPts val="1980"/>
              </a:lnSpc>
              <a:buNone/>
            </a:pPr>
            <a:r>
              <a:rPr lang="en-US" sz="1800" b="1" spc="-22" kern="0" dirty="0">
                <a:solidFill>
                  <a:srgbClr val="E8E6E1"/>
                </a:solidFill>
                <a:latin typeface="Carlito" pitchFamily="34" charset="0"/>
                <a:ea typeface="Carlito" pitchFamily="34" charset="-122"/>
                <a:cs typeface="Carlito" pitchFamily="34" charset="-120"/>
              </a:rPr>
              <a:t>The ranking explains itself</a:t>
            </a:r>
            <a:endParaRPr lang="en-US" sz="1800" dirty="0"/>
          </a:p>
        </p:txBody>
      </p:sp>
      <p:sp>
        <p:nvSpPr>
          <p:cNvPr id="12" name="Text 10"/>
          <p:cNvSpPr/>
          <p:nvPr/>
        </p:nvSpPr>
        <p:spPr>
          <a:xfrm>
            <a:off x="1178496" y="1854250"/>
            <a:ext cx="7000875" cy="347186"/>
          </a:xfrm>
          <a:prstGeom prst="rect">
            <a:avLst/>
          </a:prstGeom>
          <a:noFill/>
          <a:ln/>
        </p:spPr>
        <p:txBody>
          <a:bodyPr wrap="square" lIns="0" tIns="0" rIns="0" bIns="0" rtlCol="0" anchor="t"/>
          <a:lstStyle/>
          <a:p>
            <a:pPr algn="l" indent="0" marL="0">
              <a:lnSpc>
                <a:spcPts val="1266"/>
              </a:lnSpc>
              <a:buNone/>
            </a:pPr>
            <a:r>
              <a:rPr lang="en-US" sz="844" dirty="0">
                <a:solidFill>
                  <a:srgbClr val="A8A39C"/>
                </a:solidFill>
                <a:latin typeface="Carlito" pitchFamily="34" charset="0"/>
                <a:ea typeface="Carlito" pitchFamily="34" charset="-122"/>
                <a:cs typeface="Carlito" pitchFamily="34" charset="-120"/>
              </a:rPr>
              <a:t>Every target carries per-target evidence attribution: which layers pushed the score up, and by how much. Not a heat map you interpret — a ranked list that tells you what it was reasoning from, with a depth-to-source estimate attached.</a:t>
            </a:r>
            <a:endParaRPr lang="en-US" sz="844" dirty="0"/>
          </a:p>
        </p:txBody>
      </p:sp>
      <p:sp>
        <p:nvSpPr>
          <p:cNvPr id="13" name="Text 11"/>
          <p:cNvSpPr/>
          <p:nvPr/>
        </p:nvSpPr>
        <p:spPr>
          <a:xfrm>
            <a:off x="460772" y="2307878"/>
            <a:ext cx="8222456" cy="2493169"/>
          </a:xfrm>
          <a:prstGeom prst="roundRect">
            <a:avLst>
              <a:gd name="adj" fmla="val 3056"/>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14" name="Shape 12"/>
          <p:cNvSpPr/>
          <p:nvPr/>
        </p:nvSpPr>
        <p:spPr>
          <a:xfrm>
            <a:off x="2775347" y="2425750"/>
            <a:ext cx="0" cy="2257425"/>
          </a:xfrm>
          <a:prstGeom prst="line">
            <a:avLst/>
          </a:prstGeom>
          <a:noFill/>
          <a:ln w="7144">
            <a:solidFill>
              <a:srgbClr val="2A323C"/>
            </a:solidFill>
            <a:prstDash val="solid"/>
          </a:ln>
        </p:spPr>
      </p:sp>
      <p:sp>
        <p:nvSpPr>
          <p:cNvPr id="15" name="Text 13"/>
          <p:cNvSpPr/>
          <p:nvPr/>
        </p:nvSpPr>
        <p:spPr>
          <a:xfrm>
            <a:off x="635794" y="2425750"/>
            <a:ext cx="1935956" cy="321469"/>
          </a:xfrm>
          <a:prstGeom prst="roundRect">
            <a:avLst>
              <a:gd name="adj" fmla="val 5926"/>
            </a:avLst>
          </a:prstGeom>
          <a:solidFill>
            <a:srgbClr val="6BAE85">
              <a:alpha val="8000"/>
            </a:srgbClr>
          </a:solidFill>
          <a:ln/>
        </p:spPr>
        <p:txBody>
          <a:bodyPr wrap="square" rtlCol="0" anchor="ctr"/>
          <a:lstStyle/>
          <a:p>
            <a:pPr indent="0" marL="0">
              <a:buNone/>
            </a:pPr>
            <a:endParaRPr lang="en-US" dirty="0"/>
          </a:p>
        </p:txBody>
      </p:sp>
      <p:sp>
        <p:nvSpPr>
          <p:cNvPr id="16" name="Shape 14"/>
          <p:cNvSpPr/>
          <p:nvPr/>
        </p:nvSpPr>
        <p:spPr>
          <a:xfrm>
            <a:off x="646509" y="2425750"/>
            <a:ext cx="0" cy="321469"/>
          </a:xfrm>
          <a:prstGeom prst="line">
            <a:avLst/>
          </a:prstGeom>
          <a:noFill/>
          <a:ln w="21431">
            <a:solidFill>
              <a:srgbClr val="6BAE85"/>
            </a:solidFill>
            <a:prstDash val="solid"/>
          </a:ln>
        </p:spPr>
      </p:sp>
      <p:sp>
        <p:nvSpPr>
          <p:cNvPr id="17" name="Text 15"/>
          <p:cNvSpPr/>
          <p:nvPr/>
        </p:nvSpPr>
        <p:spPr>
          <a:xfrm>
            <a:off x="635794" y="2425750"/>
            <a:ext cx="1935956" cy="394049"/>
          </a:xfrm>
          <a:prstGeom prst="rect">
            <a:avLst/>
          </a:prstGeom>
          <a:noFill/>
          <a:ln/>
        </p:spPr>
        <p:txBody>
          <a:bodyPr wrap="square" lIns="71438" tIns="42863" rIns="85725" bIns="42863" rtlCol="0" anchor="t">
            <a:normAutofit/>
          </a:bodyPr>
          <a:lstStyle/>
          <a:p>
            <a:pPr algn="l" indent="0" marL="0">
              <a:lnSpc>
                <a:spcPts val="928"/>
              </a:lnSpc>
              <a:buNone/>
            </a:pPr>
            <a:r>
              <a:rPr lang="en-US" sz="800" b="1" spc="87" kern="0" dirty="0">
                <a:solidFill>
                  <a:srgbClr val="6BAE85"/>
                </a:solidFill>
                <a:latin typeface="Carlito" pitchFamily="34" charset="0"/>
                <a:ea typeface="Carlito" pitchFamily="34" charset="-122"/>
                <a:cs typeface="Carlito" pitchFamily="34" charset="-120"/>
              </a:rPr>
              <a:t>IMPACT · A NUMBER YOU CAN ARGUE WITH</a:t>
            </a:r>
            <a:endParaRPr lang="en-US" sz="800" dirty="0"/>
          </a:p>
        </p:txBody>
      </p:sp>
      <p:sp>
        <p:nvSpPr>
          <p:cNvPr id="18" name="Text 16"/>
          <p:cNvSpPr/>
          <p:nvPr/>
        </p:nvSpPr>
        <p:spPr>
          <a:xfrm>
            <a:off x="635794" y="2847231"/>
            <a:ext cx="1935956" cy="582984"/>
          </a:xfrm>
          <a:prstGeom prst="rect">
            <a:avLst/>
          </a:prstGeom>
          <a:noFill/>
          <a:ln/>
        </p:spPr>
        <p:txBody>
          <a:bodyPr wrap="square" lIns="0" tIns="0" rIns="0" bIns="0" rtlCol="0" anchor="t"/>
          <a:lstStyle/>
          <a:p>
            <a:pPr algn="l" indent="0" marL="0">
              <a:lnSpc>
                <a:spcPts val="1418"/>
              </a:lnSpc>
              <a:buNone/>
            </a:pPr>
            <a:r>
              <a:rPr lang="en-US" sz="1013" dirty="0">
                <a:solidFill>
                  <a:srgbClr val="6BAE85"/>
                </a:solidFill>
                <a:latin typeface="Carlito" pitchFamily="34" charset="0"/>
                <a:ea typeface="Carlito" pitchFamily="34" charset="-122"/>
                <a:cs typeface="Carlito" pitchFamily="34" charset="-120"/>
              </a:rPr>
              <a:t>A geologist can agree or disagree with a specific number rather than with a colour.</a:t>
            </a:r>
            <a:endParaRPr lang="en-US" sz="1013" dirty="0"/>
          </a:p>
        </p:txBody>
      </p:sp>
      <p:sp>
        <p:nvSpPr>
          <p:cNvPr id="19" name="Text 17"/>
          <p:cNvSpPr/>
          <p:nvPr/>
        </p:nvSpPr>
        <p:spPr>
          <a:xfrm>
            <a:off x="635794" y="3558480"/>
            <a:ext cx="2045684" cy="98253"/>
          </a:xfrm>
          <a:prstGeom prst="rect">
            <a:avLst/>
          </a:prstGeom>
          <a:noFill/>
          <a:ln/>
        </p:spPr>
        <p:txBody>
          <a:bodyPr wrap="square" lIns="0" tIns="0" rIns="0" bIns="0" rtlCol="0" anchor="t">
            <a:normAutofit/>
          </a:bodyPr>
          <a:lstStyle/>
          <a:p>
            <a:pPr algn="l" indent="0" marL="0">
              <a:lnSpc>
                <a:spcPts val="990"/>
              </a:lnSpc>
              <a:buNone/>
            </a:pPr>
            <a:r>
              <a:rPr lang="en-US" sz="800" spc="62" kern="0" dirty="0">
                <a:solidFill>
                  <a:srgbClr val="D4A437"/>
                </a:solidFill>
                <a:latin typeface="Courier New" pitchFamily="34" charset="0"/>
                <a:ea typeface="Courier New" pitchFamily="34" charset="-122"/>
                <a:cs typeface="Courier New" pitchFamily="34" charset="-120"/>
              </a:rPr>
              <a:t>▸</a:t>
            </a:r>
            <a:pPr algn="l" indent="0" marL="0">
              <a:lnSpc>
                <a:spcPts val="990"/>
              </a:lnSpc>
              <a:buNone/>
            </a:pPr>
            <a:r>
              <a:rPr lang="en-US" sz="800" spc="62" kern="0" dirty="0">
                <a:solidFill>
                  <a:srgbClr val="6B6760"/>
                </a:solidFill>
                <a:latin typeface="Courier New" pitchFamily="34" charset="0"/>
                <a:ea typeface="Courier New" pitchFamily="34" charset="-122"/>
                <a:cs typeface="Courier New" pitchFamily="34" charset="-120"/>
              </a:rPr>
              <a:t> Per-target evidence breakdown</a:t>
            </a:r>
            <a:endParaRPr lang="en-US" sz="800" dirty="0"/>
          </a:p>
        </p:txBody>
      </p:sp>
      <p:sp>
        <p:nvSpPr>
          <p:cNvPr id="20" name="Text 18"/>
          <p:cNvSpPr/>
          <p:nvPr/>
        </p:nvSpPr>
        <p:spPr>
          <a:xfrm>
            <a:off x="635794" y="3684166"/>
            <a:ext cx="2045684" cy="98253"/>
          </a:xfrm>
          <a:prstGeom prst="rect">
            <a:avLst/>
          </a:prstGeom>
          <a:noFill/>
          <a:ln/>
        </p:spPr>
        <p:txBody>
          <a:bodyPr wrap="square" lIns="0" tIns="0" rIns="0" bIns="0" rtlCol="0" anchor="t">
            <a:normAutofit/>
          </a:bodyPr>
          <a:lstStyle/>
          <a:p>
            <a:pPr algn="l" indent="0" marL="0">
              <a:lnSpc>
                <a:spcPts val="990"/>
              </a:lnSpc>
              <a:buNone/>
            </a:pPr>
            <a:r>
              <a:rPr lang="en-US" sz="800" spc="62" kern="0" dirty="0">
                <a:solidFill>
                  <a:srgbClr val="D4A437"/>
                </a:solidFill>
                <a:latin typeface="Courier New" pitchFamily="34" charset="0"/>
                <a:ea typeface="Courier New" pitchFamily="34" charset="-122"/>
                <a:cs typeface="Courier New" pitchFamily="34" charset="-120"/>
              </a:rPr>
              <a:t>▸</a:t>
            </a:r>
            <a:pPr algn="l" indent="0" marL="0">
              <a:lnSpc>
                <a:spcPts val="990"/>
              </a:lnSpc>
              <a:buNone/>
            </a:pPr>
            <a:r>
              <a:rPr lang="en-US" sz="800" spc="62" kern="0" dirty="0">
                <a:solidFill>
                  <a:srgbClr val="6B6760"/>
                </a:solidFill>
                <a:latin typeface="Courier New" pitchFamily="34" charset="0"/>
                <a:ea typeface="Courier New" pitchFamily="34" charset="-122"/>
                <a:cs typeface="Courier New" pitchFamily="34" charset="-120"/>
              </a:rPr>
              <a:t> Depth-to-source estimate</a:t>
            </a:r>
            <a:endParaRPr lang="en-US" sz="800" dirty="0"/>
          </a:p>
        </p:txBody>
      </p:sp>
      <p:sp>
        <p:nvSpPr>
          <p:cNvPr id="21" name="Text 19"/>
          <p:cNvSpPr/>
          <p:nvPr/>
        </p:nvSpPr>
        <p:spPr>
          <a:xfrm>
            <a:off x="635794" y="3809851"/>
            <a:ext cx="1935956" cy="175502"/>
          </a:xfrm>
          <a:prstGeom prst="rect">
            <a:avLst/>
          </a:prstGeom>
          <a:noFill/>
          <a:ln/>
        </p:spPr>
        <p:txBody>
          <a:bodyPr wrap="none" lIns="0" tIns="0" rIns="0" bIns="0" rtlCol="0" anchor="t"/>
          <a:lstStyle/>
          <a:p>
            <a:pPr algn="l" indent="0" marL="0">
              <a:lnSpc>
                <a:spcPts val="990"/>
              </a:lnSpc>
              <a:buNone/>
            </a:pPr>
            <a:r>
              <a:rPr lang="en-US" sz="800" spc="62" kern="0" dirty="0">
                <a:solidFill>
                  <a:srgbClr val="D4A437"/>
                </a:solidFill>
                <a:latin typeface="Courier New" pitchFamily="34" charset="0"/>
                <a:ea typeface="Courier New" pitchFamily="34" charset="-122"/>
                <a:cs typeface="Courier New" pitchFamily="34" charset="-120"/>
              </a:rPr>
              <a:t>▸</a:t>
            </a:r>
            <a:pPr algn="l" indent="0" marL="0">
              <a:lnSpc>
                <a:spcPts val="990"/>
              </a:lnSpc>
              <a:buNone/>
            </a:pPr>
            <a:r>
              <a:rPr lang="en-US" sz="800" spc="62" kern="0" dirty="0">
                <a:solidFill>
                  <a:srgbClr val="6B6760"/>
                </a:solidFill>
                <a:latin typeface="Courier New" pitchFamily="34" charset="0"/>
                <a:ea typeface="Courier New" pitchFamily="34" charset="-122"/>
                <a:cs typeface="Courier New" pitchFamily="34" charset="-120"/>
              </a:rPr>
              <a:t> Published model weights</a:t>
            </a:r>
            <a:endParaRPr lang="en-US" sz="800" dirty="0"/>
          </a:p>
        </p:txBody>
      </p:sp>
      <p:sp>
        <p:nvSpPr>
          <p:cNvPr id="22" name="Shape 20"/>
          <p:cNvSpPr/>
          <p:nvPr/>
        </p:nvSpPr>
        <p:spPr>
          <a:xfrm>
            <a:off x="2964656" y="2647206"/>
            <a:ext cx="5543550" cy="0"/>
          </a:xfrm>
          <a:prstGeom prst="line">
            <a:avLst/>
          </a:prstGeom>
          <a:noFill/>
          <a:ln w="7144">
            <a:solidFill>
              <a:srgbClr val="2A323C"/>
            </a:solidFill>
            <a:prstDash val="solid"/>
          </a:ln>
        </p:spPr>
      </p:sp>
      <p:sp>
        <p:nvSpPr>
          <p:cNvPr id="23" name="Text 21"/>
          <p:cNvSpPr/>
          <p:nvPr/>
        </p:nvSpPr>
        <p:spPr>
          <a:xfrm>
            <a:off x="2964656" y="2416106"/>
            <a:ext cx="667606" cy="180023"/>
          </a:xfrm>
          <a:prstGeom prst="roundRect">
            <a:avLst>
              <a:gd name="adj" fmla="val 10582"/>
            </a:avLst>
          </a:prstGeom>
          <a:solidFill>
            <a:srgbClr val="D4A437">
              <a:alpha val="12000"/>
            </a:srgbClr>
          </a:solidFill>
          <a:ln/>
        </p:spPr>
        <p:txBody>
          <a:bodyPr wrap="square" rtlCol="0" anchor="ctr"/>
          <a:lstStyle/>
          <a:p>
            <a:pPr indent="0" marL="0">
              <a:buNone/>
            </a:pPr>
            <a:endParaRPr lang="en-US" dirty="0"/>
          </a:p>
        </p:txBody>
      </p:sp>
      <p:sp>
        <p:nvSpPr>
          <p:cNvPr id="24" name="Text 22"/>
          <p:cNvSpPr/>
          <p:nvPr/>
        </p:nvSpPr>
        <p:spPr>
          <a:xfrm>
            <a:off x="2902432" y="2425750"/>
            <a:ext cx="792053" cy="160734"/>
          </a:xfrm>
          <a:prstGeom prst="rect">
            <a:avLst/>
          </a:prstGeom>
          <a:noFill/>
          <a:ln/>
        </p:spPr>
        <p:txBody>
          <a:bodyPr wrap="none" lIns="0" tIns="0" rIns="0" bIns="0" rtlCol="0" anchor="ctr"/>
          <a:lstStyle/>
          <a:p>
            <a:pPr algn="ctr" indent="0" marL="0">
              <a:lnSpc>
                <a:spcPts val="928"/>
              </a:lnSpc>
              <a:buNone/>
            </a:pPr>
            <a:r>
              <a:rPr lang="en-US" sz="800" spc="87" kern="0" dirty="0">
                <a:solidFill>
                  <a:srgbClr val="D4A437"/>
                </a:solidFill>
                <a:latin typeface="Liberation Sans Narrow" pitchFamily="34" charset="0"/>
                <a:ea typeface="Liberation Sans Narrow" pitchFamily="34" charset="-122"/>
                <a:cs typeface="Liberation Sans Narrow" pitchFamily="34" charset="-120"/>
              </a:rPr>
              <a:t>TARGET T-07</a:t>
            </a:r>
            <a:endParaRPr lang="en-US" sz="800" dirty="0"/>
          </a:p>
        </p:txBody>
      </p:sp>
      <p:sp>
        <p:nvSpPr>
          <p:cNvPr id="25" name="Text 23"/>
          <p:cNvSpPr/>
          <p:nvPr/>
        </p:nvSpPr>
        <p:spPr>
          <a:xfrm>
            <a:off x="3716871" y="2447181"/>
            <a:ext cx="589443" cy="139303"/>
          </a:xfrm>
          <a:prstGeom prst="rect">
            <a:avLst/>
          </a:prstGeom>
          <a:noFill/>
          <a:ln/>
        </p:spPr>
        <p:txBody>
          <a:bodyPr wrap="square" lIns="0" tIns="0" rIns="0" bIns="0" rtlCol="0" anchor="t"/>
          <a:lstStyle/>
          <a:p>
            <a:pPr algn="l" indent="0" marL="0">
              <a:lnSpc>
                <a:spcPts val="928"/>
              </a:lnSpc>
              <a:buNone/>
            </a:pPr>
            <a:r>
              <a:rPr lang="en-US" sz="800" spc="87" kern="0" dirty="0">
                <a:solidFill>
                  <a:srgbClr val="6B6760"/>
                </a:solidFill>
                <a:latin typeface="Liberation Sans Narrow" pitchFamily="34" charset="0"/>
                <a:ea typeface="Liberation Sans Narrow" pitchFamily="34" charset="-122"/>
                <a:cs typeface="Liberation Sans Narrow" pitchFamily="34" charset="-120"/>
              </a:rPr>
              <a:t>SCORE 84</a:t>
            </a:r>
            <a:endParaRPr lang="en-US" sz="800" dirty="0"/>
          </a:p>
        </p:txBody>
      </p:sp>
      <p:sp>
        <p:nvSpPr>
          <p:cNvPr id="26" name="Text 24"/>
          <p:cNvSpPr/>
          <p:nvPr/>
        </p:nvSpPr>
        <p:spPr>
          <a:xfrm>
            <a:off x="4234681" y="2447181"/>
            <a:ext cx="100347" cy="139303"/>
          </a:xfrm>
          <a:prstGeom prst="rect">
            <a:avLst/>
          </a:prstGeom>
          <a:noFill/>
          <a:ln/>
        </p:spPr>
        <p:txBody>
          <a:bodyPr wrap="none" lIns="0" tIns="0" rIns="0" bIns="0" rtlCol="0" anchor="t"/>
          <a:lstStyle/>
          <a:p>
            <a:pPr algn="l" indent="0" marL="0">
              <a:lnSpc>
                <a:spcPts val="928"/>
              </a:lnSpc>
              <a:buNone/>
            </a:pPr>
            <a:r>
              <a:rPr lang="en-US" sz="800" spc="87" kern="0" dirty="0">
                <a:solidFill>
                  <a:srgbClr val="2A323C"/>
                </a:solidFill>
                <a:latin typeface="Courier New" pitchFamily="34" charset="0"/>
                <a:ea typeface="Courier New" pitchFamily="34" charset="-122"/>
                <a:cs typeface="Courier New" pitchFamily="34" charset="-120"/>
              </a:rPr>
              <a:t>|</a:t>
            </a:r>
            <a:endParaRPr lang="en-US" sz="800" dirty="0"/>
          </a:p>
        </p:txBody>
      </p:sp>
      <p:sp>
        <p:nvSpPr>
          <p:cNvPr id="27" name="Text 25"/>
          <p:cNvSpPr/>
          <p:nvPr/>
        </p:nvSpPr>
        <p:spPr>
          <a:xfrm>
            <a:off x="4385035" y="2447181"/>
            <a:ext cx="4123172" cy="139303"/>
          </a:xfrm>
          <a:prstGeom prst="rect">
            <a:avLst/>
          </a:prstGeom>
          <a:noFill/>
          <a:ln/>
        </p:spPr>
        <p:txBody>
          <a:bodyPr wrap="square" lIns="0" tIns="0" rIns="0" bIns="0" rtlCol="0" anchor="t"/>
          <a:lstStyle/>
          <a:p>
            <a:pPr algn="l" indent="0" marL="0">
              <a:lnSpc>
                <a:spcPts val="928"/>
              </a:lnSpc>
              <a:buNone/>
            </a:pPr>
            <a:r>
              <a:rPr lang="en-US" sz="800" spc="87" kern="0" dirty="0">
                <a:solidFill>
                  <a:srgbClr val="6B6760"/>
                </a:solidFill>
                <a:latin typeface="Liberation Sans Narrow" pitchFamily="34" charset="0"/>
                <a:ea typeface="Liberation Sans Narrow" pitchFamily="34" charset="-122"/>
                <a:cs typeface="Liberation Sans Narrow" pitchFamily="34" charset="-120"/>
              </a:rPr>
              <a:t>DEPTH-TO-SOURCE 142M</a:t>
            </a:r>
            <a:endParaRPr lang="en-US" sz="800" dirty="0"/>
          </a:p>
        </p:txBody>
      </p:sp>
      <p:sp>
        <p:nvSpPr>
          <p:cNvPr id="28" name="Text 26"/>
          <p:cNvSpPr/>
          <p:nvPr/>
        </p:nvSpPr>
        <p:spPr>
          <a:xfrm>
            <a:off x="2964656" y="2751460"/>
            <a:ext cx="1697355" cy="131649"/>
          </a:xfrm>
          <a:prstGeom prst="rect">
            <a:avLst/>
          </a:prstGeom>
          <a:noFill/>
          <a:ln/>
        </p:spPr>
        <p:txBody>
          <a:bodyPr wrap="square" lIns="0" tIns="0" rIns="0" bIns="0" rtlCol="0" anchor="t"/>
          <a:lstStyle/>
          <a:p>
            <a:pPr algn="l" indent="0" marL="0">
              <a:lnSpc>
                <a:spcPts val="945"/>
              </a:lnSpc>
              <a:buNone/>
            </a:pPr>
            <a:r>
              <a:rPr lang="en-US" sz="800" dirty="0">
                <a:solidFill>
                  <a:srgbClr val="E8E6E1"/>
                </a:solidFill>
                <a:latin typeface="Carlito" pitchFamily="34" charset="0"/>
                <a:ea typeface="Carlito" pitchFamily="34" charset="-122"/>
                <a:cs typeface="Carlito" pitchFamily="34" charset="-120"/>
              </a:rPr>
              <a:t>Gold geochemistry anomaly</a:t>
            </a:r>
            <a:endParaRPr lang="en-US" sz="800" dirty="0"/>
          </a:p>
        </p:txBody>
      </p:sp>
      <p:sp>
        <p:nvSpPr>
          <p:cNvPr id="29" name="Text 27"/>
          <p:cNvSpPr/>
          <p:nvPr/>
        </p:nvSpPr>
        <p:spPr>
          <a:xfrm>
            <a:off x="4636294" y="2782937"/>
            <a:ext cx="3371850" cy="57150"/>
          </a:xfrm>
          <a:prstGeom prst="roundRect">
            <a:avLst>
              <a:gd name="adj" fmla="val 33333"/>
            </a:avLst>
          </a:prstGeom>
          <a:solidFill>
            <a:srgbClr val="2A323C"/>
          </a:solidFill>
          <a:ln/>
        </p:spPr>
        <p:txBody>
          <a:bodyPr wrap="square" rtlCol="0" anchor="ctr"/>
          <a:lstStyle/>
          <a:p>
            <a:pPr indent="0" marL="0">
              <a:buNone/>
            </a:pPr>
            <a:endParaRPr lang="en-US" dirty="0"/>
          </a:p>
        </p:txBody>
      </p:sp>
      <p:sp>
        <p:nvSpPr>
          <p:cNvPr id="30" name="Text 28"/>
          <p:cNvSpPr/>
          <p:nvPr/>
        </p:nvSpPr>
        <p:spPr>
          <a:xfrm>
            <a:off x="4636294" y="2782937"/>
            <a:ext cx="3371850" cy="57150"/>
          </a:xfrm>
          <a:prstGeom prst="roundRect">
            <a:avLst>
              <a:gd name="adj" fmla="val 33333"/>
            </a:avLst>
          </a:prstGeom>
          <a:solidFill>
            <a:srgbClr val="D4A437"/>
          </a:solidFill>
          <a:ln/>
        </p:spPr>
        <p:txBody>
          <a:bodyPr wrap="square" rtlCol="0" anchor="ctr"/>
          <a:lstStyle/>
          <a:p>
            <a:pPr indent="0" marL="0">
              <a:buNone/>
            </a:pPr>
            <a:endParaRPr lang="en-US" dirty="0"/>
          </a:p>
        </p:txBody>
      </p:sp>
      <p:sp>
        <p:nvSpPr>
          <p:cNvPr id="31" name="Text 29"/>
          <p:cNvSpPr/>
          <p:nvPr/>
        </p:nvSpPr>
        <p:spPr>
          <a:xfrm>
            <a:off x="7868126" y="2736503"/>
            <a:ext cx="640080" cy="164592"/>
          </a:xfrm>
          <a:prstGeom prst="rect">
            <a:avLst/>
          </a:prstGeom>
          <a:noFill/>
          <a:ln/>
        </p:spPr>
        <p:txBody>
          <a:bodyPr wrap="none" lIns="0" tIns="0" rIns="0" bIns="0" rtlCol="0" anchor="t"/>
          <a:lstStyle/>
          <a:p>
            <a:pPr algn="r" indent="0" marL="0">
              <a:lnSpc>
                <a:spcPts val="1181"/>
              </a:lnSpc>
              <a:buNone/>
            </a:pPr>
            <a:r>
              <a:rPr lang="en-US" sz="800" dirty="0">
                <a:solidFill>
                  <a:srgbClr val="E8E6E1"/>
                </a:solidFill>
                <a:latin typeface="Liberation Sans Narrow" pitchFamily="34" charset="0"/>
                <a:ea typeface="Liberation Sans Narrow" pitchFamily="34" charset="-122"/>
                <a:cs typeface="Liberation Sans Narrow" pitchFamily="34" charset="-120"/>
              </a:rPr>
              <a:t>+28</a:t>
            </a:r>
            <a:endParaRPr lang="en-US" sz="800" dirty="0"/>
          </a:p>
        </p:txBody>
      </p:sp>
      <p:sp>
        <p:nvSpPr>
          <p:cNvPr id="32" name="Text 30"/>
          <p:cNvSpPr/>
          <p:nvPr/>
        </p:nvSpPr>
        <p:spPr>
          <a:xfrm>
            <a:off x="2964656" y="3001491"/>
            <a:ext cx="1650206" cy="131649"/>
          </a:xfrm>
          <a:prstGeom prst="rect">
            <a:avLst/>
          </a:prstGeom>
          <a:noFill/>
          <a:ln/>
        </p:spPr>
        <p:txBody>
          <a:bodyPr wrap="none" lIns="0" tIns="0" rIns="0" bIns="0" rtlCol="0" anchor="t"/>
          <a:lstStyle/>
          <a:p>
            <a:pPr algn="l" indent="0" marL="0">
              <a:lnSpc>
                <a:spcPts val="945"/>
              </a:lnSpc>
              <a:buNone/>
            </a:pPr>
            <a:r>
              <a:rPr lang="en-US" sz="800" dirty="0">
                <a:solidFill>
                  <a:srgbClr val="E8E6E1"/>
                </a:solidFill>
                <a:latin typeface="Carlito" pitchFamily="34" charset="0"/>
                <a:ea typeface="Carlito" pitchFamily="34" charset="-122"/>
                <a:cs typeface="Carlito" pitchFamily="34" charset="-120"/>
              </a:rPr>
              <a:t>Magnetic low (RTP)</a:t>
            </a:r>
            <a:endParaRPr lang="en-US" sz="800" dirty="0"/>
          </a:p>
        </p:txBody>
      </p:sp>
      <p:sp>
        <p:nvSpPr>
          <p:cNvPr id="33" name="Text 31"/>
          <p:cNvSpPr/>
          <p:nvPr/>
        </p:nvSpPr>
        <p:spPr>
          <a:xfrm>
            <a:off x="4636294" y="3032968"/>
            <a:ext cx="3371850" cy="57150"/>
          </a:xfrm>
          <a:prstGeom prst="roundRect">
            <a:avLst>
              <a:gd name="adj" fmla="val 33333"/>
            </a:avLst>
          </a:prstGeom>
          <a:solidFill>
            <a:srgbClr val="2A323C"/>
          </a:solidFill>
          <a:ln/>
        </p:spPr>
        <p:txBody>
          <a:bodyPr wrap="square" rtlCol="0" anchor="ctr"/>
          <a:lstStyle/>
          <a:p>
            <a:pPr indent="0" marL="0">
              <a:buNone/>
            </a:pPr>
            <a:endParaRPr lang="en-US" dirty="0"/>
          </a:p>
        </p:txBody>
      </p:sp>
      <p:sp>
        <p:nvSpPr>
          <p:cNvPr id="34" name="Text 32"/>
          <p:cNvSpPr/>
          <p:nvPr/>
        </p:nvSpPr>
        <p:spPr>
          <a:xfrm>
            <a:off x="4636294" y="3032968"/>
            <a:ext cx="2528888" cy="57150"/>
          </a:xfrm>
          <a:prstGeom prst="roundRect">
            <a:avLst>
              <a:gd name="adj" fmla="val 33333"/>
            </a:avLst>
          </a:prstGeom>
          <a:solidFill>
            <a:srgbClr val="D4A437"/>
          </a:solidFill>
          <a:ln/>
        </p:spPr>
        <p:txBody>
          <a:bodyPr wrap="square" rtlCol="0" anchor="ctr"/>
          <a:lstStyle/>
          <a:p>
            <a:pPr indent="0" marL="0">
              <a:buNone/>
            </a:pPr>
            <a:endParaRPr lang="en-US" dirty="0"/>
          </a:p>
        </p:txBody>
      </p:sp>
      <p:sp>
        <p:nvSpPr>
          <p:cNvPr id="35" name="Text 33"/>
          <p:cNvSpPr/>
          <p:nvPr/>
        </p:nvSpPr>
        <p:spPr>
          <a:xfrm>
            <a:off x="7868126" y="2986534"/>
            <a:ext cx="640080" cy="164592"/>
          </a:xfrm>
          <a:prstGeom prst="rect">
            <a:avLst/>
          </a:prstGeom>
          <a:noFill/>
          <a:ln/>
        </p:spPr>
        <p:txBody>
          <a:bodyPr wrap="none" lIns="0" tIns="0" rIns="0" bIns="0" rtlCol="0" anchor="t"/>
          <a:lstStyle/>
          <a:p>
            <a:pPr algn="r" indent="0" marL="0">
              <a:lnSpc>
                <a:spcPts val="1181"/>
              </a:lnSpc>
              <a:buNone/>
            </a:pPr>
            <a:r>
              <a:rPr lang="en-US" sz="800" dirty="0">
                <a:solidFill>
                  <a:srgbClr val="E8E6E1"/>
                </a:solidFill>
                <a:latin typeface="Liberation Sans Narrow" pitchFamily="34" charset="0"/>
                <a:ea typeface="Liberation Sans Narrow" pitchFamily="34" charset="-122"/>
                <a:cs typeface="Liberation Sans Narrow" pitchFamily="34" charset="-120"/>
              </a:rPr>
              <a:t>+21</a:t>
            </a:r>
            <a:endParaRPr lang="en-US" sz="800" dirty="0"/>
          </a:p>
        </p:txBody>
      </p:sp>
      <p:sp>
        <p:nvSpPr>
          <p:cNvPr id="36" name="Text 34"/>
          <p:cNvSpPr/>
          <p:nvPr/>
        </p:nvSpPr>
        <p:spPr>
          <a:xfrm>
            <a:off x="2964656" y="3251522"/>
            <a:ext cx="1697355" cy="131649"/>
          </a:xfrm>
          <a:prstGeom prst="rect">
            <a:avLst/>
          </a:prstGeom>
          <a:noFill/>
          <a:ln/>
        </p:spPr>
        <p:txBody>
          <a:bodyPr wrap="square" lIns="0" tIns="0" rIns="0" bIns="0" rtlCol="0" anchor="t"/>
          <a:lstStyle/>
          <a:p>
            <a:pPr algn="l" indent="0" marL="0">
              <a:lnSpc>
                <a:spcPts val="945"/>
              </a:lnSpc>
              <a:buNone/>
            </a:pPr>
            <a:r>
              <a:rPr lang="en-US" sz="800" dirty="0">
                <a:solidFill>
                  <a:srgbClr val="E8E6E1"/>
                </a:solidFill>
                <a:latin typeface="Liberation Sans Narrow" pitchFamily="34" charset="0"/>
                <a:ea typeface="Liberation Sans Narrow" pitchFamily="34" charset="-122"/>
                <a:cs typeface="Liberation Sans Narrow" pitchFamily="34" charset="-120"/>
              </a:rPr>
              <a:t>Iron-oxide alteration (S2)</a:t>
            </a:r>
            <a:endParaRPr lang="en-US" sz="800" dirty="0"/>
          </a:p>
        </p:txBody>
      </p:sp>
      <p:sp>
        <p:nvSpPr>
          <p:cNvPr id="37" name="Text 35"/>
          <p:cNvSpPr/>
          <p:nvPr/>
        </p:nvSpPr>
        <p:spPr>
          <a:xfrm>
            <a:off x="4636294" y="3283000"/>
            <a:ext cx="3371850" cy="57150"/>
          </a:xfrm>
          <a:prstGeom prst="roundRect">
            <a:avLst>
              <a:gd name="adj" fmla="val 33333"/>
            </a:avLst>
          </a:prstGeom>
          <a:solidFill>
            <a:srgbClr val="2A323C"/>
          </a:solidFill>
          <a:ln/>
        </p:spPr>
        <p:txBody>
          <a:bodyPr wrap="square" rtlCol="0" anchor="ctr"/>
          <a:lstStyle/>
          <a:p>
            <a:pPr indent="0" marL="0">
              <a:buNone/>
            </a:pPr>
            <a:endParaRPr lang="en-US" dirty="0"/>
          </a:p>
        </p:txBody>
      </p:sp>
      <p:sp>
        <p:nvSpPr>
          <p:cNvPr id="38" name="Text 36"/>
          <p:cNvSpPr/>
          <p:nvPr/>
        </p:nvSpPr>
        <p:spPr>
          <a:xfrm>
            <a:off x="4636294" y="3283000"/>
            <a:ext cx="1921892" cy="57150"/>
          </a:xfrm>
          <a:prstGeom prst="roundRect">
            <a:avLst>
              <a:gd name="adj" fmla="val 33333"/>
            </a:avLst>
          </a:prstGeom>
          <a:solidFill>
            <a:srgbClr val="D4A437"/>
          </a:solidFill>
          <a:ln/>
        </p:spPr>
        <p:txBody>
          <a:bodyPr wrap="square" rtlCol="0" anchor="ctr"/>
          <a:lstStyle/>
          <a:p>
            <a:pPr indent="0" marL="0">
              <a:buNone/>
            </a:pPr>
            <a:endParaRPr lang="en-US" dirty="0"/>
          </a:p>
        </p:txBody>
      </p:sp>
      <p:sp>
        <p:nvSpPr>
          <p:cNvPr id="39" name="Text 37"/>
          <p:cNvSpPr/>
          <p:nvPr/>
        </p:nvSpPr>
        <p:spPr>
          <a:xfrm>
            <a:off x="7868126" y="3236565"/>
            <a:ext cx="640080" cy="164592"/>
          </a:xfrm>
          <a:prstGeom prst="rect">
            <a:avLst/>
          </a:prstGeom>
          <a:noFill/>
          <a:ln/>
        </p:spPr>
        <p:txBody>
          <a:bodyPr wrap="none" lIns="0" tIns="0" rIns="0" bIns="0" rtlCol="0" anchor="t"/>
          <a:lstStyle/>
          <a:p>
            <a:pPr algn="r" indent="0" marL="0">
              <a:lnSpc>
                <a:spcPts val="1181"/>
              </a:lnSpc>
              <a:buNone/>
            </a:pPr>
            <a:r>
              <a:rPr lang="en-US" sz="800" dirty="0">
                <a:solidFill>
                  <a:srgbClr val="E8E6E1"/>
                </a:solidFill>
                <a:latin typeface="Liberation Sans Narrow" pitchFamily="34" charset="0"/>
                <a:ea typeface="Liberation Sans Narrow" pitchFamily="34" charset="-122"/>
                <a:cs typeface="Liberation Sans Narrow" pitchFamily="34" charset="-120"/>
              </a:rPr>
              <a:t>+16</a:t>
            </a:r>
            <a:endParaRPr lang="en-US" sz="800" dirty="0"/>
          </a:p>
        </p:txBody>
      </p:sp>
      <p:sp>
        <p:nvSpPr>
          <p:cNvPr id="40" name="Text 38"/>
          <p:cNvSpPr/>
          <p:nvPr/>
        </p:nvSpPr>
        <p:spPr>
          <a:xfrm>
            <a:off x="2964656" y="3501554"/>
            <a:ext cx="1650206" cy="131649"/>
          </a:xfrm>
          <a:prstGeom prst="rect">
            <a:avLst/>
          </a:prstGeom>
          <a:noFill/>
          <a:ln/>
        </p:spPr>
        <p:txBody>
          <a:bodyPr wrap="none" lIns="0" tIns="0" rIns="0" bIns="0" rtlCol="0" anchor="t"/>
          <a:lstStyle/>
          <a:p>
            <a:pPr algn="l" indent="0" marL="0">
              <a:lnSpc>
                <a:spcPts val="945"/>
              </a:lnSpc>
              <a:buNone/>
            </a:pPr>
            <a:r>
              <a:rPr lang="en-US" sz="800" dirty="0">
                <a:solidFill>
                  <a:srgbClr val="E8E6E1"/>
                </a:solidFill>
                <a:latin typeface="Carlito" pitchFamily="34" charset="0"/>
                <a:ea typeface="Carlito" pitchFamily="34" charset="-122"/>
                <a:cs typeface="Carlito" pitchFamily="34" charset="-120"/>
              </a:rPr>
              <a:t>Structural intersection</a:t>
            </a:r>
            <a:endParaRPr lang="en-US" sz="800" dirty="0"/>
          </a:p>
        </p:txBody>
      </p:sp>
      <p:sp>
        <p:nvSpPr>
          <p:cNvPr id="41" name="Text 39"/>
          <p:cNvSpPr/>
          <p:nvPr/>
        </p:nvSpPr>
        <p:spPr>
          <a:xfrm>
            <a:off x="4636294" y="3533031"/>
            <a:ext cx="3371850" cy="57150"/>
          </a:xfrm>
          <a:prstGeom prst="roundRect">
            <a:avLst>
              <a:gd name="adj" fmla="val 33333"/>
            </a:avLst>
          </a:prstGeom>
          <a:solidFill>
            <a:srgbClr val="2A323C"/>
          </a:solidFill>
          <a:ln/>
        </p:spPr>
        <p:txBody>
          <a:bodyPr wrap="square" rtlCol="0" anchor="ctr"/>
          <a:lstStyle/>
          <a:p>
            <a:pPr indent="0" marL="0">
              <a:buNone/>
            </a:pPr>
            <a:endParaRPr lang="en-US" dirty="0"/>
          </a:p>
        </p:txBody>
      </p:sp>
      <p:sp>
        <p:nvSpPr>
          <p:cNvPr id="42" name="Text 40"/>
          <p:cNvSpPr/>
          <p:nvPr/>
        </p:nvSpPr>
        <p:spPr>
          <a:xfrm>
            <a:off x="4636294" y="3533031"/>
            <a:ext cx="1449846" cy="57150"/>
          </a:xfrm>
          <a:prstGeom prst="roundRect">
            <a:avLst>
              <a:gd name="adj" fmla="val 33333"/>
            </a:avLst>
          </a:prstGeom>
          <a:solidFill>
            <a:srgbClr val="D4A437"/>
          </a:solidFill>
          <a:ln/>
        </p:spPr>
        <p:txBody>
          <a:bodyPr wrap="square" rtlCol="0" anchor="ctr"/>
          <a:lstStyle/>
          <a:p>
            <a:pPr indent="0" marL="0">
              <a:buNone/>
            </a:pPr>
            <a:endParaRPr lang="en-US" dirty="0"/>
          </a:p>
        </p:txBody>
      </p:sp>
      <p:sp>
        <p:nvSpPr>
          <p:cNvPr id="43" name="Text 41"/>
          <p:cNvSpPr/>
          <p:nvPr/>
        </p:nvSpPr>
        <p:spPr>
          <a:xfrm>
            <a:off x="7868126" y="3486596"/>
            <a:ext cx="640080" cy="164592"/>
          </a:xfrm>
          <a:prstGeom prst="rect">
            <a:avLst/>
          </a:prstGeom>
          <a:noFill/>
          <a:ln/>
        </p:spPr>
        <p:txBody>
          <a:bodyPr wrap="none" lIns="0" tIns="0" rIns="0" bIns="0" rtlCol="0" anchor="t"/>
          <a:lstStyle/>
          <a:p>
            <a:pPr algn="r" indent="0" marL="0">
              <a:lnSpc>
                <a:spcPts val="1181"/>
              </a:lnSpc>
              <a:buNone/>
            </a:pPr>
            <a:r>
              <a:rPr lang="en-US" sz="800" dirty="0">
                <a:solidFill>
                  <a:srgbClr val="E8E6E1"/>
                </a:solidFill>
                <a:latin typeface="Liberation Sans Narrow" pitchFamily="34" charset="0"/>
                <a:ea typeface="Liberation Sans Narrow" pitchFamily="34" charset="-122"/>
                <a:cs typeface="Liberation Sans Narrow" pitchFamily="34" charset="-120"/>
              </a:rPr>
              <a:t>+12</a:t>
            </a:r>
            <a:endParaRPr lang="en-US" sz="800" dirty="0"/>
          </a:p>
        </p:txBody>
      </p:sp>
      <p:sp>
        <p:nvSpPr>
          <p:cNvPr id="44" name="Text 42"/>
          <p:cNvSpPr/>
          <p:nvPr/>
        </p:nvSpPr>
        <p:spPr>
          <a:xfrm>
            <a:off x="2964656" y="3751585"/>
            <a:ext cx="1697355" cy="131649"/>
          </a:xfrm>
          <a:prstGeom prst="rect">
            <a:avLst/>
          </a:prstGeom>
          <a:noFill/>
          <a:ln/>
        </p:spPr>
        <p:txBody>
          <a:bodyPr wrap="square" lIns="0" tIns="0" rIns="0" bIns="0" rtlCol="0" anchor="t"/>
          <a:lstStyle/>
          <a:p>
            <a:pPr algn="l" indent="0" marL="0">
              <a:lnSpc>
                <a:spcPts val="945"/>
              </a:lnSpc>
              <a:buNone/>
            </a:pPr>
            <a:r>
              <a:rPr lang="en-US" sz="800" dirty="0">
                <a:solidFill>
                  <a:srgbClr val="E8E6E1"/>
                </a:solidFill>
                <a:latin typeface="Carlito" pitchFamily="34" charset="0"/>
                <a:ea typeface="Carlito" pitchFamily="34" charset="-122"/>
                <a:cs typeface="Carlito" pitchFamily="34" charset="-120"/>
              </a:rPr>
              <a:t>Clay/hydroxyl alteration</a:t>
            </a:r>
            <a:endParaRPr lang="en-US" sz="800" dirty="0"/>
          </a:p>
        </p:txBody>
      </p:sp>
      <p:sp>
        <p:nvSpPr>
          <p:cNvPr id="45" name="Text 43"/>
          <p:cNvSpPr/>
          <p:nvPr/>
        </p:nvSpPr>
        <p:spPr>
          <a:xfrm>
            <a:off x="4636294" y="3783062"/>
            <a:ext cx="3371850" cy="57150"/>
          </a:xfrm>
          <a:prstGeom prst="roundRect">
            <a:avLst>
              <a:gd name="adj" fmla="val 33333"/>
            </a:avLst>
          </a:prstGeom>
          <a:solidFill>
            <a:srgbClr val="2A323C"/>
          </a:solidFill>
          <a:ln/>
        </p:spPr>
        <p:txBody>
          <a:bodyPr wrap="square" rtlCol="0" anchor="ctr"/>
          <a:lstStyle/>
          <a:p>
            <a:pPr indent="0" marL="0">
              <a:buNone/>
            </a:pPr>
            <a:endParaRPr lang="en-US" dirty="0"/>
          </a:p>
        </p:txBody>
      </p:sp>
      <p:sp>
        <p:nvSpPr>
          <p:cNvPr id="46" name="Text 44"/>
          <p:cNvSpPr/>
          <p:nvPr/>
        </p:nvSpPr>
        <p:spPr>
          <a:xfrm>
            <a:off x="4636294" y="3783062"/>
            <a:ext cx="1078929" cy="57150"/>
          </a:xfrm>
          <a:prstGeom prst="roundRect">
            <a:avLst>
              <a:gd name="adj" fmla="val 33333"/>
            </a:avLst>
          </a:prstGeom>
          <a:solidFill>
            <a:srgbClr val="D4A437"/>
          </a:solidFill>
          <a:ln/>
        </p:spPr>
        <p:txBody>
          <a:bodyPr wrap="square" rtlCol="0" anchor="ctr"/>
          <a:lstStyle/>
          <a:p>
            <a:pPr indent="0" marL="0">
              <a:buNone/>
            </a:pPr>
            <a:endParaRPr lang="en-US" dirty="0"/>
          </a:p>
        </p:txBody>
      </p:sp>
      <p:sp>
        <p:nvSpPr>
          <p:cNvPr id="47" name="Text 45"/>
          <p:cNvSpPr/>
          <p:nvPr/>
        </p:nvSpPr>
        <p:spPr>
          <a:xfrm>
            <a:off x="7868126" y="3736628"/>
            <a:ext cx="640080" cy="164592"/>
          </a:xfrm>
          <a:prstGeom prst="rect">
            <a:avLst/>
          </a:prstGeom>
          <a:noFill/>
          <a:ln/>
        </p:spPr>
        <p:txBody>
          <a:bodyPr wrap="none" lIns="0" tIns="0" rIns="0" bIns="0" rtlCol="0" anchor="t"/>
          <a:lstStyle/>
          <a:p>
            <a:pPr algn="r" indent="0" marL="0">
              <a:lnSpc>
                <a:spcPts val="1181"/>
              </a:lnSpc>
              <a:buNone/>
            </a:pPr>
            <a:r>
              <a:rPr lang="en-US" sz="800" dirty="0">
                <a:solidFill>
                  <a:srgbClr val="E8E6E1"/>
                </a:solidFill>
                <a:latin typeface="Liberation Sans Narrow" pitchFamily="34" charset="0"/>
                <a:ea typeface="Liberation Sans Narrow" pitchFamily="34" charset="-122"/>
                <a:cs typeface="Liberation Sans Narrow" pitchFamily="34" charset="-120"/>
              </a:rPr>
              <a:t>+9</a:t>
            </a:r>
            <a:endParaRPr lang="en-US" sz="800" dirty="0"/>
          </a:p>
        </p:txBody>
      </p:sp>
      <p:sp>
        <p:nvSpPr>
          <p:cNvPr id="48" name="Text 46"/>
          <p:cNvSpPr/>
          <p:nvPr/>
        </p:nvSpPr>
        <p:spPr>
          <a:xfrm>
            <a:off x="2964656" y="4001616"/>
            <a:ext cx="1650206" cy="131649"/>
          </a:xfrm>
          <a:prstGeom prst="rect">
            <a:avLst/>
          </a:prstGeom>
          <a:noFill/>
          <a:ln/>
        </p:spPr>
        <p:txBody>
          <a:bodyPr wrap="none" lIns="0" tIns="0" rIns="0" bIns="0" rtlCol="0" anchor="t"/>
          <a:lstStyle/>
          <a:p>
            <a:pPr algn="l" indent="0" marL="0">
              <a:lnSpc>
                <a:spcPts val="945"/>
              </a:lnSpc>
              <a:buNone/>
            </a:pPr>
            <a:r>
              <a:rPr lang="en-US" sz="800" dirty="0">
                <a:solidFill>
                  <a:srgbClr val="E8E6E1"/>
                </a:solidFill>
                <a:latin typeface="Carlito" pitchFamily="34" charset="0"/>
                <a:ea typeface="Carlito" pitchFamily="34" charset="-122"/>
                <a:cs typeface="Carlito" pitchFamily="34" charset="-120"/>
              </a:rPr>
              <a:t>Deposit proximity (MRDS)</a:t>
            </a:r>
            <a:endParaRPr lang="en-US" sz="800" dirty="0"/>
          </a:p>
        </p:txBody>
      </p:sp>
      <p:sp>
        <p:nvSpPr>
          <p:cNvPr id="49" name="Text 47"/>
          <p:cNvSpPr/>
          <p:nvPr/>
        </p:nvSpPr>
        <p:spPr>
          <a:xfrm>
            <a:off x="4636294" y="4033093"/>
            <a:ext cx="3371850" cy="57150"/>
          </a:xfrm>
          <a:prstGeom prst="roundRect">
            <a:avLst>
              <a:gd name="adj" fmla="val 33333"/>
            </a:avLst>
          </a:prstGeom>
          <a:solidFill>
            <a:srgbClr val="2A323C"/>
          </a:solidFill>
          <a:ln/>
        </p:spPr>
        <p:txBody>
          <a:bodyPr wrap="square" rtlCol="0" anchor="ctr"/>
          <a:lstStyle/>
          <a:p>
            <a:pPr indent="0" marL="0">
              <a:buNone/>
            </a:pPr>
            <a:endParaRPr lang="en-US" dirty="0"/>
          </a:p>
        </p:txBody>
      </p:sp>
      <p:sp>
        <p:nvSpPr>
          <p:cNvPr id="50" name="Text 48"/>
          <p:cNvSpPr/>
          <p:nvPr/>
        </p:nvSpPr>
        <p:spPr>
          <a:xfrm>
            <a:off x="4636294" y="4033093"/>
            <a:ext cx="708013" cy="57150"/>
          </a:xfrm>
          <a:prstGeom prst="roundRect">
            <a:avLst>
              <a:gd name="adj" fmla="val 33333"/>
            </a:avLst>
          </a:prstGeom>
          <a:solidFill>
            <a:srgbClr val="D4A437"/>
          </a:solidFill>
          <a:ln/>
        </p:spPr>
        <p:txBody>
          <a:bodyPr wrap="square" rtlCol="0" anchor="ctr"/>
          <a:lstStyle/>
          <a:p>
            <a:pPr indent="0" marL="0">
              <a:buNone/>
            </a:pPr>
            <a:endParaRPr lang="en-US" dirty="0"/>
          </a:p>
        </p:txBody>
      </p:sp>
      <p:sp>
        <p:nvSpPr>
          <p:cNvPr id="51" name="Text 49"/>
          <p:cNvSpPr/>
          <p:nvPr/>
        </p:nvSpPr>
        <p:spPr>
          <a:xfrm>
            <a:off x="7868126" y="3986659"/>
            <a:ext cx="640080" cy="164592"/>
          </a:xfrm>
          <a:prstGeom prst="rect">
            <a:avLst/>
          </a:prstGeom>
          <a:noFill/>
          <a:ln/>
        </p:spPr>
        <p:txBody>
          <a:bodyPr wrap="none" lIns="0" tIns="0" rIns="0" bIns="0" rtlCol="0" anchor="t"/>
          <a:lstStyle/>
          <a:p>
            <a:pPr algn="r" indent="0" marL="0">
              <a:lnSpc>
                <a:spcPts val="1181"/>
              </a:lnSpc>
              <a:buNone/>
            </a:pPr>
            <a:r>
              <a:rPr lang="en-US" sz="800" dirty="0">
                <a:solidFill>
                  <a:srgbClr val="E8E6E1"/>
                </a:solidFill>
                <a:latin typeface="Liberation Sans Narrow" pitchFamily="34" charset="0"/>
                <a:ea typeface="Liberation Sans Narrow" pitchFamily="34" charset="-122"/>
                <a:cs typeface="Liberation Sans Narrow" pitchFamily="34" charset="-120"/>
              </a:rPr>
              <a:t>+6</a:t>
            </a:r>
            <a:endParaRPr lang="en-US" sz="800" dirty="0"/>
          </a:p>
        </p:txBody>
      </p:sp>
      <p:sp>
        <p:nvSpPr>
          <p:cNvPr id="52" name="Text 50"/>
          <p:cNvSpPr/>
          <p:nvPr/>
        </p:nvSpPr>
        <p:spPr>
          <a:xfrm>
            <a:off x="2964656" y="4251647"/>
            <a:ext cx="1650206" cy="131649"/>
          </a:xfrm>
          <a:prstGeom prst="rect">
            <a:avLst/>
          </a:prstGeom>
          <a:noFill/>
          <a:ln/>
        </p:spPr>
        <p:txBody>
          <a:bodyPr wrap="none" lIns="0" tIns="0" rIns="0" bIns="0" rtlCol="0" anchor="t"/>
          <a:lstStyle/>
          <a:p>
            <a:pPr algn="l" indent="0" marL="0">
              <a:lnSpc>
                <a:spcPts val="945"/>
              </a:lnSpc>
              <a:buNone/>
            </a:pPr>
            <a:r>
              <a:rPr lang="en-US" sz="800" dirty="0">
                <a:solidFill>
                  <a:srgbClr val="E8E6E1"/>
                </a:solidFill>
                <a:latin typeface="Carlito" pitchFamily="34" charset="0"/>
                <a:ea typeface="Carlito" pitchFamily="34" charset="-122"/>
                <a:cs typeface="Carlito" pitchFamily="34" charset="-120"/>
              </a:rPr>
              <a:t>Road distance (access)</a:t>
            </a:r>
            <a:endParaRPr lang="en-US" sz="800" dirty="0"/>
          </a:p>
        </p:txBody>
      </p:sp>
      <p:sp>
        <p:nvSpPr>
          <p:cNvPr id="53" name="Text 51"/>
          <p:cNvSpPr/>
          <p:nvPr/>
        </p:nvSpPr>
        <p:spPr>
          <a:xfrm>
            <a:off x="4636294" y="4283125"/>
            <a:ext cx="3371850" cy="57150"/>
          </a:xfrm>
          <a:prstGeom prst="roundRect">
            <a:avLst>
              <a:gd name="adj" fmla="val 33333"/>
            </a:avLst>
          </a:prstGeom>
          <a:solidFill>
            <a:srgbClr val="2A323C"/>
          </a:solidFill>
          <a:ln/>
        </p:spPr>
        <p:txBody>
          <a:bodyPr wrap="square" rtlCol="0" anchor="ctr"/>
          <a:lstStyle/>
          <a:p>
            <a:pPr indent="0" marL="0">
              <a:buNone/>
            </a:pPr>
            <a:endParaRPr lang="en-US" dirty="0"/>
          </a:p>
        </p:txBody>
      </p:sp>
      <p:sp>
        <p:nvSpPr>
          <p:cNvPr id="54" name="Text 52"/>
          <p:cNvSpPr/>
          <p:nvPr/>
        </p:nvSpPr>
        <p:spPr>
          <a:xfrm>
            <a:off x="4636294" y="4283125"/>
            <a:ext cx="370805" cy="57150"/>
          </a:xfrm>
          <a:prstGeom prst="roundRect">
            <a:avLst>
              <a:gd name="adj" fmla="val 33333"/>
            </a:avLst>
          </a:prstGeom>
          <a:solidFill>
            <a:srgbClr val="D4A437"/>
          </a:solidFill>
          <a:ln/>
        </p:spPr>
        <p:txBody>
          <a:bodyPr wrap="square" rtlCol="0" anchor="ctr"/>
          <a:lstStyle/>
          <a:p>
            <a:pPr indent="0" marL="0">
              <a:buNone/>
            </a:pPr>
            <a:endParaRPr lang="en-US" dirty="0"/>
          </a:p>
        </p:txBody>
      </p:sp>
      <p:sp>
        <p:nvSpPr>
          <p:cNvPr id="55" name="Text 53"/>
          <p:cNvSpPr/>
          <p:nvPr/>
        </p:nvSpPr>
        <p:spPr>
          <a:xfrm>
            <a:off x="7868126" y="4236690"/>
            <a:ext cx="640080" cy="164592"/>
          </a:xfrm>
          <a:prstGeom prst="rect">
            <a:avLst/>
          </a:prstGeom>
          <a:noFill/>
          <a:ln/>
        </p:spPr>
        <p:txBody>
          <a:bodyPr wrap="none" lIns="0" tIns="0" rIns="0" bIns="0" rtlCol="0" anchor="t"/>
          <a:lstStyle/>
          <a:p>
            <a:pPr algn="r" indent="0" marL="0">
              <a:lnSpc>
                <a:spcPts val="1181"/>
              </a:lnSpc>
              <a:buNone/>
            </a:pPr>
            <a:r>
              <a:rPr lang="en-US" sz="800" dirty="0">
                <a:solidFill>
                  <a:srgbClr val="E8E6E1"/>
                </a:solidFill>
                <a:latin typeface="Liberation Sans Narrow" pitchFamily="34" charset="0"/>
                <a:ea typeface="Liberation Sans Narrow" pitchFamily="34" charset="-122"/>
                <a:cs typeface="Liberation Sans Narrow" pitchFamily="34" charset="-120"/>
              </a:rPr>
              <a:t>+3</a:t>
            </a:r>
            <a:endParaRPr lang="en-US" sz="800" dirty="0"/>
          </a:p>
        </p:txBody>
      </p:sp>
      <p:sp>
        <p:nvSpPr>
          <p:cNvPr id="56" name="Shape 54"/>
          <p:cNvSpPr/>
          <p:nvPr/>
        </p:nvSpPr>
        <p:spPr>
          <a:xfrm>
            <a:off x="2964656" y="4518868"/>
            <a:ext cx="5543550" cy="0"/>
          </a:xfrm>
          <a:prstGeom prst="line">
            <a:avLst/>
          </a:prstGeom>
          <a:noFill/>
          <a:ln w="7144">
            <a:solidFill>
              <a:srgbClr val="2A323C"/>
            </a:solidFill>
            <a:prstDash val="solid"/>
          </a:ln>
        </p:spPr>
      </p:sp>
      <p:sp>
        <p:nvSpPr>
          <p:cNvPr id="57" name="Text 55"/>
          <p:cNvSpPr/>
          <p:nvPr/>
        </p:nvSpPr>
        <p:spPr>
          <a:xfrm>
            <a:off x="2964656" y="4515296"/>
            <a:ext cx="5543550" cy="167878"/>
          </a:xfrm>
          <a:prstGeom prst="rect">
            <a:avLst/>
          </a:prstGeom>
          <a:noFill/>
          <a:ln/>
        </p:spPr>
        <p:txBody>
          <a:bodyPr wrap="square" lIns="0" tIns="42863" rIns="0" bIns="0" rtlCol="0" anchor="t"/>
          <a:lstStyle/>
          <a:p>
            <a:pPr algn="l" indent="0" marL="0">
              <a:lnSpc>
                <a:spcPts val="928"/>
              </a:lnSpc>
              <a:buNone/>
            </a:pPr>
            <a:r>
              <a:rPr lang="en-US" sz="800" spc="50" kern="0" dirty="0">
                <a:solidFill>
                  <a:srgbClr val="6B6760"/>
                </a:solidFill>
                <a:latin typeface="Courier New" pitchFamily="34" charset="0"/>
                <a:ea typeface="Courier New" pitchFamily="34" charset="-122"/>
                <a:cs typeface="Courier New" pitchFamily="34" charset="-120"/>
              </a:rPr>
              <a:t>PER-TARGET ATTRIBUTION · MODEL v2.3 · WEIGHTS PUBLISHED</a:t>
            </a:r>
            <a:endParaRPr lang="en-US" sz="800" dirty="0"/>
          </a:p>
        </p:txBody>
      </p:sp>
      <p:sp>
        <p:nvSpPr>
          <p:cNvPr id="58" name="Text 56"/>
          <p:cNvSpPr/>
          <p:nvPr/>
        </p:nvSpPr>
        <p:spPr>
          <a:xfrm>
            <a:off x="457200" y="4868466"/>
            <a:ext cx="7119640" cy="164592"/>
          </a:xfrm>
          <a:prstGeom prst="rect">
            <a:avLst/>
          </a:prstGeom>
          <a:noFill/>
          <a:ln/>
        </p:spPr>
        <p:txBody>
          <a:bodyPr wrap="square" lIns="0" tIns="0" rIns="0" bIns="0" rtlCol="0" anchor="t"/>
          <a:lstStyle/>
          <a:p>
            <a:pPr algn="l" indent="0" marL="0">
              <a:lnSpc>
                <a:spcPts val="928"/>
              </a:lnSpc>
              <a:buNone/>
            </a:pPr>
            <a:r>
              <a:rPr lang="en-US" sz="800" spc="62" kern="0" dirty="0">
                <a:solidFill>
                  <a:srgbClr val="6B6760"/>
                </a:solidFill>
                <a:latin typeface="Carlito" pitchFamily="34" charset="0"/>
                <a:ea typeface="Carlito" pitchFamily="34" charset="-122"/>
                <a:cs typeface="Carlito" pitchFamily="34" charset="-120"/>
              </a:rPr>
              <a:t>Gold Fields Ghana · Senior Geologist Briefing</a:t>
            </a:r>
            <a:endParaRPr lang="en-US" sz="800" dirty="0"/>
          </a:p>
        </p:txBody>
      </p:sp>
      <p:sp>
        <p:nvSpPr>
          <p:cNvPr id="59" name="Text 57"/>
          <p:cNvSpPr/>
          <p:nvPr/>
        </p:nvSpPr>
        <p:spPr>
          <a:xfrm>
            <a:off x="7591127" y="4868466"/>
            <a:ext cx="1183326" cy="164592"/>
          </a:xfrm>
          <a:prstGeom prst="rect">
            <a:avLst/>
          </a:prstGeom>
          <a:noFill/>
          <a:ln/>
        </p:spPr>
        <p:txBody>
          <a:bodyPr wrap="square" lIns="0" tIns="0" rIns="0" bIns="0" rtlCol="0" anchor="t"/>
          <a:lstStyle/>
          <a:p>
            <a:pPr algn="l" indent="0" marL="0">
              <a:lnSpc>
                <a:spcPts val="928"/>
              </a:lnSpc>
              <a:buNone/>
            </a:pPr>
            <a:r>
              <a:rPr lang="en-US" sz="619" spc="62" kern="0" dirty="0">
                <a:solidFill>
                  <a:srgbClr val="6B6760"/>
                </a:solidFill>
                <a:latin typeface="Carlito" pitchFamily="34" charset="0"/>
                <a:ea typeface="Carlito" pitchFamily="34" charset="-122"/>
                <a:cs typeface="Carlito" pitchFamily="34" charset="-120"/>
              </a:rPr>
              <a:t>TerraPulse · Confidential</a:t>
            </a:r>
            <a:endParaRPr lang="en-US" sz="619"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11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4000"/>
          </a:blip>
          <a:stretch>
            <a:fillRect/>
          </a:stretch>
        </p:blipFill>
        <p:spPr>
          <a:xfrm>
            <a:off x="0" y="0"/>
            <a:ext cx="9144000" cy="5143500"/>
          </a:xfrm>
          <a:prstGeom prst="rect">
            <a:avLst/>
          </a:prstGeom>
        </p:spPr>
      </p:pic>
      <p:sp>
        <p:nvSpPr>
          <p:cNvPr id="3" name="Text 0"/>
          <p:cNvSpPr/>
          <p:nvPr/>
        </p:nvSpPr>
        <p:spPr>
          <a:xfrm>
            <a:off x="457200" y="171450"/>
            <a:ext cx="6416873" cy="164592"/>
          </a:xfrm>
          <a:prstGeom prst="rect">
            <a:avLst/>
          </a:prstGeom>
          <a:noFill/>
          <a:ln/>
        </p:spPr>
        <p:txBody>
          <a:bodyPr wrap="square" lIns="0" tIns="0" rIns="0" bIns="0" rtlCol="0" anchor="t"/>
          <a:lstStyle/>
          <a:p>
            <a:pPr algn="l" indent="0" marL="0">
              <a:lnSpc>
                <a:spcPts val="928"/>
              </a:lnSpc>
              <a:buNone/>
            </a:pPr>
            <a:r>
              <a:rPr lang="en-US" sz="800" b="1" spc="99" kern="0" dirty="0">
                <a:solidFill>
                  <a:srgbClr val="D4A437"/>
                </a:solidFill>
                <a:latin typeface="Carlito" pitchFamily="34" charset="0"/>
                <a:ea typeface="Carlito" pitchFamily="34" charset="-122"/>
                <a:cs typeface="Carlito" pitchFamily="34" charset="-120"/>
              </a:rPr>
              <a:t>TERRAPULSE</a:t>
            </a:r>
            <a:pPr algn="l" indent="0" marL="0">
              <a:lnSpc>
                <a:spcPts val="928"/>
              </a:lnSpc>
              <a:buNone/>
            </a:pPr>
            <a:r>
              <a:rPr lang="en-US" sz="800" spc="99" kern="0" dirty="0">
                <a:solidFill>
                  <a:srgbClr val="6B6760"/>
                </a:solidFill>
                <a:latin typeface="Carlito" pitchFamily="34" charset="0"/>
                <a:ea typeface="Carlito" pitchFamily="34" charset="-122"/>
                <a:cs typeface="Carlito" pitchFamily="34" charset="-120"/>
              </a:rPr>
              <a:t> · GOLD FIELDS GHANA</a:t>
            </a:r>
            <a:endParaRPr lang="en-US" sz="800" dirty="0"/>
          </a:p>
        </p:txBody>
      </p:sp>
      <p:sp>
        <p:nvSpPr>
          <p:cNvPr id="4" name="Text 1"/>
          <p:cNvSpPr/>
          <p:nvPr/>
        </p:nvSpPr>
        <p:spPr>
          <a:xfrm>
            <a:off x="6888361" y="171450"/>
            <a:ext cx="2053823" cy="164592"/>
          </a:xfrm>
          <a:prstGeom prst="rect">
            <a:avLst/>
          </a:prstGeom>
          <a:noFill/>
          <a:ln/>
        </p:spPr>
        <p:txBody>
          <a:bodyPr wrap="square" lIns="0" tIns="0" rIns="0" bIns="0" rtlCol="0" anchor="t"/>
          <a:lstStyle/>
          <a:p>
            <a:pPr algn="l" indent="0" marL="0">
              <a:lnSpc>
                <a:spcPts val="928"/>
              </a:lnSpc>
              <a:buNone/>
            </a:pPr>
            <a:r>
              <a:rPr lang="en-US" sz="619" spc="99" kern="0" dirty="0">
                <a:solidFill>
                  <a:srgbClr val="6B6760"/>
                </a:solidFill>
                <a:latin typeface="Liberation Sans Narrow" pitchFamily="34" charset="0"/>
                <a:ea typeface="Liberation Sans Narrow" pitchFamily="34" charset="-122"/>
                <a:cs typeface="Liberation Sans Narrow" pitchFamily="34" charset="-120"/>
              </a:rPr>
              <a:t>CLAIM 03 / 03 · DEFENSIBLE OUTPUT</a:t>
            </a:r>
            <a:endParaRPr lang="en-US" sz="619" dirty="0"/>
          </a:p>
        </p:txBody>
      </p:sp>
      <p:sp>
        <p:nvSpPr>
          <p:cNvPr id="5" name="Shape 2"/>
          <p:cNvSpPr/>
          <p:nvPr/>
        </p:nvSpPr>
        <p:spPr>
          <a:xfrm>
            <a:off x="467916" y="500063"/>
            <a:ext cx="0" cy="203597"/>
          </a:xfrm>
          <a:prstGeom prst="line">
            <a:avLst/>
          </a:prstGeom>
          <a:noFill/>
          <a:ln w="21431">
            <a:solidFill>
              <a:srgbClr val="D4633F"/>
            </a:solidFill>
            <a:prstDash val="solid"/>
          </a:ln>
        </p:spPr>
      </p:sp>
      <p:sp>
        <p:nvSpPr>
          <p:cNvPr id="6" name="Shape 3"/>
          <p:cNvSpPr/>
          <p:nvPr/>
        </p:nvSpPr>
        <p:spPr>
          <a:xfrm>
            <a:off x="467916" y="3116461"/>
            <a:ext cx="0" cy="203597"/>
          </a:xfrm>
          <a:prstGeom prst="line">
            <a:avLst/>
          </a:prstGeom>
          <a:noFill/>
          <a:ln w="21431">
            <a:solidFill>
              <a:srgbClr val="6BAE85"/>
            </a:solidFill>
            <a:prstDash val="solid"/>
          </a:ln>
        </p:spPr>
      </p:sp>
      <p:sp>
        <p:nvSpPr>
          <p:cNvPr id="7" name="Shape 4"/>
          <p:cNvSpPr/>
          <p:nvPr/>
        </p:nvSpPr>
        <p:spPr>
          <a:xfrm>
            <a:off x="4907756" y="1445158"/>
            <a:ext cx="3586163" cy="0"/>
          </a:xfrm>
          <a:prstGeom prst="line">
            <a:avLst/>
          </a:prstGeom>
          <a:noFill/>
          <a:ln w="7144">
            <a:solidFill>
              <a:srgbClr val="2A323C"/>
            </a:solidFill>
            <a:prstDash val="solid"/>
          </a:ln>
        </p:spPr>
      </p:sp>
      <p:sp>
        <p:nvSpPr>
          <p:cNvPr id="8" name="Shape 5"/>
          <p:cNvSpPr/>
          <p:nvPr/>
        </p:nvSpPr>
        <p:spPr>
          <a:xfrm>
            <a:off x="4907756" y="1850901"/>
            <a:ext cx="3586163" cy="0"/>
          </a:xfrm>
          <a:prstGeom prst="line">
            <a:avLst/>
          </a:prstGeom>
          <a:noFill/>
          <a:ln w="7144">
            <a:solidFill>
              <a:srgbClr val="2A323C"/>
            </a:solidFill>
            <a:prstDash val="solid"/>
          </a:ln>
        </p:spPr>
      </p:sp>
      <p:sp>
        <p:nvSpPr>
          <p:cNvPr id="9" name="Shape 6"/>
          <p:cNvSpPr/>
          <p:nvPr/>
        </p:nvSpPr>
        <p:spPr>
          <a:xfrm>
            <a:off x="4907756" y="2256644"/>
            <a:ext cx="3586163" cy="0"/>
          </a:xfrm>
          <a:prstGeom prst="line">
            <a:avLst/>
          </a:prstGeom>
          <a:noFill/>
          <a:ln w="7144">
            <a:solidFill>
              <a:srgbClr val="2A323C"/>
            </a:solidFill>
            <a:prstDash val="solid"/>
          </a:ln>
        </p:spPr>
      </p:sp>
      <p:sp>
        <p:nvSpPr>
          <p:cNvPr id="10" name="Shape 7"/>
          <p:cNvSpPr/>
          <p:nvPr/>
        </p:nvSpPr>
        <p:spPr>
          <a:xfrm>
            <a:off x="4907756" y="2662386"/>
            <a:ext cx="3586163" cy="0"/>
          </a:xfrm>
          <a:prstGeom prst="line">
            <a:avLst/>
          </a:prstGeom>
          <a:noFill/>
          <a:ln w="7144">
            <a:solidFill>
              <a:srgbClr val="2A323C"/>
            </a:solidFill>
            <a:prstDash val="solid"/>
          </a:ln>
        </p:spPr>
      </p:sp>
      <p:sp>
        <p:nvSpPr>
          <p:cNvPr id="11" name="Text 8"/>
          <p:cNvSpPr/>
          <p:nvPr/>
        </p:nvSpPr>
        <p:spPr>
          <a:xfrm>
            <a:off x="457200" y="4868466"/>
            <a:ext cx="7883798" cy="164592"/>
          </a:xfrm>
          <a:prstGeom prst="rect">
            <a:avLst/>
          </a:prstGeom>
          <a:noFill/>
          <a:ln/>
        </p:spPr>
        <p:txBody>
          <a:bodyPr wrap="square" lIns="0" tIns="0" rIns="0" bIns="0" rtlCol="0" anchor="t"/>
          <a:lstStyle/>
          <a:p>
            <a:pPr algn="l" indent="0" marL="0">
              <a:lnSpc>
                <a:spcPts val="928"/>
              </a:lnSpc>
              <a:buNone/>
            </a:pPr>
            <a:r>
              <a:rPr lang="en-US" sz="800" spc="62" kern="0" dirty="0">
                <a:solidFill>
                  <a:srgbClr val="6B6760"/>
                </a:solidFill>
                <a:latin typeface="Carlito" pitchFamily="34" charset="0"/>
                <a:ea typeface="Carlito" pitchFamily="34" charset="-122"/>
                <a:cs typeface="Carlito" pitchFamily="34" charset="-120"/>
              </a:rPr>
              <a:t>TERRAPULSE — RANKED DRILL TARGETS, DEFENSIBLE EVIDENCE</a:t>
            </a:r>
            <a:endParaRPr lang="en-US" sz="800" dirty="0"/>
          </a:p>
        </p:txBody>
      </p:sp>
      <p:sp>
        <p:nvSpPr>
          <p:cNvPr id="12" name="Text 9"/>
          <p:cNvSpPr/>
          <p:nvPr/>
        </p:nvSpPr>
        <p:spPr>
          <a:xfrm>
            <a:off x="8355285" y="4868466"/>
            <a:ext cx="476501"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6B6760"/>
                </a:solidFill>
                <a:latin typeface="Liberation Sans Narrow" pitchFamily="34" charset="0"/>
                <a:ea typeface="Liberation Sans Narrow" pitchFamily="34" charset="-122"/>
                <a:cs typeface="Liberation Sans Narrow" pitchFamily="34" charset="-120"/>
              </a:rPr>
              <a:t>05 / 12</a:t>
            </a:r>
            <a:endParaRPr lang="en-US" sz="800" dirty="0"/>
          </a:p>
        </p:txBody>
      </p:sp>
      <p:sp>
        <p:nvSpPr>
          <p:cNvPr id="13" name="Text 10"/>
          <p:cNvSpPr/>
          <p:nvPr/>
        </p:nvSpPr>
        <p:spPr>
          <a:xfrm>
            <a:off x="457200" y="500063"/>
            <a:ext cx="3971925" cy="203597"/>
          </a:xfrm>
          <a:prstGeom prst="roundRect">
            <a:avLst>
              <a:gd name="adj" fmla="val 9357"/>
            </a:avLst>
          </a:prstGeom>
          <a:solidFill>
            <a:srgbClr val="D4633F">
              <a:alpha val="8000"/>
            </a:srgbClr>
          </a:solidFill>
          <a:ln/>
        </p:spPr>
        <p:txBody>
          <a:bodyPr wrap="square" rtlCol="0" anchor="ctr"/>
          <a:lstStyle/>
          <a:p>
            <a:pPr indent="0" marL="0">
              <a:buNone/>
            </a:pPr>
            <a:endParaRPr lang="en-US" dirty="0"/>
          </a:p>
        </p:txBody>
      </p:sp>
      <p:sp>
        <p:nvSpPr>
          <p:cNvPr id="14" name="Text 11"/>
          <p:cNvSpPr/>
          <p:nvPr/>
        </p:nvSpPr>
        <p:spPr>
          <a:xfrm>
            <a:off x="707231" y="550069"/>
            <a:ext cx="1499629" cy="139654"/>
          </a:xfrm>
          <a:prstGeom prst="rect">
            <a:avLst/>
          </a:prstGeom>
          <a:noFill/>
          <a:ln/>
        </p:spPr>
        <p:txBody>
          <a:bodyPr wrap="none" lIns="71438" tIns="42863" rIns="85725" bIns="42863" rtlCol="0" anchor="t"/>
          <a:lstStyle/>
          <a:p>
            <a:pPr algn="l" indent="0" marL="0">
              <a:lnSpc>
                <a:spcPts val="928"/>
              </a:lnSpc>
              <a:buNone/>
            </a:pPr>
            <a:r>
              <a:rPr lang="en-US" sz="619" b="1" spc="87" kern="0" dirty="0">
                <a:solidFill>
                  <a:srgbClr val="D4633F"/>
                </a:solidFill>
                <a:latin typeface="Carlito" pitchFamily="34" charset="0"/>
                <a:ea typeface="Carlito" pitchFamily="34" charset="-122"/>
                <a:cs typeface="Carlito" pitchFamily="34" charset="-120"/>
              </a:rPr>
              <a:t>PROBLEM · SHOW YOUR WORKING</a:t>
            </a:r>
            <a:endParaRPr lang="en-US" sz="619" dirty="0"/>
          </a:p>
        </p:txBody>
      </p:sp>
      <p:sp>
        <p:nvSpPr>
          <p:cNvPr id="15" name="Text 12"/>
          <p:cNvSpPr/>
          <p:nvPr/>
        </p:nvSpPr>
        <p:spPr>
          <a:xfrm>
            <a:off x="550069" y="551855"/>
            <a:ext cx="100013" cy="100013"/>
          </a:xfrm>
          <a:prstGeom prst="rect">
            <a:avLst/>
          </a:prstGeom>
          <a:noFill/>
          <a:ln/>
        </p:spPr>
        <p:txBody>
          <a:bodyPr wrap="none" lIns="0" tIns="0" rIns="0" bIns="0" rtlCol="0" anchor="ctr"/>
          <a:lstStyle/>
          <a:p>
            <a:pPr algn="ctr" indent="0" marL="0">
              <a:buNone/>
            </a:pPr>
            <a:r>
              <a:rPr lang="en-US" sz="984" dirty="0">
                <a:solidFill>
                  <a:srgbClr val="D4633F"/>
                </a:solidFill>
                <a:latin typeface="Segoe UI Symbol" pitchFamily="34" charset="0"/>
                <a:ea typeface="Segoe UI Symbol" pitchFamily="34" charset="-122"/>
                <a:cs typeface="Segoe UI Symbol" pitchFamily="34" charset="-120"/>
              </a:rPr>
              <a:t>⚠</a:t>
            </a:r>
            <a:endParaRPr lang="en-US" sz="984" dirty="0"/>
          </a:p>
        </p:txBody>
      </p:sp>
      <p:sp>
        <p:nvSpPr>
          <p:cNvPr id="16" name="Text 13"/>
          <p:cNvSpPr/>
          <p:nvPr/>
        </p:nvSpPr>
        <p:spPr>
          <a:xfrm>
            <a:off x="457200" y="803672"/>
            <a:ext cx="3857625" cy="615532"/>
          </a:xfrm>
          <a:prstGeom prst="rect">
            <a:avLst/>
          </a:prstGeom>
          <a:noFill/>
          <a:ln/>
        </p:spPr>
        <p:txBody>
          <a:bodyPr wrap="square" lIns="0" tIns="0" rIns="0" bIns="0" rtlCol="0" anchor="t"/>
          <a:lstStyle/>
          <a:p>
            <a:pPr algn="l" indent="0" marL="0">
              <a:lnSpc>
                <a:spcPts val="1496"/>
              </a:lnSpc>
              <a:buNone/>
            </a:pPr>
            <a:r>
              <a:rPr lang="en-US" sz="1069" dirty="0">
                <a:solidFill>
                  <a:srgbClr val="E8E6E1"/>
                </a:solidFill>
                <a:latin typeface="Carlito" pitchFamily="34" charset="0"/>
                <a:ea typeface="Carlito" pitchFamily="34" charset="-122"/>
                <a:cs typeface="Carlito" pitchFamily="34" charset="-120"/>
              </a:rPr>
              <a:t>The board asks why the rig went there. The qualified person needs notes, sources, parameters. The last consultant left a PDF and a shapefile — and nothing in between.</a:t>
            </a:r>
            <a:endParaRPr lang="en-US" sz="1069" dirty="0"/>
          </a:p>
        </p:txBody>
      </p:sp>
      <p:sp>
        <p:nvSpPr>
          <p:cNvPr id="17" name="Text 14"/>
          <p:cNvSpPr/>
          <p:nvPr/>
        </p:nvSpPr>
        <p:spPr>
          <a:xfrm>
            <a:off x="362216" y="1545059"/>
            <a:ext cx="1243493" cy="629516"/>
          </a:xfrm>
          <a:prstGeom prst="rect">
            <a:avLst/>
          </a:prstGeom>
          <a:noFill/>
          <a:ln/>
        </p:spPr>
        <p:txBody>
          <a:bodyPr wrap="none" lIns="0" tIns="0" rIns="0" bIns="0" rtlCol="0" anchor="t"/>
          <a:lstStyle/>
          <a:p>
            <a:pPr algn="l" indent="0" marL="0">
              <a:lnSpc>
                <a:spcPts val="4590"/>
              </a:lnSpc>
              <a:buNone/>
            </a:pPr>
            <a:r>
              <a:rPr lang="en-US" sz="5400" spc="-108" kern="0" dirty="0">
                <a:solidFill>
                  <a:srgbClr val="D4A437"/>
                </a:solidFill>
                <a:latin typeface="Liberation Sans Narrow" pitchFamily="34" charset="0"/>
                <a:ea typeface="Liberation Sans Narrow" pitchFamily="34" charset="-122"/>
                <a:cs typeface="Liberation Sans Narrow" pitchFamily="34" charset="-120"/>
              </a:rPr>
              <a:t>03</a:t>
            </a:r>
            <a:endParaRPr lang="en-US" sz="5400" dirty="0"/>
          </a:p>
        </p:txBody>
      </p:sp>
      <p:sp>
        <p:nvSpPr>
          <p:cNvPr id="18" name="Text 15"/>
          <p:cNvSpPr/>
          <p:nvPr/>
        </p:nvSpPr>
        <p:spPr>
          <a:xfrm>
            <a:off x="1229953" y="1833711"/>
            <a:ext cx="3199172" cy="317772"/>
          </a:xfrm>
          <a:prstGeom prst="rect">
            <a:avLst/>
          </a:prstGeom>
          <a:noFill/>
          <a:ln/>
        </p:spPr>
        <p:txBody>
          <a:bodyPr wrap="none" lIns="0" tIns="0" rIns="0" bIns="42863" rtlCol="0" anchor="t"/>
          <a:lstStyle/>
          <a:p>
            <a:pPr algn="l" indent="0" marL="0">
              <a:lnSpc>
                <a:spcPts val="1980"/>
              </a:lnSpc>
              <a:buNone/>
            </a:pPr>
            <a:r>
              <a:rPr lang="en-US" sz="1800" b="1" dirty="0">
                <a:solidFill>
                  <a:srgbClr val="E8E6E1"/>
                </a:solidFill>
                <a:latin typeface="Carlito" pitchFamily="34" charset="0"/>
                <a:ea typeface="Carlito" pitchFamily="34" charset="-122"/>
                <a:cs typeface="Carlito" pitchFamily="34" charset="-120"/>
              </a:rPr>
              <a:t>The output is defensible</a:t>
            </a:r>
            <a:endParaRPr lang="en-US" sz="1800" dirty="0"/>
          </a:p>
        </p:txBody>
      </p:sp>
      <p:sp>
        <p:nvSpPr>
          <p:cNvPr id="19" name="Text 16"/>
          <p:cNvSpPr/>
          <p:nvPr/>
        </p:nvSpPr>
        <p:spPr>
          <a:xfrm>
            <a:off x="457200" y="2227957"/>
            <a:ext cx="3857625" cy="789849"/>
          </a:xfrm>
          <a:prstGeom prst="rect">
            <a:avLst/>
          </a:prstGeom>
          <a:noFill/>
          <a:ln/>
        </p:spPr>
        <p:txBody>
          <a:bodyPr wrap="square" lIns="0" tIns="0" rIns="0" bIns="0" rtlCol="0" anchor="t"/>
          <a:lstStyle/>
          <a:p>
            <a:pPr algn="l" indent="0" marL="0">
              <a:lnSpc>
                <a:spcPts val="1440"/>
              </a:lnSpc>
              <a:buNone/>
            </a:pPr>
            <a:r>
              <a:rPr lang="en-US" sz="900" dirty="0">
                <a:solidFill>
                  <a:srgbClr val="A8A39C"/>
                </a:solidFill>
                <a:latin typeface="Carlito" pitchFamily="34" charset="0"/>
                <a:ea typeface="Carlito" pitchFamily="34" charset="-122"/>
                <a:cs typeface="Carlito" pitchFamily="34" charset="-120"/>
              </a:rPr>
              <a:t>Every layer records its source file, checksum, processing steps and algorithm parameters. Every report cites what it drew on and is versioned rather than overwritten. Qualified-Person notes and review status attach to targets and follow them into exports.</a:t>
            </a:r>
            <a:endParaRPr lang="en-US" sz="900" dirty="0"/>
          </a:p>
        </p:txBody>
      </p:sp>
      <p:sp>
        <p:nvSpPr>
          <p:cNvPr id="20" name="Text 17"/>
          <p:cNvSpPr/>
          <p:nvPr/>
        </p:nvSpPr>
        <p:spPr>
          <a:xfrm>
            <a:off x="457200" y="3116461"/>
            <a:ext cx="3971925" cy="203597"/>
          </a:xfrm>
          <a:prstGeom prst="roundRect">
            <a:avLst>
              <a:gd name="adj" fmla="val 9357"/>
            </a:avLst>
          </a:prstGeom>
          <a:solidFill>
            <a:srgbClr val="6BAE85">
              <a:alpha val="8000"/>
            </a:srgbClr>
          </a:solidFill>
          <a:ln/>
        </p:spPr>
        <p:txBody>
          <a:bodyPr wrap="square" rtlCol="0" anchor="ctr"/>
          <a:lstStyle/>
          <a:p>
            <a:pPr indent="0" marL="0">
              <a:buNone/>
            </a:pPr>
            <a:endParaRPr lang="en-US" dirty="0"/>
          </a:p>
        </p:txBody>
      </p:sp>
      <p:sp>
        <p:nvSpPr>
          <p:cNvPr id="21" name="Text 18"/>
          <p:cNvSpPr/>
          <p:nvPr/>
        </p:nvSpPr>
        <p:spPr>
          <a:xfrm>
            <a:off x="707231" y="3166467"/>
            <a:ext cx="1008385" cy="139654"/>
          </a:xfrm>
          <a:prstGeom prst="rect">
            <a:avLst/>
          </a:prstGeom>
          <a:noFill/>
          <a:ln/>
        </p:spPr>
        <p:txBody>
          <a:bodyPr wrap="none" lIns="0" tIns="0" rIns="0" bIns="0" rtlCol="0" anchor="t"/>
          <a:lstStyle/>
          <a:p>
            <a:pPr algn="l" indent="0" marL="0">
              <a:lnSpc>
                <a:spcPts val="928"/>
              </a:lnSpc>
              <a:buNone/>
            </a:pPr>
            <a:r>
              <a:rPr lang="en-US" sz="619" b="1" spc="87" kern="0" dirty="0">
                <a:solidFill>
                  <a:srgbClr val="6BAE85"/>
                </a:solidFill>
                <a:latin typeface="Carlito" pitchFamily="34" charset="0"/>
                <a:ea typeface="Carlito" pitchFamily="34" charset="-122"/>
                <a:cs typeface="Carlito" pitchFamily="34" charset="-120"/>
              </a:rPr>
              <a:t>IMPACT · AUDIT-READY</a:t>
            </a:r>
            <a:endParaRPr lang="en-US" sz="619" dirty="0"/>
          </a:p>
        </p:txBody>
      </p:sp>
      <p:sp>
        <p:nvSpPr>
          <p:cNvPr id="22" name="Text 19"/>
          <p:cNvSpPr/>
          <p:nvPr/>
        </p:nvSpPr>
        <p:spPr>
          <a:xfrm>
            <a:off x="550069" y="3168253"/>
            <a:ext cx="100013" cy="100013"/>
          </a:xfrm>
          <a:prstGeom prst="rect">
            <a:avLst/>
          </a:prstGeom>
          <a:noFill/>
          <a:ln/>
        </p:spPr>
        <p:txBody>
          <a:bodyPr wrap="none" lIns="0" tIns="0" rIns="0" bIns="0" rtlCol="0" anchor="ctr"/>
          <a:lstStyle/>
          <a:p>
            <a:pPr algn="ctr" indent="0" marL="0">
              <a:buNone/>
            </a:pPr>
            <a:r>
              <a:rPr lang="en-US" sz="984" dirty="0">
                <a:solidFill>
                  <a:srgbClr val="6BAE85"/>
                </a:solidFill>
                <a:latin typeface="Segoe UI Symbol" pitchFamily="34" charset="0"/>
                <a:ea typeface="Segoe UI Symbol" pitchFamily="34" charset="-122"/>
                <a:cs typeface="Segoe UI Symbol" pitchFamily="34" charset="-120"/>
              </a:rPr>
              <a:t>✓</a:t>
            </a:r>
            <a:endParaRPr lang="en-US" sz="984" dirty="0"/>
          </a:p>
        </p:txBody>
      </p:sp>
      <p:sp>
        <p:nvSpPr>
          <p:cNvPr id="23" name="Text 20"/>
          <p:cNvSpPr/>
          <p:nvPr/>
        </p:nvSpPr>
        <p:spPr>
          <a:xfrm>
            <a:off x="457200" y="3391495"/>
            <a:ext cx="3857625" cy="183599"/>
          </a:xfrm>
          <a:prstGeom prst="rect">
            <a:avLst/>
          </a:prstGeom>
          <a:noFill/>
          <a:ln/>
        </p:spPr>
        <p:txBody>
          <a:bodyPr wrap="square" lIns="0" tIns="0" rIns="0" bIns="0" rtlCol="0" anchor="t"/>
          <a:lstStyle/>
          <a:p>
            <a:pPr algn="l" indent="0" marL="0">
              <a:lnSpc>
                <a:spcPts val="1339"/>
              </a:lnSpc>
              <a:buNone/>
            </a:pPr>
            <a:r>
              <a:rPr lang="en-US" sz="956" dirty="0">
                <a:solidFill>
                  <a:srgbClr val="6BAE85"/>
                </a:solidFill>
                <a:latin typeface="Carlito" pitchFamily="34" charset="0"/>
                <a:ea typeface="Carlito" pitchFamily="34" charset="-122"/>
                <a:cs typeface="Carlito" pitchFamily="34" charset="-120"/>
              </a:rPr>
              <a:t>Built for the moment someone asks you to show your working.</a:t>
            </a:r>
            <a:endParaRPr lang="en-US" sz="956" dirty="0"/>
          </a:p>
        </p:txBody>
      </p:sp>
      <p:sp>
        <p:nvSpPr>
          <p:cNvPr id="24" name="Text 21"/>
          <p:cNvSpPr/>
          <p:nvPr/>
        </p:nvSpPr>
        <p:spPr>
          <a:xfrm>
            <a:off x="4718447" y="503634"/>
            <a:ext cx="3964781" cy="4236244"/>
          </a:xfrm>
          <a:prstGeom prst="roundRect">
            <a:avLst>
              <a:gd name="adj" fmla="val 1922"/>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25" name="Text 22"/>
          <p:cNvSpPr/>
          <p:nvPr/>
        </p:nvSpPr>
        <p:spPr>
          <a:xfrm>
            <a:off x="4907756" y="692944"/>
            <a:ext cx="3695890" cy="151162"/>
          </a:xfrm>
          <a:prstGeom prst="rect">
            <a:avLst/>
          </a:prstGeom>
          <a:noFill/>
          <a:ln/>
        </p:spPr>
        <p:txBody>
          <a:bodyPr wrap="square" lIns="0" tIns="0" rIns="0" bIns="0" rtlCol="0" anchor="t">
            <a:normAutofit/>
          </a:bodyPr>
          <a:lstStyle/>
          <a:p>
            <a:pPr algn="l" indent="0" marL="0">
              <a:lnSpc>
                <a:spcPts val="1181"/>
              </a:lnSpc>
              <a:buNone/>
            </a:pPr>
            <a:r>
              <a:rPr lang="en-US" sz="800" b="1" spc="142" kern="0" dirty="0">
                <a:solidFill>
                  <a:srgbClr val="D4A437"/>
                </a:solidFill>
                <a:latin typeface="Carlito" pitchFamily="34" charset="0"/>
                <a:ea typeface="Carlito" pitchFamily="34" charset="-122"/>
                <a:cs typeface="Carlito" pitchFamily="34" charset="-120"/>
              </a:rPr>
              <a:t>LINEAGE PER LAYER · EXAMPLE</a:t>
            </a:r>
            <a:endParaRPr lang="en-US" sz="800" dirty="0"/>
          </a:p>
        </p:txBody>
      </p:sp>
      <p:sp>
        <p:nvSpPr>
          <p:cNvPr id="26" name="Text 23"/>
          <p:cNvSpPr/>
          <p:nvPr/>
        </p:nvSpPr>
        <p:spPr>
          <a:xfrm>
            <a:off x="4907756" y="871538"/>
            <a:ext cx="3695891" cy="164592"/>
          </a:xfrm>
          <a:prstGeom prst="rect">
            <a:avLst/>
          </a:prstGeom>
          <a:noFill/>
          <a:ln/>
        </p:spPr>
        <p:txBody>
          <a:bodyPr wrap="square" lIns="0" tIns="0" rIns="0" bIns="0" rtlCol="0" anchor="t"/>
          <a:lstStyle/>
          <a:p>
            <a:pPr algn="l" indent="0" marL="0">
              <a:lnSpc>
                <a:spcPts val="1013"/>
              </a:lnSpc>
              <a:buNone/>
            </a:pPr>
            <a:r>
              <a:rPr lang="en-US" sz="800" spc="14" kern="0" dirty="0">
                <a:solidFill>
                  <a:srgbClr val="6B6760"/>
                </a:solidFill>
                <a:latin typeface="Carlito" pitchFamily="34" charset="0"/>
                <a:ea typeface="Carlito" pitchFamily="34" charset="-122"/>
                <a:cs typeface="Carlito" pitchFamily="34" charset="-120"/>
              </a:rPr>
              <a:t>Layer: RTP_MAG_50M · Project: Tarkwa-Nsuem</a:t>
            </a:r>
            <a:endParaRPr lang="en-US" sz="800" dirty="0"/>
          </a:p>
        </p:txBody>
      </p:sp>
      <p:sp>
        <p:nvSpPr>
          <p:cNvPr id="27" name="Text 24"/>
          <p:cNvSpPr/>
          <p:nvPr/>
        </p:nvSpPr>
        <p:spPr>
          <a:xfrm>
            <a:off x="4907756" y="1183295"/>
            <a:ext cx="342900"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D4A437"/>
                </a:solidFill>
                <a:latin typeface="Liberation Sans Narrow" pitchFamily="34" charset="0"/>
                <a:ea typeface="Liberation Sans Narrow" pitchFamily="34" charset="-122"/>
                <a:cs typeface="Liberation Sans Narrow" pitchFamily="34" charset="-120"/>
              </a:rPr>
              <a:t>01</a:t>
            </a:r>
            <a:endParaRPr lang="en-US" sz="800" dirty="0"/>
          </a:p>
        </p:txBody>
      </p:sp>
      <p:sp>
        <p:nvSpPr>
          <p:cNvPr id="28" name="Text 25"/>
          <p:cNvSpPr/>
          <p:nvPr/>
        </p:nvSpPr>
        <p:spPr>
          <a:xfrm>
            <a:off x="5222081" y="1100138"/>
            <a:ext cx="3271838" cy="136874"/>
          </a:xfrm>
          <a:prstGeom prst="rect">
            <a:avLst/>
          </a:prstGeom>
          <a:noFill/>
          <a:ln/>
        </p:spPr>
        <p:txBody>
          <a:bodyPr wrap="none" lIns="0" tIns="0" rIns="0" bIns="0" rtlCol="0" anchor="t">
            <a:normAutofit/>
          </a:bodyPr>
          <a:lstStyle/>
          <a:p>
            <a:pPr algn="l" indent="0" marL="0">
              <a:lnSpc>
                <a:spcPts val="1181"/>
              </a:lnSpc>
              <a:buNone/>
            </a:pPr>
            <a:r>
              <a:rPr lang="en-US" sz="800" spc="32" kern="0" dirty="0">
                <a:solidFill>
                  <a:srgbClr val="E8E6E1"/>
                </a:solidFill>
                <a:latin typeface="Carlito" pitchFamily="34" charset="0"/>
                <a:ea typeface="Carlito" pitchFamily="34" charset="-122"/>
                <a:cs typeface="Carlito" pitchFamily="34" charset="-120"/>
              </a:rPr>
              <a:t>INGEST</a:t>
            </a:r>
            <a:endParaRPr lang="en-US" sz="800" dirty="0"/>
          </a:p>
        </p:txBody>
      </p:sp>
      <p:sp>
        <p:nvSpPr>
          <p:cNvPr id="29" name="Text 26"/>
          <p:cNvSpPr/>
          <p:nvPr/>
        </p:nvSpPr>
        <p:spPr>
          <a:xfrm>
            <a:off x="5222081" y="1264444"/>
            <a:ext cx="2831497" cy="153591"/>
          </a:xfrm>
          <a:prstGeom prst="rect">
            <a:avLst/>
          </a:prstGeom>
          <a:noFill/>
          <a:ln/>
        </p:spPr>
        <p:txBody>
          <a:bodyPr wrap="square" lIns="0" tIns="0" rIns="0" bIns="0" rtlCol="0" anchor="t"/>
          <a:lstStyle/>
          <a:p>
            <a:pPr algn="l" indent="0" marL="0">
              <a:lnSpc>
                <a:spcPts val="945"/>
              </a:lnSpc>
              <a:buNone/>
            </a:pPr>
            <a:r>
              <a:rPr lang="en-US" sz="800" dirty="0">
                <a:solidFill>
                  <a:srgbClr val="A8A39C"/>
                </a:solidFill>
                <a:latin typeface="Liberation Sans Narrow" pitchFamily="34" charset="0"/>
                <a:ea typeface="Liberation Sans Narrow" pitchFamily="34" charset="-122"/>
                <a:cs typeface="Liberation Sans Narrow" pitchFamily="34" charset="-120"/>
              </a:rPr>
              <a:t>Airborne mag XYZ, 12,841 points</a:t>
            </a:r>
            <a:endParaRPr lang="en-US" sz="800" dirty="0"/>
          </a:p>
        </p:txBody>
      </p:sp>
      <p:sp>
        <p:nvSpPr>
          <p:cNvPr id="30" name="Text 27"/>
          <p:cNvSpPr/>
          <p:nvPr/>
        </p:nvSpPr>
        <p:spPr>
          <a:xfrm>
            <a:off x="7873638" y="1183295"/>
            <a:ext cx="690493" cy="164592"/>
          </a:xfrm>
          <a:prstGeom prst="rect">
            <a:avLst/>
          </a:prstGeom>
          <a:noFill/>
          <a:ln/>
        </p:spPr>
        <p:txBody>
          <a:bodyPr wrap="none" lIns="0" tIns="0" rIns="0" bIns="0" rtlCol="0" anchor="t"/>
          <a:lstStyle/>
          <a:p>
            <a:pPr algn="l" indent="0" marL="0">
              <a:lnSpc>
                <a:spcPts val="928"/>
              </a:lnSpc>
              <a:buNone/>
            </a:pPr>
            <a:r>
              <a:rPr lang="en-US" sz="619" dirty="0">
                <a:solidFill>
                  <a:srgbClr val="6B6760"/>
                </a:solidFill>
                <a:latin typeface="Liberation Sans Narrow" pitchFamily="34" charset="0"/>
                <a:ea typeface="Liberation Sans Narrow" pitchFamily="34" charset="-122"/>
                <a:cs typeface="Liberation Sans Narrow" pitchFamily="34" charset="-120"/>
              </a:rPr>
              <a:t>SHA 3ec1…8b2a</a:t>
            </a:r>
            <a:endParaRPr lang="en-US" sz="619" dirty="0"/>
          </a:p>
        </p:txBody>
      </p:sp>
      <p:sp>
        <p:nvSpPr>
          <p:cNvPr id="31" name="Text 28"/>
          <p:cNvSpPr/>
          <p:nvPr/>
        </p:nvSpPr>
        <p:spPr>
          <a:xfrm>
            <a:off x="4907756" y="1589038"/>
            <a:ext cx="342900"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D4A437"/>
                </a:solidFill>
                <a:latin typeface="Liberation Sans Narrow" pitchFamily="34" charset="0"/>
                <a:ea typeface="Liberation Sans Narrow" pitchFamily="34" charset="-122"/>
                <a:cs typeface="Liberation Sans Narrow" pitchFamily="34" charset="-120"/>
              </a:rPr>
              <a:t>02</a:t>
            </a:r>
            <a:endParaRPr lang="en-US" sz="800" dirty="0"/>
          </a:p>
        </p:txBody>
      </p:sp>
      <p:sp>
        <p:nvSpPr>
          <p:cNvPr id="32" name="Text 29"/>
          <p:cNvSpPr/>
          <p:nvPr/>
        </p:nvSpPr>
        <p:spPr>
          <a:xfrm>
            <a:off x="5222081" y="1505880"/>
            <a:ext cx="3271838" cy="136874"/>
          </a:xfrm>
          <a:prstGeom prst="rect">
            <a:avLst/>
          </a:prstGeom>
          <a:noFill/>
          <a:ln/>
        </p:spPr>
        <p:txBody>
          <a:bodyPr wrap="none" lIns="0" tIns="0" rIns="0" bIns="0" rtlCol="0" anchor="t">
            <a:normAutofit/>
          </a:bodyPr>
          <a:lstStyle/>
          <a:p>
            <a:pPr algn="l" indent="0" marL="0">
              <a:lnSpc>
                <a:spcPts val="1181"/>
              </a:lnSpc>
              <a:buNone/>
            </a:pPr>
            <a:r>
              <a:rPr lang="en-US" sz="800" spc="32" kern="0" dirty="0">
                <a:solidFill>
                  <a:srgbClr val="E8E6E1"/>
                </a:solidFill>
                <a:latin typeface="Carlito" pitchFamily="34" charset="0"/>
                <a:ea typeface="Carlito" pitchFamily="34" charset="-122"/>
                <a:cs typeface="Carlito" pitchFamily="34" charset="-120"/>
              </a:rPr>
              <a:t>REPROJECT</a:t>
            </a:r>
            <a:endParaRPr lang="en-US" sz="800" dirty="0"/>
          </a:p>
        </p:txBody>
      </p:sp>
      <p:sp>
        <p:nvSpPr>
          <p:cNvPr id="33" name="Text 30"/>
          <p:cNvSpPr/>
          <p:nvPr/>
        </p:nvSpPr>
        <p:spPr>
          <a:xfrm>
            <a:off x="5222081" y="1670186"/>
            <a:ext cx="2917865" cy="119993"/>
          </a:xfrm>
          <a:prstGeom prst="rect">
            <a:avLst/>
          </a:prstGeom>
          <a:noFill/>
          <a:ln/>
        </p:spPr>
        <p:txBody>
          <a:bodyPr wrap="none" lIns="0" tIns="0" rIns="0" bIns="0" rtlCol="0" anchor="t"/>
          <a:lstStyle/>
          <a:p>
            <a:pPr algn="l" indent="0" marL="0">
              <a:lnSpc>
                <a:spcPts val="945"/>
              </a:lnSpc>
              <a:buNone/>
            </a:pPr>
            <a:r>
              <a:rPr lang="en-US" sz="800" dirty="0">
                <a:solidFill>
                  <a:srgbClr val="A8A39C"/>
                </a:solidFill>
                <a:latin typeface="Liberation Sans Narrow" pitchFamily="34" charset="0"/>
                <a:ea typeface="Liberation Sans Narrow" pitchFamily="34" charset="-122"/>
                <a:cs typeface="Liberation Sans Narrow" pitchFamily="34" charset="-120"/>
              </a:rPr>
              <a:t>UTM WGS84 / Zone 30N</a:t>
            </a:r>
            <a:endParaRPr lang="en-US" sz="800" dirty="0"/>
          </a:p>
        </p:txBody>
      </p:sp>
      <p:sp>
        <p:nvSpPr>
          <p:cNvPr id="34" name="Text 31"/>
          <p:cNvSpPr/>
          <p:nvPr/>
        </p:nvSpPr>
        <p:spPr>
          <a:xfrm>
            <a:off x="8004145" y="1589038"/>
            <a:ext cx="586640" cy="164592"/>
          </a:xfrm>
          <a:prstGeom prst="rect">
            <a:avLst/>
          </a:prstGeom>
          <a:noFill/>
          <a:ln/>
        </p:spPr>
        <p:txBody>
          <a:bodyPr wrap="none" lIns="0" tIns="0" rIns="0" bIns="0" rtlCol="0" anchor="t"/>
          <a:lstStyle/>
          <a:p>
            <a:pPr algn="l" indent="0" marL="0">
              <a:lnSpc>
                <a:spcPts val="928"/>
              </a:lnSpc>
              <a:buNone/>
            </a:pPr>
            <a:r>
              <a:rPr lang="en-US" sz="619" dirty="0">
                <a:solidFill>
                  <a:srgbClr val="6B6760"/>
                </a:solidFill>
                <a:latin typeface="Liberation Sans Narrow" pitchFamily="34" charset="0"/>
                <a:ea typeface="Liberation Sans Narrow" pitchFamily="34" charset="-122"/>
                <a:cs typeface="Liberation Sans Narrow" pitchFamily="34" charset="-120"/>
              </a:rPr>
              <a:t>EPSG:32630</a:t>
            </a:r>
            <a:endParaRPr lang="en-US" sz="619" dirty="0"/>
          </a:p>
        </p:txBody>
      </p:sp>
      <p:sp>
        <p:nvSpPr>
          <p:cNvPr id="35" name="Text 32"/>
          <p:cNvSpPr/>
          <p:nvPr/>
        </p:nvSpPr>
        <p:spPr>
          <a:xfrm>
            <a:off x="4907756" y="1994781"/>
            <a:ext cx="342900"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D4A437"/>
                </a:solidFill>
                <a:latin typeface="Liberation Sans Narrow" pitchFamily="34" charset="0"/>
                <a:ea typeface="Liberation Sans Narrow" pitchFamily="34" charset="-122"/>
                <a:cs typeface="Liberation Sans Narrow" pitchFamily="34" charset="-120"/>
              </a:rPr>
              <a:t>03</a:t>
            </a:r>
            <a:endParaRPr lang="en-US" sz="800" dirty="0"/>
          </a:p>
        </p:txBody>
      </p:sp>
      <p:sp>
        <p:nvSpPr>
          <p:cNvPr id="36" name="Text 33"/>
          <p:cNvSpPr/>
          <p:nvPr/>
        </p:nvSpPr>
        <p:spPr>
          <a:xfrm>
            <a:off x="5222081" y="1911623"/>
            <a:ext cx="3271837" cy="136874"/>
          </a:xfrm>
          <a:prstGeom prst="rect">
            <a:avLst/>
          </a:prstGeom>
          <a:noFill/>
          <a:ln/>
        </p:spPr>
        <p:txBody>
          <a:bodyPr wrap="none" lIns="0" tIns="0" rIns="0" bIns="0" rtlCol="0" anchor="t">
            <a:normAutofit/>
          </a:bodyPr>
          <a:lstStyle/>
          <a:p>
            <a:pPr algn="l" indent="0" marL="0">
              <a:lnSpc>
                <a:spcPts val="1181"/>
              </a:lnSpc>
              <a:buNone/>
            </a:pPr>
            <a:r>
              <a:rPr lang="en-US" sz="800" spc="32" kern="0" dirty="0">
                <a:solidFill>
                  <a:srgbClr val="E8E6E1"/>
                </a:solidFill>
                <a:latin typeface="Carlito" pitchFamily="34" charset="0"/>
                <a:ea typeface="Carlito" pitchFamily="34" charset="-122"/>
                <a:cs typeface="Carlito" pitchFamily="34" charset="-120"/>
              </a:rPr>
              <a:t>KRIGE</a:t>
            </a:r>
            <a:endParaRPr lang="en-US" sz="800" dirty="0"/>
          </a:p>
        </p:txBody>
      </p:sp>
      <p:sp>
        <p:nvSpPr>
          <p:cNvPr id="37" name="Text 34"/>
          <p:cNvSpPr/>
          <p:nvPr/>
        </p:nvSpPr>
        <p:spPr>
          <a:xfrm>
            <a:off x="5222081" y="2075929"/>
            <a:ext cx="3001232" cy="119993"/>
          </a:xfrm>
          <a:prstGeom prst="rect">
            <a:avLst/>
          </a:prstGeom>
          <a:noFill/>
          <a:ln/>
        </p:spPr>
        <p:txBody>
          <a:bodyPr wrap="square" lIns="0" tIns="0" rIns="0" bIns="0" rtlCol="0" anchor="t"/>
          <a:lstStyle/>
          <a:p>
            <a:pPr algn="l" indent="0" marL="0">
              <a:lnSpc>
                <a:spcPts val="945"/>
              </a:lnSpc>
              <a:buNone/>
            </a:pPr>
            <a:r>
              <a:rPr lang="en-US" sz="800" dirty="0">
                <a:solidFill>
                  <a:srgbClr val="A8A39C"/>
                </a:solidFill>
                <a:latin typeface="Liberation Sans Narrow" pitchFamily="34" charset="0"/>
                <a:ea typeface="Liberation Sans Narrow" pitchFamily="34" charset="-122"/>
                <a:cs typeface="Liberation Sans Narrow" pitchFamily="34" charset="-120"/>
              </a:rPr>
              <a:t>50m grid, omnidirectional variogram</a:t>
            </a:r>
            <a:endParaRPr lang="en-US" sz="800" dirty="0"/>
          </a:p>
        </p:txBody>
      </p:sp>
      <p:sp>
        <p:nvSpPr>
          <p:cNvPr id="38" name="Text 35"/>
          <p:cNvSpPr/>
          <p:nvPr/>
        </p:nvSpPr>
        <p:spPr>
          <a:xfrm>
            <a:off x="8016663" y="1994781"/>
            <a:ext cx="561604" cy="164592"/>
          </a:xfrm>
          <a:prstGeom prst="rect">
            <a:avLst/>
          </a:prstGeom>
          <a:noFill/>
          <a:ln/>
        </p:spPr>
        <p:txBody>
          <a:bodyPr wrap="none" lIns="0" tIns="0" rIns="0" bIns="0" rtlCol="0" anchor="t"/>
          <a:lstStyle/>
          <a:p>
            <a:pPr algn="l" indent="0" marL="0">
              <a:lnSpc>
                <a:spcPts val="928"/>
              </a:lnSpc>
              <a:buNone/>
            </a:pPr>
            <a:r>
              <a:rPr lang="en-US" sz="619" dirty="0">
                <a:solidFill>
                  <a:srgbClr val="6B6760"/>
                </a:solidFill>
                <a:latin typeface="Liberation Sans Narrow" pitchFamily="34" charset="0"/>
                <a:ea typeface="Liberation Sans Narrow" pitchFamily="34" charset="-122"/>
                <a:cs typeface="Liberation Sans Narrow" pitchFamily="34" charset="-120"/>
              </a:rPr>
              <a:t>RANGE 850m</a:t>
            </a:r>
            <a:endParaRPr lang="en-US" sz="619" dirty="0"/>
          </a:p>
        </p:txBody>
      </p:sp>
      <p:sp>
        <p:nvSpPr>
          <p:cNvPr id="39" name="Text 36"/>
          <p:cNvSpPr/>
          <p:nvPr/>
        </p:nvSpPr>
        <p:spPr>
          <a:xfrm>
            <a:off x="4907756" y="2400523"/>
            <a:ext cx="342900"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D4A437"/>
                </a:solidFill>
                <a:latin typeface="Liberation Sans Narrow" pitchFamily="34" charset="0"/>
                <a:ea typeface="Liberation Sans Narrow" pitchFamily="34" charset="-122"/>
                <a:cs typeface="Liberation Sans Narrow" pitchFamily="34" charset="-120"/>
              </a:rPr>
              <a:t>04</a:t>
            </a:r>
            <a:endParaRPr lang="en-US" sz="800" dirty="0"/>
          </a:p>
        </p:txBody>
      </p:sp>
      <p:sp>
        <p:nvSpPr>
          <p:cNvPr id="40" name="Text 37"/>
          <p:cNvSpPr/>
          <p:nvPr/>
        </p:nvSpPr>
        <p:spPr>
          <a:xfrm>
            <a:off x="5222081" y="2317366"/>
            <a:ext cx="3271838" cy="136874"/>
          </a:xfrm>
          <a:prstGeom prst="rect">
            <a:avLst/>
          </a:prstGeom>
          <a:noFill/>
          <a:ln/>
        </p:spPr>
        <p:txBody>
          <a:bodyPr wrap="none" lIns="0" tIns="0" rIns="0" bIns="0" rtlCol="0" anchor="t">
            <a:normAutofit/>
          </a:bodyPr>
          <a:lstStyle/>
          <a:p>
            <a:pPr algn="l" indent="0" marL="0">
              <a:lnSpc>
                <a:spcPts val="1181"/>
              </a:lnSpc>
              <a:buNone/>
            </a:pPr>
            <a:r>
              <a:rPr lang="en-US" sz="800" spc="32" kern="0" dirty="0">
                <a:solidFill>
                  <a:srgbClr val="E8E6E1"/>
                </a:solidFill>
                <a:latin typeface="Carlito" pitchFamily="34" charset="0"/>
                <a:ea typeface="Carlito" pitchFamily="34" charset="-122"/>
                <a:cs typeface="Carlito" pitchFamily="34" charset="-120"/>
              </a:rPr>
              <a:t>REDUCE TO POLE</a:t>
            </a:r>
            <a:endParaRPr lang="en-US" sz="800" dirty="0"/>
          </a:p>
        </p:txBody>
      </p:sp>
      <p:sp>
        <p:nvSpPr>
          <p:cNvPr id="41" name="Text 38"/>
          <p:cNvSpPr/>
          <p:nvPr/>
        </p:nvSpPr>
        <p:spPr>
          <a:xfrm>
            <a:off x="5222081" y="2481672"/>
            <a:ext cx="3128534" cy="119993"/>
          </a:xfrm>
          <a:prstGeom prst="rect">
            <a:avLst/>
          </a:prstGeom>
          <a:noFill/>
          <a:ln/>
        </p:spPr>
        <p:txBody>
          <a:bodyPr wrap="square" lIns="0" tIns="0" rIns="0" bIns="0" rtlCol="0" anchor="t"/>
          <a:lstStyle/>
          <a:p>
            <a:pPr algn="l" indent="0" marL="0">
              <a:lnSpc>
                <a:spcPts val="945"/>
              </a:lnSpc>
              <a:buNone/>
            </a:pPr>
            <a:r>
              <a:rPr lang="en-US" sz="800" dirty="0">
                <a:solidFill>
                  <a:srgbClr val="A8A39C"/>
                </a:solidFill>
                <a:latin typeface="Carlito" pitchFamily="34" charset="0"/>
                <a:ea typeface="Carlito" pitchFamily="34" charset="-122"/>
                <a:cs typeface="Carlito" pitchFamily="34" charset="-120"/>
              </a:rPr>
              <a:t>Inclination −12.4°, declination −4.1°</a:t>
            </a:r>
            <a:endParaRPr lang="en-US" sz="800" dirty="0"/>
          </a:p>
        </p:txBody>
      </p:sp>
      <p:sp>
        <p:nvSpPr>
          <p:cNvPr id="42" name="Text 39"/>
          <p:cNvSpPr/>
          <p:nvPr/>
        </p:nvSpPr>
        <p:spPr>
          <a:xfrm>
            <a:off x="8149316" y="2400523"/>
            <a:ext cx="414170" cy="164592"/>
          </a:xfrm>
          <a:prstGeom prst="rect">
            <a:avLst/>
          </a:prstGeom>
          <a:noFill/>
          <a:ln/>
        </p:spPr>
        <p:txBody>
          <a:bodyPr wrap="none" lIns="0" tIns="0" rIns="0" bIns="0" rtlCol="0" anchor="t"/>
          <a:lstStyle/>
          <a:p>
            <a:pPr algn="l" indent="0" marL="0">
              <a:lnSpc>
                <a:spcPts val="928"/>
              </a:lnSpc>
              <a:buNone/>
            </a:pPr>
            <a:r>
              <a:rPr lang="en-US" sz="619" dirty="0">
                <a:solidFill>
                  <a:srgbClr val="6B6760"/>
                </a:solidFill>
                <a:latin typeface="Liberation Sans Narrow" pitchFamily="34" charset="0"/>
                <a:ea typeface="Liberation Sans Narrow" pitchFamily="34" charset="-122"/>
                <a:cs typeface="Liberation Sans Narrow" pitchFamily="34" charset="-120"/>
              </a:rPr>
              <a:t>IGRF-13</a:t>
            </a:r>
            <a:endParaRPr lang="en-US" sz="619" dirty="0"/>
          </a:p>
        </p:txBody>
      </p:sp>
      <p:sp>
        <p:nvSpPr>
          <p:cNvPr id="43" name="Text 40"/>
          <p:cNvSpPr/>
          <p:nvPr/>
        </p:nvSpPr>
        <p:spPr>
          <a:xfrm>
            <a:off x="4907756" y="2806266"/>
            <a:ext cx="342900"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D4A437"/>
                </a:solidFill>
                <a:latin typeface="Liberation Sans Narrow" pitchFamily="34" charset="0"/>
                <a:ea typeface="Liberation Sans Narrow" pitchFamily="34" charset="-122"/>
                <a:cs typeface="Liberation Sans Narrow" pitchFamily="34" charset="-120"/>
              </a:rPr>
              <a:t>05</a:t>
            </a:r>
            <a:endParaRPr lang="en-US" sz="800" dirty="0"/>
          </a:p>
        </p:txBody>
      </p:sp>
      <p:sp>
        <p:nvSpPr>
          <p:cNvPr id="44" name="Text 41"/>
          <p:cNvSpPr/>
          <p:nvPr/>
        </p:nvSpPr>
        <p:spPr>
          <a:xfrm>
            <a:off x="5222081" y="2723108"/>
            <a:ext cx="3271838" cy="136874"/>
          </a:xfrm>
          <a:prstGeom prst="rect">
            <a:avLst/>
          </a:prstGeom>
          <a:noFill/>
          <a:ln/>
        </p:spPr>
        <p:txBody>
          <a:bodyPr wrap="none" lIns="0" tIns="0" rIns="0" bIns="0" rtlCol="0" anchor="t">
            <a:normAutofit/>
          </a:bodyPr>
          <a:lstStyle/>
          <a:p>
            <a:pPr algn="l" indent="0" marL="0">
              <a:lnSpc>
                <a:spcPts val="1181"/>
              </a:lnSpc>
              <a:buNone/>
            </a:pPr>
            <a:r>
              <a:rPr lang="en-US" sz="800" spc="32" kern="0" dirty="0">
                <a:solidFill>
                  <a:srgbClr val="E8E6E1"/>
                </a:solidFill>
                <a:latin typeface="Carlito" pitchFamily="34" charset="0"/>
                <a:ea typeface="Carlito" pitchFamily="34" charset="-122"/>
                <a:cs typeface="Carlito" pitchFamily="34" charset="-120"/>
              </a:rPr>
              <a:t>REGISTER</a:t>
            </a:r>
            <a:endParaRPr lang="en-US" sz="800" dirty="0"/>
          </a:p>
        </p:txBody>
      </p:sp>
      <p:sp>
        <p:nvSpPr>
          <p:cNvPr id="45" name="Text 42"/>
          <p:cNvSpPr/>
          <p:nvPr/>
        </p:nvSpPr>
        <p:spPr>
          <a:xfrm>
            <a:off x="5222081" y="2887414"/>
            <a:ext cx="3255836" cy="119993"/>
          </a:xfrm>
          <a:prstGeom prst="rect">
            <a:avLst/>
          </a:prstGeom>
          <a:noFill/>
          <a:ln/>
        </p:spPr>
        <p:txBody>
          <a:bodyPr wrap="square" lIns="0" tIns="0" rIns="0" bIns="0" rtlCol="0" anchor="t"/>
          <a:lstStyle/>
          <a:p>
            <a:pPr algn="l" indent="0" marL="0">
              <a:lnSpc>
                <a:spcPts val="945"/>
              </a:lnSpc>
              <a:buNone/>
            </a:pPr>
            <a:r>
              <a:rPr lang="en-US" sz="800" dirty="0">
                <a:solidFill>
                  <a:srgbClr val="A8A39C"/>
                </a:solidFill>
                <a:latin typeface="Carlito" pitchFamily="34" charset="0"/>
                <a:ea typeface="Carlito" pitchFamily="34" charset="-122"/>
                <a:cs typeface="Carlito" pitchFamily="34" charset="-120"/>
              </a:rPr>
              <a:t>Cloud-optimised GeoTIFF, layer ID L-014</a:t>
            </a:r>
            <a:endParaRPr lang="en-US" sz="800" dirty="0"/>
          </a:p>
        </p:txBody>
      </p:sp>
      <p:sp>
        <p:nvSpPr>
          <p:cNvPr id="46" name="Text 43"/>
          <p:cNvSpPr/>
          <p:nvPr/>
        </p:nvSpPr>
        <p:spPr>
          <a:xfrm>
            <a:off x="8299124" y="2806266"/>
            <a:ext cx="232428" cy="164592"/>
          </a:xfrm>
          <a:prstGeom prst="rect">
            <a:avLst/>
          </a:prstGeom>
          <a:noFill/>
          <a:ln/>
        </p:spPr>
        <p:txBody>
          <a:bodyPr wrap="none" lIns="0" tIns="0" rIns="0" bIns="0" rtlCol="0" anchor="t"/>
          <a:lstStyle/>
          <a:p>
            <a:pPr algn="l" indent="0" marL="0">
              <a:lnSpc>
                <a:spcPts val="928"/>
              </a:lnSpc>
              <a:buNone/>
            </a:pPr>
            <a:r>
              <a:rPr lang="en-US" sz="619" dirty="0">
                <a:solidFill>
                  <a:srgbClr val="6B6760"/>
                </a:solidFill>
                <a:latin typeface="Liberation Sans Narrow" pitchFamily="34" charset="0"/>
                <a:ea typeface="Liberation Sans Narrow" pitchFamily="34" charset="-122"/>
                <a:cs typeface="Liberation Sans Narrow" pitchFamily="34" charset="-120"/>
              </a:rPr>
              <a:t>v2.3</a:t>
            </a:r>
            <a:endParaRPr lang="en-US" sz="619" dirty="0"/>
          </a:p>
        </p:txBody>
      </p:sp>
      <p:sp>
        <p:nvSpPr>
          <p:cNvPr id="47" name="Text 44"/>
          <p:cNvSpPr/>
          <p:nvPr/>
        </p:nvSpPr>
        <p:spPr>
          <a:xfrm>
            <a:off x="4907756" y="3164570"/>
            <a:ext cx="3586163" cy="7144"/>
          </a:xfrm>
          <a:prstGeom prst="rect">
            <a:avLst/>
          </a:prstGeom>
          <a:solidFill>
            <a:srgbClr val="2A323C"/>
          </a:solidFill>
          <a:ln/>
        </p:spPr>
        <p:txBody>
          <a:bodyPr wrap="square" rtlCol="0" anchor="ctr"/>
          <a:lstStyle/>
          <a:p>
            <a:pPr indent="0" marL="0">
              <a:buNone/>
            </a:pPr>
            <a:endParaRPr lang="en-US" dirty="0"/>
          </a:p>
        </p:txBody>
      </p:sp>
      <p:sp>
        <p:nvSpPr>
          <p:cNvPr id="48" name="Text 45"/>
          <p:cNvSpPr/>
          <p:nvPr/>
        </p:nvSpPr>
        <p:spPr>
          <a:xfrm>
            <a:off x="4907756" y="3257438"/>
            <a:ext cx="3695891" cy="154734"/>
          </a:xfrm>
          <a:prstGeom prst="rect">
            <a:avLst/>
          </a:prstGeom>
          <a:noFill/>
          <a:ln/>
        </p:spPr>
        <p:txBody>
          <a:bodyPr wrap="square" lIns="0" tIns="0" rIns="0" bIns="0" rtlCol="0" anchor="t">
            <a:normAutofit/>
          </a:bodyPr>
          <a:lstStyle/>
          <a:p>
            <a:pPr algn="l" indent="0" marL="0">
              <a:lnSpc>
                <a:spcPts val="1097"/>
              </a:lnSpc>
              <a:buNone/>
            </a:pPr>
            <a:r>
              <a:rPr lang="en-US" sz="800" spc="15" kern="0" dirty="0">
                <a:solidFill>
                  <a:srgbClr val="E8E6E1"/>
                </a:solidFill>
                <a:latin typeface="Liberation Sans Narrow" pitchFamily="34" charset="0"/>
                <a:ea typeface="Liberation Sans Narrow" pitchFamily="34" charset="-122"/>
                <a:cs typeface="Liberation Sans Narrow" pitchFamily="34" charset="-120"/>
              </a:rPr>
              <a:t>QP NOTE — attached to target T-07</a:t>
            </a:r>
            <a:endParaRPr lang="en-US" sz="800" dirty="0"/>
          </a:p>
        </p:txBody>
      </p:sp>
      <p:sp>
        <p:nvSpPr>
          <p:cNvPr id="49" name="Text 46"/>
          <p:cNvSpPr/>
          <p:nvPr/>
        </p:nvSpPr>
        <p:spPr>
          <a:xfrm>
            <a:off x="4907756" y="3439604"/>
            <a:ext cx="3586163" cy="169999"/>
          </a:xfrm>
          <a:prstGeom prst="rect">
            <a:avLst/>
          </a:prstGeom>
          <a:noFill/>
          <a:ln/>
        </p:spPr>
        <p:txBody>
          <a:bodyPr wrap="square" lIns="0" tIns="0" rIns="0" bIns="0" rtlCol="0" anchor="t"/>
          <a:lstStyle/>
          <a:p>
            <a:pPr algn="l" indent="0" marL="0">
              <a:lnSpc>
                <a:spcPts val="1133"/>
              </a:lnSpc>
              <a:buNone/>
            </a:pPr>
            <a:r>
              <a:rPr lang="en-US" sz="731" i="1" dirty="0">
                <a:solidFill>
                  <a:srgbClr val="A8A39C"/>
                </a:solidFill>
                <a:latin typeface="Carlito" pitchFamily="34" charset="0"/>
                <a:ea typeface="Carlito" pitchFamily="34" charset="-122"/>
                <a:cs typeface="Carlito" pitchFamily="34" charset="-120"/>
              </a:rPr>
              <a:t>“Magnetic low confirmed by ground follow-up 2025-07-12. Reviewed: K. Mensah, SCP-21.”</a:t>
            </a:r>
            <a:endParaRPr lang="en-US" sz="731" dirty="0"/>
          </a:p>
        </p:txBody>
      </p:sp>
      <p:sp>
        <p:nvSpPr>
          <p:cNvPr id="50" name="Text 47"/>
          <p:cNvSpPr/>
          <p:nvPr/>
        </p:nvSpPr>
        <p:spPr>
          <a:xfrm>
            <a:off x="4907756" y="4432697"/>
            <a:ext cx="3695891" cy="117872"/>
          </a:xfrm>
          <a:prstGeom prst="rect">
            <a:avLst/>
          </a:prstGeom>
          <a:noFill/>
          <a:ln/>
        </p:spPr>
        <p:txBody>
          <a:bodyPr wrap="square" lIns="0" tIns="0" rIns="0" bIns="0" rtlCol="0" anchor="t"/>
          <a:lstStyle/>
          <a:p>
            <a:pPr algn="l" indent="0" marL="0">
              <a:lnSpc>
                <a:spcPts val="928"/>
              </a:lnSpc>
              <a:buNone/>
            </a:pPr>
            <a:r>
              <a:rPr lang="en-US" sz="800" spc="62" kern="0" dirty="0">
                <a:solidFill>
                  <a:srgbClr val="6B6760"/>
                </a:solidFill>
                <a:latin typeface="Courier New" pitchFamily="34" charset="0"/>
                <a:ea typeface="Courier New" pitchFamily="34" charset="-122"/>
                <a:cs typeface="Courier New" pitchFamily="34" charset="-120"/>
              </a:rPr>
              <a:t>CARRIED INTO PDF · CSV · KML · SHP EXPORTS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11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4000"/>
          </a:blip>
          <a:stretch>
            <a:fillRect/>
          </a:stretch>
        </p:blipFill>
        <p:spPr>
          <a:xfrm>
            <a:off x="0" y="0"/>
            <a:ext cx="9144000" cy="5143500"/>
          </a:xfrm>
          <a:prstGeom prst="rect">
            <a:avLst/>
          </a:prstGeom>
        </p:spPr>
      </p:pic>
      <p:sp>
        <p:nvSpPr>
          <p:cNvPr id="3" name="Text 0"/>
          <p:cNvSpPr/>
          <p:nvPr/>
        </p:nvSpPr>
        <p:spPr>
          <a:xfrm>
            <a:off x="457200" y="171450"/>
            <a:ext cx="5975747" cy="164592"/>
          </a:xfrm>
          <a:prstGeom prst="rect">
            <a:avLst/>
          </a:prstGeom>
          <a:noFill/>
          <a:ln/>
        </p:spPr>
        <p:txBody>
          <a:bodyPr wrap="square" lIns="0" tIns="0" rIns="0" bIns="0" rtlCol="0" anchor="t"/>
          <a:lstStyle/>
          <a:p>
            <a:pPr algn="l" indent="0" marL="0">
              <a:lnSpc>
                <a:spcPts val="928"/>
              </a:lnSpc>
              <a:buNone/>
            </a:pPr>
            <a:r>
              <a:rPr lang="en-US" sz="800" b="1" spc="99" kern="0" dirty="0">
                <a:solidFill>
                  <a:srgbClr val="D4A437"/>
                </a:solidFill>
                <a:latin typeface="Carlito" pitchFamily="34" charset="0"/>
                <a:ea typeface="Carlito" pitchFamily="34" charset="-122"/>
                <a:cs typeface="Carlito" pitchFamily="34" charset="-120"/>
              </a:rPr>
              <a:t>TERRAPULSE</a:t>
            </a:r>
            <a:pPr algn="l" indent="0" marL="0">
              <a:lnSpc>
                <a:spcPts val="928"/>
              </a:lnSpc>
              <a:buNone/>
            </a:pPr>
            <a:r>
              <a:rPr lang="en-US" sz="800" spc="99" kern="0" dirty="0">
                <a:solidFill>
                  <a:srgbClr val="6B6760"/>
                </a:solidFill>
                <a:latin typeface="Carlito" pitchFamily="34" charset="0"/>
                <a:ea typeface="Carlito" pitchFamily="34" charset="-122"/>
                <a:cs typeface="Carlito" pitchFamily="34" charset="-120"/>
              </a:rPr>
              <a:t> · GOLD FIELDS GHANA</a:t>
            </a:r>
            <a:endParaRPr lang="en-US" sz="800" dirty="0"/>
          </a:p>
        </p:txBody>
      </p:sp>
      <p:sp>
        <p:nvSpPr>
          <p:cNvPr id="4" name="Text 1"/>
          <p:cNvSpPr/>
          <p:nvPr/>
        </p:nvSpPr>
        <p:spPr>
          <a:xfrm>
            <a:off x="6447234" y="171450"/>
            <a:ext cx="2607477" cy="164592"/>
          </a:xfrm>
          <a:prstGeom prst="rect">
            <a:avLst/>
          </a:prstGeom>
          <a:noFill/>
          <a:ln/>
        </p:spPr>
        <p:txBody>
          <a:bodyPr wrap="square" lIns="0" tIns="0" rIns="0" bIns="0" rtlCol="0" anchor="t"/>
          <a:lstStyle/>
          <a:p>
            <a:pPr algn="l" indent="0" marL="0">
              <a:lnSpc>
                <a:spcPts val="928"/>
              </a:lnSpc>
              <a:buNone/>
            </a:pPr>
            <a:r>
              <a:rPr lang="en-US" sz="619" spc="99" kern="0" dirty="0">
                <a:solidFill>
                  <a:srgbClr val="6B6760"/>
                </a:solidFill>
                <a:latin typeface="Carlito" pitchFamily="34" charset="0"/>
                <a:ea typeface="Carlito" pitchFamily="34" charset="-122"/>
                <a:cs typeface="Carlito" pitchFamily="34" charset="-120"/>
              </a:rPr>
              <a:t>PIPELINE · 5 STAGES, ONE PROVENANCE CHAIN</a:t>
            </a:r>
            <a:endParaRPr lang="en-US" sz="619" dirty="0"/>
          </a:p>
        </p:txBody>
      </p:sp>
      <p:sp>
        <p:nvSpPr>
          <p:cNvPr id="5" name="Text 2"/>
          <p:cNvSpPr/>
          <p:nvPr/>
        </p:nvSpPr>
        <p:spPr>
          <a:xfrm>
            <a:off x="460772" y="503634"/>
            <a:ext cx="8222456" cy="899220"/>
          </a:xfrm>
          <a:prstGeom prst="roundRect">
            <a:avLst>
              <a:gd name="adj" fmla="val 8474"/>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6" name="Text 3"/>
          <p:cNvSpPr/>
          <p:nvPr/>
        </p:nvSpPr>
        <p:spPr>
          <a:xfrm>
            <a:off x="664369" y="635794"/>
            <a:ext cx="1910953" cy="203597"/>
          </a:xfrm>
          <a:prstGeom prst="roundRect">
            <a:avLst>
              <a:gd name="adj" fmla="val 9357"/>
            </a:avLst>
          </a:prstGeom>
          <a:solidFill>
            <a:srgbClr val="D4633F">
              <a:alpha val="8000"/>
            </a:srgbClr>
          </a:solidFill>
          <a:ln/>
        </p:spPr>
        <p:txBody>
          <a:bodyPr wrap="square" rtlCol="0" anchor="ctr"/>
          <a:lstStyle/>
          <a:p>
            <a:pPr indent="0" marL="0">
              <a:buNone/>
            </a:pPr>
            <a:endParaRPr lang="en-US" dirty="0"/>
          </a:p>
        </p:txBody>
      </p:sp>
      <p:sp>
        <p:nvSpPr>
          <p:cNvPr id="7" name="Shape 4"/>
          <p:cNvSpPr/>
          <p:nvPr/>
        </p:nvSpPr>
        <p:spPr>
          <a:xfrm>
            <a:off x="675084" y="635794"/>
            <a:ext cx="0" cy="203597"/>
          </a:xfrm>
          <a:prstGeom prst="line">
            <a:avLst/>
          </a:prstGeom>
          <a:noFill/>
          <a:ln w="21431">
            <a:solidFill>
              <a:srgbClr val="D4633F"/>
            </a:solidFill>
            <a:prstDash val="solid"/>
          </a:ln>
        </p:spPr>
      </p:sp>
      <p:sp>
        <p:nvSpPr>
          <p:cNvPr id="8" name="Text 5"/>
          <p:cNvSpPr/>
          <p:nvPr/>
        </p:nvSpPr>
        <p:spPr>
          <a:xfrm>
            <a:off x="914400" y="685800"/>
            <a:ext cx="1575197" cy="139654"/>
          </a:xfrm>
          <a:prstGeom prst="rect">
            <a:avLst/>
          </a:prstGeom>
          <a:noFill/>
          <a:ln/>
        </p:spPr>
        <p:txBody>
          <a:bodyPr wrap="none" lIns="71438" tIns="42863" rIns="85725" bIns="42863" rtlCol="0" anchor="t"/>
          <a:lstStyle/>
          <a:p>
            <a:pPr algn="l" indent="0" marL="0">
              <a:lnSpc>
                <a:spcPts val="928"/>
              </a:lnSpc>
              <a:buNone/>
            </a:pPr>
            <a:r>
              <a:rPr lang="en-US" sz="619" b="1" spc="87" kern="0" dirty="0">
                <a:solidFill>
                  <a:srgbClr val="D4633F"/>
                </a:solidFill>
                <a:latin typeface="Carlito" pitchFamily="34" charset="0"/>
                <a:ea typeface="Carlito" pitchFamily="34" charset="-122"/>
                <a:cs typeface="Carlito" pitchFamily="34" charset="-120"/>
              </a:rPr>
              <a:t>PROBLEM · ONE-OFF DELIVERABLES</a:t>
            </a:r>
            <a:endParaRPr lang="en-US" sz="619" dirty="0"/>
          </a:p>
        </p:txBody>
      </p:sp>
      <p:sp>
        <p:nvSpPr>
          <p:cNvPr id="9" name="Text 6"/>
          <p:cNvSpPr/>
          <p:nvPr/>
        </p:nvSpPr>
        <p:spPr>
          <a:xfrm>
            <a:off x="757238" y="687586"/>
            <a:ext cx="100013" cy="100013"/>
          </a:xfrm>
          <a:prstGeom prst="rect">
            <a:avLst/>
          </a:prstGeom>
          <a:noFill/>
          <a:ln/>
        </p:spPr>
        <p:txBody>
          <a:bodyPr wrap="none" lIns="0" tIns="0" rIns="0" bIns="0" rtlCol="0" anchor="ctr"/>
          <a:lstStyle/>
          <a:p>
            <a:pPr algn="ctr" indent="0" marL="0">
              <a:buNone/>
            </a:pPr>
            <a:r>
              <a:rPr lang="en-US" sz="984" dirty="0">
                <a:solidFill>
                  <a:srgbClr val="D4633F"/>
                </a:solidFill>
                <a:latin typeface="Segoe UI Symbol" pitchFamily="34" charset="0"/>
                <a:ea typeface="Segoe UI Symbol" pitchFamily="34" charset="-122"/>
                <a:cs typeface="Segoe UI Symbol" pitchFamily="34" charset="-120"/>
              </a:rPr>
              <a:t>▶</a:t>
            </a:r>
            <a:endParaRPr lang="en-US" sz="984" dirty="0"/>
          </a:p>
        </p:txBody>
      </p:sp>
      <p:sp>
        <p:nvSpPr>
          <p:cNvPr id="10" name="Text 7"/>
          <p:cNvSpPr/>
          <p:nvPr/>
        </p:nvSpPr>
        <p:spPr>
          <a:xfrm>
            <a:off x="664369" y="910828"/>
            <a:ext cx="7715250" cy="359866"/>
          </a:xfrm>
          <a:prstGeom prst="rect">
            <a:avLst/>
          </a:prstGeom>
          <a:noFill/>
          <a:ln/>
        </p:spPr>
        <p:txBody>
          <a:bodyPr wrap="square" lIns="0" tIns="0" rIns="0" bIns="0" rtlCol="0" anchor="t"/>
          <a:lstStyle/>
          <a:p>
            <a:pPr algn="l" indent="0" marL="0">
              <a:lnSpc>
                <a:spcPts val="1418"/>
              </a:lnSpc>
              <a:buNone/>
            </a:pPr>
            <a:r>
              <a:rPr lang="en-US" sz="1013" dirty="0">
                <a:solidFill>
                  <a:srgbClr val="E8E6E1"/>
                </a:solidFill>
                <a:latin typeface="Carlito" pitchFamily="34" charset="0"/>
                <a:ea typeface="Carlito" pitchFamily="34" charset="-122"/>
                <a:cs typeface="Carlito" pitchFamily="34" charset="-120"/>
              </a:rPr>
              <a:t>New assays land and the integration starts again. The last analysis was a one-off deliverable, not something you can point at fresh data and press a button on.</a:t>
            </a:r>
            <a:endParaRPr lang="en-US" sz="1013" dirty="0"/>
          </a:p>
        </p:txBody>
      </p:sp>
      <p:sp>
        <p:nvSpPr>
          <p:cNvPr id="11" name="Text 8"/>
          <p:cNvSpPr/>
          <p:nvPr/>
        </p:nvSpPr>
        <p:spPr>
          <a:xfrm>
            <a:off x="251460" y="1535013"/>
            <a:ext cx="8636000" cy="271480"/>
          </a:xfrm>
          <a:prstGeom prst="rect">
            <a:avLst/>
          </a:prstGeom>
          <a:noFill/>
          <a:ln/>
        </p:spPr>
        <p:txBody>
          <a:bodyPr wrap="none" lIns="0" tIns="0" rIns="0" bIns="0" rtlCol="0" anchor="t"/>
          <a:lstStyle/>
          <a:p>
            <a:pPr algn="ctr" indent="0" marL="0">
              <a:lnSpc>
                <a:spcPts val="1980"/>
              </a:lnSpc>
              <a:buNone/>
            </a:pPr>
            <a:r>
              <a:rPr lang="en-US" sz="1800" b="1" spc="-18" kern="0" dirty="0">
                <a:solidFill>
                  <a:srgbClr val="E8E6E1"/>
                </a:solidFill>
                <a:latin typeface="Carlito" pitchFamily="34" charset="0"/>
                <a:ea typeface="Carlito" pitchFamily="34" charset="-122"/>
                <a:cs typeface="Carlito" pitchFamily="34" charset="-120"/>
              </a:rPr>
              <a:t>How it works, end to end</a:t>
            </a:r>
            <a:endParaRPr lang="en-US" sz="1800" dirty="0"/>
          </a:p>
        </p:txBody>
      </p:sp>
      <p:sp>
        <p:nvSpPr>
          <p:cNvPr id="12" name="Text 9"/>
          <p:cNvSpPr/>
          <p:nvPr/>
        </p:nvSpPr>
        <p:spPr>
          <a:xfrm>
            <a:off x="1428750" y="1843534"/>
            <a:ext cx="6286500" cy="167807"/>
          </a:xfrm>
          <a:prstGeom prst="rect">
            <a:avLst/>
          </a:prstGeom>
          <a:noFill/>
          <a:ln/>
        </p:spPr>
        <p:txBody>
          <a:bodyPr wrap="square" lIns="0" tIns="0" rIns="0" bIns="0" rtlCol="0" anchor="t"/>
          <a:lstStyle/>
          <a:p>
            <a:pPr algn="ctr" indent="0" marL="0">
              <a:lnSpc>
                <a:spcPts val="1223"/>
              </a:lnSpc>
              <a:buNone/>
            </a:pPr>
            <a:r>
              <a:rPr lang="en-US" sz="844" dirty="0">
                <a:solidFill>
                  <a:srgbClr val="A8A39C"/>
                </a:solidFill>
                <a:latin typeface="Carlito" pitchFamily="34" charset="0"/>
                <a:ea typeface="Carlito" pitchFamily="34" charset="-122"/>
                <a:cs typeface="Carlito" pitchFamily="34" charset="-120"/>
              </a:rPr>
              <a:t>One pipeline, five stages. Each stage writes provenance, so the last stage can always answer for the first.</a:t>
            </a:r>
            <a:endParaRPr lang="en-US" sz="844" dirty="0"/>
          </a:p>
        </p:txBody>
      </p:sp>
      <p:sp>
        <p:nvSpPr>
          <p:cNvPr id="13" name="Text 10"/>
          <p:cNvSpPr/>
          <p:nvPr/>
        </p:nvSpPr>
        <p:spPr>
          <a:xfrm>
            <a:off x="460772" y="2131070"/>
            <a:ext cx="8222456" cy="1838734"/>
          </a:xfrm>
          <a:prstGeom prst="roundRect">
            <a:avLst>
              <a:gd name="adj" fmla="val 4144"/>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14" name="Text 11"/>
          <p:cNvSpPr/>
          <p:nvPr/>
        </p:nvSpPr>
        <p:spPr>
          <a:xfrm>
            <a:off x="664369" y="2373957"/>
            <a:ext cx="7815263" cy="7144"/>
          </a:xfrm>
          <a:prstGeom prst="rect">
            <a:avLst/>
          </a:prstGeom>
          <a:solidFill>
            <a:srgbClr val="D4A437">
              <a:alpha val="55000"/>
            </a:srgbClr>
          </a:solidFill>
          <a:ln/>
        </p:spPr>
        <p:txBody>
          <a:bodyPr wrap="square" rtlCol="0" anchor="ctr"/>
          <a:lstStyle/>
          <a:p>
            <a:pPr indent="0" marL="0">
              <a:buNone/>
            </a:pPr>
            <a:endParaRPr lang="en-US" dirty="0"/>
          </a:p>
        </p:txBody>
      </p:sp>
      <p:sp>
        <p:nvSpPr>
          <p:cNvPr id="15" name="Text 12"/>
          <p:cNvSpPr/>
          <p:nvPr/>
        </p:nvSpPr>
        <p:spPr>
          <a:xfrm>
            <a:off x="664369" y="2548979"/>
            <a:ext cx="2354580" cy="244030"/>
          </a:xfrm>
          <a:prstGeom prst="rect">
            <a:avLst/>
          </a:prstGeom>
          <a:noFill/>
          <a:ln/>
        </p:spPr>
        <p:txBody>
          <a:bodyPr wrap="none" lIns="0" tIns="0" rIns="0" bIns="0" rtlCol="0" anchor="t">
            <a:normAutofit/>
          </a:bodyPr>
          <a:lstStyle/>
          <a:p>
            <a:pPr algn="l" indent="0" marL="0">
              <a:lnSpc>
                <a:spcPts val="1800"/>
              </a:lnSpc>
              <a:buNone/>
            </a:pPr>
            <a:r>
              <a:rPr lang="en-US" sz="1800" spc="-18" kern="0" dirty="0">
                <a:solidFill>
                  <a:srgbClr val="D4A437"/>
                </a:solidFill>
                <a:latin typeface="Liberation Sans Narrow" pitchFamily="34" charset="0"/>
                <a:ea typeface="Liberation Sans Narrow" pitchFamily="34" charset="-122"/>
                <a:cs typeface="Liberation Sans Narrow" pitchFamily="34" charset="-120"/>
              </a:rPr>
              <a:t>01</a:t>
            </a:r>
            <a:endParaRPr lang="en-US" sz="1800" dirty="0"/>
          </a:p>
        </p:txBody>
      </p:sp>
      <p:sp>
        <p:nvSpPr>
          <p:cNvPr id="16" name="Text 13"/>
          <p:cNvSpPr/>
          <p:nvPr/>
        </p:nvSpPr>
        <p:spPr>
          <a:xfrm>
            <a:off x="664369" y="2820442"/>
            <a:ext cx="1942529" cy="185166"/>
          </a:xfrm>
          <a:prstGeom prst="rect">
            <a:avLst/>
          </a:prstGeom>
          <a:noFill/>
          <a:ln/>
        </p:spPr>
        <p:txBody>
          <a:bodyPr wrap="none" lIns="0" tIns="0" rIns="0" bIns="0" rtlCol="0" anchor="t"/>
          <a:lstStyle/>
          <a:p>
            <a:pPr algn="l" indent="0" marL="0">
              <a:lnSpc>
                <a:spcPts val="1350"/>
              </a:lnSpc>
              <a:buNone/>
            </a:pPr>
            <a:r>
              <a:rPr lang="en-US" sz="900" b="1" spc="36" kern="0" dirty="0">
                <a:solidFill>
                  <a:srgbClr val="E8E6E1"/>
                </a:solidFill>
                <a:latin typeface="Carlito" pitchFamily="34" charset="0"/>
                <a:ea typeface="Carlito" pitchFamily="34" charset="-122"/>
                <a:cs typeface="Carlito" pitchFamily="34" charset="-120"/>
              </a:rPr>
              <a:t>INGEST</a:t>
            </a:r>
            <a:endParaRPr lang="en-US" sz="900" dirty="0"/>
          </a:p>
        </p:txBody>
      </p:sp>
      <p:sp>
        <p:nvSpPr>
          <p:cNvPr id="17" name="Text 14"/>
          <p:cNvSpPr/>
          <p:nvPr/>
        </p:nvSpPr>
        <p:spPr>
          <a:xfrm>
            <a:off x="664369" y="3049042"/>
            <a:ext cx="1559909" cy="286893"/>
          </a:xfrm>
          <a:prstGeom prst="rect">
            <a:avLst/>
          </a:prstGeom>
          <a:noFill/>
          <a:ln/>
        </p:spPr>
        <p:txBody>
          <a:bodyPr wrap="square" lIns="0" tIns="0" rIns="0" bIns="0" rtlCol="0" anchor="t">
            <a:normAutofit/>
          </a:bodyPr>
          <a:lstStyle/>
          <a:p>
            <a:pPr algn="l" indent="0" marL="0">
              <a:lnSpc>
                <a:spcPts val="979"/>
              </a:lnSpc>
              <a:buNone/>
            </a:pPr>
            <a:r>
              <a:rPr lang="en-US" sz="800" dirty="0">
                <a:solidFill>
                  <a:srgbClr val="A8A39C"/>
                </a:solidFill>
                <a:latin typeface="Carlito" pitchFamily="34" charset="0"/>
                <a:ea typeface="Carlito" pitchFamily="34" charset="-122"/>
                <a:cs typeface="Carlito" pitchFamily="34" charset="-120"/>
              </a:rPr>
              <a:t>Your survey data, validated and checksummed.</a:t>
            </a:r>
            <a:endParaRPr lang="en-US" sz="800" dirty="0"/>
          </a:p>
        </p:txBody>
      </p:sp>
      <p:sp>
        <p:nvSpPr>
          <p:cNvPr id="18" name="Text 15"/>
          <p:cNvSpPr/>
          <p:nvPr/>
        </p:nvSpPr>
        <p:spPr>
          <a:xfrm>
            <a:off x="664369" y="3363367"/>
            <a:ext cx="1471613" cy="135423"/>
          </a:xfrm>
          <a:prstGeom prst="rect">
            <a:avLst/>
          </a:prstGeom>
          <a:noFill/>
          <a:ln/>
        </p:spPr>
        <p:txBody>
          <a:bodyPr wrap="square" lIns="85725" tIns="0" rIns="0" bIns="0" rtlCol="0" anchor="t">
            <a:normAutofit/>
          </a:bodyPr>
          <a:lstStyle/>
          <a:p>
            <a:pPr algn="l" indent="0" marL="0">
              <a:lnSpc>
                <a:spcPts val="945"/>
              </a:lnSpc>
              <a:buNone/>
            </a:pPr>
            <a:r>
              <a:rPr lang="en-US" sz="675" dirty="0">
                <a:solidFill>
                  <a:srgbClr val="E8E6E1"/>
                </a:solidFill>
                <a:latin typeface="Carlito" pitchFamily="34" charset="0"/>
                <a:ea typeface="Carlito" pitchFamily="34" charset="-122"/>
                <a:cs typeface="Carlito" pitchFamily="34" charset="-120"/>
              </a:rPr>
              <a:t>Geophysics: XYZ, GRD, DAT, TIF</a:t>
            </a:r>
            <a:endParaRPr lang="en-US" sz="675" dirty="0"/>
          </a:p>
        </p:txBody>
      </p:sp>
      <p:sp>
        <p:nvSpPr>
          <p:cNvPr id="19" name="Text 16"/>
          <p:cNvSpPr/>
          <p:nvPr/>
        </p:nvSpPr>
        <p:spPr>
          <a:xfrm>
            <a:off x="664369" y="3526222"/>
            <a:ext cx="1471613" cy="135423"/>
          </a:xfrm>
          <a:prstGeom prst="rect">
            <a:avLst/>
          </a:prstGeom>
          <a:noFill/>
          <a:ln/>
        </p:spPr>
        <p:txBody>
          <a:bodyPr wrap="none" lIns="85725" tIns="0" rIns="0" bIns="0" rtlCol="0" anchor="t">
            <a:normAutofit/>
          </a:bodyPr>
          <a:lstStyle/>
          <a:p>
            <a:pPr algn="l" indent="0" marL="0">
              <a:lnSpc>
                <a:spcPts val="945"/>
              </a:lnSpc>
              <a:buNone/>
            </a:pPr>
            <a:r>
              <a:rPr lang="en-US" sz="800" dirty="0">
                <a:solidFill>
                  <a:srgbClr val="E8E6E1"/>
                </a:solidFill>
                <a:latin typeface="Carlito" pitchFamily="34" charset="0"/>
                <a:ea typeface="Carlito" pitchFamily="34" charset="-122"/>
                <a:cs typeface="Carlito" pitchFamily="34" charset="-120"/>
              </a:rPr>
              <a:t>Geochemistry: CSV</a:t>
            </a:r>
            <a:endParaRPr lang="en-US" sz="800" dirty="0"/>
          </a:p>
        </p:txBody>
      </p:sp>
      <p:sp>
        <p:nvSpPr>
          <p:cNvPr id="20" name="Text 17"/>
          <p:cNvSpPr/>
          <p:nvPr/>
        </p:nvSpPr>
        <p:spPr>
          <a:xfrm>
            <a:off x="664369" y="3689077"/>
            <a:ext cx="1471613" cy="119993"/>
          </a:xfrm>
          <a:prstGeom prst="rect">
            <a:avLst/>
          </a:prstGeom>
          <a:noFill/>
          <a:ln/>
        </p:spPr>
        <p:txBody>
          <a:bodyPr wrap="none" lIns="85725" tIns="0" rIns="0" bIns="0" rtlCol="0" anchor="t"/>
          <a:lstStyle/>
          <a:p>
            <a:pPr algn="l" indent="0" marL="0">
              <a:lnSpc>
                <a:spcPts val="945"/>
              </a:lnSpc>
              <a:buNone/>
            </a:pPr>
            <a:r>
              <a:rPr lang="en-US" sz="800" dirty="0">
                <a:solidFill>
                  <a:srgbClr val="E8E6E1"/>
                </a:solidFill>
                <a:latin typeface="Carlito" pitchFamily="34" charset="0"/>
                <a:ea typeface="Carlito" pitchFamily="34" charset="-122"/>
                <a:cs typeface="Carlito" pitchFamily="34" charset="-120"/>
              </a:rPr>
              <a:t>Assay certificates: PDF</a:t>
            </a:r>
            <a:endParaRPr lang="en-US" sz="800" dirty="0"/>
          </a:p>
        </p:txBody>
      </p:sp>
      <p:sp>
        <p:nvSpPr>
          <p:cNvPr id="21" name="Text 18"/>
          <p:cNvSpPr/>
          <p:nvPr/>
        </p:nvSpPr>
        <p:spPr>
          <a:xfrm>
            <a:off x="2250281" y="2548979"/>
            <a:ext cx="2354580" cy="244030"/>
          </a:xfrm>
          <a:prstGeom prst="rect">
            <a:avLst/>
          </a:prstGeom>
          <a:noFill/>
          <a:ln/>
        </p:spPr>
        <p:txBody>
          <a:bodyPr wrap="none" lIns="0" tIns="0" rIns="0" bIns="0" rtlCol="0" anchor="t">
            <a:normAutofit/>
          </a:bodyPr>
          <a:lstStyle/>
          <a:p>
            <a:pPr algn="l" indent="0" marL="0">
              <a:lnSpc>
                <a:spcPts val="1800"/>
              </a:lnSpc>
              <a:buNone/>
            </a:pPr>
            <a:r>
              <a:rPr lang="en-US" sz="1800" spc="-18" kern="0" dirty="0">
                <a:solidFill>
                  <a:srgbClr val="D4A437"/>
                </a:solidFill>
                <a:latin typeface="Liberation Sans Narrow" pitchFamily="34" charset="0"/>
                <a:ea typeface="Liberation Sans Narrow" pitchFamily="34" charset="-122"/>
                <a:cs typeface="Liberation Sans Narrow" pitchFamily="34" charset="-120"/>
              </a:rPr>
              <a:t>02</a:t>
            </a:r>
            <a:endParaRPr lang="en-US" sz="1800" dirty="0"/>
          </a:p>
        </p:txBody>
      </p:sp>
      <p:sp>
        <p:nvSpPr>
          <p:cNvPr id="22" name="Text 19"/>
          <p:cNvSpPr/>
          <p:nvPr/>
        </p:nvSpPr>
        <p:spPr>
          <a:xfrm>
            <a:off x="2250281" y="2820442"/>
            <a:ext cx="1942529" cy="185166"/>
          </a:xfrm>
          <a:prstGeom prst="rect">
            <a:avLst/>
          </a:prstGeom>
          <a:noFill/>
          <a:ln/>
        </p:spPr>
        <p:txBody>
          <a:bodyPr wrap="none" lIns="0" tIns="0" rIns="0" bIns="0" rtlCol="0" anchor="t"/>
          <a:lstStyle/>
          <a:p>
            <a:pPr algn="l" indent="0" marL="0">
              <a:lnSpc>
                <a:spcPts val="1350"/>
              </a:lnSpc>
              <a:buNone/>
            </a:pPr>
            <a:r>
              <a:rPr lang="en-US" sz="900" b="1" spc="36" kern="0" dirty="0">
                <a:solidFill>
                  <a:srgbClr val="E8E6E1"/>
                </a:solidFill>
                <a:latin typeface="Carlito" pitchFamily="34" charset="0"/>
                <a:ea typeface="Carlito" pitchFamily="34" charset="-122"/>
                <a:cs typeface="Carlito" pitchFamily="34" charset="-120"/>
              </a:rPr>
              <a:t>AUGMENT</a:t>
            </a:r>
            <a:endParaRPr lang="en-US" sz="900" dirty="0"/>
          </a:p>
        </p:txBody>
      </p:sp>
      <p:sp>
        <p:nvSpPr>
          <p:cNvPr id="23" name="Text 20"/>
          <p:cNvSpPr/>
          <p:nvPr/>
        </p:nvSpPr>
        <p:spPr>
          <a:xfrm>
            <a:off x="2250281" y="3049042"/>
            <a:ext cx="1559909" cy="286893"/>
          </a:xfrm>
          <a:prstGeom prst="rect">
            <a:avLst/>
          </a:prstGeom>
          <a:noFill/>
          <a:ln/>
        </p:spPr>
        <p:txBody>
          <a:bodyPr wrap="square" lIns="0" tIns="0" rIns="0" bIns="0" rtlCol="0" anchor="t">
            <a:normAutofit/>
          </a:bodyPr>
          <a:lstStyle/>
          <a:p>
            <a:pPr algn="l" indent="0" marL="0">
              <a:lnSpc>
                <a:spcPts val="979"/>
              </a:lnSpc>
              <a:buNone/>
            </a:pPr>
            <a:r>
              <a:rPr lang="en-US" sz="800" dirty="0">
                <a:solidFill>
                  <a:srgbClr val="A8A39C"/>
                </a:solidFill>
                <a:latin typeface="Carlito" pitchFamily="34" charset="0"/>
                <a:ea typeface="Carlito" pitchFamily="34" charset="-122"/>
                <a:cs typeface="Carlito" pitchFamily="34" charset="-120"/>
              </a:rPr>
              <a:t>Public sources fetched to your boundary.</a:t>
            </a:r>
            <a:endParaRPr lang="en-US" sz="800" dirty="0"/>
          </a:p>
        </p:txBody>
      </p:sp>
      <p:sp>
        <p:nvSpPr>
          <p:cNvPr id="24" name="Text 21"/>
          <p:cNvSpPr/>
          <p:nvPr/>
        </p:nvSpPr>
        <p:spPr>
          <a:xfrm>
            <a:off x="2250281" y="3363367"/>
            <a:ext cx="1471613" cy="135423"/>
          </a:xfrm>
          <a:prstGeom prst="rect">
            <a:avLst/>
          </a:prstGeom>
          <a:noFill/>
          <a:ln/>
        </p:spPr>
        <p:txBody>
          <a:bodyPr wrap="square" lIns="85725" tIns="0" rIns="0" bIns="0" rtlCol="0" anchor="t">
            <a:normAutofit/>
          </a:bodyPr>
          <a:lstStyle/>
          <a:p>
            <a:pPr algn="l" indent="0" marL="0">
              <a:lnSpc>
                <a:spcPts val="945"/>
              </a:lnSpc>
              <a:buNone/>
            </a:pPr>
            <a:r>
              <a:rPr lang="en-US" sz="675" dirty="0">
                <a:solidFill>
                  <a:srgbClr val="E8E6E1"/>
                </a:solidFill>
                <a:latin typeface="Liberation Sans Narrow" pitchFamily="34" charset="0"/>
                <a:ea typeface="Liberation Sans Narrow" pitchFamily="34" charset="-122"/>
                <a:cs typeface="Liberation Sans Narrow" pitchFamily="34" charset="-120"/>
              </a:rPr>
              <a:t>Sentinel-2 alteration indices</a:t>
            </a:r>
            <a:endParaRPr lang="en-US" sz="675" dirty="0"/>
          </a:p>
        </p:txBody>
      </p:sp>
      <p:sp>
        <p:nvSpPr>
          <p:cNvPr id="25" name="Text 22"/>
          <p:cNvSpPr/>
          <p:nvPr/>
        </p:nvSpPr>
        <p:spPr>
          <a:xfrm>
            <a:off x="2250281" y="3526222"/>
            <a:ext cx="1471613" cy="135423"/>
          </a:xfrm>
          <a:prstGeom prst="rect">
            <a:avLst/>
          </a:prstGeom>
          <a:noFill/>
          <a:ln/>
        </p:spPr>
        <p:txBody>
          <a:bodyPr wrap="square" lIns="85725" tIns="0" rIns="0" bIns="0" rtlCol="0" anchor="t">
            <a:normAutofit/>
          </a:bodyPr>
          <a:lstStyle/>
          <a:p>
            <a:pPr algn="l" indent="0" marL="0">
              <a:lnSpc>
                <a:spcPts val="945"/>
              </a:lnSpc>
              <a:buNone/>
            </a:pPr>
            <a:r>
              <a:rPr lang="en-US" sz="675" dirty="0">
                <a:solidFill>
                  <a:srgbClr val="E8E6E1"/>
                </a:solidFill>
                <a:latin typeface="Carlito" pitchFamily="34" charset="0"/>
                <a:ea typeface="Carlito" pitchFamily="34" charset="-122"/>
                <a:cs typeface="Carlito" pitchFamily="34" charset="-120"/>
              </a:rPr>
              <a:t>Terrain, regional magnetics</a:t>
            </a:r>
            <a:endParaRPr lang="en-US" sz="675" dirty="0"/>
          </a:p>
        </p:txBody>
      </p:sp>
      <p:sp>
        <p:nvSpPr>
          <p:cNvPr id="26" name="Text 23"/>
          <p:cNvSpPr/>
          <p:nvPr/>
        </p:nvSpPr>
        <p:spPr>
          <a:xfrm>
            <a:off x="2250281" y="3689077"/>
            <a:ext cx="1471613" cy="119993"/>
          </a:xfrm>
          <a:prstGeom prst="rect">
            <a:avLst/>
          </a:prstGeom>
          <a:noFill/>
          <a:ln/>
        </p:spPr>
        <p:txBody>
          <a:bodyPr wrap="square" lIns="85725" tIns="0" rIns="0" bIns="0" rtlCol="0" anchor="t"/>
          <a:lstStyle/>
          <a:p>
            <a:pPr algn="l" indent="0" marL="0">
              <a:lnSpc>
                <a:spcPts val="945"/>
              </a:lnSpc>
              <a:buNone/>
            </a:pPr>
            <a:r>
              <a:rPr lang="en-US" sz="675" dirty="0">
                <a:solidFill>
                  <a:srgbClr val="E8E6E1"/>
                </a:solidFill>
                <a:latin typeface="Carlito" pitchFamily="34" charset="0"/>
                <a:ea typeface="Carlito" pitchFamily="34" charset="-122"/>
                <a:cs typeface="Carlito" pitchFamily="34" charset="-120"/>
              </a:rPr>
              <a:t>Geology, deposits, roads, reserves</a:t>
            </a:r>
            <a:endParaRPr lang="en-US" sz="675" dirty="0"/>
          </a:p>
        </p:txBody>
      </p:sp>
      <p:sp>
        <p:nvSpPr>
          <p:cNvPr id="27" name="Text 24"/>
          <p:cNvSpPr/>
          <p:nvPr/>
        </p:nvSpPr>
        <p:spPr>
          <a:xfrm>
            <a:off x="3836194" y="2548979"/>
            <a:ext cx="2354580" cy="244030"/>
          </a:xfrm>
          <a:prstGeom prst="rect">
            <a:avLst/>
          </a:prstGeom>
          <a:noFill/>
          <a:ln/>
        </p:spPr>
        <p:txBody>
          <a:bodyPr wrap="none" lIns="0" tIns="0" rIns="0" bIns="0" rtlCol="0" anchor="t">
            <a:normAutofit/>
          </a:bodyPr>
          <a:lstStyle/>
          <a:p>
            <a:pPr algn="l" indent="0" marL="0">
              <a:lnSpc>
                <a:spcPts val="1800"/>
              </a:lnSpc>
              <a:buNone/>
            </a:pPr>
            <a:r>
              <a:rPr lang="en-US" sz="1800" spc="-18" kern="0" dirty="0">
                <a:solidFill>
                  <a:srgbClr val="D4A437"/>
                </a:solidFill>
                <a:latin typeface="Liberation Sans Narrow" pitchFamily="34" charset="0"/>
                <a:ea typeface="Liberation Sans Narrow" pitchFamily="34" charset="-122"/>
                <a:cs typeface="Liberation Sans Narrow" pitchFamily="34" charset="-120"/>
              </a:rPr>
              <a:t>03</a:t>
            </a:r>
            <a:endParaRPr lang="en-US" sz="1800" dirty="0"/>
          </a:p>
        </p:txBody>
      </p:sp>
      <p:sp>
        <p:nvSpPr>
          <p:cNvPr id="28" name="Text 25"/>
          <p:cNvSpPr/>
          <p:nvPr/>
        </p:nvSpPr>
        <p:spPr>
          <a:xfrm>
            <a:off x="3836194" y="2820442"/>
            <a:ext cx="1942529" cy="185166"/>
          </a:xfrm>
          <a:prstGeom prst="rect">
            <a:avLst/>
          </a:prstGeom>
          <a:noFill/>
          <a:ln/>
        </p:spPr>
        <p:txBody>
          <a:bodyPr wrap="none" lIns="0" tIns="0" rIns="0" bIns="0" rtlCol="0" anchor="t"/>
          <a:lstStyle/>
          <a:p>
            <a:pPr algn="l" indent="0" marL="0">
              <a:lnSpc>
                <a:spcPts val="1350"/>
              </a:lnSpc>
              <a:buNone/>
            </a:pPr>
            <a:r>
              <a:rPr lang="en-US" sz="900" b="1" spc="36" kern="0" dirty="0">
                <a:solidFill>
                  <a:srgbClr val="E8E6E1"/>
                </a:solidFill>
                <a:latin typeface="Carlito" pitchFamily="34" charset="0"/>
                <a:ea typeface="Carlito" pitchFamily="34" charset="-122"/>
                <a:cs typeface="Carlito" pitchFamily="34" charset="-120"/>
              </a:rPr>
              <a:t>NORMALISE</a:t>
            </a:r>
            <a:endParaRPr lang="en-US" sz="900" dirty="0"/>
          </a:p>
        </p:txBody>
      </p:sp>
      <p:sp>
        <p:nvSpPr>
          <p:cNvPr id="29" name="Text 26"/>
          <p:cNvSpPr/>
          <p:nvPr/>
        </p:nvSpPr>
        <p:spPr>
          <a:xfrm>
            <a:off x="3836194" y="3049042"/>
            <a:ext cx="1559909" cy="286893"/>
          </a:xfrm>
          <a:prstGeom prst="rect">
            <a:avLst/>
          </a:prstGeom>
          <a:noFill/>
          <a:ln/>
        </p:spPr>
        <p:txBody>
          <a:bodyPr wrap="square" lIns="0" tIns="0" rIns="0" bIns="0" rtlCol="0" anchor="t">
            <a:normAutofit/>
          </a:bodyPr>
          <a:lstStyle/>
          <a:p>
            <a:pPr algn="l" indent="0" marL="0">
              <a:lnSpc>
                <a:spcPts val="979"/>
              </a:lnSpc>
              <a:buNone/>
            </a:pPr>
            <a:r>
              <a:rPr lang="en-US" sz="800" dirty="0">
                <a:solidFill>
                  <a:srgbClr val="A8A39C"/>
                </a:solidFill>
                <a:latin typeface="Carlito" pitchFamily="34" charset="0"/>
                <a:ea typeface="Carlito" pitchFamily="34" charset="-122"/>
                <a:cs typeface="Carlito" pitchFamily="34" charset="-120"/>
              </a:rPr>
              <a:t>Everything onto one comparable grid.</a:t>
            </a:r>
            <a:endParaRPr lang="en-US" sz="800" dirty="0"/>
          </a:p>
        </p:txBody>
      </p:sp>
      <p:sp>
        <p:nvSpPr>
          <p:cNvPr id="30" name="Text 27"/>
          <p:cNvSpPr/>
          <p:nvPr/>
        </p:nvSpPr>
        <p:spPr>
          <a:xfrm>
            <a:off x="3836194" y="3363367"/>
            <a:ext cx="1471613" cy="135423"/>
          </a:xfrm>
          <a:prstGeom prst="rect">
            <a:avLst/>
          </a:prstGeom>
          <a:noFill/>
          <a:ln/>
        </p:spPr>
        <p:txBody>
          <a:bodyPr wrap="square" lIns="85725" tIns="0" rIns="0" bIns="0" rtlCol="0" anchor="t">
            <a:normAutofit/>
          </a:bodyPr>
          <a:lstStyle/>
          <a:p>
            <a:pPr algn="l" indent="0" marL="0">
              <a:lnSpc>
                <a:spcPts val="945"/>
              </a:lnSpc>
              <a:buNone/>
            </a:pPr>
            <a:r>
              <a:rPr lang="en-US" sz="675" dirty="0">
                <a:solidFill>
                  <a:srgbClr val="E8E6E1"/>
                </a:solidFill>
                <a:latin typeface="Liberation Sans Narrow" pitchFamily="34" charset="0"/>
                <a:ea typeface="Liberation Sans Narrow" pitchFamily="34" charset="-122"/>
                <a:cs typeface="Liberation Sans Narrow" pitchFamily="34" charset="-120"/>
              </a:rPr>
              <a:t>Kriged interpolation to 50m</a:t>
            </a:r>
            <a:endParaRPr lang="en-US" sz="675" dirty="0"/>
          </a:p>
        </p:txBody>
      </p:sp>
      <p:sp>
        <p:nvSpPr>
          <p:cNvPr id="31" name="Text 28"/>
          <p:cNvSpPr/>
          <p:nvPr/>
        </p:nvSpPr>
        <p:spPr>
          <a:xfrm>
            <a:off x="3836194" y="3526222"/>
            <a:ext cx="1471613" cy="135423"/>
          </a:xfrm>
          <a:prstGeom prst="rect">
            <a:avLst/>
          </a:prstGeom>
          <a:noFill/>
          <a:ln/>
        </p:spPr>
        <p:txBody>
          <a:bodyPr wrap="square" lIns="85725" tIns="0" rIns="0" bIns="0" rtlCol="0" anchor="t">
            <a:normAutofit/>
          </a:bodyPr>
          <a:lstStyle/>
          <a:p>
            <a:pPr algn="l" indent="0" marL="0">
              <a:lnSpc>
                <a:spcPts val="945"/>
              </a:lnSpc>
              <a:buNone/>
            </a:pPr>
            <a:r>
              <a:rPr lang="en-US" sz="675" dirty="0">
                <a:solidFill>
                  <a:srgbClr val="E8E6E1"/>
                </a:solidFill>
                <a:latin typeface="Carlito" pitchFamily="34" charset="0"/>
                <a:ea typeface="Carlito" pitchFamily="34" charset="-122"/>
                <a:cs typeface="Carlito" pitchFamily="34" charset="-120"/>
              </a:rPr>
              <a:t>Per-element percentile classes</a:t>
            </a:r>
            <a:endParaRPr lang="en-US" sz="675" dirty="0"/>
          </a:p>
        </p:txBody>
      </p:sp>
      <p:sp>
        <p:nvSpPr>
          <p:cNvPr id="32" name="Text 29"/>
          <p:cNvSpPr/>
          <p:nvPr/>
        </p:nvSpPr>
        <p:spPr>
          <a:xfrm>
            <a:off x="3836194" y="3689077"/>
            <a:ext cx="1471613" cy="119993"/>
          </a:xfrm>
          <a:prstGeom prst="rect">
            <a:avLst/>
          </a:prstGeom>
          <a:noFill/>
          <a:ln/>
        </p:spPr>
        <p:txBody>
          <a:bodyPr wrap="square" lIns="85725" tIns="0" rIns="0" bIns="0" rtlCol="0" anchor="t"/>
          <a:lstStyle/>
          <a:p>
            <a:pPr algn="l" indent="0" marL="0">
              <a:lnSpc>
                <a:spcPts val="945"/>
              </a:lnSpc>
              <a:buNone/>
            </a:pPr>
            <a:r>
              <a:rPr lang="en-US" sz="675" dirty="0">
                <a:solidFill>
                  <a:srgbClr val="E8E6E1"/>
                </a:solidFill>
                <a:latin typeface="Carlito" pitchFamily="34" charset="0"/>
                <a:ea typeface="Carlito" pitchFamily="34" charset="-122"/>
                <a:cs typeface="Carlito" pitchFamily="34" charset="-120"/>
              </a:rPr>
              <a:t>Reduction to pole, depth estimation</a:t>
            </a:r>
            <a:endParaRPr lang="en-US" sz="675" dirty="0"/>
          </a:p>
        </p:txBody>
      </p:sp>
      <p:sp>
        <p:nvSpPr>
          <p:cNvPr id="33" name="Text 30"/>
          <p:cNvSpPr/>
          <p:nvPr/>
        </p:nvSpPr>
        <p:spPr>
          <a:xfrm>
            <a:off x="5422106" y="2548979"/>
            <a:ext cx="2354580" cy="244030"/>
          </a:xfrm>
          <a:prstGeom prst="rect">
            <a:avLst/>
          </a:prstGeom>
          <a:noFill/>
          <a:ln/>
        </p:spPr>
        <p:txBody>
          <a:bodyPr wrap="none" lIns="0" tIns="0" rIns="0" bIns="0" rtlCol="0" anchor="t">
            <a:normAutofit/>
          </a:bodyPr>
          <a:lstStyle/>
          <a:p>
            <a:pPr algn="l" indent="0" marL="0">
              <a:lnSpc>
                <a:spcPts val="1800"/>
              </a:lnSpc>
              <a:buNone/>
            </a:pPr>
            <a:r>
              <a:rPr lang="en-US" sz="1800" spc="-18" kern="0" dirty="0">
                <a:solidFill>
                  <a:srgbClr val="D4A437"/>
                </a:solidFill>
                <a:latin typeface="Liberation Sans Narrow" pitchFamily="34" charset="0"/>
                <a:ea typeface="Liberation Sans Narrow" pitchFamily="34" charset="-122"/>
                <a:cs typeface="Liberation Sans Narrow" pitchFamily="34" charset="-120"/>
              </a:rPr>
              <a:t>04</a:t>
            </a:r>
            <a:endParaRPr lang="en-US" sz="1800" dirty="0"/>
          </a:p>
        </p:txBody>
      </p:sp>
      <p:sp>
        <p:nvSpPr>
          <p:cNvPr id="34" name="Text 31"/>
          <p:cNvSpPr/>
          <p:nvPr/>
        </p:nvSpPr>
        <p:spPr>
          <a:xfrm>
            <a:off x="5422106" y="2820442"/>
            <a:ext cx="1783594" cy="185166"/>
          </a:xfrm>
          <a:prstGeom prst="rect">
            <a:avLst/>
          </a:prstGeom>
          <a:noFill/>
          <a:ln/>
        </p:spPr>
        <p:txBody>
          <a:bodyPr wrap="none" lIns="0" tIns="0" rIns="0" bIns="0" rtlCol="0" anchor="t"/>
          <a:lstStyle/>
          <a:p>
            <a:pPr algn="l" indent="0" marL="0">
              <a:lnSpc>
                <a:spcPts val="1350"/>
              </a:lnSpc>
              <a:buNone/>
            </a:pPr>
            <a:r>
              <a:rPr lang="en-US" sz="900" b="1" spc="36" kern="0" dirty="0">
                <a:solidFill>
                  <a:srgbClr val="E8E6E1"/>
                </a:solidFill>
                <a:latin typeface="Carlito" pitchFamily="34" charset="0"/>
                <a:ea typeface="Carlito" pitchFamily="34" charset="-122"/>
                <a:cs typeface="Carlito" pitchFamily="34" charset="-120"/>
              </a:rPr>
              <a:t>SCORE &amp; RANK</a:t>
            </a:r>
            <a:endParaRPr lang="en-US" sz="900" dirty="0"/>
          </a:p>
        </p:txBody>
      </p:sp>
      <p:sp>
        <p:nvSpPr>
          <p:cNvPr id="35" name="Text 32"/>
          <p:cNvSpPr/>
          <p:nvPr/>
        </p:nvSpPr>
        <p:spPr>
          <a:xfrm>
            <a:off x="5422106" y="3049042"/>
            <a:ext cx="1559909" cy="286893"/>
          </a:xfrm>
          <a:prstGeom prst="rect">
            <a:avLst/>
          </a:prstGeom>
          <a:noFill/>
          <a:ln/>
        </p:spPr>
        <p:txBody>
          <a:bodyPr wrap="square" lIns="0" tIns="0" rIns="0" bIns="0" rtlCol="0" anchor="t">
            <a:normAutofit/>
          </a:bodyPr>
          <a:lstStyle/>
          <a:p>
            <a:pPr algn="l" indent="0" marL="0">
              <a:lnSpc>
                <a:spcPts val="979"/>
              </a:lnSpc>
              <a:buNone/>
            </a:pPr>
            <a:r>
              <a:rPr lang="en-US" sz="800" dirty="0">
                <a:solidFill>
                  <a:srgbClr val="A8A39C"/>
                </a:solidFill>
                <a:latin typeface="Carlito" pitchFamily="34" charset="0"/>
                <a:ea typeface="Carlito" pitchFamily="34" charset="-122"/>
                <a:cs typeface="Carlito" pitchFamily="34" charset="-120"/>
              </a:rPr>
              <a:t>Weighted deposit model over the evidence grid.</a:t>
            </a:r>
            <a:endParaRPr lang="en-US" sz="800" dirty="0"/>
          </a:p>
        </p:txBody>
      </p:sp>
      <p:sp>
        <p:nvSpPr>
          <p:cNvPr id="36" name="Text 33"/>
          <p:cNvSpPr/>
          <p:nvPr/>
        </p:nvSpPr>
        <p:spPr>
          <a:xfrm>
            <a:off x="5422106" y="3363367"/>
            <a:ext cx="1471613" cy="135423"/>
          </a:xfrm>
          <a:prstGeom prst="rect">
            <a:avLst/>
          </a:prstGeom>
          <a:noFill/>
          <a:ln/>
        </p:spPr>
        <p:txBody>
          <a:bodyPr wrap="none" lIns="85725" tIns="0" rIns="0" bIns="0" rtlCol="0" anchor="t">
            <a:normAutofit/>
          </a:bodyPr>
          <a:lstStyle/>
          <a:p>
            <a:pPr algn="l" indent="0" marL="0">
              <a:lnSpc>
                <a:spcPts val="945"/>
              </a:lnSpc>
              <a:buNone/>
            </a:pPr>
            <a:r>
              <a:rPr lang="en-US" sz="800" dirty="0">
                <a:solidFill>
                  <a:srgbClr val="E8E6E1"/>
                </a:solidFill>
                <a:latin typeface="Liberation Sans Narrow" pitchFamily="34" charset="0"/>
                <a:ea typeface="Liberation Sans Narrow" pitchFamily="34" charset="-122"/>
                <a:cs typeface="Liberation Sans Narrow" pitchFamily="34" charset="-120"/>
              </a:rPr>
              <a:t>Score per cell, 0–100</a:t>
            </a:r>
            <a:endParaRPr lang="en-US" sz="800" dirty="0"/>
          </a:p>
        </p:txBody>
      </p:sp>
      <p:sp>
        <p:nvSpPr>
          <p:cNvPr id="37" name="Text 34"/>
          <p:cNvSpPr/>
          <p:nvPr/>
        </p:nvSpPr>
        <p:spPr>
          <a:xfrm>
            <a:off x="5422106" y="3526222"/>
            <a:ext cx="1471613" cy="135423"/>
          </a:xfrm>
          <a:prstGeom prst="rect">
            <a:avLst/>
          </a:prstGeom>
          <a:noFill/>
          <a:ln/>
        </p:spPr>
        <p:txBody>
          <a:bodyPr wrap="square" lIns="85725" tIns="0" rIns="0" bIns="0" rtlCol="0" anchor="t">
            <a:normAutofit/>
          </a:bodyPr>
          <a:lstStyle/>
          <a:p>
            <a:pPr algn="l" indent="0" marL="0">
              <a:lnSpc>
                <a:spcPts val="945"/>
              </a:lnSpc>
              <a:buNone/>
            </a:pPr>
            <a:r>
              <a:rPr lang="en-US" sz="675" dirty="0">
                <a:solidFill>
                  <a:srgbClr val="E8E6E1"/>
                </a:solidFill>
                <a:latin typeface="Carlito" pitchFamily="34" charset="0"/>
                <a:ea typeface="Carlito" pitchFamily="34" charset="-122"/>
                <a:cs typeface="Carlito" pitchFamily="34" charset="-120"/>
              </a:rPr>
              <a:t>Clustered to distinct targets</a:t>
            </a:r>
            <a:endParaRPr lang="en-US" sz="675" dirty="0"/>
          </a:p>
        </p:txBody>
      </p:sp>
      <p:sp>
        <p:nvSpPr>
          <p:cNvPr id="38" name="Text 35"/>
          <p:cNvSpPr/>
          <p:nvPr/>
        </p:nvSpPr>
        <p:spPr>
          <a:xfrm>
            <a:off x="5422106" y="3689077"/>
            <a:ext cx="1471613" cy="119993"/>
          </a:xfrm>
          <a:prstGeom prst="rect">
            <a:avLst/>
          </a:prstGeom>
          <a:noFill/>
          <a:ln/>
        </p:spPr>
        <p:txBody>
          <a:bodyPr wrap="square" lIns="85725" tIns="0" rIns="0" bIns="0" rtlCol="0" anchor="t"/>
          <a:lstStyle/>
          <a:p>
            <a:pPr algn="l" indent="0" marL="0">
              <a:lnSpc>
                <a:spcPts val="945"/>
              </a:lnSpc>
              <a:buNone/>
            </a:pPr>
            <a:r>
              <a:rPr lang="en-US" sz="675" dirty="0">
                <a:solidFill>
                  <a:srgbClr val="E8E6E1"/>
                </a:solidFill>
                <a:latin typeface="Carlito" pitchFamily="34" charset="0"/>
                <a:ea typeface="Carlito" pitchFamily="34" charset="-122"/>
                <a:cs typeface="Carlito" pitchFamily="34" charset="-120"/>
              </a:rPr>
              <a:t>Evidence contribution per target</a:t>
            </a:r>
            <a:endParaRPr lang="en-US" sz="675" dirty="0"/>
          </a:p>
        </p:txBody>
      </p:sp>
      <p:sp>
        <p:nvSpPr>
          <p:cNvPr id="39" name="Text 36"/>
          <p:cNvSpPr/>
          <p:nvPr/>
        </p:nvSpPr>
        <p:spPr>
          <a:xfrm>
            <a:off x="7008019" y="2548979"/>
            <a:ext cx="1471613" cy="244030"/>
          </a:xfrm>
          <a:prstGeom prst="rect">
            <a:avLst/>
          </a:prstGeom>
          <a:noFill/>
          <a:ln/>
        </p:spPr>
        <p:txBody>
          <a:bodyPr wrap="none" lIns="0" tIns="0" rIns="0" bIns="0" rtlCol="0" anchor="t">
            <a:normAutofit/>
          </a:bodyPr>
          <a:lstStyle/>
          <a:p>
            <a:pPr algn="l" indent="0" marL="0">
              <a:lnSpc>
                <a:spcPts val="1800"/>
              </a:lnSpc>
              <a:buNone/>
            </a:pPr>
            <a:r>
              <a:rPr lang="en-US" sz="1800" spc="-18" kern="0" dirty="0">
                <a:solidFill>
                  <a:srgbClr val="D4A437"/>
                </a:solidFill>
                <a:latin typeface="Liberation Sans Narrow" pitchFamily="34" charset="0"/>
                <a:ea typeface="Liberation Sans Narrow" pitchFamily="34" charset="-122"/>
                <a:cs typeface="Liberation Sans Narrow" pitchFamily="34" charset="-120"/>
              </a:rPr>
              <a:t>05</a:t>
            </a:r>
            <a:endParaRPr lang="en-US" sz="1800" dirty="0"/>
          </a:p>
        </p:txBody>
      </p:sp>
      <p:sp>
        <p:nvSpPr>
          <p:cNvPr id="40" name="Text 37"/>
          <p:cNvSpPr/>
          <p:nvPr/>
        </p:nvSpPr>
        <p:spPr>
          <a:xfrm>
            <a:off x="7008019" y="2820442"/>
            <a:ext cx="1471612" cy="185166"/>
          </a:xfrm>
          <a:prstGeom prst="rect">
            <a:avLst/>
          </a:prstGeom>
          <a:noFill/>
          <a:ln/>
        </p:spPr>
        <p:txBody>
          <a:bodyPr wrap="none" lIns="0" tIns="0" rIns="0" bIns="0" rtlCol="0" anchor="t"/>
          <a:lstStyle/>
          <a:p>
            <a:pPr algn="l" indent="0" marL="0">
              <a:lnSpc>
                <a:spcPts val="1350"/>
              </a:lnSpc>
              <a:buNone/>
            </a:pPr>
            <a:r>
              <a:rPr lang="en-US" sz="900" b="1" spc="36" kern="0" dirty="0">
                <a:solidFill>
                  <a:srgbClr val="E8E6E1"/>
                </a:solidFill>
                <a:latin typeface="Carlito" pitchFamily="34" charset="0"/>
                <a:ea typeface="Carlito" pitchFamily="34" charset="-122"/>
                <a:cs typeface="Carlito" pitchFamily="34" charset="-120"/>
              </a:rPr>
              <a:t>EXPLAIN &amp; EXPORT</a:t>
            </a:r>
            <a:endParaRPr lang="en-US" sz="900" dirty="0"/>
          </a:p>
        </p:txBody>
      </p:sp>
      <p:sp>
        <p:nvSpPr>
          <p:cNvPr id="41" name="Text 38"/>
          <p:cNvSpPr/>
          <p:nvPr/>
        </p:nvSpPr>
        <p:spPr>
          <a:xfrm>
            <a:off x="7008019" y="3049042"/>
            <a:ext cx="1559909" cy="286893"/>
          </a:xfrm>
          <a:prstGeom prst="rect">
            <a:avLst/>
          </a:prstGeom>
          <a:noFill/>
          <a:ln/>
        </p:spPr>
        <p:txBody>
          <a:bodyPr wrap="square" lIns="0" tIns="0" rIns="0" bIns="0" rtlCol="0" anchor="t">
            <a:normAutofit/>
          </a:bodyPr>
          <a:lstStyle/>
          <a:p>
            <a:pPr algn="l" indent="0" marL="0">
              <a:lnSpc>
                <a:spcPts val="979"/>
              </a:lnSpc>
              <a:buNone/>
            </a:pPr>
            <a:r>
              <a:rPr lang="en-US" sz="800" dirty="0">
                <a:solidFill>
                  <a:srgbClr val="A8A39C"/>
                </a:solidFill>
                <a:latin typeface="Carlito" pitchFamily="34" charset="0"/>
                <a:ea typeface="Carlito" pitchFamily="34" charset="-122"/>
                <a:cs typeface="Carlito" pitchFamily="34" charset="-120"/>
              </a:rPr>
              <a:t>Something you can act on and defend.</a:t>
            </a:r>
            <a:endParaRPr lang="en-US" sz="800" dirty="0"/>
          </a:p>
        </p:txBody>
      </p:sp>
      <p:sp>
        <p:nvSpPr>
          <p:cNvPr id="42" name="Text 39"/>
          <p:cNvSpPr/>
          <p:nvPr/>
        </p:nvSpPr>
        <p:spPr>
          <a:xfrm>
            <a:off x="7008019" y="3363367"/>
            <a:ext cx="1471613" cy="135423"/>
          </a:xfrm>
          <a:prstGeom prst="rect">
            <a:avLst/>
          </a:prstGeom>
          <a:noFill/>
          <a:ln/>
        </p:spPr>
        <p:txBody>
          <a:bodyPr wrap="square" lIns="85725" tIns="0" rIns="0" bIns="0" rtlCol="0" anchor="t">
            <a:normAutofit/>
          </a:bodyPr>
          <a:lstStyle/>
          <a:p>
            <a:pPr algn="l" indent="0" marL="0">
              <a:lnSpc>
                <a:spcPts val="945"/>
              </a:lnSpc>
              <a:buNone/>
            </a:pPr>
            <a:r>
              <a:rPr lang="en-US" sz="675" dirty="0">
                <a:solidFill>
                  <a:srgbClr val="E8E6E1"/>
                </a:solidFill>
                <a:latin typeface="Carlito" pitchFamily="34" charset="0"/>
                <a:ea typeface="Carlito" pitchFamily="34" charset="-122"/>
                <a:cs typeface="Carlito" pitchFamily="34" charset="-120"/>
              </a:rPr>
              <a:t>Reports by audience persona</a:t>
            </a:r>
            <a:endParaRPr lang="en-US" sz="675" dirty="0"/>
          </a:p>
        </p:txBody>
      </p:sp>
      <p:sp>
        <p:nvSpPr>
          <p:cNvPr id="43" name="Text 40"/>
          <p:cNvSpPr/>
          <p:nvPr/>
        </p:nvSpPr>
        <p:spPr>
          <a:xfrm>
            <a:off x="7008019" y="3526222"/>
            <a:ext cx="1471613" cy="135423"/>
          </a:xfrm>
          <a:prstGeom prst="rect">
            <a:avLst/>
          </a:prstGeom>
          <a:noFill/>
          <a:ln/>
        </p:spPr>
        <p:txBody>
          <a:bodyPr wrap="none" lIns="85725" tIns="0" rIns="0" bIns="0" rtlCol="0" anchor="t">
            <a:normAutofit/>
          </a:bodyPr>
          <a:lstStyle/>
          <a:p>
            <a:pPr algn="l" indent="0" marL="0">
              <a:lnSpc>
                <a:spcPts val="945"/>
              </a:lnSpc>
              <a:buNone/>
            </a:pPr>
            <a:r>
              <a:rPr lang="en-US" sz="800" dirty="0">
                <a:solidFill>
                  <a:srgbClr val="E8E6E1"/>
                </a:solidFill>
                <a:latin typeface="Carlito" pitchFamily="34" charset="0"/>
                <a:ea typeface="Carlito" pitchFamily="34" charset="-122"/>
                <a:cs typeface="Carlito" pitchFamily="34" charset="-120"/>
              </a:rPr>
              <a:t>PDF, CSV, KML, shapefile</a:t>
            </a:r>
            <a:endParaRPr lang="en-US" sz="800" dirty="0"/>
          </a:p>
        </p:txBody>
      </p:sp>
      <p:sp>
        <p:nvSpPr>
          <p:cNvPr id="44" name="Text 41"/>
          <p:cNvSpPr/>
          <p:nvPr/>
        </p:nvSpPr>
        <p:spPr>
          <a:xfrm>
            <a:off x="7008019" y="3689077"/>
            <a:ext cx="1471613" cy="119993"/>
          </a:xfrm>
          <a:prstGeom prst="rect">
            <a:avLst/>
          </a:prstGeom>
          <a:noFill/>
          <a:ln/>
        </p:spPr>
        <p:txBody>
          <a:bodyPr wrap="square" lIns="85725" tIns="0" rIns="0" bIns="0" rtlCol="0" anchor="t"/>
          <a:lstStyle/>
          <a:p>
            <a:pPr algn="l" indent="0" marL="0">
              <a:lnSpc>
                <a:spcPts val="945"/>
              </a:lnSpc>
              <a:buNone/>
            </a:pPr>
            <a:r>
              <a:rPr lang="en-US" sz="675" dirty="0">
                <a:solidFill>
                  <a:srgbClr val="E8E6E1"/>
                </a:solidFill>
                <a:latin typeface="Carlito" pitchFamily="34" charset="0"/>
                <a:ea typeface="Carlito" pitchFamily="34" charset="-122"/>
                <a:cs typeface="Carlito" pitchFamily="34" charset="-120"/>
              </a:rPr>
              <a:t>Full lineage per layer and target</a:t>
            </a:r>
            <a:endParaRPr lang="en-US" sz="675" dirty="0"/>
          </a:p>
        </p:txBody>
      </p:sp>
      <p:sp>
        <p:nvSpPr>
          <p:cNvPr id="45" name="Text 42"/>
          <p:cNvSpPr/>
          <p:nvPr/>
        </p:nvSpPr>
        <p:spPr>
          <a:xfrm>
            <a:off x="434340" y="4061173"/>
            <a:ext cx="1422789" cy="228029"/>
          </a:xfrm>
          <a:prstGeom prst="roundRect">
            <a:avLst>
              <a:gd name="adj" fmla="val 8354"/>
            </a:avLst>
          </a:prstGeom>
          <a:solidFill>
            <a:srgbClr val="6BAE85">
              <a:alpha val="8000"/>
            </a:srgbClr>
          </a:solidFill>
          <a:ln/>
        </p:spPr>
        <p:txBody>
          <a:bodyPr wrap="square" rtlCol="0" anchor="ctr"/>
          <a:lstStyle/>
          <a:p>
            <a:pPr indent="0" marL="0">
              <a:buNone/>
            </a:pPr>
            <a:endParaRPr lang="en-US" dirty="0"/>
          </a:p>
        </p:txBody>
      </p:sp>
      <p:sp>
        <p:nvSpPr>
          <p:cNvPr id="46" name="Shape 43"/>
          <p:cNvSpPr/>
          <p:nvPr/>
        </p:nvSpPr>
        <p:spPr>
          <a:xfrm>
            <a:off x="467916" y="4073389"/>
            <a:ext cx="0" cy="203597"/>
          </a:xfrm>
          <a:prstGeom prst="line">
            <a:avLst/>
          </a:prstGeom>
          <a:noFill/>
          <a:ln w="21431">
            <a:solidFill>
              <a:srgbClr val="6BAE85"/>
            </a:solidFill>
            <a:prstDash val="solid"/>
          </a:ln>
        </p:spPr>
      </p:sp>
      <p:sp>
        <p:nvSpPr>
          <p:cNvPr id="47" name="Text 44"/>
          <p:cNvSpPr/>
          <p:nvPr/>
        </p:nvSpPr>
        <p:spPr>
          <a:xfrm>
            <a:off x="707231" y="4123395"/>
            <a:ext cx="3173053" cy="139654"/>
          </a:xfrm>
          <a:prstGeom prst="rect">
            <a:avLst/>
          </a:prstGeom>
          <a:noFill/>
          <a:ln/>
        </p:spPr>
        <p:txBody>
          <a:bodyPr wrap="none" lIns="0" tIns="0" rIns="0" bIns="0" rtlCol="0" anchor="t"/>
          <a:lstStyle/>
          <a:p>
            <a:pPr algn="l" indent="0" marL="0">
              <a:lnSpc>
                <a:spcPts val="928"/>
              </a:lnSpc>
              <a:buNone/>
            </a:pPr>
            <a:r>
              <a:rPr lang="en-US" sz="800" b="1" spc="87" kern="0" dirty="0">
                <a:solidFill>
                  <a:srgbClr val="6BAE85"/>
                </a:solidFill>
                <a:latin typeface="Carlito" pitchFamily="34" charset="0"/>
                <a:ea typeface="Carlito" pitchFamily="34" charset="-122"/>
                <a:cs typeface="Carlito" pitchFamily="34" charset="-120"/>
              </a:rPr>
              <a:t>IMPACT · RE-RUNNABLE</a:t>
            </a:r>
            <a:endParaRPr lang="en-US" sz="800" dirty="0"/>
          </a:p>
        </p:txBody>
      </p:sp>
      <p:sp>
        <p:nvSpPr>
          <p:cNvPr id="48" name="Text 45"/>
          <p:cNvSpPr/>
          <p:nvPr/>
        </p:nvSpPr>
        <p:spPr>
          <a:xfrm>
            <a:off x="550069" y="4125181"/>
            <a:ext cx="100013" cy="100013"/>
          </a:xfrm>
          <a:prstGeom prst="rect">
            <a:avLst/>
          </a:prstGeom>
          <a:noFill/>
          <a:ln/>
        </p:spPr>
        <p:txBody>
          <a:bodyPr wrap="none" lIns="0" tIns="0" rIns="0" bIns="0" rtlCol="0" anchor="ctr"/>
          <a:lstStyle/>
          <a:p>
            <a:pPr algn="ctr" indent="0" marL="0">
              <a:buNone/>
            </a:pPr>
            <a:r>
              <a:rPr lang="en-US" sz="984" dirty="0">
                <a:solidFill>
                  <a:srgbClr val="6BAE85"/>
                </a:solidFill>
                <a:latin typeface="Segoe UI Symbol" pitchFamily="34" charset="0"/>
                <a:ea typeface="Segoe UI Symbol" pitchFamily="34" charset="-122"/>
                <a:cs typeface="Segoe UI Symbol" pitchFamily="34" charset="-120"/>
              </a:rPr>
              <a:t>↻</a:t>
            </a:r>
            <a:endParaRPr lang="en-US" sz="984" dirty="0"/>
          </a:p>
        </p:txBody>
      </p:sp>
      <p:sp>
        <p:nvSpPr>
          <p:cNvPr id="49" name="Text 46"/>
          <p:cNvSpPr/>
          <p:nvPr/>
        </p:nvSpPr>
        <p:spPr>
          <a:xfrm>
            <a:off x="3966009" y="4100178"/>
            <a:ext cx="4720791" cy="162020"/>
          </a:xfrm>
          <a:prstGeom prst="rect">
            <a:avLst/>
          </a:prstGeom>
          <a:noFill/>
          <a:ln/>
        </p:spPr>
        <p:txBody>
          <a:bodyPr wrap="square" lIns="0" tIns="0" rIns="0" bIns="0" rtlCol="0" anchor="t"/>
          <a:lstStyle/>
          <a:p>
            <a:pPr algn="r" indent="0" marL="0">
              <a:lnSpc>
                <a:spcPts val="1181"/>
              </a:lnSpc>
              <a:buNone/>
            </a:pPr>
            <a:r>
              <a:rPr lang="en-US" sz="844" dirty="0">
                <a:solidFill>
                  <a:srgbClr val="6BAE85"/>
                </a:solidFill>
                <a:latin typeface="Carlito" pitchFamily="34" charset="0"/>
                <a:ea typeface="Carlito" pitchFamily="34" charset="-122"/>
                <a:cs typeface="Carlito" pitchFamily="34" charset="-120"/>
              </a:rPr>
              <a:t>Point it at fresh data. Press a button. The integration runs again — and the new run writes its own provenance.</a:t>
            </a:r>
            <a:endParaRPr lang="en-US" sz="844" dirty="0"/>
          </a:p>
        </p:txBody>
      </p:sp>
      <p:sp>
        <p:nvSpPr>
          <p:cNvPr id="50" name="Text 47"/>
          <p:cNvSpPr/>
          <p:nvPr/>
        </p:nvSpPr>
        <p:spPr>
          <a:xfrm>
            <a:off x="457200" y="4868466"/>
            <a:ext cx="7883798" cy="164592"/>
          </a:xfrm>
          <a:prstGeom prst="rect">
            <a:avLst/>
          </a:prstGeom>
          <a:noFill/>
          <a:ln/>
        </p:spPr>
        <p:txBody>
          <a:bodyPr wrap="square" lIns="0" tIns="0" rIns="0" bIns="0" rtlCol="0" anchor="t"/>
          <a:lstStyle/>
          <a:p>
            <a:pPr algn="l" indent="0" marL="0">
              <a:lnSpc>
                <a:spcPts val="928"/>
              </a:lnSpc>
              <a:buNone/>
            </a:pPr>
            <a:r>
              <a:rPr lang="en-US" sz="800" spc="62" kern="0" dirty="0">
                <a:solidFill>
                  <a:srgbClr val="6B6760"/>
                </a:solidFill>
                <a:latin typeface="Carlito" pitchFamily="34" charset="0"/>
                <a:ea typeface="Carlito" pitchFamily="34" charset="-122"/>
                <a:cs typeface="Carlito" pitchFamily="34" charset="-120"/>
              </a:rPr>
              <a:t>TERRAPULSE — RANKED DRILL TARGETS, DEFENSIBLE EVIDENCE</a:t>
            </a:r>
            <a:endParaRPr lang="en-US" sz="800" dirty="0"/>
          </a:p>
        </p:txBody>
      </p:sp>
      <p:sp>
        <p:nvSpPr>
          <p:cNvPr id="51" name="Text 48"/>
          <p:cNvSpPr/>
          <p:nvPr/>
        </p:nvSpPr>
        <p:spPr>
          <a:xfrm>
            <a:off x="8355285" y="4868466"/>
            <a:ext cx="476501"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6B6760"/>
                </a:solidFill>
                <a:latin typeface="Liberation Sans Narrow" pitchFamily="34" charset="0"/>
                <a:ea typeface="Liberation Sans Narrow" pitchFamily="34" charset="-122"/>
                <a:cs typeface="Liberation Sans Narrow" pitchFamily="34" charset="-120"/>
              </a:rPr>
              <a:t>06 / 12</a:t>
            </a:r>
            <a:endParaRPr lang="en-US" sz="800" dirty="0"/>
          </a:p>
        </p:txBody>
      </p:sp>
      <p:sp>
        <p:nvSpPr>
          <p:cNvPr id="52" name="Text 49"/>
          <p:cNvSpPr/>
          <p:nvPr/>
        </p:nvSpPr>
        <p:spPr>
          <a:xfrm>
            <a:off x="1374391" y="2306092"/>
            <a:ext cx="142875" cy="142875"/>
          </a:xfrm>
          <a:prstGeom prst="ellipse">
            <a:avLst/>
          </a:prstGeom>
          <a:solidFill>
            <a:srgbClr val="D4A437"/>
          </a:solidFill>
          <a:ln/>
          <a:effectLst>
            <a:outerShdw sx="100000" sy="100000" kx="0" ky="0" algn="bl" rotWithShape="0" blurRad="101600" dist="50800" dir="16200000">
              <a:srgbClr val="1F262E">
                <a:alpha val="50000"/>
              </a:srgbClr>
            </a:outerShdw>
          </a:effectLst>
        </p:spPr>
        <p:txBody>
          <a:bodyPr wrap="square" rtlCol="0" anchor="ctr"/>
          <a:lstStyle/>
          <a:p>
            <a:pPr indent="0" marL="0">
              <a:buNone/>
            </a:pPr>
            <a:endParaRPr lang="en-US" dirty="0"/>
          </a:p>
        </p:txBody>
      </p:sp>
      <p:sp>
        <p:nvSpPr>
          <p:cNvPr id="53" name="Text 50"/>
          <p:cNvSpPr/>
          <p:nvPr/>
        </p:nvSpPr>
        <p:spPr>
          <a:xfrm>
            <a:off x="1374391" y="2306092"/>
            <a:ext cx="853008" cy="142875"/>
          </a:xfrm>
          <a:prstGeom prst="rect">
            <a:avLst/>
          </a:prstGeom>
          <a:noFill/>
          <a:ln/>
        </p:spPr>
        <p:txBody>
          <a:bodyPr wrap="none" lIns="0" tIns="0" rIns="0" bIns="0" rtlCol="0" anchor="ctr"/>
          <a:lstStyle/>
          <a:p>
            <a:pPr algn="ctr" indent="0" marL="0">
              <a:lnSpc>
                <a:spcPts val="844"/>
              </a:lnSpc>
              <a:buNone/>
            </a:pPr>
            <a:r>
              <a:rPr lang="en-US" sz="800" b="1" dirty="0">
                <a:solidFill>
                  <a:srgbClr val="0E1116"/>
                </a:solidFill>
                <a:latin typeface="Liberation Sans Narrow" pitchFamily="34" charset="0"/>
                <a:ea typeface="Liberation Sans Narrow" pitchFamily="34" charset="-122"/>
                <a:cs typeface="Liberation Sans Narrow" pitchFamily="34" charset="-120"/>
              </a:rPr>
              <a:t>1</a:t>
            </a:r>
            <a:endParaRPr lang="en-US" sz="800" dirty="0"/>
          </a:p>
        </p:txBody>
      </p:sp>
      <p:sp>
        <p:nvSpPr>
          <p:cNvPr id="54" name="Text 51"/>
          <p:cNvSpPr/>
          <p:nvPr/>
        </p:nvSpPr>
        <p:spPr>
          <a:xfrm>
            <a:off x="2937421" y="2306092"/>
            <a:ext cx="142875" cy="142875"/>
          </a:xfrm>
          <a:prstGeom prst="ellipse">
            <a:avLst/>
          </a:prstGeom>
          <a:solidFill>
            <a:srgbClr val="D4A437"/>
          </a:solidFill>
          <a:ln/>
          <a:effectLst>
            <a:outerShdw sx="100000" sy="100000" kx="0" ky="0" algn="bl" rotWithShape="0" blurRad="101600" dist="50800" dir="16200000">
              <a:srgbClr val="1F262E">
                <a:alpha val="50000"/>
              </a:srgbClr>
            </a:outerShdw>
          </a:effectLst>
        </p:spPr>
        <p:txBody>
          <a:bodyPr wrap="square" rtlCol="0" anchor="ctr"/>
          <a:lstStyle/>
          <a:p>
            <a:pPr indent="0" marL="0">
              <a:buNone/>
            </a:pPr>
            <a:endParaRPr lang="en-US" dirty="0"/>
          </a:p>
        </p:txBody>
      </p:sp>
      <p:sp>
        <p:nvSpPr>
          <p:cNvPr id="55" name="Text 52"/>
          <p:cNvSpPr/>
          <p:nvPr/>
        </p:nvSpPr>
        <p:spPr>
          <a:xfrm>
            <a:off x="2937421" y="2306092"/>
            <a:ext cx="853008" cy="142875"/>
          </a:xfrm>
          <a:prstGeom prst="rect">
            <a:avLst/>
          </a:prstGeom>
          <a:noFill/>
          <a:ln/>
        </p:spPr>
        <p:txBody>
          <a:bodyPr wrap="none" lIns="0" tIns="0" rIns="0" bIns="0" rtlCol="0" anchor="ctr"/>
          <a:lstStyle/>
          <a:p>
            <a:pPr algn="ctr" indent="0" marL="0">
              <a:lnSpc>
                <a:spcPts val="844"/>
              </a:lnSpc>
              <a:buNone/>
            </a:pPr>
            <a:r>
              <a:rPr lang="en-US" sz="800" b="1" dirty="0">
                <a:solidFill>
                  <a:srgbClr val="0E1116"/>
                </a:solidFill>
                <a:latin typeface="Liberation Sans Narrow" pitchFamily="34" charset="0"/>
                <a:ea typeface="Liberation Sans Narrow" pitchFamily="34" charset="-122"/>
                <a:cs typeface="Liberation Sans Narrow" pitchFamily="34" charset="-120"/>
              </a:rPr>
              <a:t>2</a:t>
            </a:r>
            <a:endParaRPr lang="en-US" sz="800" dirty="0"/>
          </a:p>
        </p:txBody>
      </p:sp>
      <p:sp>
        <p:nvSpPr>
          <p:cNvPr id="56" name="Text 53"/>
          <p:cNvSpPr/>
          <p:nvPr/>
        </p:nvSpPr>
        <p:spPr>
          <a:xfrm>
            <a:off x="4500451" y="2306092"/>
            <a:ext cx="142875" cy="142875"/>
          </a:xfrm>
          <a:prstGeom prst="ellipse">
            <a:avLst/>
          </a:prstGeom>
          <a:solidFill>
            <a:srgbClr val="D4A437"/>
          </a:solidFill>
          <a:ln/>
          <a:effectLst>
            <a:outerShdw sx="100000" sy="100000" kx="0" ky="0" algn="bl" rotWithShape="0" blurRad="101600" dist="50800" dir="16200000">
              <a:srgbClr val="1F262E">
                <a:alpha val="50000"/>
              </a:srgbClr>
            </a:outerShdw>
          </a:effectLst>
        </p:spPr>
        <p:txBody>
          <a:bodyPr wrap="square" rtlCol="0" anchor="ctr"/>
          <a:lstStyle/>
          <a:p>
            <a:pPr indent="0" marL="0">
              <a:buNone/>
            </a:pPr>
            <a:endParaRPr lang="en-US" dirty="0"/>
          </a:p>
        </p:txBody>
      </p:sp>
      <p:sp>
        <p:nvSpPr>
          <p:cNvPr id="57" name="Text 54"/>
          <p:cNvSpPr/>
          <p:nvPr/>
        </p:nvSpPr>
        <p:spPr>
          <a:xfrm>
            <a:off x="4500451" y="2306092"/>
            <a:ext cx="853008" cy="142875"/>
          </a:xfrm>
          <a:prstGeom prst="rect">
            <a:avLst/>
          </a:prstGeom>
          <a:noFill/>
          <a:ln/>
        </p:spPr>
        <p:txBody>
          <a:bodyPr wrap="none" lIns="0" tIns="0" rIns="0" bIns="0" rtlCol="0" anchor="ctr"/>
          <a:lstStyle/>
          <a:p>
            <a:pPr algn="ctr" indent="0" marL="0">
              <a:lnSpc>
                <a:spcPts val="844"/>
              </a:lnSpc>
              <a:buNone/>
            </a:pPr>
            <a:r>
              <a:rPr lang="en-US" sz="800" b="1" dirty="0">
                <a:solidFill>
                  <a:srgbClr val="0E1116"/>
                </a:solidFill>
                <a:latin typeface="Liberation Sans Narrow" pitchFamily="34" charset="0"/>
                <a:ea typeface="Liberation Sans Narrow" pitchFamily="34" charset="-122"/>
                <a:cs typeface="Liberation Sans Narrow" pitchFamily="34" charset="-120"/>
              </a:rPr>
              <a:t>3</a:t>
            </a:r>
            <a:endParaRPr lang="en-US" sz="800" dirty="0"/>
          </a:p>
        </p:txBody>
      </p:sp>
      <p:sp>
        <p:nvSpPr>
          <p:cNvPr id="58" name="Text 55"/>
          <p:cNvSpPr/>
          <p:nvPr/>
        </p:nvSpPr>
        <p:spPr>
          <a:xfrm>
            <a:off x="6063481" y="2306092"/>
            <a:ext cx="142875" cy="142875"/>
          </a:xfrm>
          <a:prstGeom prst="ellipse">
            <a:avLst/>
          </a:prstGeom>
          <a:solidFill>
            <a:srgbClr val="D4A437"/>
          </a:solidFill>
          <a:ln/>
          <a:effectLst>
            <a:outerShdw sx="100000" sy="100000" kx="0" ky="0" algn="bl" rotWithShape="0" blurRad="101600" dist="50800" dir="16200000">
              <a:srgbClr val="1F262E">
                <a:alpha val="50000"/>
              </a:srgbClr>
            </a:outerShdw>
          </a:effectLst>
        </p:spPr>
        <p:txBody>
          <a:bodyPr wrap="square" rtlCol="0" anchor="ctr"/>
          <a:lstStyle/>
          <a:p>
            <a:pPr indent="0" marL="0">
              <a:buNone/>
            </a:pPr>
            <a:endParaRPr lang="en-US" dirty="0"/>
          </a:p>
        </p:txBody>
      </p:sp>
      <p:sp>
        <p:nvSpPr>
          <p:cNvPr id="59" name="Text 56"/>
          <p:cNvSpPr/>
          <p:nvPr/>
        </p:nvSpPr>
        <p:spPr>
          <a:xfrm>
            <a:off x="6063481" y="2306092"/>
            <a:ext cx="853008" cy="142875"/>
          </a:xfrm>
          <a:prstGeom prst="rect">
            <a:avLst/>
          </a:prstGeom>
          <a:noFill/>
          <a:ln/>
        </p:spPr>
        <p:txBody>
          <a:bodyPr wrap="none" lIns="0" tIns="0" rIns="0" bIns="0" rtlCol="0" anchor="ctr"/>
          <a:lstStyle/>
          <a:p>
            <a:pPr algn="ctr" indent="0" marL="0">
              <a:lnSpc>
                <a:spcPts val="844"/>
              </a:lnSpc>
              <a:buNone/>
            </a:pPr>
            <a:r>
              <a:rPr lang="en-US" sz="800" b="1" dirty="0">
                <a:solidFill>
                  <a:srgbClr val="0E1116"/>
                </a:solidFill>
                <a:latin typeface="Liberation Sans Narrow" pitchFamily="34" charset="0"/>
                <a:ea typeface="Liberation Sans Narrow" pitchFamily="34" charset="-122"/>
                <a:cs typeface="Liberation Sans Narrow" pitchFamily="34" charset="-120"/>
              </a:rPr>
              <a:t>4</a:t>
            </a:r>
            <a:endParaRPr lang="en-US" sz="800" dirty="0"/>
          </a:p>
        </p:txBody>
      </p:sp>
      <p:sp>
        <p:nvSpPr>
          <p:cNvPr id="60" name="Text 57"/>
          <p:cNvSpPr/>
          <p:nvPr/>
        </p:nvSpPr>
        <p:spPr>
          <a:xfrm>
            <a:off x="7626623" y="2306092"/>
            <a:ext cx="142875" cy="142875"/>
          </a:xfrm>
          <a:prstGeom prst="ellipse">
            <a:avLst/>
          </a:prstGeom>
          <a:solidFill>
            <a:srgbClr val="D4A437"/>
          </a:solidFill>
          <a:ln/>
          <a:effectLst>
            <a:outerShdw sx="100000" sy="100000" kx="0" ky="0" algn="bl" rotWithShape="0" blurRad="101600" dist="50800" dir="16200000">
              <a:srgbClr val="1F262E">
                <a:alpha val="50000"/>
              </a:srgbClr>
            </a:outerShdw>
          </a:effectLst>
        </p:spPr>
        <p:txBody>
          <a:bodyPr wrap="square" rtlCol="0" anchor="ctr"/>
          <a:lstStyle/>
          <a:p>
            <a:pPr indent="0" marL="0">
              <a:buNone/>
            </a:pPr>
            <a:endParaRPr lang="en-US" dirty="0"/>
          </a:p>
        </p:txBody>
      </p:sp>
      <p:sp>
        <p:nvSpPr>
          <p:cNvPr id="61" name="Text 58"/>
          <p:cNvSpPr/>
          <p:nvPr/>
        </p:nvSpPr>
        <p:spPr>
          <a:xfrm>
            <a:off x="7626623" y="2306092"/>
            <a:ext cx="853008" cy="142875"/>
          </a:xfrm>
          <a:prstGeom prst="rect">
            <a:avLst/>
          </a:prstGeom>
          <a:noFill/>
          <a:ln/>
        </p:spPr>
        <p:txBody>
          <a:bodyPr wrap="none" lIns="0" tIns="0" rIns="0" bIns="0" rtlCol="0" anchor="ctr"/>
          <a:lstStyle/>
          <a:p>
            <a:pPr algn="ctr" indent="0" marL="0">
              <a:lnSpc>
                <a:spcPts val="844"/>
              </a:lnSpc>
              <a:buNone/>
            </a:pPr>
            <a:r>
              <a:rPr lang="en-US" sz="800" b="1" dirty="0">
                <a:solidFill>
                  <a:srgbClr val="0E1116"/>
                </a:solidFill>
                <a:latin typeface="Liberation Sans Narrow" pitchFamily="34" charset="0"/>
                <a:ea typeface="Liberation Sans Narrow" pitchFamily="34" charset="-122"/>
                <a:cs typeface="Liberation Sans Narrow" pitchFamily="34" charset="-120"/>
              </a:rPr>
              <a:t>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11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4000"/>
          </a:blip>
          <a:stretch>
            <a:fillRect/>
          </a:stretch>
        </p:blipFill>
        <p:spPr>
          <a:xfrm>
            <a:off x="0" y="0"/>
            <a:ext cx="9144000" cy="5143500"/>
          </a:xfrm>
          <a:prstGeom prst="rect">
            <a:avLst/>
          </a:prstGeom>
        </p:spPr>
      </p:pic>
      <p:sp>
        <p:nvSpPr>
          <p:cNvPr id="3" name="Text 0"/>
          <p:cNvSpPr/>
          <p:nvPr/>
        </p:nvSpPr>
        <p:spPr>
          <a:xfrm>
            <a:off x="457200" y="171450"/>
            <a:ext cx="6814579" cy="164592"/>
          </a:xfrm>
          <a:prstGeom prst="rect">
            <a:avLst/>
          </a:prstGeom>
          <a:noFill/>
          <a:ln/>
        </p:spPr>
        <p:txBody>
          <a:bodyPr wrap="square" lIns="0" tIns="0" rIns="0" bIns="0" rtlCol="0" anchor="t"/>
          <a:lstStyle/>
          <a:p>
            <a:pPr algn="l" indent="0" marL="0">
              <a:lnSpc>
                <a:spcPts val="928"/>
              </a:lnSpc>
              <a:buNone/>
            </a:pPr>
            <a:r>
              <a:rPr lang="en-US" sz="800" b="1" spc="99" kern="0" dirty="0">
                <a:solidFill>
                  <a:srgbClr val="D4A437"/>
                </a:solidFill>
                <a:latin typeface="Carlito" pitchFamily="34" charset="0"/>
                <a:ea typeface="Carlito" pitchFamily="34" charset="-122"/>
                <a:cs typeface="Carlito" pitchFamily="34" charset="-120"/>
              </a:rPr>
              <a:t>TERRAPULSE</a:t>
            </a:r>
            <a:pPr algn="l" indent="0" marL="0">
              <a:lnSpc>
                <a:spcPts val="928"/>
              </a:lnSpc>
              <a:buNone/>
            </a:pPr>
            <a:r>
              <a:rPr lang="en-US" sz="800" spc="99" kern="0" dirty="0">
                <a:solidFill>
                  <a:srgbClr val="6B6760"/>
                </a:solidFill>
                <a:latin typeface="Carlito" pitchFamily="34" charset="0"/>
                <a:ea typeface="Carlito" pitchFamily="34" charset="-122"/>
                <a:cs typeface="Carlito" pitchFamily="34" charset="-120"/>
              </a:rPr>
              <a:t> · GOLD FIELDS GHANA</a:t>
            </a:r>
            <a:endParaRPr lang="en-US" sz="800" dirty="0"/>
          </a:p>
        </p:txBody>
      </p:sp>
      <p:sp>
        <p:nvSpPr>
          <p:cNvPr id="4" name="Text 1"/>
          <p:cNvSpPr/>
          <p:nvPr/>
        </p:nvSpPr>
        <p:spPr>
          <a:xfrm>
            <a:off x="7286067" y="171450"/>
            <a:ext cx="1714147"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6B6760"/>
                </a:solidFill>
                <a:latin typeface="Liberation Sans Narrow" pitchFamily="34" charset="0"/>
                <a:ea typeface="Liberation Sans Narrow" pitchFamily="34" charset="-122"/>
                <a:cs typeface="Liberation Sans Narrow" pitchFamily="34" charset="-120"/>
              </a:rPr>
              <a:t>FEATURE GROUPS · 1–3 OF 7</a:t>
            </a:r>
            <a:endParaRPr lang="en-US" sz="800" dirty="0"/>
          </a:p>
        </p:txBody>
      </p:sp>
      <p:sp>
        <p:nvSpPr>
          <p:cNvPr id="5" name="Text 2"/>
          <p:cNvSpPr/>
          <p:nvPr/>
        </p:nvSpPr>
        <p:spPr>
          <a:xfrm>
            <a:off x="460772" y="503634"/>
            <a:ext cx="8222456" cy="627869"/>
          </a:xfrm>
          <a:prstGeom prst="roundRect">
            <a:avLst>
              <a:gd name="adj" fmla="val 12136"/>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6" name="Text 3"/>
          <p:cNvSpPr/>
          <p:nvPr/>
        </p:nvSpPr>
        <p:spPr>
          <a:xfrm>
            <a:off x="635794" y="607219"/>
            <a:ext cx="2600437" cy="203597"/>
          </a:xfrm>
          <a:prstGeom prst="roundRect">
            <a:avLst>
              <a:gd name="adj" fmla="val 9357"/>
            </a:avLst>
          </a:prstGeom>
          <a:solidFill>
            <a:srgbClr val="D4633F">
              <a:alpha val="8000"/>
            </a:srgbClr>
          </a:solidFill>
          <a:ln/>
        </p:spPr>
        <p:txBody>
          <a:bodyPr wrap="square" rtlCol="0" anchor="ctr"/>
          <a:lstStyle/>
          <a:p>
            <a:pPr indent="0" marL="0">
              <a:buNone/>
            </a:pPr>
            <a:endParaRPr lang="en-US" dirty="0"/>
          </a:p>
        </p:txBody>
      </p:sp>
      <p:sp>
        <p:nvSpPr>
          <p:cNvPr id="7" name="Shape 4"/>
          <p:cNvSpPr/>
          <p:nvPr/>
        </p:nvSpPr>
        <p:spPr>
          <a:xfrm>
            <a:off x="646509" y="607219"/>
            <a:ext cx="0" cy="203597"/>
          </a:xfrm>
          <a:prstGeom prst="line">
            <a:avLst/>
          </a:prstGeom>
          <a:noFill/>
          <a:ln w="21431">
            <a:solidFill>
              <a:srgbClr val="D4633F"/>
            </a:solidFill>
            <a:prstDash val="solid"/>
          </a:ln>
        </p:spPr>
      </p:sp>
      <p:sp>
        <p:nvSpPr>
          <p:cNvPr id="8" name="Text 5"/>
          <p:cNvSpPr/>
          <p:nvPr/>
        </p:nvSpPr>
        <p:spPr>
          <a:xfrm>
            <a:off x="885825" y="657225"/>
            <a:ext cx="2264680" cy="139654"/>
          </a:xfrm>
          <a:prstGeom prst="rect">
            <a:avLst/>
          </a:prstGeom>
          <a:noFill/>
          <a:ln/>
        </p:spPr>
        <p:txBody>
          <a:bodyPr wrap="square" lIns="71438" tIns="42863" rIns="85725" bIns="42863" rtlCol="0" anchor="t"/>
          <a:lstStyle/>
          <a:p>
            <a:pPr algn="l" indent="0" marL="0">
              <a:lnSpc>
                <a:spcPts val="928"/>
              </a:lnSpc>
              <a:buNone/>
            </a:pPr>
            <a:r>
              <a:rPr lang="en-US" sz="619" b="1" spc="87" kern="0" dirty="0">
                <a:solidFill>
                  <a:srgbClr val="D4633F"/>
                </a:solidFill>
                <a:latin typeface="Carlito" pitchFamily="34" charset="0"/>
                <a:ea typeface="Carlito" pitchFamily="34" charset="-122"/>
                <a:cs typeface="Carlito" pitchFamily="34" charset="-120"/>
              </a:rPr>
              <a:t>PROBLEM · THREE PRODUCTS STITCHED TOGETHER</a:t>
            </a:r>
            <a:endParaRPr lang="en-US" sz="619" dirty="0"/>
          </a:p>
        </p:txBody>
      </p:sp>
      <p:sp>
        <p:nvSpPr>
          <p:cNvPr id="9" name="Text 6"/>
          <p:cNvSpPr/>
          <p:nvPr/>
        </p:nvSpPr>
        <p:spPr>
          <a:xfrm>
            <a:off x="728663" y="659011"/>
            <a:ext cx="100013" cy="100013"/>
          </a:xfrm>
          <a:prstGeom prst="rect">
            <a:avLst/>
          </a:prstGeom>
          <a:noFill/>
          <a:ln/>
        </p:spPr>
        <p:txBody>
          <a:bodyPr wrap="none" lIns="0" tIns="0" rIns="0" bIns="0" rtlCol="0" anchor="ctr"/>
          <a:lstStyle/>
          <a:p>
            <a:pPr algn="ctr" indent="0" marL="0">
              <a:buNone/>
            </a:pPr>
            <a:r>
              <a:rPr lang="en-US" sz="984" dirty="0">
                <a:solidFill>
                  <a:srgbClr val="D4633F"/>
                </a:solidFill>
                <a:latin typeface="Segoe UI Symbol" pitchFamily="34" charset="0"/>
                <a:ea typeface="Segoe UI Symbol" pitchFamily="34" charset="-122"/>
                <a:cs typeface="Segoe UI Symbol" pitchFamily="34" charset="-120"/>
              </a:rPr>
              <a:t>✦</a:t>
            </a:r>
            <a:endParaRPr lang="en-US" sz="984" dirty="0"/>
          </a:p>
        </p:txBody>
      </p:sp>
      <p:sp>
        <p:nvSpPr>
          <p:cNvPr id="10" name="Text 7"/>
          <p:cNvSpPr/>
          <p:nvPr/>
        </p:nvSpPr>
        <p:spPr>
          <a:xfrm>
            <a:off x="635794" y="867966"/>
            <a:ext cx="7715250" cy="159953"/>
          </a:xfrm>
          <a:prstGeom prst="rect">
            <a:avLst/>
          </a:prstGeom>
          <a:noFill/>
          <a:ln/>
        </p:spPr>
        <p:txBody>
          <a:bodyPr wrap="square" lIns="0" tIns="0" rIns="0" bIns="0" rtlCol="0" anchor="t"/>
          <a:lstStyle/>
          <a:p>
            <a:pPr algn="l" indent="0" marL="0">
              <a:lnSpc>
                <a:spcPts val="1260"/>
              </a:lnSpc>
              <a:buNone/>
            </a:pPr>
            <a:r>
              <a:rPr lang="en-US" sz="900" dirty="0">
                <a:solidFill>
                  <a:srgbClr val="E8E6E1"/>
                </a:solidFill>
                <a:latin typeface="Carlito" pitchFamily="34" charset="0"/>
                <a:ea typeface="Carlito" pitchFamily="34" charset="-122"/>
                <a:cs typeface="Carlito" pitchFamily="34" charset="-120"/>
              </a:rPr>
              <a:t>Multi-tenant project management, geophysics-grade data ingestion, and a real GIS map — usually three separate products, three separate logins, three separate exports.</a:t>
            </a:r>
            <a:endParaRPr lang="en-US" sz="900" dirty="0"/>
          </a:p>
        </p:txBody>
      </p:sp>
      <p:sp>
        <p:nvSpPr>
          <p:cNvPr id="11" name="Text 8"/>
          <p:cNvSpPr/>
          <p:nvPr/>
        </p:nvSpPr>
        <p:spPr>
          <a:xfrm>
            <a:off x="457200" y="1235087"/>
            <a:ext cx="8636000" cy="198266"/>
          </a:xfrm>
          <a:prstGeom prst="rect">
            <a:avLst/>
          </a:prstGeom>
          <a:noFill/>
          <a:ln/>
        </p:spPr>
        <p:txBody>
          <a:bodyPr wrap="square" lIns="0" tIns="0" rIns="0" bIns="0" rtlCol="0" anchor="t">
            <a:normAutofit/>
          </a:bodyPr>
          <a:lstStyle/>
          <a:p>
            <a:pPr algn="l" indent="0" marL="0">
              <a:lnSpc>
                <a:spcPts val="1553"/>
              </a:lnSpc>
              <a:buNone/>
            </a:pPr>
            <a:r>
              <a:rPr lang="en-US" sz="1350" b="1" spc="-13" kern="0" dirty="0">
                <a:solidFill>
                  <a:srgbClr val="E8E6E1"/>
                </a:solidFill>
                <a:latin typeface="Carlito" pitchFamily="34" charset="0"/>
                <a:ea typeface="Carlito" pitchFamily="34" charset="-122"/>
                <a:cs typeface="Carlito" pitchFamily="34" charset="-120"/>
              </a:rPr>
              <a:t>The full feature set — seven groups, phrased by what each gets you</a:t>
            </a:r>
            <a:endParaRPr lang="en-US" sz="1350" dirty="0"/>
          </a:p>
        </p:txBody>
      </p:sp>
      <p:sp>
        <p:nvSpPr>
          <p:cNvPr id="12" name="Text 9"/>
          <p:cNvSpPr/>
          <p:nvPr/>
        </p:nvSpPr>
        <p:spPr>
          <a:xfrm>
            <a:off x="457200" y="1460785"/>
            <a:ext cx="7000875" cy="153514"/>
          </a:xfrm>
          <a:prstGeom prst="rect">
            <a:avLst/>
          </a:prstGeom>
          <a:noFill/>
          <a:ln/>
        </p:spPr>
        <p:txBody>
          <a:bodyPr wrap="square" lIns="0" tIns="0" rIns="0" bIns="0" rtlCol="0" anchor="t"/>
          <a:lstStyle/>
          <a:p>
            <a:pPr algn="l" indent="0" marL="0">
              <a:lnSpc>
                <a:spcPts val="1024"/>
              </a:lnSpc>
              <a:buNone/>
            </a:pPr>
            <a:r>
              <a:rPr lang="en-US" sz="800" dirty="0">
                <a:solidFill>
                  <a:srgbClr val="A8A39C"/>
                </a:solidFill>
                <a:latin typeface="Carlito" pitchFamily="34" charset="0"/>
                <a:ea typeface="Carlito" pitchFamily="34" charset="-122"/>
                <a:cs typeface="Carlito" pitchFamily="34" charset="-120"/>
              </a:rPr>
              <a:t>Groups 1–3 of 7. The unglamorous half of the product — and the half that decides whether the rest is trustworthy.</a:t>
            </a:r>
            <a:endParaRPr lang="en-US" sz="800" dirty="0"/>
          </a:p>
        </p:txBody>
      </p:sp>
      <p:sp>
        <p:nvSpPr>
          <p:cNvPr id="13" name="Text 10"/>
          <p:cNvSpPr/>
          <p:nvPr/>
        </p:nvSpPr>
        <p:spPr>
          <a:xfrm>
            <a:off x="460772" y="1694297"/>
            <a:ext cx="2659819" cy="2365697"/>
          </a:xfrm>
          <a:prstGeom prst="roundRect">
            <a:avLst>
              <a:gd name="adj" fmla="val 3221"/>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14" name="Text 11"/>
          <p:cNvSpPr/>
          <p:nvPr/>
        </p:nvSpPr>
        <p:spPr>
          <a:xfrm>
            <a:off x="592931" y="1831814"/>
            <a:ext cx="2252625"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6B6760"/>
                </a:solidFill>
                <a:latin typeface="Liberation Sans Narrow" pitchFamily="34" charset="0"/>
                <a:ea typeface="Liberation Sans Narrow" pitchFamily="34" charset="-122"/>
                <a:cs typeface="Liberation Sans Narrow" pitchFamily="34" charset="-120"/>
              </a:rPr>
              <a:t>GROUP 1 · 5 FEATURES</a:t>
            </a:r>
            <a:endParaRPr lang="en-US" sz="800" dirty="0"/>
          </a:p>
        </p:txBody>
      </p:sp>
      <p:sp>
        <p:nvSpPr>
          <p:cNvPr id="15" name="Text 12"/>
          <p:cNvSpPr/>
          <p:nvPr/>
        </p:nvSpPr>
        <p:spPr>
          <a:xfrm>
            <a:off x="2859844" y="1826456"/>
            <a:ext cx="128588" cy="128588"/>
          </a:xfrm>
          <a:prstGeom prst="rect">
            <a:avLst/>
          </a:prstGeom>
          <a:noFill/>
          <a:ln/>
        </p:spPr>
        <p:txBody>
          <a:bodyPr wrap="none" lIns="0" tIns="0" rIns="0" bIns="0" rtlCol="0" anchor="ctr"/>
          <a:lstStyle/>
          <a:p>
            <a:pPr algn="ctr" indent="0" marL="0">
              <a:buNone/>
            </a:pPr>
            <a:r>
              <a:rPr lang="en-US" sz="1266" dirty="0">
                <a:solidFill>
                  <a:srgbClr val="8A6D24"/>
                </a:solidFill>
                <a:latin typeface="Segoe UI Symbol" pitchFamily="34" charset="0"/>
                <a:ea typeface="Segoe UI Symbol" pitchFamily="34" charset="-122"/>
                <a:cs typeface="Segoe UI Symbol" pitchFamily="34" charset="-120"/>
              </a:rPr>
              <a:t>▭</a:t>
            </a:r>
            <a:endParaRPr lang="en-US" sz="1266" dirty="0"/>
          </a:p>
        </p:txBody>
      </p:sp>
      <p:sp>
        <p:nvSpPr>
          <p:cNvPr id="16" name="Text 13"/>
          <p:cNvSpPr/>
          <p:nvPr/>
        </p:nvSpPr>
        <p:spPr>
          <a:xfrm>
            <a:off x="592931" y="1997906"/>
            <a:ext cx="200025" cy="14288"/>
          </a:xfrm>
          <a:prstGeom prst="rect">
            <a:avLst/>
          </a:prstGeom>
          <a:solidFill>
            <a:srgbClr val="D4A437"/>
          </a:solidFill>
          <a:ln/>
        </p:spPr>
        <p:txBody>
          <a:bodyPr wrap="square" rtlCol="0" anchor="ctr"/>
          <a:lstStyle/>
          <a:p>
            <a:pPr indent="0" marL="0">
              <a:buNone/>
            </a:pPr>
            <a:endParaRPr lang="en-US" dirty="0"/>
          </a:p>
        </p:txBody>
      </p:sp>
      <p:sp>
        <p:nvSpPr>
          <p:cNvPr id="17" name="Text 14"/>
          <p:cNvSpPr/>
          <p:nvPr/>
        </p:nvSpPr>
        <p:spPr>
          <a:xfrm>
            <a:off x="592931" y="2069343"/>
            <a:ext cx="2505228" cy="155403"/>
          </a:xfrm>
          <a:prstGeom prst="rect">
            <a:avLst/>
          </a:prstGeom>
          <a:noFill/>
          <a:ln/>
        </p:spPr>
        <p:txBody>
          <a:bodyPr wrap="square" lIns="0" tIns="0" rIns="0" bIns="0" rtlCol="0" anchor="t">
            <a:normAutofit/>
          </a:bodyPr>
          <a:lstStyle/>
          <a:p>
            <a:pPr algn="l" indent="0" marL="0">
              <a:lnSpc>
                <a:spcPts val="1215"/>
              </a:lnSpc>
              <a:buNone/>
            </a:pPr>
            <a:r>
              <a:rPr lang="en-US" sz="1013" b="1" spc="-5" kern="0" dirty="0">
                <a:solidFill>
                  <a:srgbClr val="E8E6E1"/>
                </a:solidFill>
                <a:latin typeface="Carlito" pitchFamily="34" charset="0"/>
                <a:ea typeface="Carlito" pitchFamily="34" charset="-122"/>
                <a:cs typeface="Carlito" pitchFamily="34" charset="-120"/>
              </a:rPr>
              <a:t>Projects, teams and isolation</a:t>
            </a:r>
            <a:endParaRPr lang="en-US" sz="1013" dirty="0"/>
          </a:p>
        </p:txBody>
      </p:sp>
      <p:sp>
        <p:nvSpPr>
          <p:cNvPr id="18" name="Text 15"/>
          <p:cNvSpPr/>
          <p:nvPr/>
        </p:nvSpPr>
        <p:spPr>
          <a:xfrm>
            <a:off x="592931" y="2252179"/>
            <a:ext cx="2505228" cy="153591"/>
          </a:xfrm>
          <a:prstGeom prst="rect">
            <a:avLst/>
          </a:prstGeom>
          <a:noFill/>
          <a:ln/>
        </p:spPr>
        <p:txBody>
          <a:bodyPr wrap="square" lIns="0" tIns="0" rIns="0" bIns="0" rtlCol="0" anchor="t"/>
          <a:lstStyle/>
          <a:p>
            <a:pPr algn="l" indent="0" marL="0">
              <a:lnSpc>
                <a:spcPts val="945"/>
              </a:lnSpc>
              <a:buNone/>
            </a:pPr>
            <a:r>
              <a:rPr lang="en-US" sz="800" dirty="0">
                <a:solidFill>
                  <a:srgbClr val="A8A39C"/>
                </a:solidFill>
                <a:latin typeface="Carlito" pitchFamily="34" charset="0"/>
                <a:ea typeface="Carlito" pitchFamily="34" charset="-122"/>
                <a:cs typeface="Carlito" pitchFamily="34" charset="-120"/>
              </a:rPr>
              <a:t>Multi-tenant from the database up.</a:t>
            </a:r>
            <a:endParaRPr lang="en-US" sz="800" dirty="0"/>
          </a:p>
        </p:txBody>
      </p:sp>
      <p:sp>
        <p:nvSpPr>
          <p:cNvPr id="19" name="Text 16"/>
          <p:cNvSpPr/>
          <p:nvPr/>
        </p:nvSpPr>
        <p:spPr>
          <a:xfrm>
            <a:off x="678656" y="2443609"/>
            <a:ext cx="764642" cy="146304"/>
          </a:xfrm>
          <a:prstGeom prst="rect">
            <a:avLst/>
          </a:prstGeom>
          <a:noFill/>
          <a:ln/>
        </p:spPr>
        <p:txBody>
          <a:bodyPr wrap="none" lIns="0" tIns="0" rIns="0" bIns="0" rtlCol="0" anchor="t"/>
          <a:lstStyle/>
          <a:p>
            <a:pPr algn="l" indent="0" marL="0">
              <a:lnSpc>
                <a:spcPts val="945"/>
              </a:lnSpc>
              <a:buNone/>
            </a:pPr>
            <a:r>
              <a:rPr lang="en-US" sz="675" dirty="0">
                <a:solidFill>
                  <a:srgbClr val="E8E6E1"/>
                </a:solidFill>
                <a:latin typeface="Carlito" pitchFamily="34" charset="0"/>
                <a:ea typeface="Carlito" pitchFamily="34" charset="-122"/>
                <a:cs typeface="Carlito" pitchFamily="34" charset="-120"/>
              </a:rPr>
              <a:t>Account &amp; sign-in</a:t>
            </a:r>
            <a:endParaRPr lang="en-US" sz="675" dirty="0"/>
          </a:p>
        </p:txBody>
      </p:sp>
      <p:sp>
        <p:nvSpPr>
          <p:cNvPr id="20" name="Text 17"/>
          <p:cNvSpPr/>
          <p:nvPr/>
        </p:nvSpPr>
        <p:spPr>
          <a:xfrm>
            <a:off x="678656" y="2443609"/>
            <a:ext cx="1922897" cy="299895"/>
          </a:xfrm>
          <a:prstGeom prst="rect">
            <a:avLst/>
          </a:prstGeom>
          <a:noFill/>
          <a:ln/>
        </p:spPr>
        <p:txBody>
          <a:bodyPr wrap="square" lIns="0" tIns="0" rIns="0" bIns="0" rtlCol="0" anchor="t"/>
          <a:lstStyle/>
          <a:p>
            <a:pPr algn="l" indent="0" marL="0">
              <a:lnSpc>
                <a:spcPts val="945"/>
              </a:lnSpc>
              <a:buNone/>
            </a:pPr>
            <a:r>
              <a:rPr lang="en-US" sz="800" dirty="0">
                <a:solidFill>
                  <a:srgbClr val="A8A39C"/>
                </a:solidFill>
                <a:latin typeface="Carlito" pitchFamily="34" charset="0"/>
                <a:ea typeface="Carlito" pitchFamily="34" charset="-122"/>
                <a:cs typeface="Carlito" pitchFamily="34" charset="-120"/>
              </a:rPr>
              <a:t>— short-lived tokens, module-list permissions</a:t>
            </a:r>
            <a:endParaRPr lang="en-US" sz="800" dirty="0"/>
          </a:p>
        </p:txBody>
      </p:sp>
      <p:sp>
        <p:nvSpPr>
          <p:cNvPr id="21" name="Text 18"/>
          <p:cNvSpPr/>
          <p:nvPr/>
        </p:nvSpPr>
        <p:spPr>
          <a:xfrm>
            <a:off x="616764" y="2719313"/>
            <a:ext cx="699653" cy="146304"/>
          </a:xfrm>
          <a:prstGeom prst="rect">
            <a:avLst/>
          </a:prstGeom>
          <a:noFill/>
          <a:ln/>
        </p:spPr>
        <p:txBody>
          <a:bodyPr wrap="square" lIns="0" tIns="0" rIns="0" bIns="0" rtlCol="0" anchor="t"/>
          <a:lstStyle/>
          <a:p>
            <a:pPr algn="l" indent="0" marL="0">
              <a:lnSpc>
                <a:spcPts val="945"/>
              </a:lnSpc>
              <a:buNone/>
            </a:pPr>
            <a:r>
              <a:rPr lang="en-US" sz="675" dirty="0">
                <a:solidFill>
                  <a:srgbClr val="E8E6E1"/>
                </a:solidFill>
                <a:latin typeface="Carlito" pitchFamily="34" charset="0"/>
                <a:ea typeface="Carlito" pitchFamily="34" charset="-122"/>
                <a:cs typeface="Carlito" pitchFamily="34" charset="-120"/>
              </a:rPr>
              <a:t>Project setup</a:t>
            </a:r>
            <a:endParaRPr lang="en-US" sz="675" dirty="0"/>
          </a:p>
        </p:txBody>
      </p:sp>
      <p:sp>
        <p:nvSpPr>
          <p:cNvPr id="22" name="Text 19"/>
          <p:cNvSpPr/>
          <p:nvPr/>
        </p:nvSpPr>
        <p:spPr>
          <a:xfrm>
            <a:off x="678656" y="2719313"/>
            <a:ext cx="2308101" cy="299895"/>
          </a:xfrm>
          <a:prstGeom prst="rect">
            <a:avLst/>
          </a:prstGeom>
          <a:noFill/>
          <a:ln/>
        </p:spPr>
        <p:txBody>
          <a:bodyPr wrap="square" lIns="0" tIns="0" rIns="0" bIns="0" rtlCol="0" anchor="t"/>
          <a:lstStyle/>
          <a:p>
            <a:pPr algn="l" indent="0" marL="0">
              <a:lnSpc>
                <a:spcPts val="945"/>
              </a:lnSpc>
              <a:buNone/>
            </a:pPr>
            <a:r>
              <a:rPr lang="en-US" sz="800" dirty="0">
                <a:solidFill>
                  <a:srgbClr val="A8A39C"/>
                </a:solidFill>
                <a:latin typeface="Carlito" pitchFamily="34" charset="0"/>
                <a:ea typeface="Carlito" pitchFamily="34" charset="-122"/>
                <a:cs typeface="Carlito" pitchFamily="34" charset="-120"/>
              </a:rPr>
              <a:t>— commodity, country, licence boundary (drawn or GeoJSON)</a:t>
            </a:r>
            <a:endParaRPr lang="en-US" sz="800" dirty="0"/>
          </a:p>
        </p:txBody>
      </p:sp>
      <p:sp>
        <p:nvSpPr>
          <p:cNvPr id="23" name="Text 20"/>
          <p:cNvSpPr/>
          <p:nvPr/>
        </p:nvSpPr>
        <p:spPr>
          <a:xfrm>
            <a:off x="678656" y="2995017"/>
            <a:ext cx="792507" cy="146304"/>
          </a:xfrm>
          <a:prstGeom prst="rect">
            <a:avLst/>
          </a:prstGeom>
          <a:noFill/>
          <a:ln/>
        </p:spPr>
        <p:txBody>
          <a:bodyPr wrap="none" lIns="0" tIns="0" rIns="0" bIns="0" rtlCol="0" anchor="t"/>
          <a:lstStyle/>
          <a:p>
            <a:pPr algn="l" indent="0" marL="0">
              <a:lnSpc>
                <a:spcPts val="945"/>
              </a:lnSpc>
              <a:buNone/>
            </a:pPr>
            <a:r>
              <a:rPr lang="en-US" sz="675" dirty="0">
                <a:solidFill>
                  <a:srgbClr val="E8E6E1"/>
                </a:solidFill>
                <a:latin typeface="Carlito" pitchFamily="34" charset="0"/>
                <a:ea typeface="Carlito" pitchFamily="34" charset="-122"/>
                <a:cs typeface="Carlito" pitchFamily="34" charset="-120"/>
              </a:rPr>
              <a:t>Project dashboard</a:t>
            </a:r>
            <a:endParaRPr lang="en-US" sz="675" dirty="0"/>
          </a:p>
        </p:txBody>
      </p:sp>
      <p:sp>
        <p:nvSpPr>
          <p:cNvPr id="24" name="Text 21"/>
          <p:cNvSpPr/>
          <p:nvPr/>
        </p:nvSpPr>
        <p:spPr>
          <a:xfrm>
            <a:off x="1380641" y="2995017"/>
            <a:ext cx="1662395" cy="146304"/>
          </a:xfrm>
          <a:prstGeom prst="rect">
            <a:avLst/>
          </a:prstGeom>
          <a:noFill/>
          <a:ln/>
        </p:spPr>
        <p:txBody>
          <a:bodyPr wrap="square" lIns="0" tIns="0" rIns="0" bIns="0" rtlCol="0" anchor="t"/>
          <a:lstStyle/>
          <a:p>
            <a:pPr algn="l" indent="0" marL="0">
              <a:lnSpc>
                <a:spcPts val="945"/>
              </a:lnSpc>
              <a:buNone/>
            </a:pPr>
            <a:r>
              <a:rPr lang="en-US" sz="675" dirty="0">
                <a:solidFill>
                  <a:srgbClr val="A8A39C"/>
                </a:solidFill>
                <a:latin typeface="Carlito" pitchFamily="34" charset="0"/>
                <a:ea typeface="Carlito" pitchFamily="34" charset="-122"/>
                <a:cs typeface="Carlito" pitchFamily="34" charset="-120"/>
              </a:rPr>
              <a:t>— status, target count, area, last activity</a:t>
            </a:r>
            <a:endParaRPr lang="en-US" sz="675" dirty="0"/>
          </a:p>
        </p:txBody>
      </p:sp>
      <p:sp>
        <p:nvSpPr>
          <p:cNvPr id="25" name="Text 22"/>
          <p:cNvSpPr/>
          <p:nvPr/>
        </p:nvSpPr>
        <p:spPr>
          <a:xfrm>
            <a:off x="633057" y="3150729"/>
            <a:ext cx="647052" cy="146304"/>
          </a:xfrm>
          <a:prstGeom prst="rect">
            <a:avLst/>
          </a:prstGeom>
          <a:noFill/>
          <a:ln/>
        </p:spPr>
        <p:txBody>
          <a:bodyPr wrap="none" lIns="0" tIns="0" rIns="0" bIns="0" rtlCol="0" anchor="t"/>
          <a:lstStyle/>
          <a:p>
            <a:pPr algn="l" indent="0" marL="0">
              <a:lnSpc>
                <a:spcPts val="945"/>
              </a:lnSpc>
              <a:buNone/>
            </a:pPr>
            <a:r>
              <a:rPr lang="en-US" sz="675" dirty="0">
                <a:solidFill>
                  <a:srgbClr val="E8E6E1"/>
                </a:solidFill>
                <a:latin typeface="Carlito" pitchFamily="34" charset="0"/>
                <a:ea typeface="Carlito" pitchFamily="34" charset="-122"/>
                <a:cs typeface="Carlito" pitchFamily="34" charset="-120"/>
              </a:rPr>
              <a:t>Team invites</a:t>
            </a:r>
            <a:endParaRPr lang="en-US" sz="675" dirty="0"/>
          </a:p>
        </p:txBody>
      </p:sp>
      <p:sp>
        <p:nvSpPr>
          <p:cNvPr id="26" name="Text 23"/>
          <p:cNvSpPr/>
          <p:nvPr/>
        </p:nvSpPr>
        <p:spPr>
          <a:xfrm>
            <a:off x="678656" y="3150729"/>
            <a:ext cx="2191680" cy="299895"/>
          </a:xfrm>
          <a:prstGeom prst="rect">
            <a:avLst/>
          </a:prstGeom>
          <a:noFill/>
          <a:ln/>
        </p:spPr>
        <p:txBody>
          <a:bodyPr wrap="square" lIns="0" tIns="0" rIns="0" bIns="0" rtlCol="0" anchor="t"/>
          <a:lstStyle/>
          <a:p>
            <a:pPr algn="l" indent="0" marL="0">
              <a:lnSpc>
                <a:spcPts val="945"/>
              </a:lnSpc>
              <a:buNone/>
            </a:pPr>
            <a:r>
              <a:rPr lang="en-US" sz="800" dirty="0">
                <a:solidFill>
                  <a:srgbClr val="A8A39C"/>
                </a:solidFill>
                <a:latin typeface="Carlito" pitchFamily="34" charset="0"/>
                <a:ea typeface="Carlito" pitchFamily="34" charset="-122"/>
                <a:cs typeface="Carlito" pitchFamily="34" charset="-120"/>
              </a:rPr>
              <a:t>— Editor / Viewer bundles or custom module set</a:t>
            </a:r>
            <a:endParaRPr lang="en-US" sz="800" dirty="0"/>
          </a:p>
        </p:txBody>
      </p:sp>
      <p:sp>
        <p:nvSpPr>
          <p:cNvPr id="27" name="Text 24"/>
          <p:cNvSpPr/>
          <p:nvPr/>
        </p:nvSpPr>
        <p:spPr>
          <a:xfrm>
            <a:off x="678656" y="3426433"/>
            <a:ext cx="702111" cy="146304"/>
          </a:xfrm>
          <a:prstGeom prst="rect">
            <a:avLst/>
          </a:prstGeom>
          <a:noFill/>
          <a:ln/>
        </p:spPr>
        <p:txBody>
          <a:bodyPr wrap="square" lIns="0" tIns="0" rIns="0" bIns="0" rtlCol="0" anchor="t"/>
          <a:lstStyle/>
          <a:p>
            <a:pPr algn="l" indent="0" marL="0">
              <a:lnSpc>
                <a:spcPts val="945"/>
              </a:lnSpc>
              <a:buNone/>
            </a:pPr>
            <a:r>
              <a:rPr lang="en-US" sz="675" dirty="0">
                <a:solidFill>
                  <a:srgbClr val="E8E6E1"/>
                </a:solidFill>
                <a:latin typeface="Carlito" pitchFamily="34" charset="0"/>
                <a:ea typeface="Carlito" pitchFamily="34" charset="-122"/>
                <a:cs typeface="Carlito" pitchFamily="34" charset="-120"/>
              </a:rPr>
              <a:t>Tenant isolation</a:t>
            </a:r>
            <a:endParaRPr lang="en-US" sz="675" dirty="0"/>
          </a:p>
        </p:txBody>
      </p:sp>
      <p:sp>
        <p:nvSpPr>
          <p:cNvPr id="28" name="Text 25"/>
          <p:cNvSpPr/>
          <p:nvPr/>
        </p:nvSpPr>
        <p:spPr>
          <a:xfrm>
            <a:off x="1303511" y="3426433"/>
            <a:ext cx="1785279" cy="146304"/>
          </a:xfrm>
          <a:prstGeom prst="rect">
            <a:avLst/>
          </a:prstGeom>
          <a:noFill/>
          <a:ln/>
        </p:spPr>
        <p:txBody>
          <a:bodyPr wrap="square" lIns="0" tIns="0" rIns="0" bIns="0" rtlCol="0" anchor="t"/>
          <a:lstStyle/>
          <a:p>
            <a:pPr algn="l" indent="0" marL="0">
              <a:lnSpc>
                <a:spcPts val="945"/>
              </a:lnSpc>
              <a:buNone/>
            </a:pPr>
            <a:r>
              <a:rPr lang="en-US" sz="675" dirty="0">
                <a:solidFill>
                  <a:srgbClr val="A8A39C"/>
                </a:solidFill>
                <a:latin typeface="Carlito" pitchFamily="34" charset="0"/>
                <a:ea typeface="Carlito" pitchFamily="34" charset="-122"/>
                <a:cs typeface="Carlito" pitchFamily="34" charset="-120"/>
              </a:rPr>
              <a:t>— row-level security, tenant-prefixed storage</a:t>
            </a:r>
            <a:endParaRPr lang="en-US" sz="675" dirty="0"/>
          </a:p>
        </p:txBody>
      </p:sp>
      <p:sp>
        <p:nvSpPr>
          <p:cNvPr id="29" name="Text 26"/>
          <p:cNvSpPr/>
          <p:nvPr/>
        </p:nvSpPr>
        <p:spPr>
          <a:xfrm>
            <a:off x="3242035" y="1694297"/>
            <a:ext cx="2659819" cy="2365697"/>
          </a:xfrm>
          <a:prstGeom prst="roundRect">
            <a:avLst>
              <a:gd name="adj" fmla="val 3221"/>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30" name="Text 27"/>
          <p:cNvSpPr/>
          <p:nvPr/>
        </p:nvSpPr>
        <p:spPr>
          <a:xfrm>
            <a:off x="3374194" y="1831814"/>
            <a:ext cx="2252625"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6B6760"/>
                </a:solidFill>
                <a:latin typeface="Liberation Sans Narrow" pitchFamily="34" charset="0"/>
                <a:ea typeface="Liberation Sans Narrow" pitchFamily="34" charset="-122"/>
                <a:cs typeface="Liberation Sans Narrow" pitchFamily="34" charset="-120"/>
              </a:rPr>
              <a:t>GROUP 2 · 6 FEATURES</a:t>
            </a:r>
            <a:endParaRPr lang="en-US" sz="800" dirty="0"/>
          </a:p>
        </p:txBody>
      </p:sp>
      <p:sp>
        <p:nvSpPr>
          <p:cNvPr id="31" name="Text 28"/>
          <p:cNvSpPr/>
          <p:nvPr/>
        </p:nvSpPr>
        <p:spPr>
          <a:xfrm>
            <a:off x="5641107" y="1826456"/>
            <a:ext cx="128588" cy="128588"/>
          </a:xfrm>
          <a:prstGeom prst="rect">
            <a:avLst/>
          </a:prstGeom>
          <a:noFill/>
          <a:ln/>
        </p:spPr>
        <p:txBody>
          <a:bodyPr wrap="none" lIns="0" tIns="0" rIns="0" bIns="0" rtlCol="0" anchor="ctr"/>
          <a:lstStyle/>
          <a:p>
            <a:pPr algn="ctr" indent="0" marL="0">
              <a:buNone/>
            </a:pPr>
            <a:r>
              <a:rPr lang="en-US" sz="1266" dirty="0">
                <a:solidFill>
                  <a:srgbClr val="8A6D24"/>
                </a:solidFill>
                <a:latin typeface="Segoe UI Symbol" pitchFamily="34" charset="0"/>
                <a:ea typeface="Segoe UI Symbol" pitchFamily="34" charset="-122"/>
                <a:cs typeface="Segoe UI Symbol" pitchFamily="34" charset="-120"/>
              </a:rPr>
              <a:t>↑</a:t>
            </a:r>
            <a:endParaRPr lang="en-US" sz="1266" dirty="0"/>
          </a:p>
        </p:txBody>
      </p:sp>
      <p:sp>
        <p:nvSpPr>
          <p:cNvPr id="32" name="Text 29"/>
          <p:cNvSpPr/>
          <p:nvPr/>
        </p:nvSpPr>
        <p:spPr>
          <a:xfrm>
            <a:off x="3374194" y="1997906"/>
            <a:ext cx="200025" cy="14288"/>
          </a:xfrm>
          <a:prstGeom prst="rect">
            <a:avLst/>
          </a:prstGeom>
          <a:solidFill>
            <a:srgbClr val="D4A437"/>
          </a:solidFill>
          <a:ln/>
        </p:spPr>
        <p:txBody>
          <a:bodyPr wrap="square" rtlCol="0" anchor="ctr"/>
          <a:lstStyle/>
          <a:p>
            <a:pPr indent="0" marL="0">
              <a:buNone/>
            </a:pPr>
            <a:endParaRPr lang="en-US" dirty="0"/>
          </a:p>
        </p:txBody>
      </p:sp>
      <p:sp>
        <p:nvSpPr>
          <p:cNvPr id="33" name="Text 30"/>
          <p:cNvSpPr/>
          <p:nvPr/>
        </p:nvSpPr>
        <p:spPr>
          <a:xfrm>
            <a:off x="3374194" y="2069343"/>
            <a:ext cx="2505228" cy="155403"/>
          </a:xfrm>
          <a:prstGeom prst="rect">
            <a:avLst/>
          </a:prstGeom>
          <a:noFill/>
          <a:ln/>
        </p:spPr>
        <p:txBody>
          <a:bodyPr wrap="square" lIns="0" tIns="0" rIns="0" bIns="0" rtlCol="0" anchor="t">
            <a:normAutofit/>
          </a:bodyPr>
          <a:lstStyle/>
          <a:p>
            <a:pPr algn="l" indent="0" marL="0">
              <a:lnSpc>
                <a:spcPts val="1215"/>
              </a:lnSpc>
              <a:buNone/>
            </a:pPr>
            <a:r>
              <a:rPr lang="en-US" sz="1013" b="1" spc="-5" kern="0" dirty="0">
                <a:solidFill>
                  <a:srgbClr val="E8E6E1"/>
                </a:solidFill>
                <a:latin typeface="Carlito" pitchFamily="34" charset="0"/>
                <a:ea typeface="Carlito" pitchFamily="34" charset="-122"/>
                <a:cs typeface="Carlito" pitchFamily="34" charset="-120"/>
              </a:rPr>
              <a:t>Data in, processed properly</a:t>
            </a:r>
            <a:endParaRPr lang="en-US" sz="1013" dirty="0"/>
          </a:p>
        </p:txBody>
      </p:sp>
      <p:sp>
        <p:nvSpPr>
          <p:cNvPr id="34" name="Text 31"/>
          <p:cNvSpPr/>
          <p:nvPr/>
        </p:nvSpPr>
        <p:spPr>
          <a:xfrm>
            <a:off x="3374194" y="2252179"/>
            <a:ext cx="2395500" cy="153591"/>
          </a:xfrm>
          <a:prstGeom prst="rect">
            <a:avLst/>
          </a:prstGeom>
          <a:noFill/>
          <a:ln/>
        </p:spPr>
        <p:txBody>
          <a:bodyPr wrap="square" lIns="0" tIns="0" rIns="0" bIns="0" rtlCol="0" anchor="t"/>
          <a:lstStyle/>
          <a:p>
            <a:pPr algn="l" indent="0" marL="0">
              <a:lnSpc>
                <a:spcPts val="945"/>
              </a:lnSpc>
              <a:buNone/>
            </a:pPr>
            <a:r>
              <a:rPr lang="en-US" sz="675" dirty="0">
                <a:solidFill>
                  <a:srgbClr val="A8A39C"/>
                </a:solidFill>
                <a:latin typeface="Carlito" pitchFamily="34" charset="0"/>
                <a:ea typeface="Carlito" pitchFamily="34" charset="-122"/>
                <a:cs typeface="Carlito" pitchFamily="34" charset="-120"/>
              </a:rPr>
              <a:t>The half that decides whether the rest is trustworthy.</a:t>
            </a:r>
            <a:endParaRPr lang="en-US" sz="675" dirty="0"/>
          </a:p>
        </p:txBody>
      </p:sp>
      <p:sp>
        <p:nvSpPr>
          <p:cNvPr id="35" name="Text 32"/>
          <p:cNvSpPr/>
          <p:nvPr/>
        </p:nvSpPr>
        <p:spPr>
          <a:xfrm>
            <a:off x="3459919" y="2443609"/>
            <a:ext cx="826651" cy="146304"/>
          </a:xfrm>
          <a:prstGeom prst="rect">
            <a:avLst/>
          </a:prstGeom>
          <a:noFill/>
          <a:ln/>
        </p:spPr>
        <p:txBody>
          <a:bodyPr wrap="none" lIns="0" tIns="0" rIns="0" bIns="0" rtlCol="0" anchor="t"/>
          <a:lstStyle/>
          <a:p>
            <a:pPr algn="l" indent="0" marL="0">
              <a:lnSpc>
                <a:spcPts val="945"/>
              </a:lnSpc>
              <a:buNone/>
            </a:pPr>
            <a:r>
              <a:rPr lang="en-US" sz="675" dirty="0">
                <a:solidFill>
                  <a:srgbClr val="E8E6E1"/>
                </a:solidFill>
                <a:latin typeface="Carlito" pitchFamily="34" charset="0"/>
                <a:ea typeface="Carlito" pitchFamily="34" charset="-122"/>
                <a:cs typeface="Carlito" pitchFamily="34" charset="-120"/>
              </a:rPr>
              <a:t>Geophysics upload</a:t>
            </a:r>
            <a:endParaRPr lang="en-US" sz="675" dirty="0"/>
          </a:p>
        </p:txBody>
      </p:sp>
      <p:sp>
        <p:nvSpPr>
          <p:cNvPr id="36" name="Text 33"/>
          <p:cNvSpPr/>
          <p:nvPr/>
        </p:nvSpPr>
        <p:spPr>
          <a:xfrm>
            <a:off x="3459919" y="2443609"/>
            <a:ext cx="2220813" cy="299895"/>
          </a:xfrm>
          <a:prstGeom prst="rect">
            <a:avLst/>
          </a:prstGeom>
          <a:noFill/>
          <a:ln/>
        </p:spPr>
        <p:txBody>
          <a:bodyPr wrap="square" lIns="0" tIns="0" rIns="0" bIns="0" rtlCol="0" anchor="t"/>
          <a:lstStyle/>
          <a:p>
            <a:pPr algn="l" indent="0" marL="0">
              <a:lnSpc>
                <a:spcPts val="945"/>
              </a:lnSpc>
              <a:buNone/>
            </a:pPr>
            <a:r>
              <a:rPr lang="en-US" sz="800" dirty="0">
                <a:solidFill>
                  <a:srgbClr val="A8A39C"/>
                </a:solidFill>
                <a:latin typeface="Carlito" pitchFamily="34" charset="0"/>
                <a:ea typeface="Carlito" pitchFamily="34" charset="-122"/>
                <a:cs typeface="Carlito" pitchFamily="34" charset="-120"/>
              </a:rPr>
              <a:t>— drag-drop 500MB, content-validated, checksummed</a:t>
            </a:r>
            <a:endParaRPr lang="en-US" sz="800" dirty="0"/>
          </a:p>
        </p:txBody>
      </p:sp>
      <p:sp>
        <p:nvSpPr>
          <p:cNvPr id="37" name="Text 34"/>
          <p:cNvSpPr/>
          <p:nvPr/>
        </p:nvSpPr>
        <p:spPr>
          <a:xfrm>
            <a:off x="3459919" y="2719313"/>
            <a:ext cx="850722" cy="146304"/>
          </a:xfrm>
          <a:prstGeom prst="rect">
            <a:avLst/>
          </a:prstGeom>
          <a:noFill/>
          <a:ln/>
        </p:spPr>
        <p:txBody>
          <a:bodyPr wrap="square" lIns="0" tIns="0" rIns="0" bIns="0" rtlCol="0" anchor="t"/>
          <a:lstStyle/>
          <a:p>
            <a:pPr algn="l" indent="0" marL="0">
              <a:lnSpc>
                <a:spcPts val="945"/>
              </a:lnSpc>
              <a:buNone/>
            </a:pPr>
            <a:r>
              <a:rPr lang="en-US" sz="675" dirty="0">
                <a:solidFill>
                  <a:srgbClr val="E8E6E1"/>
                </a:solidFill>
                <a:latin typeface="Carlito" pitchFamily="34" charset="0"/>
                <a:ea typeface="Carlito" pitchFamily="34" charset="-122"/>
                <a:cs typeface="Carlito" pitchFamily="34" charset="-120"/>
              </a:rPr>
              <a:t>Processing pipeline</a:t>
            </a:r>
            <a:endParaRPr lang="en-US" sz="675" dirty="0"/>
          </a:p>
        </p:txBody>
      </p:sp>
      <p:sp>
        <p:nvSpPr>
          <p:cNvPr id="38" name="Text 35"/>
          <p:cNvSpPr/>
          <p:nvPr/>
        </p:nvSpPr>
        <p:spPr>
          <a:xfrm>
            <a:off x="3459919" y="2719313"/>
            <a:ext cx="2167793" cy="299895"/>
          </a:xfrm>
          <a:prstGeom prst="rect">
            <a:avLst/>
          </a:prstGeom>
          <a:noFill/>
          <a:ln/>
        </p:spPr>
        <p:txBody>
          <a:bodyPr wrap="square" lIns="0" tIns="0" rIns="0" bIns="0" rtlCol="0" anchor="t"/>
          <a:lstStyle/>
          <a:p>
            <a:pPr algn="l" indent="0" marL="0">
              <a:lnSpc>
                <a:spcPts val="945"/>
              </a:lnSpc>
              <a:buNone/>
            </a:pPr>
            <a:r>
              <a:rPr lang="en-US" sz="800" dirty="0">
                <a:solidFill>
                  <a:srgbClr val="A8A39C"/>
                </a:solidFill>
                <a:latin typeface="Carlito" pitchFamily="34" charset="0"/>
                <a:ea typeface="Carlito" pitchFamily="34" charset="-122"/>
                <a:cs typeface="Carlito" pitchFamily="34" charset="-120"/>
              </a:rPr>
              <a:t>— parse, reproject, krige, RTP, depth, COG, register</a:t>
            </a:r>
            <a:endParaRPr lang="en-US" sz="800" dirty="0"/>
          </a:p>
        </p:txBody>
      </p:sp>
      <p:sp>
        <p:nvSpPr>
          <p:cNvPr id="39" name="Text 36"/>
          <p:cNvSpPr/>
          <p:nvPr/>
        </p:nvSpPr>
        <p:spPr>
          <a:xfrm>
            <a:off x="3459919" y="2995017"/>
            <a:ext cx="834500" cy="146304"/>
          </a:xfrm>
          <a:prstGeom prst="rect">
            <a:avLst/>
          </a:prstGeom>
          <a:noFill/>
          <a:ln/>
        </p:spPr>
        <p:txBody>
          <a:bodyPr wrap="square" lIns="0" tIns="0" rIns="0" bIns="0" rtlCol="0" anchor="t"/>
          <a:lstStyle/>
          <a:p>
            <a:pPr algn="l" indent="0" marL="0">
              <a:lnSpc>
                <a:spcPts val="945"/>
              </a:lnSpc>
              <a:buNone/>
            </a:pPr>
            <a:r>
              <a:rPr lang="en-US" sz="675" dirty="0">
                <a:solidFill>
                  <a:srgbClr val="E8E6E1"/>
                </a:solidFill>
                <a:latin typeface="Carlito" pitchFamily="34" charset="0"/>
                <a:ea typeface="Carlito" pitchFamily="34" charset="-122"/>
                <a:cs typeface="Carlito" pitchFamily="34" charset="-120"/>
              </a:rPr>
              <a:t>Satellite auto-fetch</a:t>
            </a:r>
            <a:endParaRPr lang="en-US" sz="675" dirty="0"/>
          </a:p>
        </p:txBody>
      </p:sp>
      <p:sp>
        <p:nvSpPr>
          <p:cNvPr id="40" name="Text 37"/>
          <p:cNvSpPr/>
          <p:nvPr/>
        </p:nvSpPr>
        <p:spPr>
          <a:xfrm>
            <a:off x="3459919" y="2995017"/>
            <a:ext cx="2251063" cy="299895"/>
          </a:xfrm>
          <a:prstGeom prst="rect">
            <a:avLst/>
          </a:prstGeom>
          <a:noFill/>
          <a:ln/>
        </p:spPr>
        <p:txBody>
          <a:bodyPr wrap="square" lIns="0" tIns="0" rIns="0" bIns="0" rtlCol="0" anchor="t"/>
          <a:lstStyle/>
          <a:p>
            <a:pPr algn="l" indent="0" marL="0">
              <a:lnSpc>
                <a:spcPts val="945"/>
              </a:lnSpc>
              <a:buNone/>
            </a:pPr>
            <a:r>
              <a:rPr lang="en-US" sz="800" dirty="0">
                <a:solidFill>
                  <a:srgbClr val="A8A39C"/>
                </a:solidFill>
                <a:latin typeface="Carlito" pitchFamily="34" charset="0"/>
                <a:ea typeface="Carlito" pitchFamily="34" charset="-122"/>
                <a:cs typeface="Carlito" pitchFamily="34" charset="-120"/>
              </a:rPr>
              <a:t>— latest low-cloud Sentinel-2, alteration indices</a:t>
            </a:r>
            <a:endParaRPr lang="en-US" sz="800" dirty="0"/>
          </a:p>
        </p:txBody>
      </p:sp>
      <p:sp>
        <p:nvSpPr>
          <p:cNvPr id="41" name="Text 38"/>
          <p:cNvSpPr/>
          <p:nvPr/>
        </p:nvSpPr>
        <p:spPr>
          <a:xfrm>
            <a:off x="3459919" y="3270721"/>
            <a:ext cx="1125944" cy="146304"/>
          </a:xfrm>
          <a:prstGeom prst="rect">
            <a:avLst/>
          </a:prstGeom>
          <a:noFill/>
          <a:ln/>
        </p:spPr>
        <p:txBody>
          <a:bodyPr wrap="square" lIns="0" tIns="0" rIns="0" bIns="0" rtlCol="0" anchor="t"/>
          <a:lstStyle/>
          <a:p>
            <a:pPr algn="l" indent="0" marL="0">
              <a:lnSpc>
                <a:spcPts val="945"/>
              </a:lnSpc>
              <a:buNone/>
            </a:pPr>
            <a:r>
              <a:rPr lang="en-US" sz="675" dirty="0">
                <a:solidFill>
                  <a:srgbClr val="E8E6E1"/>
                </a:solidFill>
                <a:latin typeface="Carlito" pitchFamily="34" charset="0"/>
                <a:ea typeface="Carlito" pitchFamily="34" charset="-122"/>
                <a:cs typeface="Carlito" pitchFamily="34" charset="-120"/>
              </a:rPr>
              <a:t>Geochemistry normalisation</a:t>
            </a:r>
            <a:endParaRPr lang="en-US" sz="675" dirty="0"/>
          </a:p>
        </p:txBody>
      </p:sp>
      <p:sp>
        <p:nvSpPr>
          <p:cNvPr id="42" name="Text 39"/>
          <p:cNvSpPr/>
          <p:nvPr/>
        </p:nvSpPr>
        <p:spPr>
          <a:xfrm>
            <a:off x="3459919" y="3270721"/>
            <a:ext cx="2099035" cy="299895"/>
          </a:xfrm>
          <a:prstGeom prst="rect">
            <a:avLst/>
          </a:prstGeom>
          <a:noFill/>
          <a:ln/>
        </p:spPr>
        <p:txBody>
          <a:bodyPr wrap="square" lIns="0" tIns="0" rIns="0" bIns="0" rtlCol="0" anchor="t"/>
          <a:lstStyle/>
          <a:p>
            <a:pPr algn="l" indent="0" marL="0">
              <a:lnSpc>
                <a:spcPts val="945"/>
              </a:lnSpc>
              <a:buNone/>
            </a:pPr>
            <a:r>
              <a:rPr lang="en-US" sz="800" dirty="0">
                <a:solidFill>
                  <a:srgbClr val="A8A39C"/>
                </a:solidFill>
                <a:latin typeface="Carlito" pitchFamily="34" charset="0"/>
                <a:ea typeface="Carlito" pitchFamily="34" charset="-122"/>
                <a:cs typeface="Carlito" pitchFamily="34" charset="-120"/>
              </a:rPr>
              <a:t>— column auto-detect, per-element percentiles</a:t>
            </a:r>
            <a:endParaRPr lang="en-US" sz="800" dirty="0"/>
          </a:p>
        </p:txBody>
      </p:sp>
      <p:sp>
        <p:nvSpPr>
          <p:cNvPr id="43" name="Text 40"/>
          <p:cNvSpPr/>
          <p:nvPr/>
        </p:nvSpPr>
        <p:spPr>
          <a:xfrm>
            <a:off x="3459919" y="3546425"/>
            <a:ext cx="744496" cy="146304"/>
          </a:xfrm>
          <a:prstGeom prst="rect">
            <a:avLst/>
          </a:prstGeom>
          <a:noFill/>
          <a:ln/>
        </p:spPr>
        <p:txBody>
          <a:bodyPr wrap="none" lIns="0" tIns="0" rIns="0" bIns="0" rtlCol="0" anchor="t"/>
          <a:lstStyle/>
          <a:p>
            <a:pPr algn="l" indent="0" marL="0">
              <a:lnSpc>
                <a:spcPts val="945"/>
              </a:lnSpc>
              <a:buNone/>
            </a:pPr>
            <a:r>
              <a:rPr lang="en-US" sz="675" dirty="0">
                <a:solidFill>
                  <a:srgbClr val="E8E6E1"/>
                </a:solidFill>
                <a:latin typeface="Carlito" pitchFamily="34" charset="0"/>
                <a:ea typeface="Carlito" pitchFamily="34" charset="-122"/>
                <a:cs typeface="Carlito" pitchFamily="34" charset="-120"/>
              </a:rPr>
              <a:t>Live job progress</a:t>
            </a:r>
            <a:endParaRPr lang="en-US" sz="675" dirty="0"/>
          </a:p>
        </p:txBody>
      </p:sp>
      <p:sp>
        <p:nvSpPr>
          <p:cNvPr id="44" name="Text 41"/>
          <p:cNvSpPr/>
          <p:nvPr/>
        </p:nvSpPr>
        <p:spPr>
          <a:xfrm>
            <a:off x="4120939" y="3546425"/>
            <a:ext cx="1607062" cy="146304"/>
          </a:xfrm>
          <a:prstGeom prst="rect">
            <a:avLst/>
          </a:prstGeom>
          <a:noFill/>
          <a:ln/>
        </p:spPr>
        <p:txBody>
          <a:bodyPr wrap="square" lIns="0" tIns="0" rIns="0" bIns="0" rtlCol="0" anchor="t"/>
          <a:lstStyle/>
          <a:p>
            <a:pPr algn="l" indent="0" marL="0">
              <a:lnSpc>
                <a:spcPts val="945"/>
              </a:lnSpc>
              <a:buNone/>
            </a:pPr>
            <a:r>
              <a:rPr lang="en-US" sz="675" dirty="0">
                <a:solidFill>
                  <a:srgbClr val="A8A39C"/>
                </a:solidFill>
                <a:latin typeface="Carlito" pitchFamily="34" charset="0"/>
                <a:ea typeface="Carlito" pitchFamily="34" charset="-122"/>
                <a:cs typeface="Carlito" pitchFamily="34" charset="-120"/>
              </a:rPr>
              <a:t>— stage-by-stage, plain-English failures</a:t>
            </a:r>
            <a:endParaRPr lang="en-US" sz="675" dirty="0"/>
          </a:p>
        </p:txBody>
      </p:sp>
      <p:sp>
        <p:nvSpPr>
          <p:cNvPr id="45" name="Text 42"/>
          <p:cNvSpPr/>
          <p:nvPr/>
        </p:nvSpPr>
        <p:spPr>
          <a:xfrm>
            <a:off x="3459919" y="3702137"/>
            <a:ext cx="917178" cy="146304"/>
          </a:xfrm>
          <a:prstGeom prst="rect">
            <a:avLst/>
          </a:prstGeom>
          <a:noFill/>
          <a:ln/>
        </p:spPr>
        <p:txBody>
          <a:bodyPr wrap="none" lIns="0" tIns="0" rIns="0" bIns="0" rtlCol="0" anchor="t"/>
          <a:lstStyle/>
          <a:p>
            <a:pPr algn="l" indent="0" marL="0">
              <a:lnSpc>
                <a:spcPts val="945"/>
              </a:lnSpc>
              <a:buNone/>
            </a:pPr>
            <a:r>
              <a:rPr lang="en-US" sz="675" dirty="0">
                <a:solidFill>
                  <a:srgbClr val="E8E6E1"/>
                </a:solidFill>
                <a:latin typeface="Carlito" pitchFamily="34" charset="0"/>
                <a:ea typeface="Carlito" pitchFamily="34" charset="-122"/>
                <a:cs typeface="Carlito" pitchFamily="34" charset="-120"/>
              </a:rPr>
              <a:t>Assay PDF extraction</a:t>
            </a:r>
            <a:endParaRPr lang="en-US" sz="675" dirty="0"/>
          </a:p>
        </p:txBody>
      </p:sp>
      <p:sp>
        <p:nvSpPr>
          <p:cNvPr id="46" name="Text 43"/>
          <p:cNvSpPr/>
          <p:nvPr/>
        </p:nvSpPr>
        <p:spPr>
          <a:xfrm>
            <a:off x="3459919" y="3702137"/>
            <a:ext cx="2111313" cy="239985"/>
          </a:xfrm>
          <a:prstGeom prst="rect">
            <a:avLst/>
          </a:prstGeom>
          <a:noFill/>
          <a:ln/>
        </p:spPr>
        <p:txBody>
          <a:bodyPr wrap="square" lIns="0" tIns="0" rIns="0" bIns="0" rtlCol="0" anchor="t"/>
          <a:lstStyle/>
          <a:p>
            <a:pPr algn="l" indent="0" marL="0">
              <a:lnSpc>
                <a:spcPts val="945"/>
              </a:lnSpc>
              <a:buNone/>
            </a:pPr>
            <a:r>
              <a:rPr lang="en-US" sz="800" dirty="0">
                <a:solidFill>
                  <a:srgbClr val="A8A39C"/>
                </a:solidFill>
                <a:latin typeface="Carlito" pitchFamily="34" charset="0"/>
                <a:ea typeface="Carlito" pitchFamily="34" charset="-122"/>
                <a:cs typeface="Carlito" pitchFamily="34" charset="-120"/>
              </a:rPr>
              <a:t>— sample IDs and tables linked to spatial points</a:t>
            </a:r>
            <a:endParaRPr lang="en-US" sz="800" dirty="0"/>
          </a:p>
        </p:txBody>
      </p:sp>
      <p:sp>
        <p:nvSpPr>
          <p:cNvPr id="47" name="Text 44"/>
          <p:cNvSpPr/>
          <p:nvPr/>
        </p:nvSpPr>
        <p:spPr>
          <a:xfrm>
            <a:off x="6023297" y="1694297"/>
            <a:ext cx="2659931" cy="2365697"/>
          </a:xfrm>
          <a:prstGeom prst="roundRect">
            <a:avLst>
              <a:gd name="adj" fmla="val 3221"/>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48" name="Text 45"/>
          <p:cNvSpPr/>
          <p:nvPr/>
        </p:nvSpPr>
        <p:spPr>
          <a:xfrm>
            <a:off x="6155457" y="1831814"/>
            <a:ext cx="2252737" cy="164592"/>
          </a:xfrm>
          <a:prstGeom prst="rect">
            <a:avLst/>
          </a:prstGeom>
          <a:noFill/>
          <a:ln/>
        </p:spPr>
        <p:txBody>
          <a:bodyPr wrap="none" lIns="0" tIns="0" rIns="0" bIns="0" rtlCol="0" anchor="t"/>
          <a:lstStyle/>
          <a:p>
            <a:pPr algn="l" indent="0" marL="0">
              <a:lnSpc>
                <a:spcPts val="928"/>
              </a:lnSpc>
              <a:buNone/>
            </a:pPr>
            <a:r>
              <a:rPr lang="en-US" sz="800" spc="99" kern="0" dirty="0">
                <a:solidFill>
                  <a:srgbClr val="6B6760"/>
                </a:solidFill>
                <a:latin typeface="Liberation Sans Narrow" pitchFamily="34" charset="0"/>
                <a:ea typeface="Liberation Sans Narrow" pitchFamily="34" charset="-122"/>
                <a:cs typeface="Liberation Sans Narrow" pitchFamily="34" charset="-120"/>
              </a:rPr>
              <a:t>GROUP 3 · 4 FEATURES</a:t>
            </a:r>
            <a:endParaRPr lang="en-US" sz="800" dirty="0"/>
          </a:p>
        </p:txBody>
      </p:sp>
      <p:sp>
        <p:nvSpPr>
          <p:cNvPr id="49" name="Text 46"/>
          <p:cNvSpPr/>
          <p:nvPr/>
        </p:nvSpPr>
        <p:spPr>
          <a:xfrm>
            <a:off x="8422481" y="1826456"/>
            <a:ext cx="128588" cy="128588"/>
          </a:xfrm>
          <a:prstGeom prst="rect">
            <a:avLst/>
          </a:prstGeom>
          <a:noFill/>
          <a:ln/>
        </p:spPr>
        <p:txBody>
          <a:bodyPr wrap="none" lIns="0" tIns="0" rIns="0" bIns="0" rtlCol="0" anchor="ctr"/>
          <a:lstStyle/>
          <a:p>
            <a:pPr algn="ctr" indent="0" marL="0">
              <a:buNone/>
            </a:pPr>
            <a:r>
              <a:rPr lang="en-US" sz="1266" dirty="0">
                <a:solidFill>
                  <a:srgbClr val="8A6D24"/>
                </a:solidFill>
                <a:latin typeface="Segoe UI Symbol" pitchFamily="34" charset="0"/>
                <a:ea typeface="Segoe UI Symbol" pitchFamily="34" charset="-122"/>
                <a:cs typeface="Segoe UI Symbol" pitchFamily="34" charset="-120"/>
              </a:rPr>
              <a:t>▣</a:t>
            </a:r>
            <a:endParaRPr lang="en-US" sz="1266" dirty="0"/>
          </a:p>
        </p:txBody>
      </p:sp>
      <p:sp>
        <p:nvSpPr>
          <p:cNvPr id="50" name="Text 47"/>
          <p:cNvSpPr/>
          <p:nvPr/>
        </p:nvSpPr>
        <p:spPr>
          <a:xfrm>
            <a:off x="6155457" y="1997906"/>
            <a:ext cx="200025" cy="14288"/>
          </a:xfrm>
          <a:prstGeom prst="rect">
            <a:avLst/>
          </a:prstGeom>
          <a:solidFill>
            <a:srgbClr val="D4A437"/>
          </a:solidFill>
          <a:ln/>
        </p:spPr>
        <p:txBody>
          <a:bodyPr wrap="square" rtlCol="0" anchor="ctr"/>
          <a:lstStyle/>
          <a:p>
            <a:pPr indent="0" marL="0">
              <a:buNone/>
            </a:pPr>
            <a:endParaRPr lang="en-US" dirty="0"/>
          </a:p>
        </p:txBody>
      </p:sp>
      <p:sp>
        <p:nvSpPr>
          <p:cNvPr id="51" name="Text 48"/>
          <p:cNvSpPr/>
          <p:nvPr/>
        </p:nvSpPr>
        <p:spPr>
          <a:xfrm>
            <a:off x="6155457" y="2069343"/>
            <a:ext cx="2395612" cy="155403"/>
          </a:xfrm>
          <a:prstGeom prst="rect">
            <a:avLst/>
          </a:prstGeom>
          <a:noFill/>
          <a:ln/>
        </p:spPr>
        <p:txBody>
          <a:bodyPr wrap="none" lIns="0" tIns="0" rIns="0" bIns="0" rtlCol="0" anchor="t">
            <a:normAutofit/>
          </a:bodyPr>
          <a:lstStyle/>
          <a:p>
            <a:pPr algn="l" indent="0" marL="0">
              <a:lnSpc>
                <a:spcPts val="1215"/>
              </a:lnSpc>
              <a:buNone/>
            </a:pPr>
            <a:r>
              <a:rPr lang="en-US" sz="1013" b="1" spc="-5" kern="0" dirty="0">
                <a:solidFill>
                  <a:srgbClr val="E8E6E1"/>
                </a:solidFill>
                <a:latin typeface="Carlito" pitchFamily="34" charset="0"/>
                <a:ea typeface="Carlito" pitchFamily="34" charset="-122"/>
                <a:cs typeface="Carlito" pitchFamily="34" charset="-120"/>
              </a:rPr>
              <a:t>The map</a:t>
            </a:r>
            <a:endParaRPr lang="en-US" sz="1013" dirty="0"/>
          </a:p>
        </p:txBody>
      </p:sp>
      <p:sp>
        <p:nvSpPr>
          <p:cNvPr id="52" name="Text 49"/>
          <p:cNvSpPr/>
          <p:nvPr/>
        </p:nvSpPr>
        <p:spPr>
          <a:xfrm>
            <a:off x="6155457" y="2252179"/>
            <a:ext cx="2505340" cy="153591"/>
          </a:xfrm>
          <a:prstGeom prst="rect">
            <a:avLst/>
          </a:prstGeom>
          <a:noFill/>
          <a:ln/>
        </p:spPr>
        <p:txBody>
          <a:bodyPr wrap="square" lIns="0" tIns="0" rIns="0" bIns="0" rtlCol="0" anchor="t"/>
          <a:lstStyle/>
          <a:p>
            <a:pPr algn="l" indent="0" marL="0">
              <a:lnSpc>
                <a:spcPts val="945"/>
              </a:lnSpc>
              <a:buNone/>
            </a:pPr>
            <a:r>
              <a:rPr lang="en-US" sz="800" dirty="0">
                <a:solidFill>
                  <a:srgbClr val="A8A39C"/>
                </a:solidFill>
                <a:latin typeface="Carlito" pitchFamily="34" charset="0"/>
                <a:ea typeface="Carlito" pitchFamily="34" charset="-122"/>
                <a:cs typeface="Carlito" pitchFamily="34" charset="-120"/>
              </a:rPr>
              <a:t>Where the evidence is actually read.</a:t>
            </a:r>
            <a:endParaRPr lang="en-US" sz="800" dirty="0"/>
          </a:p>
        </p:txBody>
      </p:sp>
      <p:sp>
        <p:nvSpPr>
          <p:cNvPr id="53" name="Text 50"/>
          <p:cNvSpPr/>
          <p:nvPr/>
        </p:nvSpPr>
        <p:spPr>
          <a:xfrm>
            <a:off x="6241182" y="2443609"/>
            <a:ext cx="758363" cy="146304"/>
          </a:xfrm>
          <a:prstGeom prst="rect">
            <a:avLst/>
          </a:prstGeom>
          <a:noFill/>
          <a:ln/>
        </p:spPr>
        <p:txBody>
          <a:bodyPr wrap="square" lIns="0" tIns="0" rIns="0" bIns="0" rtlCol="0" anchor="t"/>
          <a:lstStyle/>
          <a:p>
            <a:pPr algn="l" indent="0" marL="0">
              <a:lnSpc>
                <a:spcPts val="945"/>
              </a:lnSpc>
              <a:buNone/>
            </a:pPr>
            <a:r>
              <a:rPr lang="en-US" sz="675" dirty="0">
                <a:solidFill>
                  <a:srgbClr val="E8E6E1"/>
                </a:solidFill>
                <a:latin typeface="Carlito" pitchFamily="34" charset="0"/>
                <a:ea typeface="Carlito" pitchFamily="34" charset="-122"/>
                <a:cs typeface="Carlito" pitchFamily="34" charset="-120"/>
              </a:rPr>
              <a:t>Multi-layer viewer</a:t>
            </a:r>
            <a:endParaRPr lang="en-US" sz="675" dirty="0"/>
          </a:p>
        </p:txBody>
      </p:sp>
      <p:sp>
        <p:nvSpPr>
          <p:cNvPr id="54" name="Text 51"/>
          <p:cNvSpPr/>
          <p:nvPr/>
        </p:nvSpPr>
        <p:spPr>
          <a:xfrm>
            <a:off x="6241182" y="2443609"/>
            <a:ext cx="2207084" cy="299895"/>
          </a:xfrm>
          <a:prstGeom prst="rect">
            <a:avLst/>
          </a:prstGeom>
          <a:noFill/>
          <a:ln/>
        </p:spPr>
        <p:txBody>
          <a:bodyPr wrap="square" lIns="0" tIns="0" rIns="0" bIns="0" rtlCol="0" anchor="t"/>
          <a:lstStyle/>
          <a:p>
            <a:pPr algn="l" indent="0" marL="0">
              <a:lnSpc>
                <a:spcPts val="945"/>
              </a:lnSpc>
              <a:buNone/>
            </a:pPr>
            <a:r>
              <a:rPr lang="en-US" sz="800" dirty="0">
                <a:solidFill>
                  <a:srgbClr val="A8A39C"/>
                </a:solidFill>
                <a:latin typeface="Carlito" pitchFamily="34" charset="0"/>
                <a:ea typeface="Carlito" pitchFamily="34" charset="-122"/>
                <a:cs typeface="Carlito" pitchFamily="34" charset="-120"/>
              </a:rPr>
              <a:t>— 5 basemaps, licence boundary always drawn</a:t>
            </a:r>
            <a:endParaRPr lang="en-US" sz="800" dirty="0"/>
          </a:p>
        </p:txBody>
      </p:sp>
      <p:sp>
        <p:nvSpPr>
          <p:cNvPr id="55" name="Text 52"/>
          <p:cNvSpPr/>
          <p:nvPr/>
        </p:nvSpPr>
        <p:spPr>
          <a:xfrm>
            <a:off x="6195784" y="2719313"/>
            <a:ext cx="594451" cy="146304"/>
          </a:xfrm>
          <a:prstGeom prst="rect">
            <a:avLst/>
          </a:prstGeom>
          <a:noFill/>
          <a:ln/>
        </p:spPr>
        <p:txBody>
          <a:bodyPr wrap="none" lIns="0" tIns="0" rIns="0" bIns="0" rtlCol="0" anchor="t"/>
          <a:lstStyle/>
          <a:p>
            <a:pPr algn="l" indent="0" marL="0">
              <a:lnSpc>
                <a:spcPts val="945"/>
              </a:lnSpc>
              <a:buNone/>
            </a:pPr>
            <a:r>
              <a:rPr lang="en-US" sz="675" dirty="0">
                <a:solidFill>
                  <a:srgbClr val="E8E6E1"/>
                </a:solidFill>
                <a:latin typeface="Carlito" pitchFamily="34" charset="0"/>
                <a:ea typeface="Carlito" pitchFamily="34" charset="-122"/>
                <a:cs typeface="Carlito" pitchFamily="34" charset="-120"/>
              </a:rPr>
              <a:t>Layer panel</a:t>
            </a:r>
            <a:endParaRPr lang="en-US" sz="675" dirty="0"/>
          </a:p>
        </p:txBody>
      </p:sp>
      <p:sp>
        <p:nvSpPr>
          <p:cNvPr id="56" name="Text 53"/>
          <p:cNvSpPr/>
          <p:nvPr/>
        </p:nvSpPr>
        <p:spPr>
          <a:xfrm>
            <a:off x="6696708" y="2719313"/>
            <a:ext cx="1778682" cy="146304"/>
          </a:xfrm>
          <a:prstGeom prst="rect">
            <a:avLst/>
          </a:prstGeom>
          <a:noFill/>
          <a:ln/>
        </p:spPr>
        <p:txBody>
          <a:bodyPr wrap="square" lIns="0" tIns="0" rIns="0" bIns="0" rtlCol="0" anchor="t"/>
          <a:lstStyle/>
          <a:p>
            <a:pPr algn="l" indent="0" marL="0">
              <a:lnSpc>
                <a:spcPts val="945"/>
              </a:lnSpc>
              <a:buNone/>
            </a:pPr>
            <a:r>
              <a:rPr lang="en-US" sz="675" dirty="0">
                <a:solidFill>
                  <a:srgbClr val="A8A39C"/>
                </a:solidFill>
                <a:latin typeface="Carlito" pitchFamily="34" charset="0"/>
                <a:ea typeface="Carlito" pitchFamily="34" charset="-122"/>
                <a:cs typeface="Carlito" pitchFamily="34" charset="-120"/>
              </a:rPr>
              <a:t>— visibility, opacity, hover-explanation per layer</a:t>
            </a:r>
            <a:endParaRPr lang="en-US" sz="675" dirty="0"/>
          </a:p>
        </p:txBody>
      </p:sp>
      <p:sp>
        <p:nvSpPr>
          <p:cNvPr id="57" name="Text 54"/>
          <p:cNvSpPr/>
          <p:nvPr/>
        </p:nvSpPr>
        <p:spPr>
          <a:xfrm>
            <a:off x="6241182" y="2875025"/>
            <a:ext cx="923065" cy="146304"/>
          </a:xfrm>
          <a:prstGeom prst="rect">
            <a:avLst/>
          </a:prstGeom>
          <a:noFill/>
          <a:ln/>
        </p:spPr>
        <p:txBody>
          <a:bodyPr wrap="none" lIns="0" tIns="0" rIns="0" bIns="0" rtlCol="0" anchor="t"/>
          <a:lstStyle/>
          <a:p>
            <a:pPr algn="l" indent="0" marL="0">
              <a:lnSpc>
                <a:spcPts val="945"/>
              </a:lnSpc>
              <a:buNone/>
            </a:pPr>
            <a:r>
              <a:rPr lang="en-US" sz="675" dirty="0">
                <a:solidFill>
                  <a:srgbClr val="E8E6E1"/>
                </a:solidFill>
                <a:latin typeface="Carlito" pitchFamily="34" charset="0"/>
                <a:ea typeface="Carlito" pitchFamily="34" charset="-122"/>
                <a:cs typeface="Carlito" pitchFamily="34" charset="-120"/>
              </a:rPr>
              <a:t>Add layer on demand</a:t>
            </a:r>
            <a:endParaRPr lang="en-US" sz="675" dirty="0"/>
          </a:p>
        </p:txBody>
      </p:sp>
      <p:sp>
        <p:nvSpPr>
          <p:cNvPr id="58" name="Text 55"/>
          <p:cNvSpPr/>
          <p:nvPr/>
        </p:nvSpPr>
        <p:spPr>
          <a:xfrm>
            <a:off x="7054565" y="2875025"/>
            <a:ext cx="1542206" cy="146304"/>
          </a:xfrm>
          <a:prstGeom prst="rect">
            <a:avLst/>
          </a:prstGeom>
          <a:noFill/>
          <a:ln/>
        </p:spPr>
        <p:txBody>
          <a:bodyPr wrap="square" lIns="0" tIns="0" rIns="0" bIns="0" rtlCol="0" anchor="t"/>
          <a:lstStyle/>
          <a:p>
            <a:pPr algn="l" indent="0" marL="0">
              <a:lnSpc>
                <a:spcPts val="945"/>
              </a:lnSpc>
              <a:buNone/>
            </a:pPr>
            <a:r>
              <a:rPr lang="en-US" sz="675" dirty="0">
                <a:solidFill>
                  <a:srgbClr val="A8A39C"/>
                </a:solidFill>
                <a:latin typeface="Carlito" pitchFamily="34" charset="0"/>
                <a:ea typeface="Carlito" pitchFamily="34" charset="-122"/>
                <a:cs typeface="Carlito" pitchFamily="34" charset="-120"/>
              </a:rPr>
              <a:t>— fetch public datasets from the map</a:t>
            </a:r>
            <a:endParaRPr lang="en-US" sz="675" dirty="0"/>
          </a:p>
        </p:txBody>
      </p:sp>
      <p:sp>
        <p:nvSpPr>
          <p:cNvPr id="59" name="Text 56"/>
          <p:cNvSpPr/>
          <p:nvPr/>
        </p:nvSpPr>
        <p:spPr>
          <a:xfrm>
            <a:off x="6241182" y="3030736"/>
            <a:ext cx="674246" cy="146304"/>
          </a:xfrm>
          <a:prstGeom prst="rect">
            <a:avLst/>
          </a:prstGeom>
          <a:noFill/>
          <a:ln/>
        </p:spPr>
        <p:txBody>
          <a:bodyPr wrap="square" lIns="0" tIns="0" rIns="0" bIns="0" rtlCol="0" anchor="t"/>
          <a:lstStyle/>
          <a:p>
            <a:pPr algn="l" indent="0" marL="0">
              <a:lnSpc>
                <a:spcPts val="945"/>
              </a:lnSpc>
              <a:buNone/>
            </a:pPr>
            <a:r>
              <a:rPr lang="en-US" sz="675" dirty="0">
                <a:solidFill>
                  <a:srgbClr val="E8E6E1"/>
                </a:solidFill>
                <a:latin typeface="Carlito" pitchFamily="34" charset="0"/>
                <a:ea typeface="Carlito" pitchFamily="34" charset="-122"/>
                <a:cs typeface="Carlito" pitchFamily="34" charset="-120"/>
              </a:rPr>
              <a:t>Click to inspect</a:t>
            </a:r>
            <a:endParaRPr lang="en-US" sz="675" dirty="0"/>
          </a:p>
        </p:txBody>
      </p:sp>
      <p:sp>
        <p:nvSpPr>
          <p:cNvPr id="60" name="Text 57"/>
          <p:cNvSpPr/>
          <p:nvPr/>
        </p:nvSpPr>
        <p:spPr>
          <a:xfrm>
            <a:off x="6241182" y="3030736"/>
            <a:ext cx="2106513" cy="299895"/>
          </a:xfrm>
          <a:prstGeom prst="rect">
            <a:avLst/>
          </a:prstGeom>
          <a:noFill/>
          <a:ln/>
        </p:spPr>
        <p:txBody>
          <a:bodyPr wrap="square" lIns="0" tIns="0" rIns="0" bIns="0" rtlCol="0" anchor="t"/>
          <a:lstStyle/>
          <a:p>
            <a:pPr algn="l" indent="0" marL="0">
              <a:lnSpc>
                <a:spcPts val="945"/>
              </a:lnSpc>
              <a:buNone/>
            </a:pPr>
            <a:r>
              <a:rPr lang="en-US" sz="800" dirty="0">
                <a:solidFill>
                  <a:srgbClr val="A8A39C"/>
                </a:solidFill>
                <a:latin typeface="Carlito" pitchFamily="34" charset="0"/>
                <a:ea typeface="Carlito" pitchFamily="34" charset="-122"/>
                <a:cs typeface="Carlito" pitchFamily="34" charset="-120"/>
              </a:rPr>
              <a:t>— WGS84 + UTM coords, raster values, nearest sample</a:t>
            </a:r>
            <a:endParaRPr lang="en-US" sz="800" dirty="0"/>
          </a:p>
        </p:txBody>
      </p:sp>
      <p:sp>
        <p:nvSpPr>
          <p:cNvPr id="61" name="Text 58"/>
          <p:cNvSpPr/>
          <p:nvPr/>
        </p:nvSpPr>
        <p:spPr>
          <a:xfrm>
            <a:off x="457200" y="4149291"/>
            <a:ext cx="1942319" cy="203597"/>
          </a:xfrm>
          <a:prstGeom prst="roundRect">
            <a:avLst>
              <a:gd name="adj" fmla="val 9357"/>
            </a:avLst>
          </a:prstGeom>
          <a:solidFill>
            <a:srgbClr val="6BAE85">
              <a:alpha val="8000"/>
            </a:srgbClr>
          </a:solidFill>
          <a:ln/>
        </p:spPr>
        <p:txBody>
          <a:bodyPr wrap="square" rtlCol="0" anchor="ctr"/>
          <a:lstStyle/>
          <a:p>
            <a:pPr indent="0" marL="0">
              <a:buNone/>
            </a:pPr>
            <a:endParaRPr lang="en-US" dirty="0"/>
          </a:p>
        </p:txBody>
      </p:sp>
      <p:sp>
        <p:nvSpPr>
          <p:cNvPr id="62" name="Shape 59"/>
          <p:cNvSpPr/>
          <p:nvPr/>
        </p:nvSpPr>
        <p:spPr>
          <a:xfrm>
            <a:off x="467916" y="4149291"/>
            <a:ext cx="0" cy="203597"/>
          </a:xfrm>
          <a:prstGeom prst="line">
            <a:avLst/>
          </a:prstGeom>
          <a:noFill/>
          <a:ln w="21431">
            <a:solidFill>
              <a:srgbClr val="6BAE85"/>
            </a:solidFill>
            <a:prstDash val="solid"/>
          </a:ln>
        </p:spPr>
      </p:sp>
      <p:sp>
        <p:nvSpPr>
          <p:cNvPr id="63" name="Text 60"/>
          <p:cNvSpPr/>
          <p:nvPr/>
        </p:nvSpPr>
        <p:spPr>
          <a:xfrm>
            <a:off x="707231" y="4199297"/>
            <a:ext cx="4674915" cy="139654"/>
          </a:xfrm>
          <a:prstGeom prst="rect">
            <a:avLst/>
          </a:prstGeom>
          <a:noFill/>
          <a:ln/>
        </p:spPr>
        <p:txBody>
          <a:bodyPr wrap="none" lIns="71438" tIns="42863" rIns="85725" bIns="42863" rtlCol="0" anchor="t"/>
          <a:lstStyle/>
          <a:p>
            <a:pPr algn="l" indent="0" marL="0">
              <a:lnSpc>
                <a:spcPts val="928"/>
              </a:lnSpc>
              <a:buNone/>
            </a:pPr>
            <a:r>
              <a:rPr lang="en-US" sz="800" b="1" spc="87" kern="0" dirty="0">
                <a:solidFill>
                  <a:srgbClr val="6BAE85"/>
                </a:solidFill>
                <a:latin typeface="Carlito" pitchFamily="34" charset="0"/>
                <a:ea typeface="Carlito" pitchFamily="34" charset="-122"/>
                <a:cs typeface="Carlito" pitchFamily="34" charset="-120"/>
              </a:rPr>
              <a:t>IMPACT · ONE PRODUCT, ONE LOGIN</a:t>
            </a:r>
            <a:endParaRPr lang="en-US" sz="800" dirty="0"/>
          </a:p>
        </p:txBody>
      </p:sp>
      <p:sp>
        <p:nvSpPr>
          <p:cNvPr id="64" name="Text 61"/>
          <p:cNvSpPr/>
          <p:nvPr/>
        </p:nvSpPr>
        <p:spPr>
          <a:xfrm>
            <a:off x="550069" y="4201083"/>
            <a:ext cx="100013" cy="100013"/>
          </a:xfrm>
          <a:prstGeom prst="rect">
            <a:avLst/>
          </a:prstGeom>
          <a:noFill/>
          <a:ln/>
        </p:spPr>
        <p:txBody>
          <a:bodyPr wrap="none" lIns="0" tIns="0" rIns="0" bIns="0" rtlCol="0" anchor="ctr"/>
          <a:lstStyle/>
          <a:p>
            <a:pPr algn="ctr" indent="0" marL="0">
              <a:buNone/>
            </a:pPr>
            <a:r>
              <a:rPr lang="en-US" sz="984" dirty="0">
                <a:solidFill>
                  <a:srgbClr val="6BAE85"/>
                </a:solidFill>
                <a:latin typeface="Segoe UI Symbol" pitchFamily="34" charset="0"/>
                <a:ea typeface="Segoe UI Symbol" pitchFamily="34" charset="-122"/>
                <a:cs typeface="Segoe UI Symbol" pitchFamily="34" charset="-120"/>
              </a:rPr>
              <a:t>✦</a:t>
            </a:r>
            <a:endParaRPr lang="en-US" sz="984" dirty="0"/>
          </a:p>
        </p:txBody>
      </p:sp>
      <p:sp>
        <p:nvSpPr>
          <p:cNvPr id="65" name="Text 62"/>
          <p:cNvSpPr/>
          <p:nvPr/>
        </p:nvSpPr>
        <p:spPr>
          <a:xfrm>
            <a:off x="5467871" y="4181103"/>
            <a:ext cx="3218929" cy="153570"/>
          </a:xfrm>
          <a:prstGeom prst="rect">
            <a:avLst/>
          </a:prstGeom>
          <a:noFill/>
          <a:ln/>
        </p:spPr>
        <p:txBody>
          <a:bodyPr wrap="square" lIns="0" tIns="0" rIns="0" bIns="0" rtlCol="0" anchor="t"/>
          <a:lstStyle/>
          <a:p>
            <a:pPr algn="r" indent="0" marL="0">
              <a:lnSpc>
                <a:spcPts val="1103"/>
              </a:lnSpc>
              <a:buNone/>
            </a:pPr>
            <a:r>
              <a:rPr lang="en-US" sz="788" dirty="0">
                <a:solidFill>
                  <a:srgbClr val="6BAE85"/>
                </a:solidFill>
                <a:latin typeface="Carlito" pitchFamily="34" charset="0"/>
                <a:ea typeface="Carlito" pitchFamily="34" charset="-122"/>
                <a:cs typeface="Carlito" pitchFamily="34" charset="-120"/>
              </a:rPr>
              <a:t>From licence boundary to click-to-inspect layer — without leaving the platform.</a:t>
            </a:r>
            <a:endParaRPr lang="en-US" sz="788" dirty="0"/>
          </a:p>
        </p:txBody>
      </p:sp>
      <p:sp>
        <p:nvSpPr>
          <p:cNvPr id="66" name="Text 63"/>
          <p:cNvSpPr/>
          <p:nvPr/>
        </p:nvSpPr>
        <p:spPr>
          <a:xfrm>
            <a:off x="457200" y="4868466"/>
            <a:ext cx="7883798" cy="164592"/>
          </a:xfrm>
          <a:prstGeom prst="rect">
            <a:avLst/>
          </a:prstGeom>
          <a:noFill/>
          <a:ln/>
        </p:spPr>
        <p:txBody>
          <a:bodyPr wrap="square" lIns="0" tIns="0" rIns="0" bIns="0" rtlCol="0" anchor="t"/>
          <a:lstStyle/>
          <a:p>
            <a:pPr algn="l" indent="0" marL="0">
              <a:lnSpc>
                <a:spcPts val="928"/>
              </a:lnSpc>
              <a:buNone/>
            </a:pPr>
            <a:r>
              <a:rPr lang="en-US" sz="800" spc="62" kern="0" dirty="0">
                <a:solidFill>
                  <a:srgbClr val="6B6760"/>
                </a:solidFill>
                <a:latin typeface="Carlito" pitchFamily="34" charset="0"/>
                <a:ea typeface="Carlito" pitchFamily="34" charset="-122"/>
                <a:cs typeface="Carlito" pitchFamily="34" charset="-120"/>
              </a:rPr>
              <a:t>TERRAPULSE — RANKED DRILL TARGETS, DEFENSIBLE EVIDENCE</a:t>
            </a:r>
            <a:endParaRPr lang="en-US" sz="800" dirty="0"/>
          </a:p>
        </p:txBody>
      </p:sp>
      <p:sp>
        <p:nvSpPr>
          <p:cNvPr id="67" name="Text 64"/>
          <p:cNvSpPr/>
          <p:nvPr/>
        </p:nvSpPr>
        <p:spPr>
          <a:xfrm>
            <a:off x="8355285" y="4868466"/>
            <a:ext cx="476501"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6B6760"/>
                </a:solidFill>
                <a:latin typeface="Liberation Sans Narrow" pitchFamily="34" charset="0"/>
                <a:ea typeface="Liberation Sans Narrow" pitchFamily="34" charset="-122"/>
                <a:cs typeface="Liberation Sans Narrow" pitchFamily="34" charset="-120"/>
              </a:rPr>
              <a:t>07 / 12</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11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4000"/>
          </a:blip>
          <a:stretch>
            <a:fillRect/>
          </a:stretch>
        </p:blipFill>
        <p:spPr>
          <a:xfrm>
            <a:off x="0" y="0"/>
            <a:ext cx="9144000" cy="5143500"/>
          </a:xfrm>
          <a:prstGeom prst="rect">
            <a:avLst/>
          </a:prstGeom>
        </p:spPr>
      </p:pic>
      <p:sp>
        <p:nvSpPr>
          <p:cNvPr id="3" name="Text 0"/>
          <p:cNvSpPr/>
          <p:nvPr/>
        </p:nvSpPr>
        <p:spPr>
          <a:xfrm>
            <a:off x="457200" y="171450"/>
            <a:ext cx="6171977" cy="164592"/>
          </a:xfrm>
          <a:prstGeom prst="rect">
            <a:avLst/>
          </a:prstGeom>
          <a:noFill/>
          <a:ln/>
        </p:spPr>
        <p:txBody>
          <a:bodyPr wrap="square" lIns="0" tIns="0" rIns="0" bIns="0" rtlCol="0" anchor="t"/>
          <a:lstStyle/>
          <a:p>
            <a:pPr algn="l" indent="0" marL="0">
              <a:lnSpc>
                <a:spcPts val="928"/>
              </a:lnSpc>
              <a:buNone/>
            </a:pPr>
            <a:r>
              <a:rPr lang="en-US" sz="800" b="1" spc="99" kern="0" dirty="0">
                <a:solidFill>
                  <a:srgbClr val="D4A437"/>
                </a:solidFill>
                <a:latin typeface="Carlito" pitchFamily="34" charset="0"/>
                <a:ea typeface="Carlito" pitchFamily="34" charset="-122"/>
                <a:cs typeface="Carlito" pitchFamily="34" charset="-120"/>
              </a:rPr>
              <a:t>TERRAPULSE</a:t>
            </a:r>
            <a:pPr algn="l" indent="0" marL="0">
              <a:lnSpc>
                <a:spcPts val="928"/>
              </a:lnSpc>
              <a:buNone/>
            </a:pPr>
            <a:r>
              <a:rPr lang="en-US" sz="800" spc="99" kern="0" dirty="0">
                <a:solidFill>
                  <a:srgbClr val="6B6760"/>
                </a:solidFill>
                <a:latin typeface="Carlito" pitchFamily="34" charset="0"/>
                <a:ea typeface="Carlito" pitchFamily="34" charset="-122"/>
                <a:cs typeface="Carlito" pitchFamily="34" charset="-120"/>
              </a:rPr>
              <a:t> · GOLD FIELDS GHANA</a:t>
            </a:r>
            <a:endParaRPr lang="en-US" sz="800" dirty="0"/>
          </a:p>
        </p:txBody>
      </p:sp>
      <p:sp>
        <p:nvSpPr>
          <p:cNvPr id="4" name="Text 1"/>
          <p:cNvSpPr/>
          <p:nvPr/>
        </p:nvSpPr>
        <p:spPr>
          <a:xfrm>
            <a:off x="6643464" y="171450"/>
            <a:ext cx="2361943" cy="164592"/>
          </a:xfrm>
          <a:prstGeom prst="rect">
            <a:avLst/>
          </a:prstGeom>
          <a:noFill/>
          <a:ln/>
        </p:spPr>
        <p:txBody>
          <a:bodyPr wrap="square" lIns="0" tIns="0" rIns="0" bIns="0" rtlCol="0" anchor="t"/>
          <a:lstStyle/>
          <a:p>
            <a:pPr algn="l" indent="0" marL="0">
              <a:lnSpc>
                <a:spcPts val="928"/>
              </a:lnSpc>
              <a:buNone/>
            </a:pPr>
            <a:r>
              <a:rPr lang="en-US" sz="619" spc="99" kern="0" dirty="0">
                <a:solidFill>
                  <a:srgbClr val="6B6760"/>
                </a:solidFill>
                <a:latin typeface="Carlito" pitchFamily="34" charset="0"/>
                <a:ea typeface="Carlito" pitchFamily="34" charset="-122"/>
                <a:cs typeface="Carlito" pitchFamily="34" charset="-120"/>
              </a:rPr>
              <a:t>FEATURE GROUP 4 · RANKED DRILL TARGETS</a:t>
            </a:r>
            <a:endParaRPr lang="en-US" sz="619" dirty="0"/>
          </a:p>
        </p:txBody>
      </p:sp>
      <p:sp>
        <p:nvSpPr>
          <p:cNvPr id="5" name="Shape 2"/>
          <p:cNvSpPr/>
          <p:nvPr/>
        </p:nvSpPr>
        <p:spPr>
          <a:xfrm>
            <a:off x="467916" y="500063"/>
            <a:ext cx="0" cy="203597"/>
          </a:xfrm>
          <a:prstGeom prst="line">
            <a:avLst/>
          </a:prstGeom>
          <a:noFill/>
          <a:ln w="21431">
            <a:solidFill>
              <a:srgbClr val="D4633F"/>
            </a:solidFill>
            <a:prstDash val="solid"/>
          </a:ln>
        </p:spPr>
      </p:sp>
      <p:sp>
        <p:nvSpPr>
          <p:cNvPr id="6" name="Shape 3"/>
          <p:cNvSpPr/>
          <p:nvPr/>
        </p:nvSpPr>
        <p:spPr>
          <a:xfrm>
            <a:off x="5232797" y="4231332"/>
            <a:ext cx="0" cy="203597"/>
          </a:xfrm>
          <a:prstGeom prst="line">
            <a:avLst/>
          </a:prstGeom>
          <a:noFill/>
          <a:ln w="21431">
            <a:solidFill>
              <a:srgbClr val="6BAE85"/>
            </a:solidFill>
            <a:prstDash val="solid"/>
          </a:ln>
        </p:spPr>
      </p:sp>
      <p:sp>
        <p:nvSpPr>
          <p:cNvPr id="7" name="Text 4"/>
          <p:cNvSpPr/>
          <p:nvPr/>
        </p:nvSpPr>
        <p:spPr>
          <a:xfrm>
            <a:off x="457200" y="4868466"/>
            <a:ext cx="7883798" cy="164592"/>
          </a:xfrm>
          <a:prstGeom prst="rect">
            <a:avLst/>
          </a:prstGeom>
          <a:noFill/>
          <a:ln/>
        </p:spPr>
        <p:txBody>
          <a:bodyPr wrap="square" lIns="0" tIns="0" rIns="0" bIns="0" rtlCol="0" anchor="t"/>
          <a:lstStyle/>
          <a:p>
            <a:pPr algn="l" indent="0" marL="0">
              <a:lnSpc>
                <a:spcPts val="928"/>
              </a:lnSpc>
              <a:buNone/>
            </a:pPr>
            <a:r>
              <a:rPr lang="en-US" sz="800" spc="62" kern="0" dirty="0">
                <a:solidFill>
                  <a:srgbClr val="6B6760"/>
                </a:solidFill>
                <a:latin typeface="Carlito" pitchFamily="34" charset="0"/>
                <a:ea typeface="Carlito" pitchFamily="34" charset="-122"/>
                <a:cs typeface="Carlito" pitchFamily="34" charset="-120"/>
              </a:rPr>
              <a:t>TERRAPULSE — RANKED DRILL TARGETS, DEFENSIBLE EVIDENCE</a:t>
            </a:r>
            <a:endParaRPr lang="en-US" sz="800" dirty="0"/>
          </a:p>
        </p:txBody>
      </p:sp>
      <p:sp>
        <p:nvSpPr>
          <p:cNvPr id="8" name="Text 5"/>
          <p:cNvSpPr/>
          <p:nvPr/>
        </p:nvSpPr>
        <p:spPr>
          <a:xfrm>
            <a:off x="8355285" y="4868466"/>
            <a:ext cx="476501"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6B6760"/>
                </a:solidFill>
                <a:latin typeface="Liberation Sans Narrow" pitchFamily="34" charset="0"/>
                <a:ea typeface="Liberation Sans Narrow" pitchFamily="34" charset="-122"/>
                <a:cs typeface="Liberation Sans Narrow" pitchFamily="34" charset="-120"/>
              </a:rPr>
              <a:t>08 / 12</a:t>
            </a:r>
            <a:endParaRPr lang="en-US" sz="800" dirty="0"/>
          </a:p>
        </p:txBody>
      </p:sp>
      <p:sp>
        <p:nvSpPr>
          <p:cNvPr id="9" name="Text 6"/>
          <p:cNvSpPr/>
          <p:nvPr/>
        </p:nvSpPr>
        <p:spPr>
          <a:xfrm>
            <a:off x="457200" y="500063"/>
            <a:ext cx="4400550" cy="203597"/>
          </a:xfrm>
          <a:prstGeom prst="roundRect">
            <a:avLst>
              <a:gd name="adj" fmla="val 9357"/>
            </a:avLst>
          </a:prstGeom>
          <a:solidFill>
            <a:srgbClr val="D4633F">
              <a:alpha val="8000"/>
            </a:srgbClr>
          </a:solidFill>
          <a:ln/>
        </p:spPr>
        <p:txBody>
          <a:bodyPr wrap="square" rtlCol="0" anchor="ctr"/>
          <a:lstStyle/>
          <a:p>
            <a:pPr indent="0" marL="0">
              <a:buNone/>
            </a:pPr>
            <a:endParaRPr lang="en-US" dirty="0"/>
          </a:p>
        </p:txBody>
      </p:sp>
      <p:sp>
        <p:nvSpPr>
          <p:cNvPr id="10" name="Text 7"/>
          <p:cNvSpPr/>
          <p:nvPr/>
        </p:nvSpPr>
        <p:spPr>
          <a:xfrm>
            <a:off x="707231" y="550069"/>
            <a:ext cx="1746535" cy="139654"/>
          </a:xfrm>
          <a:prstGeom prst="rect">
            <a:avLst/>
          </a:prstGeom>
          <a:noFill/>
          <a:ln/>
        </p:spPr>
        <p:txBody>
          <a:bodyPr wrap="square" lIns="71438" tIns="42863" rIns="85725" bIns="42863" rtlCol="0" anchor="t"/>
          <a:lstStyle/>
          <a:p>
            <a:pPr algn="l" indent="0" marL="0">
              <a:lnSpc>
                <a:spcPts val="928"/>
              </a:lnSpc>
              <a:buNone/>
            </a:pPr>
            <a:r>
              <a:rPr lang="en-US" sz="619" b="1" spc="87" kern="0" dirty="0">
                <a:solidFill>
                  <a:srgbClr val="D4633F"/>
                </a:solidFill>
                <a:latin typeface="Carlito" pitchFamily="34" charset="0"/>
                <a:ea typeface="Carlito" pitchFamily="34" charset="-122"/>
                <a:cs typeface="Carlito" pitchFamily="34" charset="-120"/>
              </a:rPr>
              <a:t>PROBLEM · HEAT MAPS YOU INTERPRET</a:t>
            </a:r>
            <a:endParaRPr lang="en-US" sz="619" dirty="0"/>
          </a:p>
        </p:txBody>
      </p:sp>
      <p:sp>
        <p:nvSpPr>
          <p:cNvPr id="11" name="Text 8"/>
          <p:cNvSpPr/>
          <p:nvPr/>
        </p:nvSpPr>
        <p:spPr>
          <a:xfrm>
            <a:off x="550069" y="551855"/>
            <a:ext cx="100013" cy="100013"/>
          </a:xfrm>
          <a:prstGeom prst="rect">
            <a:avLst/>
          </a:prstGeom>
          <a:noFill/>
          <a:ln/>
        </p:spPr>
        <p:txBody>
          <a:bodyPr wrap="none" lIns="0" tIns="0" rIns="0" bIns="0" rtlCol="0" anchor="ctr"/>
          <a:lstStyle/>
          <a:p>
            <a:pPr algn="ctr" indent="0" marL="0">
              <a:buNone/>
            </a:pPr>
            <a:r>
              <a:rPr lang="en-US" sz="984" dirty="0">
                <a:solidFill>
                  <a:srgbClr val="D4633F"/>
                </a:solidFill>
                <a:latin typeface="Segoe UI Symbol" pitchFamily="34" charset="0"/>
                <a:ea typeface="Segoe UI Symbol" pitchFamily="34" charset="-122"/>
                <a:cs typeface="Segoe UI Symbol" pitchFamily="34" charset="-120"/>
              </a:rPr>
              <a:t>▦</a:t>
            </a:r>
            <a:endParaRPr lang="en-US" sz="984" dirty="0"/>
          </a:p>
        </p:txBody>
      </p:sp>
      <p:sp>
        <p:nvSpPr>
          <p:cNvPr id="12" name="Text 9"/>
          <p:cNvSpPr/>
          <p:nvPr/>
        </p:nvSpPr>
        <p:spPr>
          <a:xfrm>
            <a:off x="457200" y="803672"/>
            <a:ext cx="4286250" cy="388656"/>
          </a:xfrm>
          <a:prstGeom prst="rect">
            <a:avLst/>
          </a:prstGeom>
          <a:noFill/>
          <a:ln/>
        </p:spPr>
        <p:txBody>
          <a:bodyPr wrap="square" lIns="0" tIns="0" rIns="0" bIns="0" rtlCol="0" anchor="t"/>
          <a:lstStyle/>
          <a:p>
            <a:pPr algn="l" indent="0" marL="0">
              <a:lnSpc>
                <a:spcPts val="1418"/>
              </a:lnSpc>
              <a:buNone/>
            </a:pPr>
            <a:r>
              <a:rPr lang="en-US" sz="1013" dirty="0">
                <a:solidFill>
                  <a:srgbClr val="E8E6E1"/>
                </a:solidFill>
                <a:latin typeface="Carlito" pitchFamily="34" charset="0"/>
                <a:ea typeface="Carlito" pitchFamily="34" charset="-122"/>
                <a:cs typeface="Carlito" pitchFamily="34" charset="-120"/>
              </a:rPr>
              <a:t>A heat map is a colour you interpret. A target is a judgement one geologist made on several screens. Neither survives a peer review.</a:t>
            </a:r>
            <a:endParaRPr lang="en-US" sz="1013" dirty="0"/>
          </a:p>
        </p:txBody>
      </p:sp>
      <p:sp>
        <p:nvSpPr>
          <p:cNvPr id="13" name="Text 10"/>
          <p:cNvSpPr/>
          <p:nvPr/>
        </p:nvSpPr>
        <p:spPr>
          <a:xfrm>
            <a:off x="362216" y="1292126"/>
            <a:ext cx="1243493" cy="629516"/>
          </a:xfrm>
          <a:prstGeom prst="rect">
            <a:avLst/>
          </a:prstGeom>
          <a:noFill/>
          <a:ln/>
        </p:spPr>
        <p:txBody>
          <a:bodyPr wrap="none" lIns="0" tIns="0" rIns="0" bIns="0" rtlCol="0" anchor="t"/>
          <a:lstStyle/>
          <a:p>
            <a:pPr algn="l" indent="0" marL="0">
              <a:lnSpc>
                <a:spcPts val="4590"/>
              </a:lnSpc>
              <a:buNone/>
            </a:pPr>
            <a:r>
              <a:rPr lang="en-US" sz="5400" spc="-108" kern="0" dirty="0">
                <a:solidFill>
                  <a:srgbClr val="D4A437"/>
                </a:solidFill>
                <a:latin typeface="Liberation Sans Narrow" pitchFamily="34" charset="0"/>
                <a:ea typeface="Liberation Sans Narrow" pitchFamily="34" charset="-122"/>
                <a:cs typeface="Liberation Sans Narrow" pitchFamily="34" charset="-120"/>
              </a:rPr>
              <a:t>04</a:t>
            </a:r>
            <a:endParaRPr lang="en-US" sz="5400" dirty="0"/>
          </a:p>
        </p:txBody>
      </p:sp>
      <p:sp>
        <p:nvSpPr>
          <p:cNvPr id="14" name="Text 11"/>
          <p:cNvSpPr/>
          <p:nvPr/>
        </p:nvSpPr>
        <p:spPr>
          <a:xfrm>
            <a:off x="1229953" y="1596405"/>
            <a:ext cx="3627797" cy="300895"/>
          </a:xfrm>
          <a:prstGeom prst="rect">
            <a:avLst/>
          </a:prstGeom>
          <a:noFill/>
          <a:ln/>
        </p:spPr>
        <p:txBody>
          <a:bodyPr wrap="none" lIns="0" tIns="0" rIns="0" bIns="42863" rtlCol="0" anchor="t"/>
          <a:lstStyle/>
          <a:p>
            <a:pPr algn="l" indent="0" marL="0">
              <a:lnSpc>
                <a:spcPts val="1856"/>
              </a:lnSpc>
              <a:buNone/>
            </a:pPr>
            <a:r>
              <a:rPr lang="en-US" sz="1688" b="1" dirty="0">
                <a:solidFill>
                  <a:srgbClr val="E8E6E1"/>
                </a:solidFill>
                <a:latin typeface="Carlito" pitchFamily="34" charset="0"/>
                <a:ea typeface="Carlito" pitchFamily="34" charset="-122"/>
                <a:cs typeface="Carlito" pitchFamily="34" charset="-120"/>
              </a:rPr>
              <a:t>Ranked drill targets — the core</a:t>
            </a:r>
            <a:endParaRPr lang="en-US" sz="1688" dirty="0"/>
          </a:p>
        </p:txBody>
      </p:sp>
      <p:sp>
        <p:nvSpPr>
          <p:cNvPr id="15" name="Text 12"/>
          <p:cNvSpPr/>
          <p:nvPr/>
        </p:nvSpPr>
        <p:spPr>
          <a:xfrm>
            <a:off x="457200" y="1960736"/>
            <a:ext cx="4286250" cy="329184"/>
          </a:xfrm>
          <a:prstGeom prst="rect">
            <a:avLst/>
          </a:prstGeom>
          <a:noFill/>
          <a:ln/>
        </p:spPr>
        <p:txBody>
          <a:bodyPr wrap="square" lIns="0" tIns="0" rIns="0" bIns="0" rtlCol="0" anchor="t"/>
          <a:lstStyle/>
          <a:p>
            <a:pPr algn="l" indent="0" marL="0">
              <a:lnSpc>
                <a:spcPts val="1181"/>
              </a:lnSpc>
              <a:buNone/>
            </a:pPr>
            <a:r>
              <a:rPr lang="en-US" sz="800" dirty="0">
                <a:solidFill>
                  <a:srgbClr val="A8A39C"/>
                </a:solidFill>
                <a:latin typeface="Carlito" pitchFamily="34" charset="0"/>
                <a:ea typeface="Carlito" pitchFamily="34" charset="-122"/>
                <a:cs typeface="Carlito" pitchFamily="34" charset="-120"/>
              </a:rPr>
              <a:t>Group 4 of 7 · 7 features. An expert-weighted deposit model over an assembled evidence grid, and an answer that shows its reasoning.</a:t>
            </a:r>
            <a:endParaRPr lang="en-US" sz="800" dirty="0"/>
          </a:p>
        </p:txBody>
      </p:sp>
      <p:sp>
        <p:nvSpPr>
          <p:cNvPr id="16" name="Text 13"/>
          <p:cNvSpPr/>
          <p:nvPr/>
        </p:nvSpPr>
        <p:spPr>
          <a:xfrm>
            <a:off x="457200" y="2403649"/>
            <a:ext cx="42863" cy="42863"/>
          </a:xfrm>
          <a:prstGeom prst="roundRect">
            <a:avLst>
              <a:gd name="adj" fmla="val 22222"/>
            </a:avLst>
          </a:prstGeom>
          <a:solidFill>
            <a:srgbClr val="D4A437"/>
          </a:solidFill>
          <a:ln/>
        </p:spPr>
        <p:txBody>
          <a:bodyPr wrap="square" rtlCol="0" anchor="ctr"/>
          <a:lstStyle/>
          <a:p>
            <a:pPr indent="0" marL="0">
              <a:buNone/>
            </a:pPr>
            <a:endParaRPr lang="en-US" dirty="0"/>
          </a:p>
        </p:txBody>
      </p:sp>
      <p:sp>
        <p:nvSpPr>
          <p:cNvPr id="17" name="Text 14"/>
          <p:cNvSpPr/>
          <p:nvPr/>
        </p:nvSpPr>
        <p:spPr>
          <a:xfrm>
            <a:off x="508920" y="2375074"/>
            <a:ext cx="700973" cy="119685"/>
          </a:xfrm>
          <a:prstGeom prst="rect">
            <a:avLst/>
          </a:prstGeom>
          <a:noFill/>
          <a:ln/>
        </p:spPr>
        <p:txBody>
          <a:bodyPr wrap="none" lIns="0" tIns="0" rIns="0" bIns="0" rtlCol="0" anchor="t">
            <a:normAutofit/>
          </a:bodyPr>
          <a:lstStyle/>
          <a:p>
            <a:pPr algn="l" indent="0" marL="0">
              <a:lnSpc>
                <a:spcPts val="987"/>
              </a:lnSpc>
              <a:buNone/>
            </a:pPr>
            <a:r>
              <a:rPr lang="en-US" sz="731" dirty="0">
                <a:solidFill>
                  <a:srgbClr val="E8E6E1"/>
                </a:solidFill>
                <a:latin typeface="Carlito" pitchFamily="34" charset="0"/>
                <a:ea typeface="Carlito" pitchFamily="34" charset="-122"/>
                <a:cs typeface="Carlito" pitchFamily="34" charset="-120"/>
              </a:rPr>
              <a:t>Run analysis</a:t>
            </a:r>
            <a:endParaRPr lang="en-US" sz="731" dirty="0"/>
          </a:p>
        </p:txBody>
      </p:sp>
      <p:sp>
        <p:nvSpPr>
          <p:cNvPr id="18" name="Text 15"/>
          <p:cNvSpPr/>
          <p:nvPr/>
        </p:nvSpPr>
        <p:spPr>
          <a:xfrm>
            <a:off x="557213" y="2522190"/>
            <a:ext cx="1911694" cy="148019"/>
          </a:xfrm>
          <a:prstGeom prst="rect">
            <a:avLst/>
          </a:prstGeom>
          <a:noFill/>
          <a:ln/>
        </p:spPr>
        <p:txBody>
          <a:bodyPr wrap="square" lIns="0" tIns="0" rIns="0" bIns="0" rtlCol="0" anchor="t"/>
          <a:lstStyle/>
          <a:p>
            <a:pPr algn="l" indent="0" marL="0">
              <a:lnSpc>
                <a:spcPts val="911"/>
              </a:lnSpc>
              <a:buNone/>
            </a:pPr>
            <a:r>
              <a:rPr lang="en-US" sz="675" dirty="0">
                <a:solidFill>
                  <a:srgbClr val="A8A39C"/>
                </a:solidFill>
                <a:latin typeface="Carlito" pitchFamily="34" charset="0"/>
                <a:ea typeface="Carlito" pitchFamily="34" charset="-122"/>
                <a:cs typeface="Carlito" pitchFamily="34" charset="-120"/>
              </a:rPr>
              <a:t>One action over all evidence, progress reported</a:t>
            </a:r>
            <a:endParaRPr lang="en-US" sz="675" dirty="0"/>
          </a:p>
        </p:txBody>
      </p:sp>
      <p:sp>
        <p:nvSpPr>
          <p:cNvPr id="19" name="Text 16"/>
          <p:cNvSpPr/>
          <p:nvPr/>
        </p:nvSpPr>
        <p:spPr>
          <a:xfrm>
            <a:off x="2736056" y="2403649"/>
            <a:ext cx="42863" cy="42863"/>
          </a:xfrm>
          <a:prstGeom prst="roundRect">
            <a:avLst>
              <a:gd name="adj" fmla="val 22222"/>
            </a:avLst>
          </a:prstGeom>
          <a:solidFill>
            <a:srgbClr val="D4A437"/>
          </a:solidFill>
          <a:ln/>
        </p:spPr>
        <p:txBody>
          <a:bodyPr wrap="square" rtlCol="0" anchor="ctr"/>
          <a:lstStyle/>
          <a:p>
            <a:pPr indent="0" marL="0">
              <a:buNone/>
            </a:pPr>
            <a:endParaRPr lang="en-US" dirty="0"/>
          </a:p>
        </p:txBody>
      </p:sp>
      <p:sp>
        <p:nvSpPr>
          <p:cNvPr id="20" name="Text 17"/>
          <p:cNvSpPr/>
          <p:nvPr/>
        </p:nvSpPr>
        <p:spPr>
          <a:xfrm>
            <a:off x="2771189" y="2375074"/>
            <a:ext cx="757958" cy="119685"/>
          </a:xfrm>
          <a:prstGeom prst="rect">
            <a:avLst/>
          </a:prstGeom>
          <a:noFill/>
          <a:ln/>
        </p:spPr>
        <p:txBody>
          <a:bodyPr wrap="none" lIns="0" tIns="0" rIns="0" bIns="0" rtlCol="0" anchor="t">
            <a:normAutofit/>
          </a:bodyPr>
          <a:lstStyle/>
          <a:p>
            <a:pPr algn="l" indent="0" marL="0">
              <a:lnSpc>
                <a:spcPts val="987"/>
              </a:lnSpc>
              <a:buNone/>
            </a:pPr>
            <a:r>
              <a:rPr lang="en-US" sz="731" dirty="0">
                <a:solidFill>
                  <a:srgbClr val="E8E6E1"/>
                </a:solidFill>
                <a:latin typeface="Carlito" pitchFamily="34" charset="0"/>
                <a:ea typeface="Carlito" pitchFamily="34" charset="-122"/>
                <a:cs typeface="Carlito" pitchFamily="34" charset="-120"/>
              </a:rPr>
              <a:t>Evidence grid</a:t>
            </a:r>
            <a:endParaRPr lang="en-US" sz="731" dirty="0"/>
          </a:p>
        </p:txBody>
      </p:sp>
      <p:sp>
        <p:nvSpPr>
          <p:cNvPr id="21" name="Text 18"/>
          <p:cNvSpPr/>
          <p:nvPr/>
        </p:nvSpPr>
        <p:spPr>
          <a:xfrm>
            <a:off x="2836069" y="2522190"/>
            <a:ext cx="2021681" cy="296037"/>
          </a:xfrm>
          <a:prstGeom prst="rect">
            <a:avLst/>
          </a:prstGeom>
          <a:noFill/>
          <a:ln/>
        </p:spPr>
        <p:txBody>
          <a:bodyPr wrap="square" lIns="0" tIns="0" rIns="0" bIns="0" rtlCol="0" anchor="t"/>
          <a:lstStyle/>
          <a:p>
            <a:pPr algn="l" indent="0" marL="0">
              <a:lnSpc>
                <a:spcPts val="911"/>
              </a:lnSpc>
              <a:buNone/>
            </a:pPr>
            <a:r>
              <a:rPr lang="en-US" sz="800" dirty="0">
                <a:solidFill>
                  <a:srgbClr val="A8A39C"/>
                </a:solidFill>
                <a:latin typeface="Carlito" pitchFamily="34" charset="0"/>
                <a:ea typeface="Carlito" pitchFamily="34" charset="-122"/>
                <a:cs typeface="Carlito" pitchFamily="34" charset="-120"/>
              </a:rPr>
              <a:t>Mag, alteration, geochem, lithology, slope, roads, deposits, protected areas</a:t>
            </a:r>
            <a:endParaRPr lang="en-US" sz="800" dirty="0"/>
          </a:p>
        </p:txBody>
      </p:sp>
      <p:sp>
        <p:nvSpPr>
          <p:cNvPr id="22" name="Text 19"/>
          <p:cNvSpPr/>
          <p:nvPr/>
        </p:nvSpPr>
        <p:spPr>
          <a:xfrm>
            <a:off x="457200" y="2867769"/>
            <a:ext cx="42863" cy="42863"/>
          </a:xfrm>
          <a:prstGeom prst="roundRect">
            <a:avLst>
              <a:gd name="adj" fmla="val 22222"/>
            </a:avLst>
          </a:prstGeom>
          <a:solidFill>
            <a:srgbClr val="D4A437"/>
          </a:solidFill>
          <a:ln/>
        </p:spPr>
        <p:txBody>
          <a:bodyPr wrap="square" rtlCol="0" anchor="ctr"/>
          <a:lstStyle/>
          <a:p>
            <a:pPr indent="0" marL="0">
              <a:buNone/>
            </a:pPr>
            <a:endParaRPr lang="en-US" dirty="0"/>
          </a:p>
        </p:txBody>
      </p:sp>
      <p:sp>
        <p:nvSpPr>
          <p:cNvPr id="23" name="Text 20"/>
          <p:cNvSpPr/>
          <p:nvPr/>
        </p:nvSpPr>
        <p:spPr>
          <a:xfrm>
            <a:off x="557213" y="2839194"/>
            <a:ext cx="969506" cy="119685"/>
          </a:xfrm>
          <a:prstGeom prst="rect">
            <a:avLst/>
          </a:prstGeom>
          <a:noFill/>
          <a:ln/>
        </p:spPr>
        <p:txBody>
          <a:bodyPr wrap="square" lIns="0" tIns="0" rIns="0" bIns="0" rtlCol="0" anchor="t">
            <a:normAutofit/>
          </a:bodyPr>
          <a:lstStyle/>
          <a:p>
            <a:pPr algn="l" indent="0" marL="0">
              <a:lnSpc>
                <a:spcPts val="987"/>
              </a:lnSpc>
              <a:buNone/>
            </a:pPr>
            <a:r>
              <a:rPr lang="en-US" sz="731" dirty="0">
                <a:solidFill>
                  <a:srgbClr val="E8E6E1"/>
                </a:solidFill>
                <a:latin typeface="Carlito" pitchFamily="34" charset="0"/>
                <a:ea typeface="Carlito" pitchFamily="34" charset="-122"/>
                <a:cs typeface="Carlito" pitchFamily="34" charset="-120"/>
              </a:rPr>
              <a:t>Prospectivity scoring</a:t>
            </a:r>
            <a:endParaRPr lang="en-US" sz="731" dirty="0"/>
          </a:p>
        </p:txBody>
      </p:sp>
      <p:sp>
        <p:nvSpPr>
          <p:cNvPr id="24" name="Text 21"/>
          <p:cNvSpPr/>
          <p:nvPr/>
        </p:nvSpPr>
        <p:spPr>
          <a:xfrm>
            <a:off x="557213" y="2986311"/>
            <a:ext cx="2021681" cy="296037"/>
          </a:xfrm>
          <a:prstGeom prst="rect">
            <a:avLst/>
          </a:prstGeom>
          <a:noFill/>
          <a:ln/>
        </p:spPr>
        <p:txBody>
          <a:bodyPr wrap="square" lIns="0" tIns="0" rIns="0" bIns="0" rtlCol="0" anchor="t"/>
          <a:lstStyle/>
          <a:p>
            <a:pPr algn="l" indent="0" marL="0">
              <a:lnSpc>
                <a:spcPts val="911"/>
              </a:lnSpc>
              <a:buNone/>
            </a:pPr>
            <a:r>
              <a:rPr lang="en-US" sz="800" dirty="0">
                <a:solidFill>
                  <a:srgbClr val="A8A39C"/>
                </a:solidFill>
                <a:latin typeface="Carlito" pitchFamily="34" charset="0"/>
                <a:ea typeface="Carlito" pitchFamily="34" charset="-122"/>
                <a:cs typeface="Carlito" pitchFamily="34" charset="-120"/>
              </a:rPr>
              <a:t>Orogenic-gold model, published weights, 0–100 per cell</a:t>
            </a:r>
            <a:endParaRPr lang="en-US" sz="800" dirty="0"/>
          </a:p>
        </p:txBody>
      </p:sp>
      <p:sp>
        <p:nvSpPr>
          <p:cNvPr id="25" name="Text 22"/>
          <p:cNvSpPr/>
          <p:nvPr/>
        </p:nvSpPr>
        <p:spPr>
          <a:xfrm>
            <a:off x="2736056" y="2867769"/>
            <a:ext cx="42863" cy="42863"/>
          </a:xfrm>
          <a:prstGeom prst="roundRect">
            <a:avLst>
              <a:gd name="adj" fmla="val 22222"/>
            </a:avLst>
          </a:prstGeom>
          <a:solidFill>
            <a:srgbClr val="D4A437"/>
          </a:solidFill>
          <a:ln/>
        </p:spPr>
        <p:txBody>
          <a:bodyPr wrap="square" rtlCol="0" anchor="ctr"/>
          <a:lstStyle/>
          <a:p>
            <a:pPr indent="0" marL="0">
              <a:buNone/>
            </a:pPr>
            <a:endParaRPr lang="en-US" dirty="0"/>
          </a:p>
        </p:txBody>
      </p:sp>
      <p:sp>
        <p:nvSpPr>
          <p:cNvPr id="26" name="Text 23"/>
          <p:cNvSpPr/>
          <p:nvPr/>
        </p:nvSpPr>
        <p:spPr>
          <a:xfrm>
            <a:off x="2836069" y="2839194"/>
            <a:ext cx="980364" cy="119685"/>
          </a:xfrm>
          <a:prstGeom prst="rect">
            <a:avLst/>
          </a:prstGeom>
          <a:noFill/>
          <a:ln/>
        </p:spPr>
        <p:txBody>
          <a:bodyPr wrap="square" lIns="0" tIns="0" rIns="0" bIns="0" rtlCol="0" anchor="t">
            <a:normAutofit/>
          </a:bodyPr>
          <a:lstStyle/>
          <a:p>
            <a:pPr algn="l" indent="0" marL="0">
              <a:lnSpc>
                <a:spcPts val="987"/>
              </a:lnSpc>
              <a:buNone/>
            </a:pPr>
            <a:r>
              <a:rPr lang="en-US" sz="731" dirty="0">
                <a:solidFill>
                  <a:srgbClr val="E8E6E1"/>
                </a:solidFill>
                <a:latin typeface="Carlito" pitchFamily="34" charset="0"/>
                <a:ea typeface="Carlito" pitchFamily="34" charset="-122"/>
                <a:cs typeface="Carlito" pitchFamily="34" charset="-120"/>
              </a:rPr>
              <a:t>Prospectivity surface</a:t>
            </a:r>
            <a:endParaRPr lang="en-US" sz="731" dirty="0"/>
          </a:p>
        </p:txBody>
      </p:sp>
      <p:sp>
        <p:nvSpPr>
          <p:cNvPr id="27" name="Text 24"/>
          <p:cNvSpPr/>
          <p:nvPr/>
        </p:nvSpPr>
        <p:spPr>
          <a:xfrm>
            <a:off x="2836069" y="2986311"/>
            <a:ext cx="1101734" cy="148019"/>
          </a:xfrm>
          <a:prstGeom prst="rect">
            <a:avLst/>
          </a:prstGeom>
          <a:noFill/>
          <a:ln/>
        </p:spPr>
        <p:txBody>
          <a:bodyPr wrap="none" lIns="0" tIns="0" rIns="0" bIns="0" rtlCol="0" anchor="t"/>
          <a:lstStyle/>
          <a:p>
            <a:pPr algn="l" indent="0" marL="0">
              <a:lnSpc>
                <a:spcPts val="911"/>
              </a:lnSpc>
              <a:buNone/>
            </a:pPr>
            <a:r>
              <a:rPr lang="en-US" sz="675" dirty="0">
                <a:solidFill>
                  <a:srgbClr val="A8A39C"/>
                </a:solidFill>
                <a:latin typeface="Carlito" pitchFamily="34" charset="0"/>
                <a:ea typeface="Carlito" pitchFamily="34" charset="-122"/>
                <a:cs typeface="Carlito" pitchFamily="34" charset="-120"/>
              </a:rPr>
              <a:t>Scored grid as a map layer</a:t>
            </a:r>
            <a:endParaRPr lang="en-US" sz="675" dirty="0"/>
          </a:p>
        </p:txBody>
      </p:sp>
      <p:sp>
        <p:nvSpPr>
          <p:cNvPr id="28" name="Text 25"/>
          <p:cNvSpPr/>
          <p:nvPr/>
        </p:nvSpPr>
        <p:spPr>
          <a:xfrm>
            <a:off x="457200" y="3331890"/>
            <a:ext cx="42863" cy="42863"/>
          </a:xfrm>
          <a:prstGeom prst="roundRect">
            <a:avLst>
              <a:gd name="adj" fmla="val 22222"/>
            </a:avLst>
          </a:prstGeom>
          <a:solidFill>
            <a:srgbClr val="D4A437"/>
          </a:solidFill>
          <a:ln/>
        </p:spPr>
        <p:txBody>
          <a:bodyPr wrap="square" rtlCol="0" anchor="ctr"/>
          <a:lstStyle/>
          <a:p>
            <a:pPr indent="0" marL="0">
              <a:buNone/>
            </a:pPr>
            <a:endParaRPr lang="en-US" dirty="0"/>
          </a:p>
        </p:txBody>
      </p:sp>
      <p:sp>
        <p:nvSpPr>
          <p:cNvPr id="29" name="Text 26"/>
          <p:cNvSpPr/>
          <p:nvPr/>
        </p:nvSpPr>
        <p:spPr>
          <a:xfrm>
            <a:off x="557213" y="3303315"/>
            <a:ext cx="925943" cy="119685"/>
          </a:xfrm>
          <a:prstGeom prst="rect">
            <a:avLst/>
          </a:prstGeom>
          <a:noFill/>
          <a:ln/>
        </p:spPr>
        <p:txBody>
          <a:bodyPr wrap="square" lIns="0" tIns="0" rIns="0" bIns="0" rtlCol="0" anchor="t">
            <a:normAutofit/>
          </a:bodyPr>
          <a:lstStyle/>
          <a:p>
            <a:pPr algn="l" indent="0" marL="0">
              <a:lnSpc>
                <a:spcPts val="987"/>
              </a:lnSpc>
              <a:buNone/>
            </a:pPr>
            <a:r>
              <a:rPr lang="en-US" sz="731" dirty="0">
                <a:solidFill>
                  <a:srgbClr val="E8E6E1"/>
                </a:solidFill>
                <a:latin typeface="Carlito" pitchFamily="34" charset="0"/>
                <a:ea typeface="Carlito" pitchFamily="34" charset="-122"/>
                <a:cs typeface="Carlito" pitchFamily="34" charset="-120"/>
              </a:rPr>
              <a:t>Ranked drill targets</a:t>
            </a:r>
            <a:endParaRPr lang="en-US" sz="731" dirty="0"/>
          </a:p>
        </p:txBody>
      </p:sp>
      <p:sp>
        <p:nvSpPr>
          <p:cNvPr id="30" name="Text 27"/>
          <p:cNvSpPr/>
          <p:nvPr/>
        </p:nvSpPr>
        <p:spPr>
          <a:xfrm>
            <a:off x="557213" y="3450431"/>
            <a:ext cx="2021681" cy="296037"/>
          </a:xfrm>
          <a:prstGeom prst="rect">
            <a:avLst/>
          </a:prstGeom>
          <a:noFill/>
          <a:ln/>
        </p:spPr>
        <p:txBody>
          <a:bodyPr wrap="square" lIns="0" tIns="0" rIns="0" bIns="0" rtlCol="0" anchor="t"/>
          <a:lstStyle/>
          <a:p>
            <a:pPr algn="l" indent="0" marL="0">
              <a:lnSpc>
                <a:spcPts val="911"/>
              </a:lnSpc>
              <a:buNone/>
            </a:pPr>
            <a:r>
              <a:rPr lang="en-US" sz="800" dirty="0">
                <a:solidFill>
                  <a:srgbClr val="A8A39C"/>
                </a:solidFill>
                <a:latin typeface="Carlito" pitchFamily="34" charset="0"/>
                <a:ea typeface="Carlito" pitchFamily="34" charset="-122"/>
                <a:cs typeface="Carlito" pitchFamily="34" charset="-120"/>
              </a:rPr>
              <a:t>Clustered, rank, score, coords (both systems), depth-to-source</a:t>
            </a:r>
            <a:endParaRPr lang="en-US" sz="800" dirty="0"/>
          </a:p>
        </p:txBody>
      </p:sp>
      <p:sp>
        <p:nvSpPr>
          <p:cNvPr id="31" name="Text 28"/>
          <p:cNvSpPr/>
          <p:nvPr/>
        </p:nvSpPr>
        <p:spPr>
          <a:xfrm>
            <a:off x="2736056" y="3331890"/>
            <a:ext cx="42863" cy="42863"/>
          </a:xfrm>
          <a:prstGeom prst="roundRect">
            <a:avLst>
              <a:gd name="adj" fmla="val 22222"/>
            </a:avLst>
          </a:prstGeom>
          <a:solidFill>
            <a:srgbClr val="D4A437"/>
          </a:solidFill>
          <a:ln/>
        </p:spPr>
        <p:txBody>
          <a:bodyPr wrap="square" rtlCol="0" anchor="ctr"/>
          <a:lstStyle/>
          <a:p>
            <a:pPr indent="0" marL="0">
              <a:buNone/>
            </a:pPr>
            <a:endParaRPr lang="en-US" dirty="0"/>
          </a:p>
        </p:txBody>
      </p:sp>
      <p:sp>
        <p:nvSpPr>
          <p:cNvPr id="32" name="Text 29"/>
          <p:cNvSpPr/>
          <p:nvPr/>
        </p:nvSpPr>
        <p:spPr>
          <a:xfrm>
            <a:off x="2836069" y="3303315"/>
            <a:ext cx="841172" cy="119685"/>
          </a:xfrm>
          <a:prstGeom prst="rect">
            <a:avLst/>
          </a:prstGeom>
          <a:noFill/>
          <a:ln/>
        </p:spPr>
        <p:txBody>
          <a:bodyPr wrap="none" lIns="0" tIns="0" rIns="0" bIns="0" rtlCol="0" anchor="t">
            <a:normAutofit/>
          </a:bodyPr>
          <a:lstStyle/>
          <a:p>
            <a:pPr algn="l" indent="0" marL="0">
              <a:lnSpc>
                <a:spcPts val="987"/>
              </a:lnSpc>
              <a:buNone/>
            </a:pPr>
            <a:r>
              <a:rPr lang="en-US" sz="731" dirty="0">
                <a:solidFill>
                  <a:srgbClr val="E8E6E1"/>
                </a:solidFill>
                <a:latin typeface="Carlito" pitchFamily="34" charset="0"/>
                <a:ea typeface="Carlito" pitchFamily="34" charset="-122"/>
                <a:cs typeface="Carlito" pitchFamily="34" charset="-120"/>
              </a:rPr>
              <a:t>Provenance panel</a:t>
            </a:r>
            <a:endParaRPr lang="en-US" sz="731" dirty="0"/>
          </a:p>
        </p:txBody>
      </p:sp>
      <p:sp>
        <p:nvSpPr>
          <p:cNvPr id="33" name="Text 30"/>
          <p:cNvSpPr/>
          <p:nvPr/>
        </p:nvSpPr>
        <p:spPr>
          <a:xfrm>
            <a:off x="2836069" y="3450431"/>
            <a:ext cx="2021681" cy="296037"/>
          </a:xfrm>
          <a:prstGeom prst="rect">
            <a:avLst/>
          </a:prstGeom>
          <a:noFill/>
          <a:ln/>
        </p:spPr>
        <p:txBody>
          <a:bodyPr wrap="square" lIns="0" tIns="0" rIns="0" bIns="0" rtlCol="0" anchor="t"/>
          <a:lstStyle/>
          <a:p>
            <a:pPr algn="l" indent="0" marL="0">
              <a:lnSpc>
                <a:spcPts val="911"/>
              </a:lnSpc>
              <a:buNone/>
            </a:pPr>
            <a:r>
              <a:rPr lang="en-US" sz="800" dirty="0">
                <a:solidFill>
                  <a:srgbClr val="A8A39C"/>
                </a:solidFill>
                <a:latin typeface="Carlito" pitchFamily="34" charset="0"/>
                <a:ea typeface="Carlito" pitchFamily="34" charset="-122"/>
                <a:cs typeface="Carlito" pitchFamily="34" charset="-120"/>
              </a:rPr>
              <a:t>Datasets + checksums, processing steps, contributions, model version</a:t>
            </a:r>
            <a:endParaRPr lang="en-US" sz="800" dirty="0"/>
          </a:p>
        </p:txBody>
      </p:sp>
      <p:sp>
        <p:nvSpPr>
          <p:cNvPr id="34" name="Text 31"/>
          <p:cNvSpPr/>
          <p:nvPr/>
        </p:nvSpPr>
        <p:spPr>
          <a:xfrm>
            <a:off x="457200" y="3796010"/>
            <a:ext cx="42863" cy="42863"/>
          </a:xfrm>
          <a:prstGeom prst="roundRect">
            <a:avLst>
              <a:gd name="adj" fmla="val 22222"/>
            </a:avLst>
          </a:prstGeom>
          <a:solidFill>
            <a:srgbClr val="D4A437"/>
          </a:solidFill>
          <a:ln/>
        </p:spPr>
        <p:txBody>
          <a:bodyPr wrap="square" rtlCol="0" anchor="ctr"/>
          <a:lstStyle/>
          <a:p>
            <a:pPr indent="0" marL="0">
              <a:buNone/>
            </a:pPr>
            <a:endParaRPr lang="en-US" dirty="0"/>
          </a:p>
        </p:txBody>
      </p:sp>
      <p:sp>
        <p:nvSpPr>
          <p:cNvPr id="35" name="Text 32"/>
          <p:cNvSpPr/>
          <p:nvPr/>
        </p:nvSpPr>
        <p:spPr>
          <a:xfrm>
            <a:off x="508569" y="3767435"/>
            <a:ext cx="768916" cy="119685"/>
          </a:xfrm>
          <a:prstGeom prst="rect">
            <a:avLst/>
          </a:prstGeom>
          <a:noFill/>
          <a:ln/>
        </p:spPr>
        <p:txBody>
          <a:bodyPr wrap="none" lIns="0" tIns="0" rIns="0" bIns="0" rtlCol="0" anchor="t">
            <a:normAutofit/>
          </a:bodyPr>
          <a:lstStyle/>
          <a:p>
            <a:pPr algn="l" indent="0" marL="0">
              <a:lnSpc>
                <a:spcPts val="987"/>
              </a:lnSpc>
              <a:buNone/>
            </a:pPr>
            <a:r>
              <a:rPr lang="en-US" sz="731" dirty="0">
                <a:solidFill>
                  <a:srgbClr val="E8E6E1"/>
                </a:solidFill>
                <a:latin typeface="Carlito" pitchFamily="34" charset="0"/>
                <a:ea typeface="Carlito" pitchFamily="34" charset="-122"/>
                <a:cs typeface="Carlito" pitchFamily="34" charset="-120"/>
              </a:rPr>
              <a:t>QP annotation</a:t>
            </a:r>
            <a:endParaRPr lang="en-US" sz="731" dirty="0"/>
          </a:p>
        </p:txBody>
      </p:sp>
      <p:sp>
        <p:nvSpPr>
          <p:cNvPr id="36" name="Text 33"/>
          <p:cNvSpPr/>
          <p:nvPr/>
        </p:nvSpPr>
        <p:spPr>
          <a:xfrm>
            <a:off x="557213" y="3914552"/>
            <a:ext cx="2432782" cy="148019"/>
          </a:xfrm>
          <a:prstGeom prst="rect">
            <a:avLst/>
          </a:prstGeom>
          <a:noFill/>
          <a:ln/>
        </p:spPr>
        <p:txBody>
          <a:bodyPr wrap="square" lIns="0" tIns="0" rIns="0" bIns="0" rtlCol="0" anchor="t"/>
          <a:lstStyle/>
          <a:p>
            <a:pPr algn="l" indent="0" marL="0">
              <a:lnSpc>
                <a:spcPts val="911"/>
              </a:lnSpc>
              <a:buNone/>
            </a:pPr>
            <a:r>
              <a:rPr lang="en-US" sz="675" dirty="0">
                <a:solidFill>
                  <a:srgbClr val="A8A39C"/>
                </a:solidFill>
                <a:latin typeface="Carlito" pitchFamily="34" charset="0"/>
                <a:ea typeface="Carlito" pitchFamily="34" charset="-122"/>
                <a:cs typeface="Carlito" pitchFamily="34" charset="-120"/>
              </a:rPr>
              <a:t>Notes, review status, reviewer name + date, persisted to exports</a:t>
            </a:r>
            <a:endParaRPr lang="en-US" sz="675" dirty="0"/>
          </a:p>
        </p:txBody>
      </p:sp>
      <p:sp>
        <p:nvSpPr>
          <p:cNvPr id="37" name="Text 34"/>
          <p:cNvSpPr/>
          <p:nvPr/>
        </p:nvSpPr>
        <p:spPr>
          <a:xfrm>
            <a:off x="5089922" y="503634"/>
            <a:ext cx="3593306" cy="4236244"/>
          </a:xfrm>
          <a:prstGeom prst="roundRect">
            <a:avLst>
              <a:gd name="adj" fmla="val 2121"/>
            </a:avLst>
          </a:prstGeom>
          <a:solidFill>
            <a:srgbClr val="1F262E"/>
          </a:solidFill>
          <a:ln w="7144">
            <a:solidFill>
              <a:srgbClr val="2A323C"/>
            </a:solidFill>
            <a:prstDash val="solid"/>
          </a:ln>
        </p:spPr>
        <p:txBody>
          <a:bodyPr wrap="square" rtlCol="0" anchor="ctr"/>
          <a:lstStyle/>
          <a:p>
            <a:pPr indent="0" marL="0">
              <a:buNone/>
            </a:pPr>
            <a:endParaRPr lang="en-US" dirty="0"/>
          </a:p>
        </p:txBody>
      </p:sp>
      <p:pic>
        <p:nvPicPr>
          <p:cNvPr id="38" name="Image 1" descr="/tmp/h2p-fit-1786580044760-tm3dn4.png">    </p:cNvPr>
          <p:cNvPicPr>
            <a:picLocks noChangeAspect="1"/>
          </p:cNvPicPr>
          <p:nvPr/>
        </p:nvPicPr>
        <p:blipFill>
          <a:blip r:embed="rId2"/>
          <a:stretch>
            <a:fillRect/>
          </a:stretch>
        </p:blipFill>
        <p:spPr>
          <a:xfrm>
            <a:off x="5222081" y="635794"/>
            <a:ext cx="3328988" cy="928688"/>
          </a:xfrm>
          <a:prstGeom prst="rect">
            <a:avLst/>
          </a:prstGeom>
        </p:spPr>
      </p:pic>
      <p:pic>
        <p:nvPicPr>
          <p:cNvPr id="39" name="Image 2" descr="preencoded.png">    </p:cNvPr>
          <p:cNvPicPr>
            <a:picLocks noChangeAspect="1"/>
          </p:cNvPicPr>
          <p:nvPr/>
        </p:nvPicPr>
        <p:blipFill>
          <a:blip r:embed="rId3"/>
          <a:stretch>
            <a:fillRect/>
          </a:stretch>
        </p:blipFill>
        <p:spPr>
          <a:xfrm>
            <a:off x="5222081" y="1135856"/>
            <a:ext cx="3328988" cy="428625"/>
          </a:xfrm>
          <a:prstGeom prst="rect">
            <a:avLst/>
          </a:prstGeom>
        </p:spPr>
      </p:pic>
      <p:sp>
        <p:nvSpPr>
          <p:cNvPr id="40" name="Text 35"/>
          <p:cNvSpPr/>
          <p:nvPr/>
        </p:nvSpPr>
        <p:spPr>
          <a:xfrm>
            <a:off x="5307806" y="1400175"/>
            <a:ext cx="3157538" cy="164306"/>
          </a:xfrm>
          <a:prstGeom prst="rect">
            <a:avLst/>
          </a:prstGeom>
          <a:noFill/>
          <a:ln/>
          <a:effectLst>
            <a:outerShdw sx="100000" sy="100000" kx="0" ky="0" algn="bl" rotWithShape="0" blurRad="19050" dist="9525" dir="5400000">
              <a:srgbClr val="000000">
                <a:alpha val="60000"/>
              </a:srgbClr>
            </a:outerShdw>
          </a:effectLst>
        </p:spPr>
        <p:txBody>
          <a:bodyPr wrap="square" lIns="0" tIns="0" rIns="0" bIns="0" rtlCol="0" anchor="t"/>
          <a:lstStyle/>
          <a:p>
            <a:pPr algn="l" indent="0" marL="0">
              <a:lnSpc>
                <a:spcPts val="844"/>
              </a:lnSpc>
              <a:buNone/>
            </a:pPr>
            <a:r>
              <a:rPr lang="en-US" sz="600" spc="56" kern="0" dirty="0">
                <a:solidFill>
                  <a:srgbClr val="E8E6E1"/>
                </a:solidFill>
                <a:latin typeface="Courier New" pitchFamily="34" charset="0"/>
                <a:ea typeface="Courier New" pitchFamily="34" charset="-122"/>
                <a:cs typeface="Courier New" pitchFamily="34" charset="-120"/>
              </a:rPr>
              <a:t>TARGET T-07 · RANK 1 OF 6 · READY FOR RIG MOBILISATION</a:t>
            </a:r>
            <a:endParaRPr lang="en-US" sz="600" dirty="0"/>
          </a:p>
        </p:txBody>
      </p:sp>
      <p:sp>
        <p:nvSpPr>
          <p:cNvPr id="41" name="Text 36"/>
          <p:cNvSpPr/>
          <p:nvPr/>
        </p:nvSpPr>
        <p:spPr>
          <a:xfrm>
            <a:off x="5222081" y="1650206"/>
            <a:ext cx="3438716" cy="133302"/>
          </a:xfrm>
          <a:prstGeom prst="rect">
            <a:avLst/>
          </a:prstGeom>
          <a:noFill/>
          <a:ln/>
        </p:spPr>
        <p:txBody>
          <a:bodyPr wrap="square" lIns="0" tIns="0" rIns="0" bIns="0" rtlCol="0" anchor="t">
            <a:normAutofit/>
          </a:bodyPr>
          <a:lstStyle/>
          <a:p>
            <a:pPr algn="l" indent="0" marL="0">
              <a:lnSpc>
                <a:spcPts val="928"/>
              </a:lnSpc>
              <a:buNone/>
            </a:pPr>
            <a:r>
              <a:rPr lang="en-US" sz="800" spc="99" kern="0" dirty="0">
                <a:solidFill>
                  <a:srgbClr val="6B6760"/>
                </a:solidFill>
                <a:latin typeface="Courier New" pitchFamily="34" charset="0"/>
                <a:ea typeface="Courier New" pitchFamily="34" charset="-122"/>
                <a:cs typeface="Courier New" pitchFamily="34" charset="-120"/>
              </a:rPr>
              <a:t>TOP-RANKED TARGET — TARKWA-NSUEM</a:t>
            </a:r>
            <a:endParaRPr lang="en-US" sz="800" dirty="0"/>
          </a:p>
        </p:txBody>
      </p:sp>
      <p:sp>
        <p:nvSpPr>
          <p:cNvPr id="42" name="Text 37"/>
          <p:cNvSpPr/>
          <p:nvPr/>
        </p:nvSpPr>
        <p:spPr>
          <a:xfrm>
            <a:off x="5170606" y="1810941"/>
            <a:ext cx="673558" cy="401193"/>
          </a:xfrm>
          <a:prstGeom prst="rect">
            <a:avLst/>
          </a:prstGeom>
          <a:noFill/>
          <a:ln/>
        </p:spPr>
        <p:txBody>
          <a:bodyPr wrap="none" lIns="0" tIns="0" rIns="0" bIns="0" rtlCol="0" anchor="t"/>
          <a:lstStyle/>
          <a:p>
            <a:pPr algn="l" indent="0" marL="0">
              <a:lnSpc>
                <a:spcPts val="2925"/>
              </a:lnSpc>
              <a:buNone/>
            </a:pPr>
            <a:r>
              <a:rPr lang="en-US" sz="2925" spc="-58" kern="0" dirty="0">
                <a:solidFill>
                  <a:srgbClr val="D4A437"/>
                </a:solidFill>
                <a:latin typeface="Liberation Sans Narrow" pitchFamily="34" charset="0"/>
                <a:ea typeface="Liberation Sans Narrow" pitchFamily="34" charset="-122"/>
                <a:cs typeface="Liberation Sans Narrow" pitchFamily="34" charset="-120"/>
              </a:rPr>
              <a:t>84</a:t>
            </a:r>
            <a:endParaRPr lang="en-US" sz="2925" dirty="0"/>
          </a:p>
        </p:txBody>
      </p:sp>
      <p:sp>
        <p:nvSpPr>
          <p:cNvPr id="43" name="Text 38"/>
          <p:cNvSpPr/>
          <p:nvPr/>
        </p:nvSpPr>
        <p:spPr>
          <a:xfrm>
            <a:off x="5664436" y="2018109"/>
            <a:ext cx="2886633" cy="164592"/>
          </a:xfrm>
          <a:prstGeom prst="rect">
            <a:avLst/>
          </a:prstGeom>
          <a:noFill/>
          <a:ln/>
        </p:spPr>
        <p:txBody>
          <a:bodyPr wrap="none" lIns="0" tIns="0" rIns="0" bIns="0" rtlCol="0" anchor="t"/>
          <a:lstStyle/>
          <a:p>
            <a:pPr algn="l" indent="0" marL="0">
              <a:lnSpc>
                <a:spcPts val="1097"/>
              </a:lnSpc>
              <a:buNone/>
            </a:pPr>
            <a:r>
              <a:rPr lang="en-US" sz="800" spc="44" kern="0" dirty="0">
                <a:solidFill>
                  <a:srgbClr val="A8A39C"/>
                </a:solidFill>
                <a:latin typeface="Liberation Sans Narrow" pitchFamily="34" charset="0"/>
                <a:ea typeface="Liberation Sans Narrow" pitchFamily="34" charset="-122"/>
                <a:cs typeface="Liberation Sans Narrow" pitchFamily="34" charset="-120"/>
              </a:rPr>
              <a:t>PROSPECTIVITY SCORE / 100</a:t>
            </a:r>
            <a:endParaRPr lang="en-US" sz="800" dirty="0"/>
          </a:p>
        </p:txBody>
      </p:sp>
      <p:sp>
        <p:nvSpPr>
          <p:cNvPr id="44" name="Text 39"/>
          <p:cNvSpPr/>
          <p:nvPr/>
        </p:nvSpPr>
        <p:spPr>
          <a:xfrm>
            <a:off x="5222081" y="2268141"/>
            <a:ext cx="2571750" cy="104727"/>
          </a:xfrm>
          <a:prstGeom prst="rect">
            <a:avLst/>
          </a:prstGeom>
          <a:noFill/>
          <a:ln/>
        </p:spPr>
        <p:txBody>
          <a:bodyPr wrap="none" lIns="0" tIns="0" rIns="0" bIns="0" rtlCol="0" anchor="t">
            <a:normAutofit/>
          </a:bodyPr>
          <a:lstStyle/>
          <a:p>
            <a:pPr algn="l" indent="0" marL="0">
              <a:lnSpc>
                <a:spcPts val="928"/>
              </a:lnSpc>
              <a:buNone/>
            </a:pPr>
            <a:r>
              <a:rPr lang="en-US" sz="800" spc="87" kern="0" dirty="0">
                <a:solidFill>
                  <a:srgbClr val="6B6760"/>
                </a:solidFill>
                <a:latin typeface="Carlito" pitchFamily="34" charset="0"/>
                <a:ea typeface="Carlito" pitchFamily="34" charset="-122"/>
                <a:cs typeface="Carlito" pitchFamily="34" charset="-120"/>
              </a:rPr>
              <a:t>LAT</a:t>
            </a:r>
            <a:endParaRPr lang="en-US" sz="800" dirty="0"/>
          </a:p>
        </p:txBody>
      </p:sp>
      <p:sp>
        <p:nvSpPr>
          <p:cNvPr id="45" name="Text 40"/>
          <p:cNvSpPr/>
          <p:nvPr/>
        </p:nvSpPr>
        <p:spPr>
          <a:xfrm>
            <a:off x="5222081" y="2400300"/>
            <a:ext cx="2057400" cy="164592"/>
          </a:xfrm>
          <a:prstGeom prst="rect">
            <a:avLst/>
          </a:prstGeom>
          <a:noFill/>
          <a:ln/>
        </p:spPr>
        <p:txBody>
          <a:bodyPr wrap="none" lIns="0" tIns="0" rIns="0" bIns="0" rtlCol="0" anchor="t"/>
          <a:lstStyle/>
          <a:p>
            <a:pPr algn="l" indent="0" marL="0">
              <a:lnSpc>
                <a:spcPts val="1013"/>
              </a:lnSpc>
              <a:buNone/>
            </a:pPr>
            <a:r>
              <a:rPr lang="en-US" sz="800" spc="14" kern="0" dirty="0">
                <a:solidFill>
                  <a:srgbClr val="E8E6E1"/>
                </a:solidFill>
                <a:latin typeface="Liberation Sans Narrow" pitchFamily="34" charset="0"/>
                <a:ea typeface="Liberation Sans Narrow" pitchFamily="34" charset="-122"/>
                <a:cs typeface="Liberation Sans Narrow" pitchFamily="34" charset="-120"/>
              </a:rPr>
              <a:t>5.2841°N</a:t>
            </a:r>
            <a:endParaRPr lang="en-US" sz="800" dirty="0"/>
          </a:p>
        </p:txBody>
      </p:sp>
      <p:sp>
        <p:nvSpPr>
          <p:cNvPr id="46" name="Text 41"/>
          <p:cNvSpPr/>
          <p:nvPr/>
        </p:nvSpPr>
        <p:spPr>
          <a:xfrm>
            <a:off x="6943725" y="2268141"/>
            <a:ext cx="1607344" cy="104727"/>
          </a:xfrm>
          <a:prstGeom prst="rect">
            <a:avLst/>
          </a:prstGeom>
          <a:noFill/>
          <a:ln/>
        </p:spPr>
        <p:txBody>
          <a:bodyPr wrap="none" lIns="0" tIns="0" rIns="0" bIns="0" rtlCol="0" anchor="t">
            <a:normAutofit/>
          </a:bodyPr>
          <a:lstStyle/>
          <a:p>
            <a:pPr algn="l" indent="0" marL="0">
              <a:lnSpc>
                <a:spcPts val="928"/>
              </a:lnSpc>
              <a:buNone/>
            </a:pPr>
            <a:r>
              <a:rPr lang="en-US" sz="800" spc="87" kern="0" dirty="0">
                <a:solidFill>
                  <a:srgbClr val="6B6760"/>
                </a:solidFill>
                <a:latin typeface="Carlito" pitchFamily="34" charset="0"/>
                <a:ea typeface="Carlito" pitchFamily="34" charset="-122"/>
                <a:cs typeface="Carlito" pitchFamily="34" charset="-120"/>
              </a:rPr>
              <a:t>LON</a:t>
            </a:r>
            <a:endParaRPr lang="en-US" sz="800" dirty="0"/>
          </a:p>
        </p:txBody>
      </p:sp>
      <p:sp>
        <p:nvSpPr>
          <p:cNvPr id="47" name="Text 42"/>
          <p:cNvSpPr/>
          <p:nvPr/>
        </p:nvSpPr>
        <p:spPr>
          <a:xfrm>
            <a:off x="6943725" y="2400300"/>
            <a:ext cx="1607344" cy="164592"/>
          </a:xfrm>
          <a:prstGeom prst="rect">
            <a:avLst/>
          </a:prstGeom>
          <a:noFill/>
          <a:ln/>
        </p:spPr>
        <p:txBody>
          <a:bodyPr wrap="none" lIns="0" tIns="0" rIns="0" bIns="0" rtlCol="0" anchor="t"/>
          <a:lstStyle/>
          <a:p>
            <a:pPr algn="l" indent="0" marL="0">
              <a:lnSpc>
                <a:spcPts val="1013"/>
              </a:lnSpc>
              <a:buNone/>
            </a:pPr>
            <a:r>
              <a:rPr lang="en-US" sz="800" spc="14" kern="0" dirty="0">
                <a:solidFill>
                  <a:srgbClr val="E8E6E1"/>
                </a:solidFill>
                <a:latin typeface="Liberation Sans Narrow" pitchFamily="34" charset="0"/>
                <a:ea typeface="Liberation Sans Narrow" pitchFamily="34" charset="-122"/>
                <a:cs typeface="Liberation Sans Narrow" pitchFamily="34" charset="-120"/>
              </a:rPr>
              <a:t>1.9946°W</a:t>
            </a:r>
            <a:endParaRPr lang="en-US" sz="800" dirty="0"/>
          </a:p>
        </p:txBody>
      </p:sp>
      <p:sp>
        <p:nvSpPr>
          <p:cNvPr id="48" name="Text 43"/>
          <p:cNvSpPr/>
          <p:nvPr/>
        </p:nvSpPr>
        <p:spPr>
          <a:xfrm>
            <a:off x="5222081" y="2586038"/>
            <a:ext cx="2231445" cy="104727"/>
          </a:xfrm>
          <a:prstGeom prst="rect">
            <a:avLst/>
          </a:prstGeom>
          <a:noFill/>
          <a:ln/>
        </p:spPr>
        <p:txBody>
          <a:bodyPr wrap="none" lIns="0" tIns="0" rIns="0" bIns="0" rtlCol="0" anchor="t">
            <a:normAutofit/>
          </a:bodyPr>
          <a:lstStyle/>
          <a:p>
            <a:pPr algn="l" indent="0" marL="0">
              <a:lnSpc>
                <a:spcPts val="928"/>
              </a:lnSpc>
              <a:buNone/>
            </a:pPr>
            <a:r>
              <a:rPr lang="en-US" sz="800" spc="87" kern="0" dirty="0">
                <a:solidFill>
                  <a:srgbClr val="6B6760"/>
                </a:solidFill>
                <a:latin typeface="Liberation Sans Narrow" pitchFamily="34" charset="0"/>
                <a:ea typeface="Liberation Sans Narrow" pitchFamily="34" charset="-122"/>
                <a:cs typeface="Liberation Sans Narrow" pitchFamily="34" charset="-120"/>
              </a:rPr>
              <a:t>UTM 30N</a:t>
            </a:r>
            <a:endParaRPr lang="en-US" sz="800" dirty="0"/>
          </a:p>
        </p:txBody>
      </p:sp>
      <p:sp>
        <p:nvSpPr>
          <p:cNvPr id="49" name="Text 44"/>
          <p:cNvSpPr/>
          <p:nvPr/>
        </p:nvSpPr>
        <p:spPr>
          <a:xfrm>
            <a:off x="5222081" y="2718197"/>
            <a:ext cx="1687711" cy="164592"/>
          </a:xfrm>
          <a:prstGeom prst="rect">
            <a:avLst/>
          </a:prstGeom>
          <a:noFill/>
          <a:ln/>
        </p:spPr>
        <p:txBody>
          <a:bodyPr wrap="none" lIns="0" tIns="0" rIns="0" bIns="0" rtlCol="0" anchor="t"/>
          <a:lstStyle/>
          <a:p>
            <a:pPr algn="l" indent="0" marL="0">
              <a:lnSpc>
                <a:spcPts val="1013"/>
              </a:lnSpc>
              <a:buNone/>
            </a:pPr>
            <a:r>
              <a:rPr lang="en-US" sz="800" spc="14" kern="0" dirty="0">
                <a:solidFill>
                  <a:srgbClr val="E8E6E1"/>
                </a:solidFill>
                <a:latin typeface="Liberation Sans Narrow" pitchFamily="34" charset="0"/>
                <a:ea typeface="Liberation Sans Narrow" pitchFamily="34" charset="-122"/>
                <a:cs typeface="Liberation Sans Narrow" pitchFamily="34" charset="-120"/>
              </a:rPr>
              <a:t>677489E / 5837824N</a:t>
            </a:r>
            <a:endParaRPr lang="en-US" sz="800" dirty="0"/>
          </a:p>
        </p:txBody>
      </p:sp>
      <p:sp>
        <p:nvSpPr>
          <p:cNvPr id="50" name="Text 45"/>
          <p:cNvSpPr/>
          <p:nvPr/>
        </p:nvSpPr>
        <p:spPr>
          <a:xfrm>
            <a:off x="6943725" y="2586038"/>
            <a:ext cx="1607344" cy="104727"/>
          </a:xfrm>
          <a:prstGeom prst="rect">
            <a:avLst/>
          </a:prstGeom>
          <a:noFill/>
          <a:ln/>
        </p:spPr>
        <p:txBody>
          <a:bodyPr wrap="none" lIns="0" tIns="0" rIns="0" bIns="0" rtlCol="0" anchor="t">
            <a:normAutofit/>
          </a:bodyPr>
          <a:lstStyle/>
          <a:p>
            <a:pPr algn="l" indent="0" marL="0">
              <a:lnSpc>
                <a:spcPts val="928"/>
              </a:lnSpc>
              <a:buNone/>
            </a:pPr>
            <a:r>
              <a:rPr lang="en-US" sz="800" spc="87" kern="0" dirty="0">
                <a:solidFill>
                  <a:srgbClr val="6B6760"/>
                </a:solidFill>
                <a:latin typeface="Carlito" pitchFamily="34" charset="0"/>
                <a:ea typeface="Carlito" pitchFamily="34" charset="-122"/>
                <a:cs typeface="Carlito" pitchFamily="34" charset="-120"/>
              </a:rPr>
              <a:t>DEPTH-TO-SOURCE</a:t>
            </a:r>
            <a:endParaRPr lang="en-US" sz="800" dirty="0"/>
          </a:p>
        </p:txBody>
      </p:sp>
      <p:sp>
        <p:nvSpPr>
          <p:cNvPr id="51" name="Text 46"/>
          <p:cNvSpPr/>
          <p:nvPr/>
        </p:nvSpPr>
        <p:spPr>
          <a:xfrm>
            <a:off x="6943725" y="2718197"/>
            <a:ext cx="1607344" cy="164592"/>
          </a:xfrm>
          <a:prstGeom prst="rect">
            <a:avLst/>
          </a:prstGeom>
          <a:noFill/>
          <a:ln/>
        </p:spPr>
        <p:txBody>
          <a:bodyPr wrap="none" lIns="0" tIns="0" rIns="0" bIns="0" rtlCol="0" anchor="t"/>
          <a:lstStyle/>
          <a:p>
            <a:pPr algn="l" indent="0" marL="0">
              <a:lnSpc>
                <a:spcPts val="1013"/>
              </a:lnSpc>
              <a:buNone/>
            </a:pPr>
            <a:r>
              <a:rPr lang="en-US" sz="800" spc="14" kern="0" dirty="0">
                <a:solidFill>
                  <a:srgbClr val="E8E6E1"/>
                </a:solidFill>
                <a:latin typeface="Liberation Sans Narrow" pitchFamily="34" charset="0"/>
                <a:ea typeface="Liberation Sans Narrow" pitchFamily="34" charset="-122"/>
                <a:cs typeface="Liberation Sans Narrow" pitchFamily="34" charset="-120"/>
              </a:rPr>
              <a:t>142M</a:t>
            </a:r>
            <a:endParaRPr lang="en-US" sz="800" dirty="0"/>
          </a:p>
        </p:txBody>
      </p:sp>
      <p:sp>
        <p:nvSpPr>
          <p:cNvPr id="52" name="Text 47"/>
          <p:cNvSpPr/>
          <p:nvPr/>
        </p:nvSpPr>
        <p:spPr>
          <a:xfrm>
            <a:off x="5222081" y="2903934"/>
            <a:ext cx="2231445" cy="104727"/>
          </a:xfrm>
          <a:prstGeom prst="rect">
            <a:avLst/>
          </a:prstGeom>
          <a:noFill/>
          <a:ln/>
        </p:spPr>
        <p:txBody>
          <a:bodyPr wrap="none" lIns="0" tIns="0" rIns="0" bIns="0" rtlCol="0" anchor="t">
            <a:normAutofit/>
          </a:bodyPr>
          <a:lstStyle/>
          <a:p>
            <a:pPr algn="l" indent="0" marL="0">
              <a:lnSpc>
                <a:spcPts val="928"/>
              </a:lnSpc>
              <a:buNone/>
            </a:pPr>
            <a:r>
              <a:rPr lang="en-US" sz="800" spc="87" kern="0" dirty="0">
                <a:solidFill>
                  <a:srgbClr val="6B6760"/>
                </a:solidFill>
                <a:latin typeface="Carlito" pitchFamily="34" charset="0"/>
                <a:ea typeface="Carlito" pitchFamily="34" charset="-122"/>
                <a:cs typeface="Carlito" pitchFamily="34" charset="-120"/>
              </a:rPr>
              <a:t>CLUSTER</a:t>
            </a:r>
            <a:endParaRPr lang="en-US" sz="800" dirty="0"/>
          </a:p>
        </p:txBody>
      </p:sp>
      <p:sp>
        <p:nvSpPr>
          <p:cNvPr id="53" name="Text 48"/>
          <p:cNvSpPr/>
          <p:nvPr/>
        </p:nvSpPr>
        <p:spPr>
          <a:xfrm>
            <a:off x="5222081" y="3036094"/>
            <a:ext cx="2057400" cy="164592"/>
          </a:xfrm>
          <a:prstGeom prst="rect">
            <a:avLst/>
          </a:prstGeom>
          <a:noFill/>
          <a:ln/>
        </p:spPr>
        <p:txBody>
          <a:bodyPr wrap="none" lIns="0" tIns="0" rIns="0" bIns="0" rtlCol="0" anchor="t"/>
          <a:lstStyle/>
          <a:p>
            <a:pPr algn="l" indent="0" marL="0">
              <a:lnSpc>
                <a:spcPts val="1013"/>
              </a:lnSpc>
              <a:buNone/>
            </a:pPr>
            <a:r>
              <a:rPr lang="en-US" sz="800" spc="14" kern="0" dirty="0">
                <a:solidFill>
                  <a:srgbClr val="E8E6E1"/>
                </a:solidFill>
                <a:latin typeface="Liberation Sans Narrow" pitchFamily="34" charset="0"/>
                <a:ea typeface="Liberation Sans Narrow" pitchFamily="34" charset="-122"/>
                <a:cs typeface="Liberation Sans Narrow" pitchFamily="34" charset="-120"/>
              </a:rPr>
              <a:t>6 CELLS</a:t>
            </a:r>
            <a:endParaRPr lang="en-US" sz="800" dirty="0"/>
          </a:p>
        </p:txBody>
      </p:sp>
      <p:sp>
        <p:nvSpPr>
          <p:cNvPr id="54" name="Text 49"/>
          <p:cNvSpPr/>
          <p:nvPr/>
        </p:nvSpPr>
        <p:spPr>
          <a:xfrm>
            <a:off x="6943725" y="2903934"/>
            <a:ext cx="1607344" cy="104727"/>
          </a:xfrm>
          <a:prstGeom prst="rect">
            <a:avLst/>
          </a:prstGeom>
          <a:noFill/>
          <a:ln/>
        </p:spPr>
        <p:txBody>
          <a:bodyPr wrap="none" lIns="0" tIns="0" rIns="0" bIns="0" rtlCol="0" anchor="t">
            <a:normAutofit/>
          </a:bodyPr>
          <a:lstStyle/>
          <a:p>
            <a:pPr algn="l" indent="0" marL="0">
              <a:lnSpc>
                <a:spcPts val="928"/>
              </a:lnSpc>
              <a:buNone/>
            </a:pPr>
            <a:r>
              <a:rPr lang="en-US" sz="800" spc="87" kern="0" dirty="0">
                <a:solidFill>
                  <a:srgbClr val="6B6760"/>
                </a:solidFill>
                <a:latin typeface="Carlito" pitchFamily="34" charset="0"/>
                <a:ea typeface="Carlito" pitchFamily="34" charset="-122"/>
                <a:cs typeface="Carlito" pitchFamily="34" charset="-120"/>
              </a:rPr>
              <a:t>MODEL</a:t>
            </a:r>
            <a:endParaRPr lang="en-US" sz="800" dirty="0"/>
          </a:p>
        </p:txBody>
      </p:sp>
      <p:sp>
        <p:nvSpPr>
          <p:cNvPr id="55" name="Text 50"/>
          <p:cNvSpPr/>
          <p:nvPr/>
        </p:nvSpPr>
        <p:spPr>
          <a:xfrm>
            <a:off x="6943725" y="3036094"/>
            <a:ext cx="1607344" cy="164592"/>
          </a:xfrm>
          <a:prstGeom prst="rect">
            <a:avLst/>
          </a:prstGeom>
          <a:noFill/>
          <a:ln/>
        </p:spPr>
        <p:txBody>
          <a:bodyPr wrap="none" lIns="0" tIns="0" rIns="0" bIns="0" rtlCol="0" anchor="t"/>
          <a:lstStyle/>
          <a:p>
            <a:pPr algn="l" indent="0" marL="0">
              <a:lnSpc>
                <a:spcPts val="1013"/>
              </a:lnSpc>
              <a:buNone/>
            </a:pPr>
            <a:r>
              <a:rPr lang="en-US" sz="800" spc="14" kern="0" dirty="0">
                <a:solidFill>
                  <a:srgbClr val="E8E6E1"/>
                </a:solidFill>
                <a:latin typeface="Liberation Sans Narrow" pitchFamily="34" charset="0"/>
                <a:ea typeface="Liberation Sans Narrow" pitchFamily="34" charset="-122"/>
                <a:cs typeface="Liberation Sans Narrow" pitchFamily="34" charset="-120"/>
              </a:rPr>
              <a:t>v2.3</a:t>
            </a:r>
            <a:endParaRPr lang="en-US" sz="800" dirty="0"/>
          </a:p>
        </p:txBody>
      </p:sp>
      <p:sp>
        <p:nvSpPr>
          <p:cNvPr id="56" name="Text 51"/>
          <p:cNvSpPr/>
          <p:nvPr/>
        </p:nvSpPr>
        <p:spPr>
          <a:xfrm>
            <a:off x="5222081" y="3250406"/>
            <a:ext cx="3328988" cy="7144"/>
          </a:xfrm>
          <a:prstGeom prst="rect">
            <a:avLst/>
          </a:prstGeom>
          <a:solidFill>
            <a:srgbClr val="2A323C"/>
          </a:solidFill>
          <a:ln/>
        </p:spPr>
        <p:txBody>
          <a:bodyPr wrap="square" rtlCol="0" anchor="ctr"/>
          <a:lstStyle/>
          <a:p>
            <a:pPr indent="0" marL="0">
              <a:buNone/>
            </a:pPr>
            <a:endParaRPr lang="en-US" dirty="0"/>
          </a:p>
        </p:txBody>
      </p:sp>
      <p:sp>
        <p:nvSpPr>
          <p:cNvPr id="57" name="Text 52"/>
          <p:cNvSpPr/>
          <p:nvPr/>
        </p:nvSpPr>
        <p:spPr>
          <a:xfrm>
            <a:off x="5222081" y="3328988"/>
            <a:ext cx="1088422" cy="164592"/>
          </a:xfrm>
          <a:prstGeom prst="rect">
            <a:avLst/>
          </a:prstGeom>
          <a:noFill/>
          <a:ln/>
        </p:spPr>
        <p:txBody>
          <a:bodyPr wrap="none" lIns="0" tIns="0" rIns="0" bIns="0" rtlCol="0" anchor="t"/>
          <a:lstStyle/>
          <a:p>
            <a:pPr algn="l" indent="0" marL="0">
              <a:lnSpc>
                <a:spcPts val="928"/>
              </a:lnSpc>
              <a:buNone/>
            </a:pPr>
            <a:r>
              <a:rPr lang="en-US" sz="800" dirty="0">
                <a:solidFill>
                  <a:srgbClr val="E8E6E1"/>
                </a:solidFill>
                <a:latin typeface="Carlito" pitchFamily="34" charset="0"/>
                <a:ea typeface="Carlito" pitchFamily="34" charset="-122"/>
                <a:cs typeface="Carlito" pitchFamily="34" charset="-120"/>
              </a:rPr>
              <a:t>Gold geochem</a:t>
            </a:r>
            <a:endParaRPr lang="en-US" sz="800" dirty="0"/>
          </a:p>
        </p:txBody>
      </p:sp>
      <p:sp>
        <p:nvSpPr>
          <p:cNvPr id="58" name="Text 53"/>
          <p:cNvSpPr/>
          <p:nvPr/>
        </p:nvSpPr>
        <p:spPr>
          <a:xfrm>
            <a:off x="6222206" y="3366492"/>
            <a:ext cx="2028825" cy="42863"/>
          </a:xfrm>
          <a:prstGeom prst="roundRect">
            <a:avLst>
              <a:gd name="adj" fmla="val 44444"/>
            </a:avLst>
          </a:prstGeom>
          <a:solidFill>
            <a:srgbClr val="D4A437">
              <a:alpha val="10000"/>
            </a:srgbClr>
          </a:solidFill>
          <a:ln/>
        </p:spPr>
        <p:txBody>
          <a:bodyPr wrap="square" rtlCol="0" anchor="ctr"/>
          <a:lstStyle/>
          <a:p>
            <a:pPr indent="0" marL="0">
              <a:buNone/>
            </a:pPr>
            <a:endParaRPr lang="en-US" dirty="0"/>
          </a:p>
        </p:txBody>
      </p:sp>
      <p:sp>
        <p:nvSpPr>
          <p:cNvPr id="59" name="Text 54"/>
          <p:cNvSpPr/>
          <p:nvPr/>
        </p:nvSpPr>
        <p:spPr>
          <a:xfrm>
            <a:off x="6222206" y="3366492"/>
            <a:ext cx="1886731" cy="42863"/>
          </a:xfrm>
          <a:prstGeom prst="roundRect">
            <a:avLst>
              <a:gd name="adj" fmla="val 44444"/>
            </a:avLst>
          </a:prstGeom>
          <a:solidFill>
            <a:srgbClr val="D4A437"/>
          </a:solidFill>
          <a:ln/>
        </p:spPr>
        <p:txBody>
          <a:bodyPr wrap="square" rtlCol="0" anchor="ctr"/>
          <a:lstStyle/>
          <a:p>
            <a:pPr indent="0" marL="0">
              <a:buNone/>
            </a:pPr>
            <a:endParaRPr lang="en-US" dirty="0"/>
          </a:p>
        </p:txBody>
      </p:sp>
      <p:sp>
        <p:nvSpPr>
          <p:cNvPr id="60" name="Text 55"/>
          <p:cNvSpPr/>
          <p:nvPr/>
        </p:nvSpPr>
        <p:spPr>
          <a:xfrm>
            <a:off x="8185309" y="3328988"/>
            <a:ext cx="365760" cy="164592"/>
          </a:xfrm>
          <a:prstGeom prst="rect">
            <a:avLst/>
          </a:prstGeom>
          <a:noFill/>
          <a:ln/>
        </p:spPr>
        <p:txBody>
          <a:bodyPr wrap="none" lIns="0" tIns="0" rIns="0" bIns="0" rtlCol="0" anchor="t"/>
          <a:lstStyle/>
          <a:p>
            <a:pPr algn="r" indent="0" marL="0">
              <a:lnSpc>
                <a:spcPts val="928"/>
              </a:lnSpc>
              <a:buNone/>
            </a:pPr>
            <a:r>
              <a:rPr lang="en-US" sz="800" dirty="0">
                <a:solidFill>
                  <a:srgbClr val="D4A437"/>
                </a:solidFill>
                <a:latin typeface="Liberation Sans Narrow" pitchFamily="34" charset="0"/>
                <a:ea typeface="Liberation Sans Narrow" pitchFamily="34" charset="-122"/>
                <a:cs typeface="Liberation Sans Narrow" pitchFamily="34" charset="-120"/>
              </a:rPr>
              <a:t>+28</a:t>
            </a:r>
            <a:endParaRPr lang="en-US" sz="800" dirty="0"/>
          </a:p>
        </p:txBody>
      </p:sp>
      <p:sp>
        <p:nvSpPr>
          <p:cNvPr id="61" name="Text 56"/>
          <p:cNvSpPr/>
          <p:nvPr/>
        </p:nvSpPr>
        <p:spPr>
          <a:xfrm>
            <a:off x="5222081" y="3482578"/>
            <a:ext cx="1088422" cy="164592"/>
          </a:xfrm>
          <a:prstGeom prst="rect">
            <a:avLst/>
          </a:prstGeom>
          <a:noFill/>
          <a:ln/>
        </p:spPr>
        <p:txBody>
          <a:bodyPr wrap="none" lIns="0" tIns="0" rIns="0" bIns="0" rtlCol="0" anchor="t"/>
          <a:lstStyle/>
          <a:p>
            <a:pPr algn="l" indent="0" marL="0">
              <a:lnSpc>
                <a:spcPts val="928"/>
              </a:lnSpc>
              <a:buNone/>
            </a:pPr>
            <a:r>
              <a:rPr lang="en-US" sz="800" dirty="0">
                <a:solidFill>
                  <a:srgbClr val="E8E6E1"/>
                </a:solidFill>
                <a:latin typeface="Carlito" pitchFamily="34" charset="0"/>
                <a:ea typeface="Carlito" pitchFamily="34" charset="-122"/>
                <a:cs typeface="Carlito" pitchFamily="34" charset="-120"/>
              </a:rPr>
              <a:t>Magnetic low</a:t>
            </a:r>
            <a:endParaRPr lang="en-US" sz="800" dirty="0"/>
          </a:p>
        </p:txBody>
      </p:sp>
      <p:sp>
        <p:nvSpPr>
          <p:cNvPr id="62" name="Text 57"/>
          <p:cNvSpPr/>
          <p:nvPr/>
        </p:nvSpPr>
        <p:spPr>
          <a:xfrm>
            <a:off x="6222206" y="3520083"/>
            <a:ext cx="2028825" cy="42863"/>
          </a:xfrm>
          <a:prstGeom prst="roundRect">
            <a:avLst>
              <a:gd name="adj" fmla="val 44444"/>
            </a:avLst>
          </a:prstGeom>
          <a:solidFill>
            <a:srgbClr val="D4A437">
              <a:alpha val="10000"/>
            </a:srgbClr>
          </a:solidFill>
          <a:ln/>
        </p:spPr>
        <p:txBody>
          <a:bodyPr wrap="square" rtlCol="0" anchor="ctr"/>
          <a:lstStyle/>
          <a:p>
            <a:pPr indent="0" marL="0">
              <a:buNone/>
            </a:pPr>
            <a:endParaRPr lang="en-US" dirty="0"/>
          </a:p>
        </p:txBody>
      </p:sp>
      <p:sp>
        <p:nvSpPr>
          <p:cNvPr id="63" name="Text 58"/>
          <p:cNvSpPr/>
          <p:nvPr/>
        </p:nvSpPr>
        <p:spPr>
          <a:xfrm>
            <a:off x="6222206" y="3520083"/>
            <a:ext cx="1420155" cy="42863"/>
          </a:xfrm>
          <a:prstGeom prst="roundRect">
            <a:avLst>
              <a:gd name="adj" fmla="val 44444"/>
            </a:avLst>
          </a:prstGeom>
          <a:solidFill>
            <a:srgbClr val="D4A437"/>
          </a:solidFill>
          <a:ln/>
        </p:spPr>
        <p:txBody>
          <a:bodyPr wrap="square" rtlCol="0" anchor="ctr"/>
          <a:lstStyle/>
          <a:p>
            <a:pPr indent="0" marL="0">
              <a:buNone/>
            </a:pPr>
            <a:endParaRPr lang="en-US" dirty="0"/>
          </a:p>
        </p:txBody>
      </p:sp>
      <p:sp>
        <p:nvSpPr>
          <p:cNvPr id="64" name="Text 59"/>
          <p:cNvSpPr/>
          <p:nvPr/>
        </p:nvSpPr>
        <p:spPr>
          <a:xfrm>
            <a:off x="8185309" y="3482578"/>
            <a:ext cx="365760" cy="164592"/>
          </a:xfrm>
          <a:prstGeom prst="rect">
            <a:avLst/>
          </a:prstGeom>
          <a:noFill/>
          <a:ln/>
        </p:spPr>
        <p:txBody>
          <a:bodyPr wrap="none" lIns="0" tIns="0" rIns="0" bIns="0" rtlCol="0" anchor="t"/>
          <a:lstStyle/>
          <a:p>
            <a:pPr algn="r" indent="0" marL="0">
              <a:lnSpc>
                <a:spcPts val="928"/>
              </a:lnSpc>
              <a:buNone/>
            </a:pPr>
            <a:r>
              <a:rPr lang="en-US" sz="800" dirty="0">
                <a:solidFill>
                  <a:srgbClr val="D4A437"/>
                </a:solidFill>
                <a:latin typeface="Liberation Sans Narrow" pitchFamily="34" charset="0"/>
                <a:ea typeface="Liberation Sans Narrow" pitchFamily="34" charset="-122"/>
                <a:cs typeface="Liberation Sans Narrow" pitchFamily="34" charset="-120"/>
              </a:rPr>
              <a:t>+21</a:t>
            </a:r>
            <a:endParaRPr lang="en-US" sz="800" dirty="0"/>
          </a:p>
        </p:txBody>
      </p:sp>
      <p:sp>
        <p:nvSpPr>
          <p:cNvPr id="65" name="Text 60"/>
          <p:cNvSpPr/>
          <p:nvPr/>
        </p:nvSpPr>
        <p:spPr>
          <a:xfrm>
            <a:off x="5222081" y="3636169"/>
            <a:ext cx="1088422" cy="164592"/>
          </a:xfrm>
          <a:prstGeom prst="rect">
            <a:avLst/>
          </a:prstGeom>
          <a:noFill/>
          <a:ln/>
        </p:spPr>
        <p:txBody>
          <a:bodyPr wrap="none" lIns="0" tIns="0" rIns="0" bIns="0" rtlCol="0" anchor="t"/>
          <a:lstStyle/>
          <a:p>
            <a:pPr algn="l" indent="0" marL="0">
              <a:lnSpc>
                <a:spcPts val="928"/>
              </a:lnSpc>
              <a:buNone/>
            </a:pPr>
            <a:r>
              <a:rPr lang="en-US" sz="800" dirty="0">
                <a:solidFill>
                  <a:srgbClr val="E8E6E1"/>
                </a:solidFill>
                <a:latin typeface="Carlito" pitchFamily="34" charset="0"/>
                <a:ea typeface="Carlito" pitchFamily="34" charset="-122"/>
                <a:cs typeface="Carlito" pitchFamily="34" charset="-120"/>
              </a:rPr>
              <a:t>Iron-oxide</a:t>
            </a:r>
            <a:endParaRPr lang="en-US" sz="800" dirty="0"/>
          </a:p>
        </p:txBody>
      </p:sp>
      <p:sp>
        <p:nvSpPr>
          <p:cNvPr id="66" name="Text 61"/>
          <p:cNvSpPr/>
          <p:nvPr/>
        </p:nvSpPr>
        <p:spPr>
          <a:xfrm>
            <a:off x="6222206" y="3673673"/>
            <a:ext cx="2028825" cy="42863"/>
          </a:xfrm>
          <a:prstGeom prst="roundRect">
            <a:avLst>
              <a:gd name="adj" fmla="val 44444"/>
            </a:avLst>
          </a:prstGeom>
          <a:solidFill>
            <a:srgbClr val="D4A437">
              <a:alpha val="10000"/>
            </a:srgbClr>
          </a:solidFill>
          <a:ln/>
        </p:spPr>
        <p:txBody>
          <a:bodyPr wrap="square" rtlCol="0" anchor="ctr"/>
          <a:lstStyle/>
          <a:p>
            <a:pPr indent="0" marL="0">
              <a:buNone/>
            </a:pPr>
            <a:endParaRPr lang="en-US" dirty="0"/>
          </a:p>
        </p:txBody>
      </p:sp>
      <p:sp>
        <p:nvSpPr>
          <p:cNvPr id="67" name="Text 62"/>
          <p:cNvSpPr/>
          <p:nvPr/>
        </p:nvSpPr>
        <p:spPr>
          <a:xfrm>
            <a:off x="6222206" y="3673673"/>
            <a:ext cx="1075246" cy="42863"/>
          </a:xfrm>
          <a:prstGeom prst="roundRect">
            <a:avLst>
              <a:gd name="adj" fmla="val 44444"/>
            </a:avLst>
          </a:prstGeom>
          <a:solidFill>
            <a:srgbClr val="D4A437"/>
          </a:solidFill>
          <a:ln/>
        </p:spPr>
        <p:txBody>
          <a:bodyPr wrap="square" rtlCol="0" anchor="ctr"/>
          <a:lstStyle/>
          <a:p>
            <a:pPr indent="0" marL="0">
              <a:buNone/>
            </a:pPr>
            <a:endParaRPr lang="en-US" dirty="0"/>
          </a:p>
        </p:txBody>
      </p:sp>
      <p:sp>
        <p:nvSpPr>
          <p:cNvPr id="68" name="Text 63"/>
          <p:cNvSpPr/>
          <p:nvPr/>
        </p:nvSpPr>
        <p:spPr>
          <a:xfrm>
            <a:off x="8185309" y="3636169"/>
            <a:ext cx="365760" cy="164592"/>
          </a:xfrm>
          <a:prstGeom prst="rect">
            <a:avLst/>
          </a:prstGeom>
          <a:noFill/>
          <a:ln/>
        </p:spPr>
        <p:txBody>
          <a:bodyPr wrap="none" lIns="0" tIns="0" rIns="0" bIns="0" rtlCol="0" anchor="t"/>
          <a:lstStyle/>
          <a:p>
            <a:pPr algn="r" indent="0" marL="0">
              <a:lnSpc>
                <a:spcPts val="928"/>
              </a:lnSpc>
              <a:buNone/>
            </a:pPr>
            <a:r>
              <a:rPr lang="en-US" sz="800" dirty="0">
                <a:solidFill>
                  <a:srgbClr val="D4A437"/>
                </a:solidFill>
                <a:latin typeface="Liberation Sans Narrow" pitchFamily="34" charset="0"/>
                <a:ea typeface="Liberation Sans Narrow" pitchFamily="34" charset="-122"/>
                <a:cs typeface="Liberation Sans Narrow" pitchFamily="34" charset="-120"/>
              </a:rPr>
              <a:t>+16</a:t>
            </a:r>
            <a:endParaRPr lang="en-US" sz="800" dirty="0"/>
          </a:p>
        </p:txBody>
      </p:sp>
      <p:sp>
        <p:nvSpPr>
          <p:cNvPr id="69" name="Text 64"/>
          <p:cNvSpPr/>
          <p:nvPr/>
        </p:nvSpPr>
        <p:spPr>
          <a:xfrm>
            <a:off x="5222081" y="3789759"/>
            <a:ext cx="1021556" cy="164592"/>
          </a:xfrm>
          <a:prstGeom prst="rect">
            <a:avLst/>
          </a:prstGeom>
          <a:noFill/>
          <a:ln/>
        </p:spPr>
        <p:txBody>
          <a:bodyPr wrap="none" lIns="0" tIns="0" rIns="0" bIns="0" rtlCol="0" anchor="t"/>
          <a:lstStyle/>
          <a:p>
            <a:pPr algn="l" indent="0" marL="0">
              <a:lnSpc>
                <a:spcPts val="928"/>
              </a:lnSpc>
              <a:buNone/>
            </a:pPr>
            <a:r>
              <a:rPr lang="en-US" sz="619" dirty="0">
                <a:solidFill>
                  <a:srgbClr val="E8E6E1"/>
                </a:solidFill>
                <a:latin typeface="Carlito" pitchFamily="34" charset="0"/>
                <a:ea typeface="Carlito" pitchFamily="34" charset="-122"/>
                <a:cs typeface="Carlito" pitchFamily="34" charset="-120"/>
              </a:rPr>
              <a:t>Structural intersection</a:t>
            </a:r>
            <a:endParaRPr lang="en-US" sz="619" dirty="0"/>
          </a:p>
        </p:txBody>
      </p:sp>
      <p:sp>
        <p:nvSpPr>
          <p:cNvPr id="70" name="Text 65"/>
          <p:cNvSpPr/>
          <p:nvPr/>
        </p:nvSpPr>
        <p:spPr>
          <a:xfrm>
            <a:off x="6222206" y="3827264"/>
            <a:ext cx="2028825" cy="42863"/>
          </a:xfrm>
          <a:prstGeom prst="roundRect">
            <a:avLst>
              <a:gd name="adj" fmla="val 44444"/>
            </a:avLst>
          </a:prstGeom>
          <a:solidFill>
            <a:srgbClr val="D4A437">
              <a:alpha val="10000"/>
            </a:srgbClr>
          </a:solidFill>
          <a:ln/>
        </p:spPr>
        <p:txBody>
          <a:bodyPr wrap="square" rtlCol="0" anchor="ctr"/>
          <a:lstStyle/>
          <a:p>
            <a:pPr indent="0" marL="0">
              <a:buNone/>
            </a:pPr>
            <a:endParaRPr lang="en-US" dirty="0"/>
          </a:p>
        </p:txBody>
      </p:sp>
      <p:sp>
        <p:nvSpPr>
          <p:cNvPr id="71" name="Text 66"/>
          <p:cNvSpPr/>
          <p:nvPr/>
        </p:nvSpPr>
        <p:spPr>
          <a:xfrm>
            <a:off x="6222206" y="3827264"/>
            <a:ext cx="811485" cy="42863"/>
          </a:xfrm>
          <a:prstGeom prst="roundRect">
            <a:avLst>
              <a:gd name="adj" fmla="val 44444"/>
            </a:avLst>
          </a:prstGeom>
          <a:solidFill>
            <a:srgbClr val="D4A437"/>
          </a:solidFill>
          <a:ln/>
        </p:spPr>
        <p:txBody>
          <a:bodyPr wrap="square" rtlCol="0" anchor="ctr"/>
          <a:lstStyle/>
          <a:p>
            <a:pPr indent="0" marL="0">
              <a:buNone/>
            </a:pPr>
            <a:endParaRPr lang="en-US" dirty="0"/>
          </a:p>
        </p:txBody>
      </p:sp>
      <p:sp>
        <p:nvSpPr>
          <p:cNvPr id="72" name="Text 67"/>
          <p:cNvSpPr/>
          <p:nvPr/>
        </p:nvSpPr>
        <p:spPr>
          <a:xfrm>
            <a:off x="8185309" y="3789759"/>
            <a:ext cx="365760" cy="164592"/>
          </a:xfrm>
          <a:prstGeom prst="rect">
            <a:avLst/>
          </a:prstGeom>
          <a:noFill/>
          <a:ln/>
        </p:spPr>
        <p:txBody>
          <a:bodyPr wrap="none" lIns="0" tIns="0" rIns="0" bIns="0" rtlCol="0" anchor="t"/>
          <a:lstStyle/>
          <a:p>
            <a:pPr algn="r" indent="0" marL="0">
              <a:lnSpc>
                <a:spcPts val="928"/>
              </a:lnSpc>
              <a:buNone/>
            </a:pPr>
            <a:r>
              <a:rPr lang="en-US" sz="800" dirty="0">
                <a:solidFill>
                  <a:srgbClr val="D4A437"/>
                </a:solidFill>
                <a:latin typeface="Liberation Sans Narrow" pitchFamily="34" charset="0"/>
                <a:ea typeface="Liberation Sans Narrow" pitchFamily="34" charset="-122"/>
                <a:cs typeface="Liberation Sans Narrow" pitchFamily="34" charset="-120"/>
              </a:rPr>
              <a:t>+12</a:t>
            </a:r>
            <a:endParaRPr lang="en-US" sz="800" dirty="0"/>
          </a:p>
        </p:txBody>
      </p:sp>
      <p:sp>
        <p:nvSpPr>
          <p:cNvPr id="73" name="Text 68"/>
          <p:cNvSpPr/>
          <p:nvPr/>
        </p:nvSpPr>
        <p:spPr>
          <a:xfrm>
            <a:off x="5222081" y="4231332"/>
            <a:ext cx="1950244" cy="203597"/>
          </a:xfrm>
          <a:prstGeom prst="roundRect">
            <a:avLst>
              <a:gd name="adj" fmla="val 9357"/>
            </a:avLst>
          </a:prstGeom>
          <a:solidFill>
            <a:srgbClr val="6BAE85">
              <a:alpha val="8000"/>
            </a:srgbClr>
          </a:solidFill>
          <a:ln/>
        </p:spPr>
        <p:txBody>
          <a:bodyPr wrap="square" rtlCol="0" anchor="ctr"/>
          <a:lstStyle/>
          <a:p>
            <a:pPr indent="0" marL="0">
              <a:buNone/>
            </a:pPr>
            <a:endParaRPr lang="en-US" dirty="0"/>
          </a:p>
        </p:txBody>
      </p:sp>
      <p:sp>
        <p:nvSpPr>
          <p:cNvPr id="74" name="Text 69"/>
          <p:cNvSpPr/>
          <p:nvPr/>
        </p:nvSpPr>
        <p:spPr>
          <a:xfrm>
            <a:off x="5472113" y="4281339"/>
            <a:ext cx="3078956" cy="139654"/>
          </a:xfrm>
          <a:prstGeom prst="rect">
            <a:avLst/>
          </a:prstGeom>
          <a:noFill/>
          <a:ln/>
        </p:spPr>
        <p:txBody>
          <a:bodyPr wrap="none" lIns="71438" tIns="42863" rIns="85725" bIns="42863" rtlCol="0" anchor="t"/>
          <a:lstStyle/>
          <a:p>
            <a:pPr algn="l" indent="0" marL="0">
              <a:lnSpc>
                <a:spcPts val="928"/>
              </a:lnSpc>
              <a:buNone/>
            </a:pPr>
            <a:r>
              <a:rPr lang="en-US" sz="800" b="1" spc="87" kern="0" dirty="0">
                <a:solidFill>
                  <a:srgbClr val="6BAE85"/>
                </a:solidFill>
                <a:latin typeface="Carlito" pitchFamily="34" charset="0"/>
                <a:ea typeface="Carlito" pitchFamily="34" charset="-122"/>
                <a:cs typeface="Carlito" pitchFamily="34" charset="-120"/>
              </a:rPr>
              <a:t>IMPACT · A NUMBER, NOT A COLOUR</a:t>
            </a:r>
            <a:endParaRPr lang="en-US" sz="800" dirty="0"/>
          </a:p>
        </p:txBody>
      </p:sp>
      <p:sp>
        <p:nvSpPr>
          <p:cNvPr id="75" name="Text 70"/>
          <p:cNvSpPr/>
          <p:nvPr/>
        </p:nvSpPr>
        <p:spPr>
          <a:xfrm>
            <a:off x="5314950" y="4283125"/>
            <a:ext cx="100013" cy="100013"/>
          </a:xfrm>
          <a:prstGeom prst="rect">
            <a:avLst/>
          </a:prstGeom>
          <a:noFill/>
          <a:ln/>
        </p:spPr>
        <p:txBody>
          <a:bodyPr wrap="none" lIns="0" tIns="0" rIns="0" bIns="0" rtlCol="0" anchor="ctr"/>
          <a:lstStyle/>
          <a:p>
            <a:pPr algn="ctr" indent="0" marL="0">
              <a:buNone/>
            </a:pPr>
            <a:r>
              <a:rPr lang="en-US" sz="984" dirty="0">
                <a:solidFill>
                  <a:srgbClr val="6BAE85"/>
                </a:solidFill>
                <a:latin typeface="Segoe UI Symbol" pitchFamily="34" charset="0"/>
                <a:ea typeface="Segoe UI Symbol" pitchFamily="34" charset="-122"/>
                <a:cs typeface="Segoe UI Symbol" pitchFamily="34" charset="-120"/>
              </a:rPr>
              <a:t>◎</a:t>
            </a:r>
            <a:endParaRPr lang="en-US" sz="984" dirty="0"/>
          </a:p>
        </p:txBody>
      </p:sp>
      <p:sp>
        <p:nvSpPr>
          <p:cNvPr id="76" name="Text 71"/>
          <p:cNvSpPr/>
          <p:nvPr/>
        </p:nvSpPr>
        <p:spPr>
          <a:xfrm>
            <a:off x="5222081" y="4477792"/>
            <a:ext cx="3328988" cy="129927"/>
          </a:xfrm>
          <a:prstGeom prst="rect">
            <a:avLst/>
          </a:prstGeom>
          <a:noFill/>
          <a:ln/>
        </p:spPr>
        <p:txBody>
          <a:bodyPr wrap="square" lIns="0" tIns="0" rIns="0" bIns="0" rtlCol="0" anchor="t"/>
          <a:lstStyle/>
          <a:p>
            <a:pPr algn="l" indent="0" marL="0">
              <a:lnSpc>
                <a:spcPts val="1024"/>
              </a:lnSpc>
              <a:buNone/>
            </a:pPr>
            <a:r>
              <a:rPr lang="en-US" sz="731" dirty="0">
                <a:solidFill>
                  <a:srgbClr val="6BAE85"/>
                </a:solidFill>
                <a:latin typeface="Carlito" pitchFamily="34" charset="0"/>
                <a:ea typeface="Carlito" pitchFamily="34" charset="-122"/>
                <a:cs typeface="Carlito" pitchFamily="34" charset="-120"/>
              </a:rPr>
              <a:t>A geologist can agree or disagree with a specific number rather than with a colour ramp.</a:t>
            </a:r>
            <a:endParaRPr lang="en-US" sz="73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116"/>
        </a:solidFill>
      </p:bgPr>
    </p:bg>
    <p:spTree>
      <p:nvGrpSpPr>
        <p:cNvPr id="1" name=""/>
        <p:cNvGrpSpPr/>
        <p:nvPr/>
      </p:nvGrpSpPr>
      <p:grpSpPr>
        <a:xfrm>
          <a:off x="0" y="0"/>
          <a:ext cx="0" cy="0"/>
          <a:chOff x="0" y="0"/>
          <a:chExt cx="0" cy="0"/>
        </a:xfrm>
      </p:grpSpPr>
      <p:sp>
        <p:nvSpPr>
          <p:cNvPr id="2" name="Text 0"/>
          <p:cNvSpPr/>
          <p:nvPr/>
        </p:nvSpPr>
        <p:spPr>
          <a:xfrm>
            <a:off x="460772" y="403622"/>
            <a:ext cx="8222456" cy="850776"/>
          </a:xfrm>
          <a:prstGeom prst="roundRect">
            <a:avLst>
              <a:gd name="adj" fmla="val 8957"/>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3" name="Text 1"/>
          <p:cNvSpPr/>
          <p:nvPr/>
        </p:nvSpPr>
        <p:spPr>
          <a:xfrm>
            <a:off x="635794" y="521494"/>
            <a:ext cx="2146250" cy="203597"/>
          </a:xfrm>
          <a:prstGeom prst="roundRect">
            <a:avLst>
              <a:gd name="adj" fmla="val 9357"/>
            </a:avLst>
          </a:prstGeom>
          <a:solidFill>
            <a:srgbClr val="D4633F">
              <a:alpha val="8000"/>
            </a:srgbClr>
          </a:solidFill>
          <a:ln/>
        </p:spPr>
        <p:txBody>
          <a:bodyPr wrap="square" rtlCol="0" anchor="ctr"/>
          <a:lstStyle/>
          <a:p>
            <a:pPr indent="0" marL="0">
              <a:buNone/>
            </a:pPr>
            <a:endParaRPr lang="en-US" dirty="0"/>
          </a:p>
        </p:txBody>
      </p:sp>
      <p:sp>
        <p:nvSpPr>
          <p:cNvPr id="4" name="Shape 2"/>
          <p:cNvSpPr/>
          <p:nvPr/>
        </p:nvSpPr>
        <p:spPr>
          <a:xfrm>
            <a:off x="646509" y="521494"/>
            <a:ext cx="0" cy="203597"/>
          </a:xfrm>
          <a:prstGeom prst="line">
            <a:avLst/>
          </a:prstGeom>
          <a:noFill/>
          <a:ln w="21431">
            <a:solidFill>
              <a:srgbClr val="D4633F"/>
            </a:solidFill>
            <a:prstDash val="solid"/>
          </a:ln>
        </p:spPr>
      </p:sp>
      <p:sp>
        <p:nvSpPr>
          <p:cNvPr id="5" name="Text 3"/>
          <p:cNvSpPr/>
          <p:nvPr/>
        </p:nvSpPr>
        <p:spPr>
          <a:xfrm>
            <a:off x="728663" y="564356"/>
            <a:ext cx="2077385" cy="117872"/>
          </a:xfrm>
          <a:prstGeom prst="rect">
            <a:avLst/>
          </a:prstGeom>
          <a:noFill/>
          <a:ln/>
        </p:spPr>
        <p:txBody>
          <a:bodyPr wrap="square" lIns="0" tIns="0" rIns="0" bIns="0" rtlCol="0" anchor="t"/>
          <a:lstStyle/>
          <a:p>
            <a:pPr algn="l" indent="0" marL="0">
              <a:lnSpc>
                <a:spcPts val="928"/>
              </a:lnSpc>
              <a:buNone/>
            </a:pPr>
            <a:r>
              <a:rPr lang="en-US" sz="619" b="1" spc="87" kern="0" dirty="0">
                <a:solidFill>
                  <a:srgbClr val="D4633F"/>
                </a:solidFill>
                <a:latin typeface="Carlito" pitchFamily="34" charset="0"/>
                <a:ea typeface="Carlito" pitchFamily="34" charset="-122"/>
                <a:cs typeface="Carlito" pitchFamily="34" charset="-120"/>
              </a:rPr>
              <a:t>PROBLEM · JUNIORS ASK, SENIORS ANSWER</a:t>
            </a:r>
            <a:endParaRPr lang="en-US" sz="619" dirty="0"/>
          </a:p>
        </p:txBody>
      </p:sp>
      <p:sp>
        <p:nvSpPr>
          <p:cNvPr id="6" name="Text 4"/>
          <p:cNvSpPr/>
          <p:nvPr/>
        </p:nvSpPr>
        <p:spPr>
          <a:xfrm>
            <a:off x="635794" y="796528"/>
            <a:ext cx="7715250" cy="339998"/>
          </a:xfrm>
          <a:prstGeom prst="rect">
            <a:avLst/>
          </a:prstGeom>
          <a:noFill/>
          <a:ln/>
        </p:spPr>
        <p:txBody>
          <a:bodyPr wrap="square" lIns="0" tIns="0" rIns="0" bIns="0" rtlCol="0" anchor="t"/>
          <a:lstStyle/>
          <a:p>
            <a:pPr algn="l" indent="0" marL="0">
              <a:lnSpc>
                <a:spcPts val="1339"/>
              </a:lnSpc>
              <a:buNone/>
            </a:pPr>
            <a:r>
              <a:rPr lang="en-US" sz="956" dirty="0">
                <a:solidFill>
                  <a:srgbClr val="E8E6E1"/>
                </a:solidFill>
                <a:latin typeface="Carlito" pitchFamily="34" charset="0"/>
                <a:ea typeface="Carlito" pitchFamily="34" charset="-122"/>
                <a:cs typeface="Carlito" pitchFamily="34" charset="-120"/>
              </a:rPr>
              <a:t>The junior asks the same question five times. The senior gets pulled out of the field to answer it. And the answer is only as good as the geologist’s memory of last quarter’s data.</a:t>
            </a:r>
            <a:endParaRPr lang="en-US" sz="956" dirty="0"/>
          </a:p>
        </p:txBody>
      </p:sp>
      <p:sp>
        <p:nvSpPr>
          <p:cNvPr id="7" name="Text 5"/>
          <p:cNvSpPr/>
          <p:nvPr/>
        </p:nvSpPr>
        <p:spPr>
          <a:xfrm>
            <a:off x="426421" y="1372270"/>
            <a:ext cx="777183" cy="462915"/>
          </a:xfrm>
          <a:prstGeom prst="rect">
            <a:avLst/>
          </a:prstGeom>
          <a:noFill/>
          <a:ln/>
        </p:spPr>
        <p:txBody>
          <a:bodyPr wrap="none" lIns="0" tIns="0" rIns="0" bIns="0" rtlCol="0" anchor="t"/>
          <a:lstStyle/>
          <a:p>
            <a:pPr algn="l" indent="0" marL="0">
              <a:lnSpc>
                <a:spcPts val="3375"/>
              </a:lnSpc>
              <a:buNone/>
            </a:pPr>
            <a:r>
              <a:rPr lang="en-US" sz="3375" spc="-67" kern="0" dirty="0">
                <a:solidFill>
                  <a:srgbClr val="D4A437"/>
                </a:solidFill>
                <a:latin typeface="Liberation Sans Narrow" pitchFamily="34" charset="0"/>
                <a:ea typeface="Liberation Sans Narrow" pitchFamily="34" charset="-122"/>
                <a:cs typeface="Liberation Sans Narrow" pitchFamily="34" charset="-120"/>
              </a:rPr>
              <a:t>05</a:t>
            </a:r>
            <a:endParaRPr lang="en-US" sz="3375" dirty="0"/>
          </a:p>
        </p:txBody>
      </p:sp>
      <p:sp>
        <p:nvSpPr>
          <p:cNvPr id="8" name="Text 6"/>
          <p:cNvSpPr/>
          <p:nvPr/>
        </p:nvSpPr>
        <p:spPr>
          <a:xfrm>
            <a:off x="1054484" y="1380195"/>
            <a:ext cx="7603741" cy="255416"/>
          </a:xfrm>
          <a:prstGeom prst="rect">
            <a:avLst/>
          </a:prstGeom>
          <a:noFill/>
          <a:ln/>
        </p:spPr>
        <p:txBody>
          <a:bodyPr wrap="square" lIns="0" tIns="0" rIns="0" bIns="0" rtlCol="0" anchor="t">
            <a:normAutofit/>
          </a:bodyPr>
          <a:lstStyle/>
          <a:p>
            <a:pPr algn="l" indent="0" marL="0">
              <a:lnSpc>
                <a:spcPts val="1890"/>
              </a:lnSpc>
              <a:buNone/>
            </a:pPr>
            <a:r>
              <a:rPr lang="en-US" sz="1575" b="1" dirty="0">
                <a:solidFill>
                  <a:srgbClr val="E8E6E1"/>
                </a:solidFill>
                <a:latin typeface="Carlito" pitchFamily="34" charset="0"/>
                <a:ea typeface="Carlito" pitchFamily="34" charset="-122"/>
                <a:cs typeface="Carlito" pitchFamily="34" charset="-120"/>
              </a:rPr>
              <a:t>Exploration Copilot — an assistant that cannot invent a number</a:t>
            </a:r>
            <a:endParaRPr lang="en-US" sz="1575" dirty="0"/>
          </a:p>
        </p:txBody>
      </p:sp>
      <p:sp>
        <p:nvSpPr>
          <p:cNvPr id="9" name="Text 7"/>
          <p:cNvSpPr/>
          <p:nvPr/>
        </p:nvSpPr>
        <p:spPr>
          <a:xfrm>
            <a:off x="1054484" y="1663043"/>
            <a:ext cx="7000875" cy="153514"/>
          </a:xfrm>
          <a:prstGeom prst="rect">
            <a:avLst/>
          </a:prstGeom>
          <a:noFill/>
          <a:ln/>
        </p:spPr>
        <p:txBody>
          <a:bodyPr wrap="square" lIns="0" tIns="0" rIns="0" bIns="0" rtlCol="0" anchor="t"/>
          <a:lstStyle/>
          <a:p>
            <a:pPr algn="l" indent="0" marL="0">
              <a:lnSpc>
                <a:spcPts val="1024"/>
              </a:lnSpc>
              <a:buNone/>
            </a:pPr>
            <a:r>
              <a:rPr lang="en-US" sz="800" dirty="0">
                <a:solidFill>
                  <a:srgbClr val="A8A39C"/>
                </a:solidFill>
                <a:latin typeface="Carlito" pitchFamily="34" charset="0"/>
                <a:ea typeface="Carlito" pitchFamily="34" charset="-122"/>
                <a:cs typeface="Carlito" pitchFamily="34" charset="-120"/>
              </a:rPr>
              <a:t>Group 5 of 7 · v2 · 14 named tools. The assistant can only read your project, through named tools, and has to cite what it used.</a:t>
            </a:r>
            <a:endParaRPr lang="en-US" sz="800" dirty="0"/>
          </a:p>
        </p:txBody>
      </p:sp>
      <p:sp>
        <p:nvSpPr>
          <p:cNvPr id="10" name="Text 8"/>
          <p:cNvSpPr/>
          <p:nvPr/>
        </p:nvSpPr>
        <p:spPr>
          <a:xfrm>
            <a:off x="460772" y="1904479"/>
            <a:ext cx="8222456" cy="2174044"/>
          </a:xfrm>
          <a:prstGeom prst="roundRect">
            <a:avLst>
              <a:gd name="adj" fmla="val 3505"/>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11" name="Text 9"/>
          <p:cNvSpPr/>
          <p:nvPr/>
        </p:nvSpPr>
        <p:spPr>
          <a:xfrm>
            <a:off x="582216" y="2025923"/>
            <a:ext cx="1072567" cy="871314"/>
          </a:xfrm>
          <a:prstGeom prst="roundRect">
            <a:avLst>
              <a:gd name="adj" fmla="val 6559"/>
            </a:avLst>
          </a:prstGeom>
          <a:solidFill>
            <a:srgbClr val="161B22"/>
          </a:solidFill>
          <a:ln w="7144">
            <a:solidFill>
              <a:srgbClr val="2A323C"/>
            </a:solidFill>
            <a:prstDash val="solid"/>
          </a:ln>
        </p:spPr>
        <p:txBody>
          <a:bodyPr wrap="square" rtlCol="0" anchor="ctr"/>
          <a:lstStyle/>
          <a:p>
            <a:pPr indent="0" marL="0">
              <a:buNone/>
            </a:pPr>
            <a:endParaRPr lang="en-US" dirty="0"/>
          </a:p>
        </p:txBody>
      </p:sp>
      <p:sp>
        <p:nvSpPr>
          <p:cNvPr id="12" name="Text 10"/>
          <p:cNvSpPr/>
          <p:nvPr/>
        </p:nvSpPr>
        <p:spPr>
          <a:xfrm>
            <a:off x="678656" y="2115220"/>
            <a:ext cx="157163" cy="157163"/>
          </a:xfrm>
          <a:prstGeom prst="rect">
            <a:avLst/>
          </a:prstGeom>
          <a:noFill/>
          <a:ln/>
        </p:spPr>
        <p:txBody>
          <a:bodyPr wrap="none" lIns="0" tIns="0" rIns="0" bIns="0" rtlCol="0" anchor="ctr"/>
          <a:lstStyle/>
          <a:p>
            <a:pPr algn="ctr" indent="0" marL="0">
              <a:buNone/>
            </a:pPr>
            <a:r>
              <a:rPr lang="en-US" sz="1547" dirty="0">
                <a:solidFill>
                  <a:srgbClr val="D4A437"/>
                </a:solidFill>
                <a:latin typeface="Segoe UI Symbol" pitchFamily="34" charset="0"/>
                <a:ea typeface="Segoe UI Symbol" pitchFamily="34" charset="-122"/>
                <a:cs typeface="Segoe UI Symbol" pitchFamily="34" charset="-120"/>
              </a:rPr>
              <a:t>◌</a:t>
            </a:r>
            <a:endParaRPr lang="en-US" sz="1547" dirty="0"/>
          </a:p>
        </p:txBody>
      </p:sp>
      <p:sp>
        <p:nvSpPr>
          <p:cNvPr id="13" name="Text 11"/>
          <p:cNvSpPr/>
          <p:nvPr/>
        </p:nvSpPr>
        <p:spPr>
          <a:xfrm>
            <a:off x="678656" y="2315245"/>
            <a:ext cx="879686" cy="126828"/>
          </a:xfrm>
          <a:prstGeom prst="rect">
            <a:avLst/>
          </a:prstGeom>
          <a:noFill/>
          <a:ln/>
        </p:spPr>
        <p:txBody>
          <a:bodyPr wrap="none" lIns="0" tIns="0" rIns="0" bIns="0" rtlCol="0" anchor="t">
            <a:normAutofit/>
          </a:bodyPr>
          <a:lstStyle/>
          <a:p>
            <a:pPr algn="l" indent="0" marL="0">
              <a:lnSpc>
                <a:spcPts val="877"/>
              </a:lnSpc>
              <a:buNone/>
            </a:pPr>
            <a:r>
              <a:rPr lang="en-US" sz="800" b="1" dirty="0">
                <a:solidFill>
                  <a:srgbClr val="E8E6E1"/>
                </a:solidFill>
                <a:latin typeface="Carlito" pitchFamily="34" charset="0"/>
                <a:ea typeface="Carlito" pitchFamily="34" charset="-122"/>
                <a:cs typeface="Carlito" pitchFamily="34" charset="-120"/>
              </a:rPr>
              <a:t>Grounded Q&amp;A</a:t>
            </a:r>
            <a:endParaRPr lang="en-US" sz="800" dirty="0"/>
          </a:p>
        </p:txBody>
      </p:sp>
      <p:sp>
        <p:nvSpPr>
          <p:cNvPr id="14" name="Text 12"/>
          <p:cNvSpPr/>
          <p:nvPr/>
        </p:nvSpPr>
        <p:spPr>
          <a:xfrm>
            <a:off x="678656" y="2469505"/>
            <a:ext cx="932467" cy="307051"/>
          </a:xfrm>
          <a:prstGeom prst="rect">
            <a:avLst/>
          </a:prstGeom>
          <a:noFill/>
          <a:ln/>
        </p:spPr>
        <p:txBody>
          <a:bodyPr wrap="square" lIns="0" tIns="0" rIns="0" bIns="0" rtlCol="0" anchor="t"/>
          <a:lstStyle/>
          <a:p>
            <a:pPr algn="l" indent="0" marL="0">
              <a:lnSpc>
                <a:spcPts val="866"/>
              </a:lnSpc>
              <a:buNone/>
            </a:pPr>
            <a:r>
              <a:rPr lang="en-US" sz="800" dirty="0">
                <a:solidFill>
                  <a:srgbClr val="A8A39C"/>
                </a:solidFill>
                <a:latin typeface="Carlito" pitchFamily="34" charset="0"/>
                <a:ea typeface="Carlito" pitchFamily="34" charset="-122"/>
                <a:cs typeface="Carlito" pitchFamily="34" charset="-120"/>
              </a:rPr>
              <a:t>Ask the project; every answer cites its sources.</a:t>
            </a:r>
            <a:endParaRPr lang="en-US" sz="800" dirty="0"/>
          </a:p>
        </p:txBody>
      </p:sp>
      <p:sp>
        <p:nvSpPr>
          <p:cNvPr id="15" name="Text 13"/>
          <p:cNvSpPr/>
          <p:nvPr/>
        </p:nvSpPr>
        <p:spPr>
          <a:xfrm>
            <a:off x="1733364" y="2025923"/>
            <a:ext cx="1072567" cy="871314"/>
          </a:xfrm>
          <a:prstGeom prst="roundRect">
            <a:avLst>
              <a:gd name="adj" fmla="val 6559"/>
            </a:avLst>
          </a:prstGeom>
          <a:solidFill>
            <a:srgbClr val="161B22"/>
          </a:solidFill>
          <a:ln w="7144">
            <a:solidFill>
              <a:srgbClr val="2A323C"/>
            </a:solidFill>
            <a:prstDash val="solid"/>
          </a:ln>
        </p:spPr>
        <p:txBody>
          <a:bodyPr wrap="square" rtlCol="0" anchor="ctr"/>
          <a:lstStyle/>
          <a:p>
            <a:pPr indent="0" marL="0">
              <a:buNone/>
            </a:pPr>
            <a:endParaRPr lang="en-US" dirty="0"/>
          </a:p>
        </p:txBody>
      </p:sp>
      <p:sp>
        <p:nvSpPr>
          <p:cNvPr id="16" name="Text 14"/>
          <p:cNvSpPr/>
          <p:nvPr/>
        </p:nvSpPr>
        <p:spPr>
          <a:xfrm>
            <a:off x="1829805" y="2115220"/>
            <a:ext cx="157163" cy="157163"/>
          </a:xfrm>
          <a:prstGeom prst="rect">
            <a:avLst/>
          </a:prstGeom>
          <a:noFill/>
          <a:ln/>
        </p:spPr>
        <p:txBody>
          <a:bodyPr wrap="none" lIns="0" tIns="0" rIns="0" bIns="0" rtlCol="0" anchor="ctr"/>
          <a:lstStyle/>
          <a:p>
            <a:pPr algn="ctr" indent="0" marL="0">
              <a:buNone/>
            </a:pPr>
            <a:r>
              <a:rPr lang="en-US" sz="1547" dirty="0">
                <a:solidFill>
                  <a:srgbClr val="D4A437"/>
                </a:solidFill>
                <a:latin typeface="Segoe UI Symbol" pitchFamily="34" charset="0"/>
                <a:ea typeface="Segoe UI Symbol" pitchFamily="34" charset="-122"/>
                <a:cs typeface="Segoe UI Symbol" pitchFamily="34" charset="-120"/>
              </a:rPr>
              <a:t>◆</a:t>
            </a:r>
            <a:endParaRPr lang="en-US" sz="1547" dirty="0"/>
          </a:p>
        </p:txBody>
      </p:sp>
      <p:sp>
        <p:nvSpPr>
          <p:cNvPr id="17" name="Text 15"/>
          <p:cNvSpPr/>
          <p:nvPr/>
        </p:nvSpPr>
        <p:spPr>
          <a:xfrm>
            <a:off x="1829805" y="2315245"/>
            <a:ext cx="879686" cy="238226"/>
          </a:xfrm>
          <a:prstGeom prst="rect">
            <a:avLst/>
          </a:prstGeom>
          <a:noFill/>
          <a:ln/>
        </p:spPr>
        <p:txBody>
          <a:bodyPr wrap="square" lIns="0" tIns="0" rIns="0" bIns="0" rtlCol="0" anchor="t">
            <a:normAutofit/>
          </a:bodyPr>
          <a:lstStyle/>
          <a:p>
            <a:pPr algn="l" indent="0" marL="0">
              <a:lnSpc>
                <a:spcPts val="877"/>
              </a:lnSpc>
              <a:buNone/>
            </a:pPr>
            <a:r>
              <a:rPr lang="en-US" sz="800" b="1" dirty="0">
                <a:solidFill>
                  <a:srgbClr val="E8E6E1"/>
                </a:solidFill>
                <a:latin typeface="Carlito" pitchFamily="34" charset="0"/>
                <a:ea typeface="Carlito" pitchFamily="34" charset="-122"/>
                <a:cs typeface="Carlito" pitchFamily="34" charset="-120"/>
              </a:rPr>
              <a:t>Interpretation on request</a:t>
            </a:r>
            <a:endParaRPr lang="en-US" sz="800" dirty="0"/>
          </a:p>
        </p:txBody>
      </p:sp>
      <p:sp>
        <p:nvSpPr>
          <p:cNvPr id="18" name="Text 16"/>
          <p:cNvSpPr/>
          <p:nvPr/>
        </p:nvSpPr>
        <p:spPr>
          <a:xfrm>
            <a:off x="1829805" y="2580903"/>
            <a:ext cx="932467" cy="219894"/>
          </a:xfrm>
          <a:prstGeom prst="rect">
            <a:avLst/>
          </a:prstGeom>
          <a:noFill/>
          <a:ln/>
        </p:spPr>
        <p:txBody>
          <a:bodyPr wrap="square" lIns="0" tIns="0" rIns="0" bIns="0" rtlCol="0" anchor="t"/>
          <a:lstStyle/>
          <a:p>
            <a:pPr algn="l" indent="0" marL="0">
              <a:lnSpc>
                <a:spcPts val="866"/>
              </a:lnSpc>
              <a:buNone/>
            </a:pPr>
            <a:r>
              <a:rPr lang="en-US" sz="800" dirty="0">
                <a:solidFill>
                  <a:srgbClr val="A8A39C"/>
                </a:solidFill>
                <a:latin typeface="Carlito" pitchFamily="34" charset="0"/>
                <a:ea typeface="Carlito" pitchFamily="34" charset="-122"/>
                <a:cs typeface="Carlito" pitchFamily="34" charset="-120"/>
              </a:rPr>
              <a:t>Model offers a reading; flagged as interpretation.</a:t>
            </a:r>
            <a:endParaRPr lang="en-US" sz="800" dirty="0"/>
          </a:p>
        </p:txBody>
      </p:sp>
      <p:sp>
        <p:nvSpPr>
          <p:cNvPr id="19" name="Text 17"/>
          <p:cNvSpPr/>
          <p:nvPr/>
        </p:nvSpPr>
        <p:spPr>
          <a:xfrm>
            <a:off x="2884512" y="2025923"/>
            <a:ext cx="1072567" cy="871314"/>
          </a:xfrm>
          <a:prstGeom prst="roundRect">
            <a:avLst>
              <a:gd name="adj" fmla="val 6559"/>
            </a:avLst>
          </a:prstGeom>
          <a:solidFill>
            <a:srgbClr val="161B22"/>
          </a:solidFill>
          <a:ln w="7144">
            <a:solidFill>
              <a:srgbClr val="2A323C"/>
            </a:solidFill>
            <a:prstDash val="solid"/>
          </a:ln>
        </p:spPr>
        <p:txBody>
          <a:bodyPr wrap="square" rtlCol="0" anchor="ctr"/>
          <a:lstStyle/>
          <a:p>
            <a:pPr indent="0" marL="0">
              <a:buNone/>
            </a:pPr>
            <a:endParaRPr lang="en-US" dirty="0"/>
          </a:p>
        </p:txBody>
      </p:sp>
      <p:sp>
        <p:nvSpPr>
          <p:cNvPr id="20" name="Text 18"/>
          <p:cNvSpPr/>
          <p:nvPr/>
        </p:nvSpPr>
        <p:spPr>
          <a:xfrm>
            <a:off x="2980953" y="2115220"/>
            <a:ext cx="157163" cy="157163"/>
          </a:xfrm>
          <a:prstGeom prst="rect">
            <a:avLst/>
          </a:prstGeom>
          <a:noFill/>
          <a:ln/>
        </p:spPr>
        <p:txBody>
          <a:bodyPr wrap="none" lIns="0" tIns="0" rIns="0" bIns="0" rtlCol="0" anchor="ctr"/>
          <a:lstStyle/>
          <a:p>
            <a:pPr algn="ctr" indent="0" marL="0">
              <a:buNone/>
            </a:pPr>
            <a:r>
              <a:rPr lang="en-US" sz="1547" dirty="0">
                <a:solidFill>
                  <a:srgbClr val="D4A437"/>
                </a:solidFill>
                <a:latin typeface="Segoe UI Symbol" pitchFamily="34" charset="0"/>
                <a:ea typeface="Segoe UI Symbol" pitchFamily="34" charset="-122"/>
                <a:cs typeface="Segoe UI Symbol" pitchFamily="34" charset="-120"/>
              </a:rPr>
              <a:t>▦</a:t>
            </a:r>
            <a:endParaRPr lang="en-US" sz="1547" dirty="0"/>
          </a:p>
        </p:txBody>
      </p:sp>
      <p:sp>
        <p:nvSpPr>
          <p:cNvPr id="21" name="Text 19"/>
          <p:cNvSpPr/>
          <p:nvPr/>
        </p:nvSpPr>
        <p:spPr>
          <a:xfrm>
            <a:off x="2980953" y="2315245"/>
            <a:ext cx="879686" cy="126828"/>
          </a:xfrm>
          <a:prstGeom prst="rect">
            <a:avLst/>
          </a:prstGeom>
          <a:noFill/>
          <a:ln/>
        </p:spPr>
        <p:txBody>
          <a:bodyPr wrap="none" lIns="0" tIns="0" rIns="0" bIns="0" rtlCol="0" anchor="t">
            <a:normAutofit/>
          </a:bodyPr>
          <a:lstStyle/>
          <a:p>
            <a:pPr algn="l" indent="0" marL="0">
              <a:lnSpc>
                <a:spcPts val="877"/>
              </a:lnSpc>
              <a:buNone/>
            </a:pPr>
            <a:r>
              <a:rPr lang="en-US" sz="731" b="1" dirty="0">
                <a:solidFill>
                  <a:srgbClr val="E8E6E1"/>
                </a:solidFill>
                <a:latin typeface="Carlito" pitchFamily="34" charset="0"/>
                <a:ea typeface="Carlito" pitchFamily="34" charset="-122"/>
                <a:cs typeface="Carlito" pitchFamily="34" charset="-120"/>
              </a:rPr>
              <a:t>Charts from live data</a:t>
            </a:r>
            <a:endParaRPr lang="en-US" sz="731" dirty="0"/>
          </a:p>
        </p:txBody>
      </p:sp>
      <p:sp>
        <p:nvSpPr>
          <p:cNvPr id="22" name="Text 20"/>
          <p:cNvSpPr/>
          <p:nvPr/>
        </p:nvSpPr>
        <p:spPr>
          <a:xfrm>
            <a:off x="2980953" y="2469505"/>
            <a:ext cx="932467" cy="331291"/>
          </a:xfrm>
          <a:prstGeom prst="rect">
            <a:avLst/>
          </a:prstGeom>
          <a:noFill/>
          <a:ln/>
        </p:spPr>
        <p:txBody>
          <a:bodyPr wrap="square" lIns="0" tIns="0" rIns="0" bIns="0" rtlCol="0" anchor="t"/>
          <a:lstStyle/>
          <a:p>
            <a:pPr algn="l" indent="0" marL="0">
              <a:lnSpc>
                <a:spcPts val="866"/>
              </a:lnSpc>
              <a:buNone/>
            </a:pPr>
            <a:r>
              <a:rPr lang="en-US" sz="800" dirty="0">
                <a:solidFill>
                  <a:srgbClr val="A8A39C"/>
                </a:solidFill>
                <a:latin typeface="Carlito" pitchFamily="34" charset="0"/>
                <a:ea typeface="Carlito" pitchFamily="34" charset="-122"/>
                <a:cs typeface="Carlito" pitchFamily="34" charset="-120"/>
              </a:rPr>
              <a:t>Server-side figures; model never writes values.</a:t>
            </a:r>
            <a:endParaRPr lang="en-US" sz="800" dirty="0"/>
          </a:p>
        </p:txBody>
      </p:sp>
      <p:sp>
        <p:nvSpPr>
          <p:cNvPr id="23" name="Text 21"/>
          <p:cNvSpPr/>
          <p:nvPr/>
        </p:nvSpPr>
        <p:spPr>
          <a:xfrm>
            <a:off x="4035661" y="2025923"/>
            <a:ext cx="1072567" cy="871314"/>
          </a:xfrm>
          <a:prstGeom prst="roundRect">
            <a:avLst>
              <a:gd name="adj" fmla="val 6559"/>
            </a:avLst>
          </a:prstGeom>
          <a:solidFill>
            <a:srgbClr val="161B22"/>
          </a:solidFill>
          <a:ln w="7144">
            <a:solidFill>
              <a:srgbClr val="2A323C"/>
            </a:solidFill>
            <a:prstDash val="solid"/>
          </a:ln>
        </p:spPr>
        <p:txBody>
          <a:bodyPr wrap="square" rtlCol="0" anchor="ctr"/>
          <a:lstStyle/>
          <a:p>
            <a:pPr indent="0" marL="0">
              <a:buNone/>
            </a:pPr>
            <a:endParaRPr lang="en-US" dirty="0"/>
          </a:p>
        </p:txBody>
      </p:sp>
      <p:sp>
        <p:nvSpPr>
          <p:cNvPr id="24" name="Text 22"/>
          <p:cNvSpPr/>
          <p:nvPr/>
        </p:nvSpPr>
        <p:spPr>
          <a:xfrm>
            <a:off x="4132101" y="2115220"/>
            <a:ext cx="157163" cy="157163"/>
          </a:xfrm>
          <a:prstGeom prst="rect">
            <a:avLst/>
          </a:prstGeom>
          <a:noFill/>
          <a:ln/>
        </p:spPr>
        <p:txBody>
          <a:bodyPr wrap="none" lIns="0" tIns="0" rIns="0" bIns="0" rtlCol="0" anchor="ctr"/>
          <a:lstStyle/>
          <a:p>
            <a:pPr algn="ctr" indent="0" marL="0">
              <a:buNone/>
            </a:pPr>
            <a:r>
              <a:rPr lang="en-US" sz="1547" dirty="0">
                <a:solidFill>
                  <a:srgbClr val="D4A437"/>
                </a:solidFill>
                <a:latin typeface="Segoe UI Symbol" pitchFamily="34" charset="0"/>
                <a:ea typeface="Segoe UI Symbol" pitchFamily="34" charset="-122"/>
                <a:cs typeface="Segoe UI Symbol" pitchFamily="34" charset="-120"/>
              </a:rPr>
              <a:t>▣</a:t>
            </a:r>
            <a:endParaRPr lang="en-US" sz="1547" dirty="0"/>
          </a:p>
        </p:txBody>
      </p:sp>
      <p:sp>
        <p:nvSpPr>
          <p:cNvPr id="25" name="Text 23"/>
          <p:cNvSpPr/>
          <p:nvPr/>
        </p:nvSpPr>
        <p:spPr>
          <a:xfrm>
            <a:off x="4132101" y="2315245"/>
            <a:ext cx="879686" cy="238226"/>
          </a:xfrm>
          <a:prstGeom prst="rect">
            <a:avLst/>
          </a:prstGeom>
          <a:noFill/>
          <a:ln/>
        </p:spPr>
        <p:txBody>
          <a:bodyPr wrap="square" lIns="0" tIns="0" rIns="0" bIns="0" rtlCol="0" anchor="t">
            <a:normAutofit/>
          </a:bodyPr>
          <a:lstStyle/>
          <a:p>
            <a:pPr algn="l" indent="0" marL="0">
              <a:lnSpc>
                <a:spcPts val="877"/>
              </a:lnSpc>
              <a:buNone/>
            </a:pPr>
            <a:r>
              <a:rPr lang="en-US" sz="800" b="1" dirty="0">
                <a:solidFill>
                  <a:srgbClr val="E8E6E1"/>
                </a:solidFill>
                <a:latin typeface="Carlito" pitchFamily="34" charset="0"/>
                <a:ea typeface="Carlito" pitchFamily="34" charset="-122"/>
                <a:cs typeface="Carlito" pitchFamily="34" charset="-120"/>
              </a:rPr>
              <a:t>Map control from chat</a:t>
            </a:r>
            <a:endParaRPr lang="en-US" sz="800" dirty="0"/>
          </a:p>
        </p:txBody>
      </p:sp>
      <p:sp>
        <p:nvSpPr>
          <p:cNvPr id="26" name="Text 24"/>
          <p:cNvSpPr/>
          <p:nvPr/>
        </p:nvSpPr>
        <p:spPr>
          <a:xfrm>
            <a:off x="4132101" y="2580903"/>
            <a:ext cx="932467" cy="219894"/>
          </a:xfrm>
          <a:prstGeom prst="rect">
            <a:avLst/>
          </a:prstGeom>
          <a:noFill/>
          <a:ln/>
        </p:spPr>
        <p:txBody>
          <a:bodyPr wrap="square" lIns="0" tIns="0" rIns="0" bIns="0" rtlCol="0" anchor="t"/>
          <a:lstStyle/>
          <a:p>
            <a:pPr algn="l" indent="0" marL="0">
              <a:lnSpc>
                <a:spcPts val="866"/>
              </a:lnSpc>
              <a:buNone/>
            </a:pPr>
            <a:r>
              <a:rPr lang="en-US" sz="800" dirty="0">
                <a:solidFill>
                  <a:srgbClr val="A8A39C"/>
                </a:solidFill>
                <a:latin typeface="Carlito" pitchFamily="34" charset="0"/>
                <a:ea typeface="Carlito" pitchFamily="34" charset="-122"/>
                <a:cs typeface="Carlito" pitchFamily="34" charset="-120"/>
              </a:rPr>
              <a:t>Pan, zoom, toggle layers in natural language.</a:t>
            </a:r>
            <a:endParaRPr lang="en-US" sz="800" dirty="0"/>
          </a:p>
        </p:txBody>
      </p:sp>
      <p:sp>
        <p:nvSpPr>
          <p:cNvPr id="27" name="Text 25"/>
          <p:cNvSpPr/>
          <p:nvPr/>
        </p:nvSpPr>
        <p:spPr>
          <a:xfrm>
            <a:off x="5186809" y="2025923"/>
            <a:ext cx="1072567" cy="871314"/>
          </a:xfrm>
          <a:prstGeom prst="roundRect">
            <a:avLst>
              <a:gd name="adj" fmla="val 6559"/>
            </a:avLst>
          </a:prstGeom>
          <a:solidFill>
            <a:srgbClr val="161B22"/>
          </a:solidFill>
          <a:ln w="7144">
            <a:solidFill>
              <a:srgbClr val="2A323C"/>
            </a:solidFill>
            <a:prstDash val="solid"/>
          </a:ln>
        </p:spPr>
        <p:txBody>
          <a:bodyPr wrap="square" rtlCol="0" anchor="ctr"/>
          <a:lstStyle/>
          <a:p>
            <a:pPr indent="0" marL="0">
              <a:buNone/>
            </a:pPr>
            <a:endParaRPr lang="en-US" dirty="0"/>
          </a:p>
        </p:txBody>
      </p:sp>
      <p:sp>
        <p:nvSpPr>
          <p:cNvPr id="28" name="Text 26"/>
          <p:cNvSpPr/>
          <p:nvPr/>
        </p:nvSpPr>
        <p:spPr>
          <a:xfrm>
            <a:off x="5283250" y="2115220"/>
            <a:ext cx="157163" cy="157163"/>
          </a:xfrm>
          <a:prstGeom prst="rect">
            <a:avLst/>
          </a:prstGeom>
          <a:noFill/>
          <a:ln/>
        </p:spPr>
        <p:txBody>
          <a:bodyPr wrap="none" lIns="0" tIns="0" rIns="0" bIns="0" rtlCol="0" anchor="ctr"/>
          <a:lstStyle/>
          <a:p>
            <a:pPr algn="ctr" indent="0" marL="0">
              <a:buNone/>
            </a:pPr>
            <a:r>
              <a:rPr lang="en-US" sz="1547" dirty="0">
                <a:solidFill>
                  <a:srgbClr val="D4A437"/>
                </a:solidFill>
                <a:latin typeface="Segoe UI Symbol" pitchFamily="34" charset="0"/>
                <a:ea typeface="Segoe UI Symbol" pitchFamily="34" charset="-122"/>
                <a:cs typeface="Segoe UI Symbol" pitchFamily="34" charset="-120"/>
              </a:rPr>
              <a:t>▤</a:t>
            </a:r>
            <a:endParaRPr lang="en-US" sz="1547" dirty="0"/>
          </a:p>
        </p:txBody>
      </p:sp>
      <p:sp>
        <p:nvSpPr>
          <p:cNvPr id="29" name="Text 27"/>
          <p:cNvSpPr/>
          <p:nvPr/>
        </p:nvSpPr>
        <p:spPr>
          <a:xfrm>
            <a:off x="5283250" y="2315245"/>
            <a:ext cx="879686" cy="126828"/>
          </a:xfrm>
          <a:prstGeom prst="rect">
            <a:avLst/>
          </a:prstGeom>
          <a:noFill/>
          <a:ln/>
        </p:spPr>
        <p:txBody>
          <a:bodyPr wrap="none" lIns="0" tIns="0" rIns="0" bIns="0" rtlCol="0" anchor="t">
            <a:normAutofit/>
          </a:bodyPr>
          <a:lstStyle/>
          <a:p>
            <a:pPr algn="l" indent="0" marL="0">
              <a:lnSpc>
                <a:spcPts val="877"/>
              </a:lnSpc>
              <a:buNone/>
            </a:pPr>
            <a:r>
              <a:rPr lang="en-US" sz="731" b="1" dirty="0">
                <a:solidFill>
                  <a:srgbClr val="E8E6E1"/>
                </a:solidFill>
                <a:latin typeface="Carlito" pitchFamily="34" charset="0"/>
                <a:ea typeface="Carlito" pitchFamily="34" charset="-122"/>
                <a:cs typeface="Carlito" pitchFamily="34" charset="-120"/>
              </a:rPr>
              <a:t>Reads your reports</a:t>
            </a:r>
            <a:endParaRPr lang="en-US" sz="731" dirty="0"/>
          </a:p>
        </p:txBody>
      </p:sp>
      <p:sp>
        <p:nvSpPr>
          <p:cNvPr id="30" name="Text 28"/>
          <p:cNvSpPr/>
          <p:nvPr/>
        </p:nvSpPr>
        <p:spPr>
          <a:xfrm>
            <a:off x="5283250" y="2469505"/>
            <a:ext cx="932467" cy="307051"/>
          </a:xfrm>
          <a:prstGeom prst="rect">
            <a:avLst/>
          </a:prstGeom>
          <a:noFill/>
          <a:ln/>
        </p:spPr>
        <p:txBody>
          <a:bodyPr wrap="square" lIns="0" tIns="0" rIns="0" bIns="0" rtlCol="0" anchor="t"/>
          <a:lstStyle/>
          <a:p>
            <a:pPr algn="l" indent="0" marL="0">
              <a:lnSpc>
                <a:spcPts val="866"/>
              </a:lnSpc>
              <a:buNone/>
            </a:pPr>
            <a:r>
              <a:rPr lang="en-US" sz="800" dirty="0">
                <a:solidFill>
                  <a:srgbClr val="A8A39C"/>
                </a:solidFill>
                <a:latin typeface="Carlito" pitchFamily="34" charset="0"/>
                <a:ea typeface="Carlito" pitchFamily="34" charset="-122"/>
                <a:cs typeface="Carlito" pitchFamily="34" charset="-120"/>
              </a:rPr>
              <a:t>Picks up the documents you have already filed.</a:t>
            </a:r>
            <a:endParaRPr lang="en-US" sz="800" dirty="0"/>
          </a:p>
        </p:txBody>
      </p:sp>
      <p:sp>
        <p:nvSpPr>
          <p:cNvPr id="31" name="Text 29"/>
          <p:cNvSpPr/>
          <p:nvPr/>
        </p:nvSpPr>
        <p:spPr>
          <a:xfrm>
            <a:off x="6337957" y="2025923"/>
            <a:ext cx="1072567" cy="871314"/>
          </a:xfrm>
          <a:prstGeom prst="roundRect">
            <a:avLst>
              <a:gd name="adj" fmla="val 6559"/>
            </a:avLst>
          </a:prstGeom>
          <a:solidFill>
            <a:srgbClr val="161B22"/>
          </a:solidFill>
          <a:ln w="7144">
            <a:solidFill>
              <a:srgbClr val="2A323C"/>
            </a:solidFill>
            <a:prstDash val="solid"/>
          </a:ln>
        </p:spPr>
        <p:txBody>
          <a:bodyPr wrap="square" rtlCol="0" anchor="ctr"/>
          <a:lstStyle/>
          <a:p>
            <a:pPr indent="0" marL="0">
              <a:buNone/>
            </a:pPr>
            <a:endParaRPr lang="en-US" dirty="0"/>
          </a:p>
        </p:txBody>
      </p:sp>
      <p:sp>
        <p:nvSpPr>
          <p:cNvPr id="32" name="Text 30"/>
          <p:cNvSpPr/>
          <p:nvPr/>
        </p:nvSpPr>
        <p:spPr>
          <a:xfrm>
            <a:off x="6434398" y="2115220"/>
            <a:ext cx="157163" cy="157163"/>
          </a:xfrm>
          <a:prstGeom prst="rect">
            <a:avLst/>
          </a:prstGeom>
          <a:noFill/>
          <a:ln/>
        </p:spPr>
        <p:txBody>
          <a:bodyPr wrap="none" lIns="0" tIns="0" rIns="0" bIns="0" rtlCol="0" anchor="ctr"/>
          <a:lstStyle/>
          <a:p>
            <a:pPr algn="ctr" indent="0" marL="0">
              <a:buNone/>
            </a:pPr>
            <a:r>
              <a:rPr lang="en-US" sz="1547" dirty="0">
                <a:solidFill>
                  <a:srgbClr val="D4A437"/>
                </a:solidFill>
                <a:latin typeface="Segoe UI Symbol" pitchFamily="34" charset="0"/>
                <a:ea typeface="Segoe UI Symbol" pitchFamily="34" charset="-122"/>
                <a:cs typeface="Segoe UI Symbol" pitchFamily="34" charset="-120"/>
              </a:rPr>
              <a:t>✓</a:t>
            </a:r>
            <a:endParaRPr lang="en-US" sz="1547" dirty="0"/>
          </a:p>
        </p:txBody>
      </p:sp>
      <p:sp>
        <p:nvSpPr>
          <p:cNvPr id="33" name="Text 31"/>
          <p:cNvSpPr/>
          <p:nvPr/>
        </p:nvSpPr>
        <p:spPr>
          <a:xfrm>
            <a:off x="6434398" y="2315245"/>
            <a:ext cx="879686" cy="238226"/>
          </a:xfrm>
          <a:prstGeom prst="rect">
            <a:avLst/>
          </a:prstGeom>
          <a:noFill/>
          <a:ln/>
        </p:spPr>
        <p:txBody>
          <a:bodyPr wrap="square" lIns="0" tIns="0" rIns="0" bIns="0" rtlCol="0" anchor="t">
            <a:normAutofit/>
          </a:bodyPr>
          <a:lstStyle/>
          <a:p>
            <a:pPr algn="l" indent="0" marL="0">
              <a:lnSpc>
                <a:spcPts val="877"/>
              </a:lnSpc>
              <a:buNone/>
            </a:pPr>
            <a:r>
              <a:rPr lang="en-US" sz="800" b="1" dirty="0">
                <a:solidFill>
                  <a:srgbClr val="E8E6E1"/>
                </a:solidFill>
                <a:latin typeface="Carlito" pitchFamily="34" charset="0"/>
                <a:ea typeface="Carlito" pitchFamily="34" charset="-122"/>
                <a:cs typeface="Carlito" pitchFamily="34" charset="-120"/>
              </a:rPr>
              <a:t>Verified deposit names</a:t>
            </a:r>
            <a:endParaRPr lang="en-US" sz="800" dirty="0"/>
          </a:p>
        </p:txBody>
      </p:sp>
      <p:sp>
        <p:nvSpPr>
          <p:cNvPr id="34" name="Text 32"/>
          <p:cNvSpPr/>
          <p:nvPr/>
        </p:nvSpPr>
        <p:spPr>
          <a:xfrm>
            <a:off x="6434398" y="2580903"/>
            <a:ext cx="932467" cy="219894"/>
          </a:xfrm>
          <a:prstGeom prst="rect">
            <a:avLst/>
          </a:prstGeom>
          <a:noFill/>
          <a:ln/>
        </p:spPr>
        <p:txBody>
          <a:bodyPr wrap="square" lIns="0" tIns="0" rIns="0" bIns="0" rtlCol="0" anchor="t"/>
          <a:lstStyle/>
          <a:p>
            <a:pPr algn="l" indent="0" marL="0">
              <a:lnSpc>
                <a:spcPts val="866"/>
              </a:lnSpc>
              <a:buNone/>
            </a:pPr>
            <a:r>
              <a:rPr lang="en-US" sz="800" dirty="0">
                <a:solidFill>
                  <a:srgbClr val="A8A39C"/>
                </a:solidFill>
                <a:latin typeface="Carlito" pitchFamily="34" charset="0"/>
                <a:ea typeface="Carlito" pitchFamily="34" charset="-122"/>
                <a:cs typeface="Carlito" pitchFamily="34" charset="-120"/>
              </a:rPr>
              <a:t>Checked against the known-deposits register.</a:t>
            </a:r>
            <a:endParaRPr lang="en-US" sz="800" dirty="0"/>
          </a:p>
        </p:txBody>
      </p:sp>
      <p:sp>
        <p:nvSpPr>
          <p:cNvPr id="35" name="Text 33"/>
          <p:cNvSpPr/>
          <p:nvPr/>
        </p:nvSpPr>
        <p:spPr>
          <a:xfrm>
            <a:off x="7489106" y="2025923"/>
            <a:ext cx="1072567" cy="871314"/>
          </a:xfrm>
          <a:prstGeom prst="roundRect">
            <a:avLst>
              <a:gd name="adj" fmla="val 6559"/>
            </a:avLst>
          </a:prstGeom>
          <a:solidFill>
            <a:srgbClr val="161B22"/>
          </a:solidFill>
          <a:ln w="7144">
            <a:solidFill>
              <a:srgbClr val="2A323C"/>
            </a:solidFill>
            <a:prstDash val="solid"/>
          </a:ln>
        </p:spPr>
        <p:txBody>
          <a:bodyPr wrap="square" rtlCol="0" anchor="ctr"/>
          <a:lstStyle/>
          <a:p>
            <a:pPr indent="0" marL="0">
              <a:buNone/>
            </a:pPr>
            <a:endParaRPr lang="en-US" dirty="0"/>
          </a:p>
        </p:txBody>
      </p:sp>
      <p:sp>
        <p:nvSpPr>
          <p:cNvPr id="36" name="Text 34"/>
          <p:cNvSpPr/>
          <p:nvPr/>
        </p:nvSpPr>
        <p:spPr>
          <a:xfrm>
            <a:off x="7585546" y="2115220"/>
            <a:ext cx="157163" cy="157163"/>
          </a:xfrm>
          <a:prstGeom prst="rect">
            <a:avLst/>
          </a:prstGeom>
          <a:noFill/>
          <a:ln/>
        </p:spPr>
        <p:txBody>
          <a:bodyPr wrap="none" lIns="0" tIns="0" rIns="0" bIns="0" rtlCol="0" anchor="ctr"/>
          <a:lstStyle/>
          <a:p>
            <a:pPr algn="ctr" indent="0" marL="0">
              <a:buNone/>
            </a:pPr>
            <a:r>
              <a:rPr lang="en-US" sz="1547" dirty="0">
                <a:solidFill>
                  <a:srgbClr val="D4A437"/>
                </a:solidFill>
                <a:latin typeface="Segoe UI Symbol" pitchFamily="34" charset="0"/>
                <a:ea typeface="Segoe UI Symbol" pitchFamily="34" charset="-122"/>
                <a:cs typeface="Segoe UI Symbol" pitchFamily="34" charset="-120"/>
              </a:rPr>
              <a:t>✦</a:t>
            </a:r>
            <a:endParaRPr lang="en-US" sz="1547" dirty="0"/>
          </a:p>
        </p:txBody>
      </p:sp>
      <p:sp>
        <p:nvSpPr>
          <p:cNvPr id="37" name="Text 35"/>
          <p:cNvSpPr/>
          <p:nvPr/>
        </p:nvSpPr>
        <p:spPr>
          <a:xfrm>
            <a:off x="7585546" y="2315245"/>
            <a:ext cx="879686" cy="126828"/>
          </a:xfrm>
          <a:prstGeom prst="rect">
            <a:avLst/>
          </a:prstGeom>
          <a:noFill/>
          <a:ln/>
        </p:spPr>
        <p:txBody>
          <a:bodyPr wrap="none" lIns="0" tIns="0" rIns="0" bIns="0" rtlCol="0" anchor="t">
            <a:normAutofit/>
          </a:bodyPr>
          <a:lstStyle/>
          <a:p>
            <a:pPr algn="l" indent="0" marL="0">
              <a:lnSpc>
                <a:spcPts val="877"/>
              </a:lnSpc>
              <a:buNone/>
            </a:pPr>
            <a:r>
              <a:rPr lang="en-US" sz="731" b="1" dirty="0">
                <a:solidFill>
                  <a:srgbClr val="E8E6E1"/>
                </a:solidFill>
                <a:latin typeface="Carlito" pitchFamily="34" charset="0"/>
                <a:ea typeface="Carlito" pitchFamily="34" charset="-122"/>
                <a:cs typeface="Carlito" pitchFamily="34" charset="-120"/>
              </a:rPr>
              <a:t>Sessions and history</a:t>
            </a:r>
            <a:endParaRPr lang="en-US" sz="731" dirty="0"/>
          </a:p>
        </p:txBody>
      </p:sp>
      <p:sp>
        <p:nvSpPr>
          <p:cNvPr id="38" name="Text 36"/>
          <p:cNvSpPr/>
          <p:nvPr/>
        </p:nvSpPr>
        <p:spPr>
          <a:xfrm>
            <a:off x="7585546" y="2469505"/>
            <a:ext cx="932467" cy="331291"/>
          </a:xfrm>
          <a:prstGeom prst="rect">
            <a:avLst/>
          </a:prstGeom>
          <a:noFill/>
          <a:ln/>
        </p:spPr>
        <p:txBody>
          <a:bodyPr wrap="square" lIns="0" tIns="0" rIns="0" bIns="0" rtlCol="0" anchor="t"/>
          <a:lstStyle/>
          <a:p>
            <a:pPr algn="l" indent="0" marL="0">
              <a:lnSpc>
                <a:spcPts val="866"/>
              </a:lnSpc>
              <a:buNone/>
            </a:pPr>
            <a:r>
              <a:rPr lang="en-US" sz="800" dirty="0">
                <a:solidFill>
                  <a:srgbClr val="A8A39C"/>
                </a:solidFill>
                <a:latin typeface="Carlito" pitchFamily="34" charset="0"/>
                <a:ea typeface="Carlito" pitchFamily="34" charset="-122"/>
                <a:cs typeface="Carlito" pitchFamily="34" charset="-120"/>
              </a:rPr>
              <a:t>Every exchange preserved and reviewable.</a:t>
            </a:r>
            <a:endParaRPr lang="en-US" sz="800" dirty="0"/>
          </a:p>
        </p:txBody>
      </p:sp>
      <p:sp>
        <p:nvSpPr>
          <p:cNvPr id="39" name="Text 37"/>
          <p:cNvSpPr/>
          <p:nvPr/>
        </p:nvSpPr>
        <p:spPr>
          <a:xfrm>
            <a:off x="582216" y="2975818"/>
            <a:ext cx="1072567" cy="981261"/>
          </a:xfrm>
          <a:prstGeom prst="roundRect">
            <a:avLst>
              <a:gd name="adj" fmla="val 5824"/>
            </a:avLst>
          </a:prstGeom>
          <a:solidFill>
            <a:srgbClr val="161B22"/>
          </a:solidFill>
          <a:ln w="7144">
            <a:solidFill>
              <a:srgbClr val="2A323C"/>
            </a:solidFill>
            <a:prstDash val="solid"/>
          </a:ln>
        </p:spPr>
        <p:txBody>
          <a:bodyPr wrap="square" rtlCol="0" anchor="ctr"/>
          <a:lstStyle/>
          <a:p>
            <a:pPr indent="0" marL="0">
              <a:buNone/>
            </a:pPr>
            <a:endParaRPr lang="en-US" dirty="0"/>
          </a:p>
        </p:txBody>
      </p:sp>
      <p:sp>
        <p:nvSpPr>
          <p:cNvPr id="40" name="Text 38"/>
          <p:cNvSpPr/>
          <p:nvPr/>
        </p:nvSpPr>
        <p:spPr>
          <a:xfrm>
            <a:off x="678656" y="3065115"/>
            <a:ext cx="157163" cy="157163"/>
          </a:xfrm>
          <a:prstGeom prst="rect">
            <a:avLst/>
          </a:prstGeom>
          <a:noFill/>
          <a:ln/>
        </p:spPr>
        <p:txBody>
          <a:bodyPr wrap="none" lIns="0" tIns="0" rIns="0" bIns="0" rtlCol="0" anchor="ctr"/>
          <a:lstStyle/>
          <a:p>
            <a:pPr algn="ctr" indent="0" marL="0">
              <a:buNone/>
            </a:pPr>
            <a:r>
              <a:rPr lang="en-US" sz="1547" dirty="0">
                <a:solidFill>
                  <a:srgbClr val="D4A437"/>
                </a:solidFill>
                <a:latin typeface="Segoe UI Symbol" pitchFamily="34" charset="0"/>
                <a:ea typeface="Segoe UI Symbol" pitchFamily="34" charset="-122"/>
                <a:cs typeface="Segoe UI Symbol" pitchFamily="34" charset="-120"/>
              </a:rPr>
              <a:t>⌕</a:t>
            </a:r>
            <a:endParaRPr lang="en-US" sz="1547" dirty="0"/>
          </a:p>
        </p:txBody>
      </p:sp>
      <p:sp>
        <p:nvSpPr>
          <p:cNvPr id="41" name="Text 39"/>
          <p:cNvSpPr/>
          <p:nvPr/>
        </p:nvSpPr>
        <p:spPr>
          <a:xfrm>
            <a:off x="678656" y="3265140"/>
            <a:ext cx="879686" cy="126828"/>
          </a:xfrm>
          <a:prstGeom prst="rect">
            <a:avLst/>
          </a:prstGeom>
          <a:noFill/>
          <a:ln/>
        </p:spPr>
        <p:txBody>
          <a:bodyPr wrap="none" lIns="0" tIns="0" rIns="0" bIns="0" rtlCol="0" anchor="t">
            <a:normAutofit/>
          </a:bodyPr>
          <a:lstStyle/>
          <a:p>
            <a:pPr algn="l" indent="0" marL="0">
              <a:lnSpc>
                <a:spcPts val="877"/>
              </a:lnSpc>
              <a:buNone/>
            </a:pPr>
            <a:r>
              <a:rPr lang="en-US" sz="731" b="1" dirty="0">
                <a:solidFill>
                  <a:srgbClr val="E8E6E1"/>
                </a:solidFill>
                <a:latin typeface="Carlito" pitchFamily="34" charset="0"/>
                <a:ea typeface="Carlito" pitchFamily="34" charset="-122"/>
                <a:cs typeface="Carlito" pitchFamily="34" charset="-120"/>
              </a:rPr>
              <a:t>Coverage queries</a:t>
            </a:r>
            <a:endParaRPr lang="en-US" sz="731" dirty="0"/>
          </a:p>
        </p:txBody>
      </p:sp>
      <p:sp>
        <p:nvSpPr>
          <p:cNvPr id="42" name="Text 40"/>
          <p:cNvSpPr/>
          <p:nvPr/>
        </p:nvSpPr>
        <p:spPr>
          <a:xfrm>
            <a:off x="678656" y="3419401"/>
            <a:ext cx="932467" cy="307051"/>
          </a:xfrm>
          <a:prstGeom prst="rect">
            <a:avLst/>
          </a:prstGeom>
          <a:noFill/>
          <a:ln/>
        </p:spPr>
        <p:txBody>
          <a:bodyPr wrap="square" lIns="0" tIns="0" rIns="0" bIns="0" rtlCol="0" anchor="t"/>
          <a:lstStyle/>
          <a:p>
            <a:pPr algn="l" indent="0" marL="0">
              <a:lnSpc>
                <a:spcPts val="866"/>
              </a:lnSpc>
              <a:buNone/>
            </a:pPr>
            <a:r>
              <a:rPr lang="en-US" sz="800" dirty="0">
                <a:solidFill>
                  <a:srgbClr val="A8A39C"/>
                </a:solidFill>
                <a:latin typeface="Carlito" pitchFamily="34" charset="0"/>
                <a:ea typeface="Carlito" pitchFamily="34" charset="-122"/>
                <a:cs typeface="Carlito" pitchFamily="34" charset="-120"/>
              </a:rPr>
              <a:t>What data exists — and where it does not.</a:t>
            </a:r>
            <a:endParaRPr lang="en-US" sz="800" dirty="0"/>
          </a:p>
        </p:txBody>
      </p:sp>
      <p:sp>
        <p:nvSpPr>
          <p:cNvPr id="43" name="Text 41"/>
          <p:cNvSpPr/>
          <p:nvPr/>
        </p:nvSpPr>
        <p:spPr>
          <a:xfrm>
            <a:off x="1733364" y="2975818"/>
            <a:ext cx="1072567" cy="981261"/>
          </a:xfrm>
          <a:prstGeom prst="roundRect">
            <a:avLst>
              <a:gd name="adj" fmla="val 5824"/>
            </a:avLst>
          </a:prstGeom>
          <a:solidFill>
            <a:srgbClr val="161B22"/>
          </a:solidFill>
          <a:ln w="7144">
            <a:solidFill>
              <a:srgbClr val="2A323C"/>
            </a:solidFill>
            <a:prstDash val="solid"/>
          </a:ln>
        </p:spPr>
        <p:txBody>
          <a:bodyPr wrap="square" rtlCol="0" anchor="ctr"/>
          <a:lstStyle/>
          <a:p>
            <a:pPr indent="0" marL="0">
              <a:buNone/>
            </a:pPr>
            <a:endParaRPr lang="en-US" dirty="0"/>
          </a:p>
        </p:txBody>
      </p:sp>
      <p:sp>
        <p:nvSpPr>
          <p:cNvPr id="44" name="Text 42"/>
          <p:cNvSpPr/>
          <p:nvPr/>
        </p:nvSpPr>
        <p:spPr>
          <a:xfrm>
            <a:off x="1829805" y="3065115"/>
            <a:ext cx="157163" cy="157163"/>
          </a:xfrm>
          <a:prstGeom prst="rect">
            <a:avLst/>
          </a:prstGeom>
          <a:noFill/>
          <a:ln/>
        </p:spPr>
        <p:txBody>
          <a:bodyPr wrap="none" lIns="0" tIns="0" rIns="0" bIns="0" rtlCol="0" anchor="ctr"/>
          <a:lstStyle/>
          <a:p>
            <a:pPr algn="ctr" indent="0" marL="0">
              <a:buNone/>
            </a:pPr>
            <a:r>
              <a:rPr lang="en-US" sz="1547" dirty="0">
                <a:solidFill>
                  <a:srgbClr val="D4A437"/>
                </a:solidFill>
                <a:latin typeface="Segoe UI Symbol" pitchFamily="34" charset="0"/>
                <a:ea typeface="Segoe UI Symbol" pitchFamily="34" charset="-122"/>
                <a:cs typeface="Segoe UI Symbol" pitchFamily="34" charset="-120"/>
              </a:rPr>
              <a:t>✦</a:t>
            </a:r>
            <a:endParaRPr lang="en-US" sz="1547" dirty="0"/>
          </a:p>
        </p:txBody>
      </p:sp>
      <p:sp>
        <p:nvSpPr>
          <p:cNvPr id="45" name="Text 43"/>
          <p:cNvSpPr/>
          <p:nvPr/>
        </p:nvSpPr>
        <p:spPr>
          <a:xfrm>
            <a:off x="1829805" y="3265140"/>
            <a:ext cx="879686" cy="126828"/>
          </a:xfrm>
          <a:prstGeom prst="rect">
            <a:avLst/>
          </a:prstGeom>
          <a:noFill/>
          <a:ln/>
        </p:spPr>
        <p:txBody>
          <a:bodyPr wrap="none" lIns="0" tIns="0" rIns="0" bIns="0" rtlCol="0" anchor="t">
            <a:normAutofit/>
          </a:bodyPr>
          <a:lstStyle/>
          <a:p>
            <a:pPr algn="l" indent="0" marL="0">
              <a:lnSpc>
                <a:spcPts val="877"/>
              </a:lnSpc>
              <a:buNone/>
            </a:pPr>
            <a:r>
              <a:rPr lang="en-US" sz="731" b="1" dirty="0">
                <a:solidFill>
                  <a:srgbClr val="E8E6E1"/>
                </a:solidFill>
                <a:latin typeface="Carlito" pitchFamily="34" charset="0"/>
                <a:ea typeface="Carlito" pitchFamily="34" charset="-122"/>
                <a:cs typeface="Carlito" pitchFamily="34" charset="-120"/>
              </a:rPr>
              <a:t>Layer interrogation</a:t>
            </a:r>
            <a:endParaRPr lang="en-US" sz="731" dirty="0"/>
          </a:p>
        </p:txBody>
      </p:sp>
      <p:sp>
        <p:nvSpPr>
          <p:cNvPr id="46" name="Text 44"/>
          <p:cNvSpPr/>
          <p:nvPr/>
        </p:nvSpPr>
        <p:spPr>
          <a:xfrm>
            <a:off x="1829805" y="3419401"/>
            <a:ext cx="932467" cy="307051"/>
          </a:xfrm>
          <a:prstGeom prst="rect">
            <a:avLst/>
          </a:prstGeom>
          <a:noFill/>
          <a:ln/>
        </p:spPr>
        <p:txBody>
          <a:bodyPr wrap="square" lIns="0" tIns="0" rIns="0" bIns="0" rtlCol="0" anchor="t"/>
          <a:lstStyle/>
          <a:p>
            <a:pPr algn="l" indent="0" marL="0">
              <a:lnSpc>
                <a:spcPts val="866"/>
              </a:lnSpc>
              <a:buNone/>
            </a:pPr>
            <a:r>
              <a:rPr lang="en-US" sz="800" dirty="0">
                <a:solidFill>
                  <a:srgbClr val="A8A39C"/>
                </a:solidFill>
                <a:latin typeface="Carlito" pitchFamily="34" charset="0"/>
                <a:ea typeface="Carlito" pitchFamily="34" charset="-122"/>
                <a:cs typeface="Carlito" pitchFamily="34" charset="-120"/>
              </a:rPr>
              <a:t>Inspect any layer’s contribution per target.</a:t>
            </a:r>
            <a:endParaRPr lang="en-US" sz="800" dirty="0"/>
          </a:p>
        </p:txBody>
      </p:sp>
      <p:sp>
        <p:nvSpPr>
          <p:cNvPr id="47" name="Text 45"/>
          <p:cNvSpPr/>
          <p:nvPr/>
        </p:nvSpPr>
        <p:spPr>
          <a:xfrm>
            <a:off x="2884512" y="2975818"/>
            <a:ext cx="1072567" cy="981261"/>
          </a:xfrm>
          <a:prstGeom prst="roundRect">
            <a:avLst>
              <a:gd name="adj" fmla="val 5824"/>
            </a:avLst>
          </a:prstGeom>
          <a:solidFill>
            <a:srgbClr val="161B22"/>
          </a:solidFill>
          <a:ln w="7144">
            <a:solidFill>
              <a:srgbClr val="2A323C"/>
            </a:solidFill>
            <a:prstDash val="solid"/>
          </a:ln>
        </p:spPr>
        <p:txBody>
          <a:bodyPr wrap="square" rtlCol="0" anchor="ctr"/>
          <a:lstStyle/>
          <a:p>
            <a:pPr indent="0" marL="0">
              <a:buNone/>
            </a:pPr>
            <a:endParaRPr lang="en-US" dirty="0"/>
          </a:p>
        </p:txBody>
      </p:sp>
      <p:sp>
        <p:nvSpPr>
          <p:cNvPr id="48" name="Text 46"/>
          <p:cNvSpPr/>
          <p:nvPr/>
        </p:nvSpPr>
        <p:spPr>
          <a:xfrm>
            <a:off x="2980953" y="3065115"/>
            <a:ext cx="157163" cy="157163"/>
          </a:xfrm>
          <a:prstGeom prst="rect">
            <a:avLst/>
          </a:prstGeom>
          <a:noFill/>
          <a:ln/>
        </p:spPr>
        <p:txBody>
          <a:bodyPr wrap="none" lIns="0" tIns="0" rIns="0" bIns="0" rtlCol="0" anchor="ctr"/>
          <a:lstStyle/>
          <a:p>
            <a:pPr algn="ctr" indent="0" marL="0">
              <a:buNone/>
            </a:pPr>
            <a:r>
              <a:rPr lang="en-US" sz="1547" dirty="0">
                <a:solidFill>
                  <a:srgbClr val="D4A437"/>
                </a:solidFill>
                <a:latin typeface="Segoe UI Symbol" pitchFamily="34" charset="0"/>
                <a:ea typeface="Segoe UI Symbol" pitchFamily="34" charset="-122"/>
                <a:cs typeface="Segoe UI Symbol" pitchFamily="34" charset="-120"/>
              </a:rPr>
              <a:t>✦</a:t>
            </a:r>
            <a:endParaRPr lang="en-US" sz="1547" dirty="0"/>
          </a:p>
        </p:txBody>
      </p:sp>
      <p:sp>
        <p:nvSpPr>
          <p:cNvPr id="49" name="Text 47"/>
          <p:cNvSpPr/>
          <p:nvPr/>
        </p:nvSpPr>
        <p:spPr>
          <a:xfrm>
            <a:off x="2980953" y="3265140"/>
            <a:ext cx="879686" cy="238226"/>
          </a:xfrm>
          <a:prstGeom prst="rect">
            <a:avLst/>
          </a:prstGeom>
          <a:noFill/>
          <a:ln/>
        </p:spPr>
        <p:txBody>
          <a:bodyPr wrap="square" lIns="0" tIns="0" rIns="0" bIns="0" rtlCol="0" anchor="t">
            <a:normAutofit/>
          </a:bodyPr>
          <a:lstStyle/>
          <a:p>
            <a:pPr algn="l" indent="0" marL="0">
              <a:lnSpc>
                <a:spcPts val="877"/>
              </a:lnSpc>
              <a:buNone/>
            </a:pPr>
            <a:r>
              <a:rPr lang="en-US" sz="800" b="1" dirty="0">
                <a:solidFill>
                  <a:srgbClr val="E8E6E1"/>
                </a:solidFill>
                <a:latin typeface="Carlito" pitchFamily="34" charset="0"/>
                <a:ea typeface="Carlito" pitchFamily="34" charset="-122"/>
                <a:cs typeface="Carlito" pitchFamily="34" charset="-120"/>
              </a:rPr>
              <a:t>Anomaly class matrices</a:t>
            </a:r>
            <a:endParaRPr lang="en-US" sz="800" dirty="0"/>
          </a:p>
        </p:txBody>
      </p:sp>
      <p:sp>
        <p:nvSpPr>
          <p:cNvPr id="50" name="Text 48"/>
          <p:cNvSpPr/>
          <p:nvPr/>
        </p:nvSpPr>
        <p:spPr>
          <a:xfrm>
            <a:off x="2980953" y="3530798"/>
            <a:ext cx="932467" cy="329840"/>
          </a:xfrm>
          <a:prstGeom prst="rect">
            <a:avLst/>
          </a:prstGeom>
          <a:noFill/>
          <a:ln/>
        </p:spPr>
        <p:txBody>
          <a:bodyPr wrap="square" lIns="0" tIns="0" rIns="0" bIns="0" rtlCol="0" anchor="t"/>
          <a:lstStyle/>
          <a:p>
            <a:pPr algn="l" indent="0" marL="0">
              <a:lnSpc>
                <a:spcPts val="866"/>
              </a:lnSpc>
              <a:buNone/>
            </a:pPr>
            <a:r>
              <a:rPr lang="en-US" sz="800" dirty="0">
                <a:solidFill>
                  <a:srgbClr val="A8A39C"/>
                </a:solidFill>
                <a:latin typeface="Carlito" pitchFamily="34" charset="0"/>
                <a:ea typeface="Carlito" pitchFamily="34" charset="-122"/>
                <a:cs typeface="Carlito" pitchFamily="34" charset="-120"/>
              </a:rPr>
              <a:t>Side-by-side class behaviour across the area.</a:t>
            </a:r>
            <a:endParaRPr lang="en-US" sz="800" dirty="0"/>
          </a:p>
        </p:txBody>
      </p:sp>
      <p:sp>
        <p:nvSpPr>
          <p:cNvPr id="51" name="Text 49"/>
          <p:cNvSpPr/>
          <p:nvPr/>
        </p:nvSpPr>
        <p:spPr>
          <a:xfrm>
            <a:off x="4035661" y="2975818"/>
            <a:ext cx="1072567" cy="981261"/>
          </a:xfrm>
          <a:prstGeom prst="roundRect">
            <a:avLst>
              <a:gd name="adj" fmla="val 5824"/>
            </a:avLst>
          </a:prstGeom>
          <a:solidFill>
            <a:srgbClr val="161B22"/>
          </a:solidFill>
          <a:ln w="7144">
            <a:solidFill>
              <a:srgbClr val="2A323C"/>
            </a:solidFill>
            <a:prstDash val="solid"/>
          </a:ln>
        </p:spPr>
        <p:txBody>
          <a:bodyPr wrap="square" rtlCol="0" anchor="ctr"/>
          <a:lstStyle/>
          <a:p>
            <a:pPr indent="0" marL="0">
              <a:buNone/>
            </a:pPr>
            <a:endParaRPr lang="en-US" dirty="0"/>
          </a:p>
        </p:txBody>
      </p:sp>
      <p:sp>
        <p:nvSpPr>
          <p:cNvPr id="52" name="Text 50"/>
          <p:cNvSpPr/>
          <p:nvPr/>
        </p:nvSpPr>
        <p:spPr>
          <a:xfrm>
            <a:off x="4132101" y="3065115"/>
            <a:ext cx="157163" cy="157163"/>
          </a:xfrm>
          <a:prstGeom prst="rect">
            <a:avLst/>
          </a:prstGeom>
          <a:noFill/>
          <a:ln/>
        </p:spPr>
        <p:txBody>
          <a:bodyPr wrap="none" lIns="0" tIns="0" rIns="0" bIns="0" rtlCol="0" anchor="ctr"/>
          <a:lstStyle/>
          <a:p>
            <a:pPr algn="ctr" indent="0" marL="0">
              <a:buNone/>
            </a:pPr>
            <a:r>
              <a:rPr lang="en-US" sz="1547" dirty="0">
                <a:solidFill>
                  <a:srgbClr val="D4A437"/>
                </a:solidFill>
                <a:latin typeface="Segoe UI Symbol" pitchFamily="34" charset="0"/>
                <a:ea typeface="Segoe UI Symbol" pitchFamily="34" charset="-122"/>
                <a:cs typeface="Segoe UI Symbol" pitchFamily="34" charset="-120"/>
              </a:rPr>
              <a:t>▦</a:t>
            </a:r>
            <a:endParaRPr lang="en-US" sz="1547" dirty="0"/>
          </a:p>
        </p:txBody>
      </p:sp>
      <p:sp>
        <p:nvSpPr>
          <p:cNvPr id="53" name="Text 51"/>
          <p:cNvSpPr/>
          <p:nvPr/>
        </p:nvSpPr>
        <p:spPr>
          <a:xfrm>
            <a:off x="4132101" y="3265140"/>
            <a:ext cx="879686" cy="126828"/>
          </a:xfrm>
          <a:prstGeom prst="rect">
            <a:avLst/>
          </a:prstGeom>
          <a:noFill/>
          <a:ln/>
        </p:spPr>
        <p:txBody>
          <a:bodyPr wrap="none" lIns="0" tIns="0" rIns="0" bIns="0" rtlCol="0" anchor="t">
            <a:normAutofit/>
          </a:bodyPr>
          <a:lstStyle/>
          <a:p>
            <a:pPr algn="l" indent="0" marL="0">
              <a:lnSpc>
                <a:spcPts val="877"/>
              </a:lnSpc>
              <a:buNone/>
            </a:pPr>
            <a:r>
              <a:rPr lang="en-US" sz="731" b="1" dirty="0">
                <a:solidFill>
                  <a:srgbClr val="E8E6E1"/>
                </a:solidFill>
                <a:latin typeface="Carlito" pitchFamily="34" charset="0"/>
                <a:ea typeface="Carlito" pitchFamily="34" charset="-122"/>
                <a:cs typeface="Carlito" pitchFamily="34" charset="-120"/>
              </a:rPr>
              <a:t>Percentile matrices</a:t>
            </a:r>
            <a:endParaRPr lang="en-US" sz="731" dirty="0"/>
          </a:p>
        </p:txBody>
      </p:sp>
      <p:sp>
        <p:nvSpPr>
          <p:cNvPr id="54" name="Text 52"/>
          <p:cNvSpPr/>
          <p:nvPr/>
        </p:nvSpPr>
        <p:spPr>
          <a:xfrm>
            <a:off x="4132101" y="3419401"/>
            <a:ext cx="932467" cy="307051"/>
          </a:xfrm>
          <a:prstGeom prst="rect">
            <a:avLst/>
          </a:prstGeom>
          <a:noFill/>
          <a:ln/>
        </p:spPr>
        <p:txBody>
          <a:bodyPr wrap="square" lIns="0" tIns="0" rIns="0" bIns="0" rtlCol="0" anchor="t"/>
          <a:lstStyle/>
          <a:p>
            <a:pPr algn="l" indent="0" marL="0">
              <a:lnSpc>
                <a:spcPts val="866"/>
              </a:lnSpc>
              <a:buNone/>
            </a:pPr>
            <a:r>
              <a:rPr lang="en-US" sz="800" dirty="0">
                <a:solidFill>
                  <a:srgbClr val="A8A39C"/>
                </a:solidFill>
                <a:latin typeface="Carlito" pitchFamily="34" charset="0"/>
                <a:ea typeface="Carlito" pitchFamily="34" charset="-122"/>
                <a:cs typeface="Carlito" pitchFamily="34" charset="-120"/>
              </a:rPr>
              <a:t>Rank targets by per-layer percentile score.</a:t>
            </a:r>
            <a:endParaRPr lang="en-US" sz="800" dirty="0"/>
          </a:p>
        </p:txBody>
      </p:sp>
      <p:sp>
        <p:nvSpPr>
          <p:cNvPr id="55" name="Text 53"/>
          <p:cNvSpPr/>
          <p:nvPr/>
        </p:nvSpPr>
        <p:spPr>
          <a:xfrm>
            <a:off x="5186809" y="2975818"/>
            <a:ext cx="1072567" cy="981261"/>
          </a:xfrm>
          <a:prstGeom prst="roundRect">
            <a:avLst>
              <a:gd name="adj" fmla="val 5824"/>
            </a:avLst>
          </a:prstGeom>
          <a:solidFill>
            <a:srgbClr val="161B22"/>
          </a:solidFill>
          <a:ln w="7144">
            <a:solidFill>
              <a:srgbClr val="2A323C"/>
            </a:solidFill>
            <a:prstDash val="solid"/>
          </a:ln>
        </p:spPr>
        <p:txBody>
          <a:bodyPr wrap="square" rtlCol="0" anchor="ctr"/>
          <a:lstStyle/>
          <a:p>
            <a:pPr indent="0" marL="0">
              <a:buNone/>
            </a:pPr>
            <a:endParaRPr lang="en-US" dirty="0"/>
          </a:p>
        </p:txBody>
      </p:sp>
      <p:sp>
        <p:nvSpPr>
          <p:cNvPr id="56" name="Text 54"/>
          <p:cNvSpPr/>
          <p:nvPr/>
        </p:nvSpPr>
        <p:spPr>
          <a:xfrm>
            <a:off x="5283250" y="3065115"/>
            <a:ext cx="157163" cy="157163"/>
          </a:xfrm>
          <a:prstGeom prst="rect">
            <a:avLst/>
          </a:prstGeom>
          <a:noFill/>
          <a:ln/>
        </p:spPr>
        <p:txBody>
          <a:bodyPr wrap="none" lIns="0" tIns="0" rIns="0" bIns="0" rtlCol="0" anchor="ctr"/>
          <a:lstStyle/>
          <a:p>
            <a:pPr algn="ctr" indent="0" marL="0">
              <a:buNone/>
            </a:pPr>
            <a:r>
              <a:rPr lang="en-US" sz="1547" dirty="0">
                <a:solidFill>
                  <a:srgbClr val="D4A437"/>
                </a:solidFill>
                <a:latin typeface="Segoe UI Symbol" pitchFamily="34" charset="0"/>
                <a:ea typeface="Segoe UI Symbol" pitchFamily="34" charset="-122"/>
                <a:cs typeface="Segoe UI Symbol" pitchFamily="34" charset="-120"/>
              </a:rPr>
              <a:t>⚑</a:t>
            </a:r>
            <a:endParaRPr lang="en-US" sz="1547" dirty="0"/>
          </a:p>
        </p:txBody>
      </p:sp>
      <p:sp>
        <p:nvSpPr>
          <p:cNvPr id="57" name="Text 55"/>
          <p:cNvSpPr/>
          <p:nvPr/>
        </p:nvSpPr>
        <p:spPr>
          <a:xfrm>
            <a:off x="5283250" y="3265140"/>
            <a:ext cx="879686" cy="126828"/>
          </a:xfrm>
          <a:prstGeom prst="rect">
            <a:avLst/>
          </a:prstGeom>
          <a:noFill/>
          <a:ln/>
        </p:spPr>
        <p:txBody>
          <a:bodyPr wrap="none" lIns="0" tIns="0" rIns="0" bIns="0" rtlCol="0" anchor="t">
            <a:normAutofit/>
          </a:bodyPr>
          <a:lstStyle/>
          <a:p>
            <a:pPr algn="l" indent="0" marL="0">
              <a:lnSpc>
                <a:spcPts val="877"/>
              </a:lnSpc>
              <a:buNone/>
            </a:pPr>
            <a:r>
              <a:rPr lang="en-US" sz="800" b="1" dirty="0">
                <a:solidFill>
                  <a:srgbClr val="E8E6E1"/>
                </a:solidFill>
                <a:latin typeface="Carlito" pitchFamily="34" charset="0"/>
                <a:ea typeface="Carlito" pitchFamily="34" charset="-122"/>
                <a:cs typeface="Carlito" pitchFamily="34" charset="-120"/>
              </a:rPr>
              <a:t>Data-gap flags</a:t>
            </a:r>
            <a:endParaRPr lang="en-US" sz="800" dirty="0"/>
          </a:p>
        </p:txBody>
      </p:sp>
      <p:sp>
        <p:nvSpPr>
          <p:cNvPr id="58" name="Text 56"/>
          <p:cNvSpPr/>
          <p:nvPr/>
        </p:nvSpPr>
        <p:spPr>
          <a:xfrm>
            <a:off x="5283250" y="3419401"/>
            <a:ext cx="932467" cy="307051"/>
          </a:xfrm>
          <a:prstGeom prst="rect">
            <a:avLst/>
          </a:prstGeom>
          <a:noFill/>
          <a:ln/>
        </p:spPr>
        <p:txBody>
          <a:bodyPr wrap="square" lIns="0" tIns="0" rIns="0" bIns="0" rtlCol="0" anchor="t"/>
          <a:lstStyle/>
          <a:p>
            <a:pPr algn="l" indent="0" marL="0">
              <a:lnSpc>
                <a:spcPts val="866"/>
              </a:lnSpc>
              <a:buNone/>
            </a:pPr>
            <a:r>
              <a:rPr lang="en-US" sz="800" dirty="0">
                <a:solidFill>
                  <a:srgbClr val="A8A39C"/>
                </a:solidFill>
                <a:latin typeface="Carlito" pitchFamily="34" charset="0"/>
                <a:ea typeface="Carlito" pitchFamily="34" charset="-122"/>
                <a:cs typeface="Carlito" pitchFamily="34" charset="-120"/>
              </a:rPr>
              <a:t>Marks where evidence is missing for a call.</a:t>
            </a:r>
            <a:endParaRPr lang="en-US" sz="800" dirty="0"/>
          </a:p>
        </p:txBody>
      </p:sp>
      <p:sp>
        <p:nvSpPr>
          <p:cNvPr id="59" name="Text 57"/>
          <p:cNvSpPr/>
          <p:nvPr/>
        </p:nvSpPr>
        <p:spPr>
          <a:xfrm>
            <a:off x="6337957" y="2975818"/>
            <a:ext cx="1072567" cy="981261"/>
          </a:xfrm>
          <a:prstGeom prst="roundRect">
            <a:avLst>
              <a:gd name="adj" fmla="val 5824"/>
            </a:avLst>
          </a:prstGeom>
          <a:solidFill>
            <a:srgbClr val="161B22"/>
          </a:solidFill>
          <a:ln w="7144">
            <a:solidFill>
              <a:srgbClr val="2A323C"/>
            </a:solidFill>
            <a:prstDash val="solid"/>
          </a:ln>
        </p:spPr>
        <p:txBody>
          <a:bodyPr wrap="square" rtlCol="0" anchor="ctr"/>
          <a:lstStyle/>
          <a:p>
            <a:pPr indent="0" marL="0">
              <a:buNone/>
            </a:pPr>
            <a:endParaRPr lang="en-US" dirty="0"/>
          </a:p>
        </p:txBody>
      </p:sp>
      <p:sp>
        <p:nvSpPr>
          <p:cNvPr id="60" name="Text 58"/>
          <p:cNvSpPr/>
          <p:nvPr/>
        </p:nvSpPr>
        <p:spPr>
          <a:xfrm>
            <a:off x="6434398" y="3065115"/>
            <a:ext cx="157163" cy="157163"/>
          </a:xfrm>
          <a:prstGeom prst="rect">
            <a:avLst/>
          </a:prstGeom>
          <a:noFill/>
          <a:ln/>
        </p:spPr>
        <p:txBody>
          <a:bodyPr wrap="none" lIns="0" tIns="0" rIns="0" bIns="0" rtlCol="0" anchor="ctr"/>
          <a:lstStyle/>
          <a:p>
            <a:pPr algn="ctr" indent="0" marL="0">
              <a:buNone/>
            </a:pPr>
            <a:r>
              <a:rPr lang="en-US" sz="1547" dirty="0">
                <a:solidFill>
                  <a:srgbClr val="D4A437"/>
                </a:solidFill>
                <a:latin typeface="Segoe UI Symbol" pitchFamily="34" charset="0"/>
                <a:ea typeface="Segoe UI Symbol" pitchFamily="34" charset="-122"/>
                <a:cs typeface="Segoe UI Symbol" pitchFamily="34" charset="-120"/>
              </a:rPr>
              <a:t>✦</a:t>
            </a:r>
            <a:endParaRPr lang="en-US" sz="1547" dirty="0"/>
          </a:p>
        </p:txBody>
      </p:sp>
      <p:sp>
        <p:nvSpPr>
          <p:cNvPr id="61" name="Text 59"/>
          <p:cNvSpPr/>
          <p:nvPr/>
        </p:nvSpPr>
        <p:spPr>
          <a:xfrm>
            <a:off x="6434398" y="3265140"/>
            <a:ext cx="879686" cy="238226"/>
          </a:xfrm>
          <a:prstGeom prst="rect">
            <a:avLst/>
          </a:prstGeom>
          <a:noFill/>
          <a:ln/>
        </p:spPr>
        <p:txBody>
          <a:bodyPr wrap="square" lIns="0" tIns="0" rIns="0" bIns="0" rtlCol="0" anchor="t">
            <a:normAutofit/>
          </a:bodyPr>
          <a:lstStyle/>
          <a:p>
            <a:pPr algn="l" indent="0" marL="0">
              <a:lnSpc>
                <a:spcPts val="877"/>
              </a:lnSpc>
              <a:buNone/>
            </a:pPr>
            <a:r>
              <a:rPr lang="en-US" sz="800" b="1" dirty="0">
                <a:solidFill>
                  <a:srgbClr val="E8E6E1"/>
                </a:solidFill>
                <a:latin typeface="Carlito" pitchFamily="34" charset="0"/>
                <a:ea typeface="Carlito" pitchFamily="34" charset="-122"/>
                <a:cs typeface="Carlito" pitchFamily="34" charset="-120"/>
              </a:rPr>
              <a:t>Earlier exchanges as context</a:t>
            </a:r>
            <a:endParaRPr lang="en-US" sz="800" dirty="0"/>
          </a:p>
        </p:txBody>
      </p:sp>
      <p:sp>
        <p:nvSpPr>
          <p:cNvPr id="62" name="Text 60"/>
          <p:cNvSpPr/>
          <p:nvPr/>
        </p:nvSpPr>
        <p:spPr>
          <a:xfrm>
            <a:off x="6434398" y="3530798"/>
            <a:ext cx="932467" cy="307051"/>
          </a:xfrm>
          <a:prstGeom prst="rect">
            <a:avLst/>
          </a:prstGeom>
          <a:noFill/>
          <a:ln/>
        </p:spPr>
        <p:txBody>
          <a:bodyPr wrap="square" lIns="0" tIns="0" rIns="0" bIns="0" rtlCol="0" anchor="t"/>
          <a:lstStyle/>
          <a:p>
            <a:pPr algn="l" indent="0" marL="0">
              <a:lnSpc>
                <a:spcPts val="866"/>
              </a:lnSpc>
              <a:buNone/>
            </a:pPr>
            <a:r>
              <a:rPr lang="en-US" sz="800" dirty="0">
                <a:solidFill>
                  <a:srgbClr val="A8A39C"/>
                </a:solidFill>
                <a:latin typeface="Carlito" pitchFamily="34" charset="0"/>
                <a:ea typeface="Carlito" pitchFamily="34" charset="-122"/>
                <a:cs typeface="Carlito" pitchFamily="34" charset="-120"/>
              </a:rPr>
              <a:t>Prior turns carried forward as memory.</a:t>
            </a:r>
            <a:endParaRPr lang="en-US" sz="800" dirty="0"/>
          </a:p>
        </p:txBody>
      </p:sp>
      <p:sp>
        <p:nvSpPr>
          <p:cNvPr id="63" name="Text 61"/>
          <p:cNvSpPr/>
          <p:nvPr/>
        </p:nvSpPr>
        <p:spPr>
          <a:xfrm>
            <a:off x="7489106" y="2975818"/>
            <a:ext cx="1072567" cy="981261"/>
          </a:xfrm>
          <a:prstGeom prst="roundRect">
            <a:avLst>
              <a:gd name="adj" fmla="val 5824"/>
            </a:avLst>
          </a:prstGeom>
          <a:solidFill>
            <a:srgbClr val="161B22"/>
          </a:solidFill>
          <a:ln w="7144">
            <a:solidFill>
              <a:srgbClr val="2A323C"/>
            </a:solidFill>
            <a:prstDash val="solid"/>
          </a:ln>
        </p:spPr>
        <p:txBody>
          <a:bodyPr wrap="square" rtlCol="0" anchor="ctr"/>
          <a:lstStyle/>
          <a:p>
            <a:pPr indent="0" marL="0">
              <a:buNone/>
            </a:pPr>
            <a:endParaRPr lang="en-US" dirty="0"/>
          </a:p>
        </p:txBody>
      </p:sp>
      <p:sp>
        <p:nvSpPr>
          <p:cNvPr id="64" name="Text 62"/>
          <p:cNvSpPr/>
          <p:nvPr/>
        </p:nvSpPr>
        <p:spPr>
          <a:xfrm>
            <a:off x="7585546" y="3065115"/>
            <a:ext cx="157163" cy="157163"/>
          </a:xfrm>
          <a:prstGeom prst="rect">
            <a:avLst/>
          </a:prstGeom>
          <a:noFill/>
          <a:ln/>
        </p:spPr>
        <p:txBody>
          <a:bodyPr wrap="none" lIns="0" tIns="0" rIns="0" bIns="0" rtlCol="0" anchor="ctr"/>
          <a:lstStyle/>
          <a:p>
            <a:pPr algn="ctr" indent="0" marL="0">
              <a:buNone/>
            </a:pPr>
            <a:r>
              <a:rPr lang="en-US" sz="1547" dirty="0">
                <a:solidFill>
                  <a:srgbClr val="D4A437"/>
                </a:solidFill>
                <a:latin typeface="Segoe UI Symbol" pitchFamily="34" charset="0"/>
                <a:ea typeface="Segoe UI Symbol" pitchFamily="34" charset="-122"/>
                <a:cs typeface="Segoe UI Symbol" pitchFamily="34" charset="-120"/>
              </a:rPr>
              <a:t>⚗</a:t>
            </a:r>
            <a:endParaRPr lang="en-US" sz="1547" dirty="0"/>
          </a:p>
        </p:txBody>
      </p:sp>
      <p:sp>
        <p:nvSpPr>
          <p:cNvPr id="65" name="Text 63"/>
          <p:cNvSpPr/>
          <p:nvPr/>
        </p:nvSpPr>
        <p:spPr>
          <a:xfrm>
            <a:off x="7585546" y="3265140"/>
            <a:ext cx="879686" cy="238226"/>
          </a:xfrm>
          <a:prstGeom prst="rect">
            <a:avLst/>
          </a:prstGeom>
          <a:noFill/>
          <a:ln/>
        </p:spPr>
        <p:txBody>
          <a:bodyPr wrap="square" lIns="0" tIns="0" rIns="0" bIns="0" rtlCol="0" anchor="t">
            <a:normAutofit/>
          </a:bodyPr>
          <a:lstStyle/>
          <a:p>
            <a:pPr algn="l" indent="0" marL="0">
              <a:lnSpc>
                <a:spcPts val="877"/>
              </a:lnSpc>
              <a:buNone/>
            </a:pPr>
            <a:r>
              <a:rPr lang="en-US" sz="800" b="1" dirty="0">
                <a:solidFill>
                  <a:srgbClr val="E8E6E1"/>
                </a:solidFill>
                <a:latin typeface="Carlito" pitchFamily="34" charset="0"/>
                <a:ea typeface="Carlito" pitchFamily="34" charset="-122"/>
                <a:cs typeface="Carlito" pitchFamily="34" charset="-120"/>
              </a:rPr>
              <a:t>Interpretation backdrops</a:t>
            </a:r>
            <a:endParaRPr lang="en-US" sz="800" dirty="0"/>
          </a:p>
        </p:txBody>
      </p:sp>
      <p:sp>
        <p:nvSpPr>
          <p:cNvPr id="66" name="Text 64"/>
          <p:cNvSpPr/>
          <p:nvPr/>
        </p:nvSpPr>
        <p:spPr>
          <a:xfrm>
            <a:off x="7585546" y="3530798"/>
            <a:ext cx="932467" cy="307051"/>
          </a:xfrm>
          <a:prstGeom prst="rect">
            <a:avLst/>
          </a:prstGeom>
          <a:noFill/>
          <a:ln/>
        </p:spPr>
        <p:txBody>
          <a:bodyPr wrap="square" lIns="0" tIns="0" rIns="0" bIns="0" rtlCol="0" anchor="t"/>
          <a:lstStyle/>
          <a:p>
            <a:pPr algn="l" indent="0" marL="0">
              <a:lnSpc>
                <a:spcPts val="866"/>
              </a:lnSpc>
              <a:buNone/>
            </a:pPr>
            <a:r>
              <a:rPr lang="en-US" sz="800" dirty="0">
                <a:solidFill>
                  <a:srgbClr val="A8A39C"/>
                </a:solidFill>
                <a:latin typeface="Carlito" pitchFamily="34" charset="0"/>
                <a:ea typeface="Carlito" pitchFamily="34" charset="-122"/>
                <a:cs typeface="Carlito" pitchFamily="34" charset="-120"/>
              </a:rPr>
              <a:t>Loads the geological model behind an answer.</a:t>
            </a:r>
            <a:endParaRPr lang="en-US" sz="800" dirty="0"/>
          </a:p>
        </p:txBody>
      </p:sp>
      <p:sp>
        <p:nvSpPr>
          <p:cNvPr id="67" name="Text 65"/>
          <p:cNvSpPr/>
          <p:nvPr/>
        </p:nvSpPr>
        <p:spPr>
          <a:xfrm>
            <a:off x="457200" y="4182108"/>
            <a:ext cx="1577987" cy="203597"/>
          </a:xfrm>
          <a:prstGeom prst="roundRect">
            <a:avLst>
              <a:gd name="adj" fmla="val 9357"/>
            </a:avLst>
          </a:prstGeom>
          <a:solidFill>
            <a:srgbClr val="6BAE85">
              <a:alpha val="8000"/>
            </a:srgbClr>
          </a:solidFill>
          <a:ln/>
        </p:spPr>
        <p:txBody>
          <a:bodyPr wrap="square" rtlCol="0" anchor="ctr"/>
          <a:lstStyle/>
          <a:p>
            <a:pPr indent="0" marL="0">
              <a:buNone/>
            </a:pPr>
            <a:endParaRPr lang="en-US" dirty="0"/>
          </a:p>
        </p:txBody>
      </p:sp>
      <p:sp>
        <p:nvSpPr>
          <p:cNvPr id="68" name="Shape 66"/>
          <p:cNvSpPr/>
          <p:nvPr/>
        </p:nvSpPr>
        <p:spPr>
          <a:xfrm>
            <a:off x="467916" y="4182108"/>
            <a:ext cx="0" cy="203597"/>
          </a:xfrm>
          <a:prstGeom prst="line">
            <a:avLst/>
          </a:prstGeom>
          <a:noFill/>
          <a:ln w="21431">
            <a:solidFill>
              <a:srgbClr val="6BAE85"/>
            </a:solidFill>
            <a:prstDash val="solid"/>
          </a:ln>
        </p:spPr>
      </p:sp>
      <p:sp>
        <p:nvSpPr>
          <p:cNvPr id="69" name="Text 67"/>
          <p:cNvSpPr/>
          <p:nvPr/>
        </p:nvSpPr>
        <p:spPr>
          <a:xfrm>
            <a:off x="550069" y="4224970"/>
            <a:ext cx="1483357" cy="117872"/>
          </a:xfrm>
          <a:prstGeom prst="rect">
            <a:avLst/>
          </a:prstGeom>
          <a:noFill/>
          <a:ln/>
        </p:spPr>
        <p:txBody>
          <a:bodyPr wrap="square" lIns="0" tIns="0" rIns="0" bIns="0" rtlCol="0" anchor="t"/>
          <a:lstStyle/>
          <a:p>
            <a:pPr algn="l" indent="0" marL="0">
              <a:lnSpc>
                <a:spcPts val="928"/>
              </a:lnSpc>
              <a:buNone/>
            </a:pPr>
            <a:r>
              <a:rPr lang="en-US" sz="619" b="1" spc="87" kern="0" dirty="0">
                <a:solidFill>
                  <a:srgbClr val="6BAE85"/>
                </a:solidFill>
                <a:latin typeface="Carlito" pitchFamily="34" charset="0"/>
                <a:ea typeface="Carlito" pitchFamily="34" charset="-122"/>
                <a:cs typeface="Carlito" pitchFamily="34" charset="-120"/>
              </a:rPr>
              <a:t>IMPACT · CITED, NOT INVENTED</a:t>
            </a:r>
            <a:endParaRPr lang="en-US" sz="619" dirty="0"/>
          </a:p>
        </p:txBody>
      </p:sp>
      <p:sp>
        <p:nvSpPr>
          <p:cNvPr id="70" name="Text 68"/>
          <p:cNvSpPr/>
          <p:nvPr/>
        </p:nvSpPr>
        <p:spPr>
          <a:xfrm>
            <a:off x="2461468" y="4213920"/>
            <a:ext cx="6225332" cy="153570"/>
          </a:xfrm>
          <a:prstGeom prst="rect">
            <a:avLst/>
          </a:prstGeom>
          <a:noFill/>
          <a:ln/>
        </p:spPr>
        <p:txBody>
          <a:bodyPr wrap="square" lIns="0" tIns="0" rIns="0" bIns="0" rtlCol="0" anchor="t"/>
          <a:lstStyle/>
          <a:p>
            <a:pPr algn="r" indent="0" marL="0">
              <a:lnSpc>
                <a:spcPts val="1103"/>
              </a:lnSpc>
              <a:buNone/>
            </a:pPr>
            <a:r>
              <a:rPr lang="en-US" sz="788" dirty="0">
                <a:solidFill>
                  <a:srgbClr val="6BAE85"/>
                </a:solidFill>
                <a:latin typeface="Carlito" pitchFamily="34" charset="0"/>
                <a:ea typeface="Carlito" pitchFamily="34" charset="-122"/>
                <a:cs typeface="Carlito" pitchFamily="34" charset="-120"/>
              </a:rPr>
              <a:t>Every figure in the Copilot and in reports is resolved from the database server-side. The model selects and interprets; it never supplies values.</a:t>
            </a:r>
            <a:endParaRPr lang="en-US" sz="788" dirty="0"/>
          </a:p>
        </p:txBody>
      </p:sp>
      <p:sp>
        <p:nvSpPr>
          <p:cNvPr id="71" name="Text 69"/>
          <p:cNvSpPr/>
          <p:nvPr/>
        </p:nvSpPr>
        <p:spPr>
          <a:xfrm>
            <a:off x="457200" y="4868466"/>
            <a:ext cx="7885249" cy="164592"/>
          </a:xfrm>
          <a:prstGeom prst="rect">
            <a:avLst/>
          </a:prstGeom>
          <a:noFill/>
          <a:ln/>
        </p:spPr>
        <p:txBody>
          <a:bodyPr wrap="square" lIns="0" tIns="0" rIns="0" bIns="0" rtlCol="0" anchor="t"/>
          <a:lstStyle/>
          <a:p>
            <a:pPr algn="l" indent="0" marL="0">
              <a:lnSpc>
                <a:spcPts val="928"/>
              </a:lnSpc>
              <a:buNone/>
            </a:pPr>
            <a:r>
              <a:rPr lang="en-US" sz="800" spc="62" kern="0" dirty="0">
                <a:solidFill>
                  <a:srgbClr val="6B6760"/>
                </a:solidFill>
                <a:latin typeface="Carlito" pitchFamily="34" charset="0"/>
                <a:ea typeface="Carlito" pitchFamily="34" charset="-122"/>
                <a:cs typeface="Carlito" pitchFamily="34" charset="-120"/>
              </a:rPr>
              <a:t>TERRAPULSE · GOLD FIELDS GHANA</a:t>
            </a:r>
            <a:endParaRPr lang="en-US" sz="800" dirty="0"/>
          </a:p>
        </p:txBody>
      </p:sp>
      <p:sp>
        <p:nvSpPr>
          <p:cNvPr id="72" name="Text 70"/>
          <p:cNvSpPr/>
          <p:nvPr/>
        </p:nvSpPr>
        <p:spPr>
          <a:xfrm>
            <a:off x="8356736" y="4868466"/>
            <a:ext cx="474415"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6B6760"/>
                </a:solidFill>
                <a:latin typeface="Liberation Sans Narrow" pitchFamily="34" charset="0"/>
                <a:ea typeface="Liberation Sans Narrow" pitchFamily="34" charset="-122"/>
                <a:cs typeface="Liberation Sans Narrow" pitchFamily="34" charset="-120"/>
              </a:rPr>
              <a:t>09 / 12</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116"/>
        </a:solidFill>
      </p:bgPr>
    </p:bg>
    <p:spTree>
      <p:nvGrpSpPr>
        <p:cNvPr id="1" name=""/>
        <p:cNvGrpSpPr/>
        <p:nvPr/>
      </p:nvGrpSpPr>
      <p:grpSpPr>
        <a:xfrm>
          <a:off x="0" y="0"/>
          <a:ext cx="0" cy="0"/>
          <a:chOff x="0" y="0"/>
          <a:chExt cx="0" cy="0"/>
        </a:xfrm>
      </p:grpSpPr>
      <p:sp>
        <p:nvSpPr>
          <p:cNvPr id="2" name="Text 0"/>
          <p:cNvSpPr/>
          <p:nvPr/>
        </p:nvSpPr>
        <p:spPr>
          <a:xfrm>
            <a:off x="460772" y="403622"/>
            <a:ext cx="8222456" cy="850776"/>
          </a:xfrm>
          <a:prstGeom prst="roundRect">
            <a:avLst>
              <a:gd name="adj" fmla="val 8957"/>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3" name="Text 1"/>
          <p:cNvSpPr/>
          <p:nvPr/>
        </p:nvSpPr>
        <p:spPr>
          <a:xfrm>
            <a:off x="635794" y="521494"/>
            <a:ext cx="2262448" cy="203597"/>
          </a:xfrm>
          <a:prstGeom prst="roundRect">
            <a:avLst>
              <a:gd name="adj" fmla="val 9357"/>
            </a:avLst>
          </a:prstGeom>
          <a:solidFill>
            <a:srgbClr val="D4633F">
              <a:alpha val="8000"/>
            </a:srgbClr>
          </a:solidFill>
          <a:ln/>
        </p:spPr>
        <p:txBody>
          <a:bodyPr wrap="square" rtlCol="0" anchor="ctr"/>
          <a:lstStyle/>
          <a:p>
            <a:pPr indent="0" marL="0">
              <a:buNone/>
            </a:pPr>
            <a:endParaRPr lang="en-US" dirty="0"/>
          </a:p>
        </p:txBody>
      </p:sp>
      <p:sp>
        <p:nvSpPr>
          <p:cNvPr id="4" name="Shape 2"/>
          <p:cNvSpPr/>
          <p:nvPr/>
        </p:nvSpPr>
        <p:spPr>
          <a:xfrm>
            <a:off x="646509" y="521494"/>
            <a:ext cx="0" cy="203597"/>
          </a:xfrm>
          <a:prstGeom prst="line">
            <a:avLst/>
          </a:prstGeom>
          <a:noFill/>
          <a:ln w="21431">
            <a:solidFill>
              <a:srgbClr val="D4633F"/>
            </a:solidFill>
            <a:prstDash val="solid"/>
          </a:ln>
        </p:spPr>
      </p:sp>
      <p:sp>
        <p:nvSpPr>
          <p:cNvPr id="5" name="Text 3"/>
          <p:cNvSpPr/>
          <p:nvPr/>
        </p:nvSpPr>
        <p:spPr>
          <a:xfrm>
            <a:off x="728663" y="564356"/>
            <a:ext cx="2193582" cy="117872"/>
          </a:xfrm>
          <a:prstGeom prst="rect">
            <a:avLst/>
          </a:prstGeom>
          <a:noFill/>
          <a:ln/>
        </p:spPr>
        <p:txBody>
          <a:bodyPr wrap="square" lIns="0" tIns="0" rIns="0" bIns="0" rtlCol="0" anchor="t"/>
          <a:lstStyle/>
          <a:p>
            <a:pPr algn="l" indent="0" marL="0">
              <a:lnSpc>
                <a:spcPts val="928"/>
              </a:lnSpc>
              <a:buNone/>
            </a:pPr>
            <a:r>
              <a:rPr lang="en-US" sz="619" b="1" spc="87" kern="0" dirty="0">
                <a:solidFill>
                  <a:srgbClr val="D4633F"/>
                </a:solidFill>
                <a:latin typeface="Carlito" pitchFamily="34" charset="0"/>
                <a:ea typeface="Carlito" pitchFamily="34" charset="-122"/>
                <a:cs typeface="Carlito" pitchFamily="34" charset="-120"/>
              </a:rPr>
              <a:t>PROBLEM · DOCUMENT AND SCREEN DISAGREE</a:t>
            </a:r>
            <a:endParaRPr lang="en-US" sz="619" dirty="0"/>
          </a:p>
        </p:txBody>
      </p:sp>
      <p:sp>
        <p:nvSpPr>
          <p:cNvPr id="6" name="Text 4"/>
          <p:cNvSpPr/>
          <p:nvPr/>
        </p:nvSpPr>
        <p:spPr>
          <a:xfrm>
            <a:off x="635794" y="796528"/>
            <a:ext cx="7715250" cy="339998"/>
          </a:xfrm>
          <a:prstGeom prst="rect">
            <a:avLst/>
          </a:prstGeom>
          <a:noFill/>
          <a:ln/>
        </p:spPr>
        <p:txBody>
          <a:bodyPr wrap="square" lIns="0" tIns="0" rIns="0" bIns="0" rtlCol="0" anchor="t"/>
          <a:lstStyle/>
          <a:p>
            <a:pPr algn="l" indent="0" marL="0">
              <a:lnSpc>
                <a:spcPts val="1339"/>
              </a:lnSpc>
              <a:buNone/>
            </a:pPr>
            <a:r>
              <a:rPr lang="en-US" sz="956" dirty="0">
                <a:solidFill>
                  <a:srgbClr val="E8E6E1"/>
                </a:solidFill>
                <a:latin typeface="Carlito" pitchFamily="34" charset="0"/>
                <a:ea typeface="Carlito" pitchFamily="34" charset="-122"/>
                <a:cs typeface="Carlito" pitchFamily="34" charset="-120"/>
              </a:rPr>
              <a:t>The report says one thing, the map says another. And the field camp has no connectivity, so the PDF that arrives in Accra is already two weeks stale.</a:t>
            </a:r>
            <a:endParaRPr lang="en-US" sz="956" dirty="0"/>
          </a:p>
        </p:txBody>
      </p:sp>
      <p:sp>
        <p:nvSpPr>
          <p:cNvPr id="7" name="Text 5"/>
          <p:cNvSpPr/>
          <p:nvPr/>
        </p:nvSpPr>
        <p:spPr>
          <a:xfrm>
            <a:off x="485775" y="1372270"/>
            <a:ext cx="8636000" cy="223939"/>
          </a:xfrm>
          <a:prstGeom prst="rect">
            <a:avLst/>
          </a:prstGeom>
          <a:noFill/>
          <a:ln/>
        </p:spPr>
        <p:txBody>
          <a:bodyPr wrap="square" lIns="0" tIns="0" rIns="0" bIns="0" rtlCol="0" anchor="t">
            <a:normAutofit/>
          </a:bodyPr>
          <a:lstStyle/>
          <a:p>
            <a:pPr algn="l" indent="0" marL="0">
              <a:lnSpc>
                <a:spcPts val="1755"/>
              </a:lnSpc>
              <a:buNone/>
            </a:pPr>
            <a:r>
              <a:rPr lang="en-US" sz="1463" b="1" dirty="0">
                <a:solidFill>
                  <a:srgbClr val="E8E6E1"/>
                </a:solidFill>
                <a:latin typeface="Carlito" pitchFamily="34" charset="0"/>
                <a:ea typeface="Carlito" pitchFamily="34" charset="-122"/>
                <a:cs typeface="Carlito" pitchFamily="34" charset="-120"/>
              </a:rPr>
              <a:t>Reporting &amp; field use — Groups 6 and 7</a:t>
            </a:r>
            <a:endParaRPr lang="en-US" sz="1463" dirty="0"/>
          </a:p>
        </p:txBody>
      </p:sp>
      <p:sp>
        <p:nvSpPr>
          <p:cNvPr id="8" name="Text 6"/>
          <p:cNvSpPr/>
          <p:nvPr/>
        </p:nvSpPr>
        <p:spPr>
          <a:xfrm>
            <a:off x="485775" y="1623640"/>
            <a:ext cx="8172450" cy="153514"/>
          </a:xfrm>
          <a:prstGeom prst="rect">
            <a:avLst/>
          </a:prstGeom>
          <a:noFill/>
          <a:ln/>
        </p:spPr>
        <p:txBody>
          <a:bodyPr wrap="square" lIns="0" tIns="0" rIns="0" bIns="0" rtlCol="0" anchor="t"/>
          <a:lstStyle/>
          <a:p>
            <a:pPr algn="l" indent="0" marL="0">
              <a:lnSpc>
                <a:spcPts val="1024"/>
              </a:lnSpc>
              <a:buNone/>
            </a:pPr>
            <a:r>
              <a:rPr lang="en-US" sz="800" dirty="0">
                <a:solidFill>
                  <a:srgbClr val="A8A39C"/>
                </a:solidFill>
                <a:latin typeface="Carlito" pitchFamily="34" charset="0"/>
                <a:ea typeface="Carlito" pitchFamily="34" charset="-122"/>
                <a:cs typeface="Carlito" pitchFamily="34" charset="-120"/>
              </a:rPr>
              <a:t>Composed from the same data the map and the targets use, so the document and the screen can never disagree.</a:t>
            </a:r>
            <a:endParaRPr lang="en-US" sz="800" dirty="0"/>
          </a:p>
        </p:txBody>
      </p:sp>
      <p:sp>
        <p:nvSpPr>
          <p:cNvPr id="9" name="Text 7"/>
          <p:cNvSpPr/>
          <p:nvPr/>
        </p:nvSpPr>
        <p:spPr>
          <a:xfrm>
            <a:off x="460772" y="1871439"/>
            <a:ext cx="4029075" cy="2771105"/>
          </a:xfrm>
          <a:prstGeom prst="roundRect">
            <a:avLst>
              <a:gd name="adj" fmla="val 2750"/>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10" name="Text 8"/>
          <p:cNvSpPr/>
          <p:nvPr/>
        </p:nvSpPr>
        <p:spPr>
          <a:xfrm>
            <a:off x="621506" y="2017886"/>
            <a:ext cx="3817334" cy="133302"/>
          </a:xfrm>
          <a:prstGeom prst="rect">
            <a:avLst/>
          </a:prstGeom>
          <a:noFill/>
          <a:ln/>
        </p:spPr>
        <p:txBody>
          <a:bodyPr wrap="square" lIns="0" tIns="0" rIns="0" bIns="0" rtlCol="0" anchor="t">
            <a:normAutofit/>
          </a:bodyPr>
          <a:lstStyle/>
          <a:p>
            <a:pPr algn="l" indent="0" marL="0">
              <a:lnSpc>
                <a:spcPts val="928"/>
              </a:lnSpc>
              <a:buNone/>
            </a:pPr>
            <a:r>
              <a:rPr lang="en-US" sz="800" spc="99" kern="0" dirty="0">
                <a:solidFill>
                  <a:srgbClr val="6B6760"/>
                </a:solidFill>
                <a:latin typeface="Liberation Sans Narrow" pitchFamily="34" charset="0"/>
                <a:ea typeface="Liberation Sans Narrow" pitchFamily="34" charset="-122"/>
                <a:cs typeface="Liberation Sans Narrow" pitchFamily="34" charset="-120"/>
              </a:rPr>
              <a:t>GROUP 6 · 5 TYPES × 5 PERSONAS · V2</a:t>
            </a:r>
            <a:endParaRPr lang="en-US" sz="800" dirty="0"/>
          </a:p>
        </p:txBody>
      </p:sp>
      <p:sp>
        <p:nvSpPr>
          <p:cNvPr id="11" name="Text 9"/>
          <p:cNvSpPr/>
          <p:nvPr/>
        </p:nvSpPr>
        <p:spPr>
          <a:xfrm>
            <a:off x="621506" y="2178621"/>
            <a:ext cx="3817334" cy="173593"/>
          </a:xfrm>
          <a:prstGeom prst="rect">
            <a:avLst/>
          </a:prstGeom>
          <a:noFill/>
          <a:ln/>
        </p:spPr>
        <p:txBody>
          <a:bodyPr wrap="square" lIns="0" tIns="0" rIns="0" bIns="0" rtlCol="0" anchor="t"/>
          <a:lstStyle/>
          <a:p>
            <a:pPr algn="l" indent="0" marL="0">
              <a:lnSpc>
                <a:spcPts val="1266"/>
              </a:lnSpc>
              <a:buNone/>
            </a:pPr>
            <a:r>
              <a:rPr lang="en-US" sz="1013" b="1" dirty="0">
                <a:solidFill>
                  <a:srgbClr val="E8E6E1"/>
                </a:solidFill>
                <a:latin typeface="Carlito" pitchFamily="34" charset="0"/>
                <a:ea typeface="Carlito" pitchFamily="34" charset="-122"/>
                <a:cs typeface="Carlito" pitchFamily="34" charset="-120"/>
              </a:rPr>
              <a:t>The deliverable, versioned not overwritten</a:t>
            </a:r>
            <a:endParaRPr lang="en-US" sz="1013" dirty="0"/>
          </a:p>
        </p:txBody>
      </p:sp>
      <p:sp>
        <p:nvSpPr>
          <p:cNvPr id="12" name="Text 10"/>
          <p:cNvSpPr/>
          <p:nvPr/>
        </p:nvSpPr>
        <p:spPr>
          <a:xfrm>
            <a:off x="621506" y="2439367"/>
            <a:ext cx="3707606" cy="122587"/>
          </a:xfrm>
          <a:prstGeom prst="rect">
            <a:avLst/>
          </a:prstGeom>
          <a:noFill/>
          <a:ln/>
        </p:spPr>
        <p:txBody>
          <a:bodyPr wrap="none" lIns="0" tIns="0" rIns="0" bIns="0" rtlCol="0" anchor="t">
            <a:normAutofit/>
          </a:bodyPr>
          <a:lstStyle/>
          <a:p>
            <a:pPr algn="l" indent="0" marL="0">
              <a:lnSpc>
                <a:spcPts val="844"/>
              </a:lnSpc>
              <a:buNone/>
            </a:pPr>
            <a:r>
              <a:rPr lang="en-US" sz="800" spc="79" kern="0" dirty="0">
                <a:solidFill>
                  <a:srgbClr val="6B6760"/>
                </a:solidFill>
                <a:latin typeface="Carlito" pitchFamily="34" charset="0"/>
                <a:ea typeface="Carlito" pitchFamily="34" charset="-122"/>
                <a:cs typeface="Carlito" pitchFamily="34" charset="-120"/>
              </a:rPr>
              <a:t>REPORT TYPES</a:t>
            </a:r>
            <a:endParaRPr lang="en-US" sz="800" dirty="0"/>
          </a:p>
        </p:txBody>
      </p:sp>
      <p:sp>
        <p:nvSpPr>
          <p:cNvPr id="13" name="Text 11"/>
          <p:cNvSpPr/>
          <p:nvPr/>
        </p:nvSpPr>
        <p:spPr>
          <a:xfrm>
            <a:off x="621506" y="2576585"/>
            <a:ext cx="960611" cy="242706"/>
          </a:xfrm>
          <a:prstGeom prst="roundRect">
            <a:avLst>
              <a:gd name="adj" fmla="val 15698"/>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14" name="Text 12"/>
          <p:cNvSpPr/>
          <p:nvPr/>
        </p:nvSpPr>
        <p:spPr>
          <a:xfrm>
            <a:off x="621506" y="2589386"/>
            <a:ext cx="960611" cy="217103"/>
          </a:xfrm>
          <a:prstGeom prst="rect">
            <a:avLst/>
          </a:prstGeom>
          <a:noFill/>
          <a:ln/>
        </p:spPr>
        <p:txBody>
          <a:bodyPr wrap="none" lIns="0" tIns="0" rIns="0" bIns="0" rtlCol="0" anchor="ctr"/>
          <a:lstStyle/>
          <a:p>
            <a:pPr algn="ctr" indent="0" marL="0">
              <a:lnSpc>
                <a:spcPts val="810"/>
              </a:lnSpc>
              <a:buNone/>
            </a:pPr>
            <a:r>
              <a:rPr lang="en-US" sz="800" dirty="0">
                <a:solidFill>
                  <a:srgbClr val="E8E6E1"/>
                </a:solidFill>
                <a:latin typeface="Carlito" pitchFamily="34" charset="0"/>
                <a:ea typeface="Carlito" pitchFamily="34" charset="-122"/>
                <a:cs typeface="Carlito" pitchFamily="34" charset="-120"/>
              </a:rPr>
              <a:t>Technical Exploration</a:t>
            </a:r>
            <a:endParaRPr lang="en-US" sz="800" dirty="0"/>
          </a:p>
        </p:txBody>
      </p:sp>
      <p:sp>
        <p:nvSpPr>
          <p:cNvPr id="15" name="Text 13"/>
          <p:cNvSpPr/>
          <p:nvPr/>
        </p:nvSpPr>
        <p:spPr>
          <a:xfrm>
            <a:off x="1624980" y="2576585"/>
            <a:ext cx="897434" cy="242706"/>
          </a:xfrm>
          <a:prstGeom prst="roundRect">
            <a:avLst>
              <a:gd name="adj" fmla="val 15698"/>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16" name="Text 14"/>
          <p:cNvSpPr/>
          <p:nvPr/>
        </p:nvSpPr>
        <p:spPr>
          <a:xfrm>
            <a:off x="1624980" y="2589386"/>
            <a:ext cx="897434" cy="217103"/>
          </a:xfrm>
          <a:prstGeom prst="rect">
            <a:avLst/>
          </a:prstGeom>
          <a:noFill/>
          <a:ln/>
        </p:spPr>
        <p:txBody>
          <a:bodyPr wrap="none" lIns="0" tIns="0" rIns="0" bIns="0" rtlCol="0" anchor="ctr"/>
          <a:lstStyle/>
          <a:p>
            <a:pPr algn="ctr" indent="0" marL="0">
              <a:lnSpc>
                <a:spcPts val="810"/>
              </a:lnSpc>
              <a:buNone/>
            </a:pPr>
            <a:r>
              <a:rPr lang="en-US" sz="800" dirty="0">
                <a:solidFill>
                  <a:srgbClr val="E8E6E1"/>
                </a:solidFill>
                <a:latin typeface="Carlito" pitchFamily="34" charset="0"/>
                <a:ea typeface="Carlito" pitchFamily="34" charset="-122"/>
                <a:cs typeface="Carlito" pitchFamily="34" charset="-120"/>
              </a:rPr>
              <a:t>Executive Summary</a:t>
            </a:r>
            <a:endParaRPr lang="en-US" sz="800" dirty="0"/>
          </a:p>
        </p:txBody>
      </p:sp>
      <p:sp>
        <p:nvSpPr>
          <p:cNvPr id="17" name="Text 15"/>
          <p:cNvSpPr/>
          <p:nvPr/>
        </p:nvSpPr>
        <p:spPr>
          <a:xfrm>
            <a:off x="2565276" y="2576585"/>
            <a:ext cx="650863" cy="242706"/>
          </a:xfrm>
          <a:prstGeom prst="roundRect">
            <a:avLst>
              <a:gd name="adj" fmla="val 15698"/>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18" name="Text 16"/>
          <p:cNvSpPr/>
          <p:nvPr/>
        </p:nvSpPr>
        <p:spPr>
          <a:xfrm>
            <a:off x="2565276" y="2589386"/>
            <a:ext cx="650863" cy="217103"/>
          </a:xfrm>
          <a:prstGeom prst="rect">
            <a:avLst/>
          </a:prstGeom>
          <a:noFill/>
          <a:ln/>
        </p:spPr>
        <p:txBody>
          <a:bodyPr wrap="none" lIns="0" tIns="0" rIns="0" bIns="0" rtlCol="0" anchor="ctr"/>
          <a:lstStyle/>
          <a:p>
            <a:pPr algn="ctr" indent="0" marL="0">
              <a:lnSpc>
                <a:spcPts val="810"/>
              </a:lnSpc>
              <a:buNone/>
            </a:pPr>
            <a:r>
              <a:rPr lang="en-US" sz="800" dirty="0">
                <a:solidFill>
                  <a:srgbClr val="E8E6E1"/>
                </a:solidFill>
                <a:latin typeface="Carlito" pitchFamily="34" charset="0"/>
                <a:ea typeface="Carlito" pitchFamily="34" charset="-122"/>
                <a:cs typeface="Carlito" pitchFamily="34" charset="-120"/>
              </a:rPr>
              <a:t>Drill Program</a:t>
            </a:r>
            <a:endParaRPr lang="en-US" sz="800" dirty="0"/>
          </a:p>
        </p:txBody>
      </p:sp>
      <p:sp>
        <p:nvSpPr>
          <p:cNvPr id="19" name="Text 17"/>
          <p:cNvSpPr/>
          <p:nvPr/>
        </p:nvSpPr>
        <p:spPr>
          <a:xfrm>
            <a:off x="3259001" y="2576585"/>
            <a:ext cx="477962" cy="242706"/>
          </a:xfrm>
          <a:prstGeom prst="roundRect">
            <a:avLst>
              <a:gd name="adj" fmla="val 15698"/>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20" name="Text 18"/>
          <p:cNvSpPr/>
          <p:nvPr/>
        </p:nvSpPr>
        <p:spPr>
          <a:xfrm>
            <a:off x="3259001" y="2589386"/>
            <a:ext cx="477962" cy="217103"/>
          </a:xfrm>
          <a:prstGeom prst="rect">
            <a:avLst/>
          </a:prstGeom>
          <a:noFill/>
          <a:ln/>
        </p:spPr>
        <p:txBody>
          <a:bodyPr wrap="none" lIns="0" tIns="0" rIns="0" bIns="0" rtlCol="0" anchor="ctr"/>
          <a:lstStyle/>
          <a:p>
            <a:pPr algn="ctr" indent="0" marL="0">
              <a:lnSpc>
                <a:spcPts val="810"/>
              </a:lnSpc>
              <a:buNone/>
            </a:pPr>
            <a:r>
              <a:rPr lang="en-US" sz="800" dirty="0">
                <a:solidFill>
                  <a:srgbClr val="E8E6E1"/>
                </a:solidFill>
                <a:latin typeface="Carlito" pitchFamily="34" charset="0"/>
                <a:ea typeface="Carlito" pitchFamily="34" charset="-122"/>
                <a:cs typeface="Carlito" pitchFamily="34" charset="-120"/>
              </a:rPr>
              <a:t>Data QA</a:t>
            </a:r>
            <a:endParaRPr lang="en-US" sz="800" dirty="0"/>
          </a:p>
        </p:txBody>
      </p:sp>
      <p:sp>
        <p:nvSpPr>
          <p:cNvPr id="21" name="Text 19"/>
          <p:cNvSpPr/>
          <p:nvPr/>
        </p:nvSpPr>
        <p:spPr>
          <a:xfrm>
            <a:off x="598646" y="2836550"/>
            <a:ext cx="794139" cy="242706"/>
          </a:xfrm>
          <a:prstGeom prst="roundRect">
            <a:avLst>
              <a:gd name="adj" fmla="val 15698"/>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22" name="Text 20"/>
          <p:cNvSpPr/>
          <p:nvPr/>
        </p:nvSpPr>
        <p:spPr>
          <a:xfrm>
            <a:off x="621506" y="2849352"/>
            <a:ext cx="748419" cy="217103"/>
          </a:xfrm>
          <a:prstGeom prst="rect">
            <a:avLst/>
          </a:prstGeom>
          <a:noFill/>
          <a:ln/>
        </p:spPr>
        <p:txBody>
          <a:bodyPr wrap="none" lIns="0" tIns="0" rIns="0" bIns="0" rtlCol="0" anchor="ctr"/>
          <a:lstStyle/>
          <a:p>
            <a:pPr algn="ctr" indent="0" marL="0">
              <a:lnSpc>
                <a:spcPts val="810"/>
              </a:lnSpc>
              <a:buNone/>
            </a:pPr>
            <a:r>
              <a:rPr lang="en-US" sz="800" dirty="0">
                <a:solidFill>
                  <a:srgbClr val="E8E6E1"/>
                </a:solidFill>
                <a:latin typeface="Carlito" pitchFamily="34" charset="0"/>
                <a:ea typeface="Carlito" pitchFamily="34" charset="-122"/>
                <a:cs typeface="Carlito" pitchFamily="34" charset="-120"/>
              </a:rPr>
              <a:t>Comprehensive</a:t>
            </a:r>
            <a:endParaRPr lang="en-US" sz="800" dirty="0"/>
          </a:p>
        </p:txBody>
      </p:sp>
      <p:sp>
        <p:nvSpPr>
          <p:cNvPr id="23" name="Text 21"/>
          <p:cNvSpPr/>
          <p:nvPr/>
        </p:nvSpPr>
        <p:spPr>
          <a:xfrm>
            <a:off x="621506" y="3152180"/>
            <a:ext cx="3707606" cy="122587"/>
          </a:xfrm>
          <a:prstGeom prst="rect">
            <a:avLst/>
          </a:prstGeom>
          <a:noFill/>
          <a:ln/>
        </p:spPr>
        <p:txBody>
          <a:bodyPr wrap="none" lIns="0" tIns="0" rIns="0" bIns="0" rtlCol="0" anchor="t">
            <a:normAutofit/>
          </a:bodyPr>
          <a:lstStyle/>
          <a:p>
            <a:pPr algn="l" indent="0" marL="0">
              <a:lnSpc>
                <a:spcPts val="844"/>
              </a:lnSpc>
              <a:buNone/>
            </a:pPr>
            <a:r>
              <a:rPr lang="en-US" sz="800" spc="79" kern="0" dirty="0">
                <a:solidFill>
                  <a:srgbClr val="6B6760"/>
                </a:solidFill>
                <a:latin typeface="Carlito" pitchFamily="34" charset="0"/>
                <a:ea typeface="Carlito" pitchFamily="34" charset="-122"/>
                <a:cs typeface="Carlito" pitchFamily="34" charset="-120"/>
              </a:rPr>
              <a:t>PERSONAS</a:t>
            </a:r>
            <a:endParaRPr lang="en-US" sz="800" dirty="0"/>
          </a:p>
        </p:txBody>
      </p:sp>
      <p:sp>
        <p:nvSpPr>
          <p:cNvPr id="24" name="Text 22"/>
          <p:cNvSpPr/>
          <p:nvPr/>
        </p:nvSpPr>
        <p:spPr>
          <a:xfrm>
            <a:off x="621506" y="3291402"/>
            <a:ext cx="866291" cy="201525"/>
          </a:xfrm>
          <a:prstGeom prst="roundRect">
            <a:avLst>
              <a:gd name="adj" fmla="val 18906"/>
            </a:avLst>
          </a:prstGeom>
          <a:noFill/>
          <a:ln w="7144">
            <a:solidFill>
              <a:srgbClr val="2A323C"/>
            </a:solidFill>
            <a:prstDash val="solid"/>
          </a:ln>
        </p:spPr>
        <p:txBody>
          <a:bodyPr wrap="square" rtlCol="0" anchor="ctr"/>
          <a:lstStyle/>
          <a:p>
            <a:pPr indent="0" marL="0">
              <a:buNone/>
            </a:pPr>
            <a:endParaRPr lang="en-US" dirty="0"/>
          </a:p>
        </p:txBody>
      </p:sp>
      <p:sp>
        <p:nvSpPr>
          <p:cNvPr id="25" name="Text 23"/>
          <p:cNvSpPr/>
          <p:nvPr/>
        </p:nvSpPr>
        <p:spPr>
          <a:xfrm>
            <a:off x="621506" y="3302198"/>
            <a:ext cx="866291" cy="179933"/>
          </a:xfrm>
          <a:prstGeom prst="rect">
            <a:avLst/>
          </a:prstGeom>
          <a:noFill/>
          <a:ln/>
        </p:spPr>
        <p:txBody>
          <a:bodyPr wrap="none" lIns="0" tIns="0" rIns="0" bIns="0" rtlCol="0" anchor="ctr"/>
          <a:lstStyle/>
          <a:p>
            <a:pPr algn="ctr" indent="0" marL="0">
              <a:lnSpc>
                <a:spcPts val="742"/>
              </a:lnSpc>
              <a:buNone/>
            </a:pPr>
            <a:r>
              <a:rPr lang="en-US" sz="800" dirty="0">
                <a:solidFill>
                  <a:srgbClr val="A8A39C"/>
                </a:solidFill>
                <a:latin typeface="Carlito" pitchFamily="34" charset="0"/>
                <a:ea typeface="Carlito" pitchFamily="34" charset="-122"/>
                <a:cs typeface="Carlito" pitchFamily="34" charset="-120"/>
              </a:rPr>
              <a:t>Exploration Geologist</a:t>
            </a:r>
            <a:endParaRPr lang="en-US" sz="800" dirty="0"/>
          </a:p>
        </p:txBody>
      </p:sp>
      <p:sp>
        <p:nvSpPr>
          <p:cNvPr id="26" name="Text 24"/>
          <p:cNvSpPr/>
          <p:nvPr/>
        </p:nvSpPr>
        <p:spPr>
          <a:xfrm>
            <a:off x="1534232" y="3305770"/>
            <a:ext cx="1344476" cy="172789"/>
          </a:xfrm>
          <a:prstGeom prst="roundRect">
            <a:avLst>
              <a:gd name="adj" fmla="val 22050"/>
            </a:avLst>
          </a:prstGeom>
          <a:noFill/>
          <a:ln w="7144">
            <a:solidFill>
              <a:srgbClr val="2A323C"/>
            </a:solidFill>
            <a:prstDash val="solid"/>
          </a:ln>
        </p:spPr>
        <p:txBody>
          <a:bodyPr wrap="square" rtlCol="0" anchor="ctr"/>
          <a:lstStyle/>
          <a:p>
            <a:pPr indent="0" marL="0">
              <a:buNone/>
            </a:pPr>
            <a:endParaRPr lang="en-US" dirty="0"/>
          </a:p>
        </p:txBody>
      </p:sp>
      <p:sp>
        <p:nvSpPr>
          <p:cNvPr id="27" name="Text 25"/>
          <p:cNvSpPr/>
          <p:nvPr/>
        </p:nvSpPr>
        <p:spPr>
          <a:xfrm>
            <a:off x="1530660" y="3302198"/>
            <a:ext cx="1373051" cy="251252"/>
          </a:xfrm>
          <a:prstGeom prst="rect">
            <a:avLst/>
          </a:prstGeom>
          <a:noFill/>
          <a:ln/>
        </p:spPr>
        <p:txBody>
          <a:bodyPr wrap="none" lIns="64294" tIns="35719" rIns="64294" bIns="35719" rtlCol="0" anchor="t"/>
          <a:lstStyle/>
          <a:p>
            <a:pPr algn="l" indent="0" marL="0">
              <a:lnSpc>
                <a:spcPts val="742"/>
              </a:lnSpc>
              <a:buNone/>
            </a:pPr>
            <a:r>
              <a:rPr lang="en-US" sz="800" dirty="0">
                <a:solidFill>
                  <a:srgbClr val="A8A39C"/>
                </a:solidFill>
                <a:latin typeface="Liberation Sans Narrow" pitchFamily="34" charset="0"/>
                <a:ea typeface="Liberation Sans Narrow" pitchFamily="34" charset="-122"/>
                <a:cs typeface="Liberation Sans Narrow" pitchFamily="34" charset="-120"/>
              </a:rPr>
              <a:t>Qualified Person (NI 43-101/JORC)</a:t>
            </a:r>
            <a:endParaRPr lang="en-US" sz="800" dirty="0"/>
          </a:p>
        </p:txBody>
      </p:sp>
      <p:sp>
        <p:nvSpPr>
          <p:cNvPr id="28" name="Text 26"/>
          <p:cNvSpPr/>
          <p:nvPr/>
        </p:nvSpPr>
        <p:spPr>
          <a:xfrm>
            <a:off x="2925142" y="3291402"/>
            <a:ext cx="416012" cy="201525"/>
          </a:xfrm>
          <a:prstGeom prst="roundRect">
            <a:avLst>
              <a:gd name="adj" fmla="val 18906"/>
            </a:avLst>
          </a:prstGeom>
          <a:noFill/>
          <a:ln w="7144">
            <a:solidFill>
              <a:srgbClr val="2A323C"/>
            </a:solidFill>
            <a:prstDash val="solid"/>
          </a:ln>
        </p:spPr>
        <p:txBody>
          <a:bodyPr wrap="square" rtlCol="0" anchor="ctr"/>
          <a:lstStyle/>
          <a:p>
            <a:pPr indent="0" marL="0">
              <a:buNone/>
            </a:pPr>
            <a:endParaRPr lang="en-US" dirty="0"/>
          </a:p>
        </p:txBody>
      </p:sp>
      <p:sp>
        <p:nvSpPr>
          <p:cNvPr id="29" name="Text 27"/>
          <p:cNvSpPr/>
          <p:nvPr/>
        </p:nvSpPr>
        <p:spPr>
          <a:xfrm>
            <a:off x="2925142" y="3302198"/>
            <a:ext cx="416012" cy="179933"/>
          </a:xfrm>
          <a:prstGeom prst="rect">
            <a:avLst/>
          </a:prstGeom>
          <a:noFill/>
          <a:ln/>
        </p:spPr>
        <p:txBody>
          <a:bodyPr wrap="none" lIns="0" tIns="0" rIns="0" bIns="0" rtlCol="0" anchor="ctr"/>
          <a:lstStyle/>
          <a:p>
            <a:pPr algn="ctr" indent="0" marL="0">
              <a:lnSpc>
                <a:spcPts val="742"/>
              </a:lnSpc>
              <a:buNone/>
            </a:pPr>
            <a:r>
              <a:rPr lang="en-US" sz="800" dirty="0">
                <a:solidFill>
                  <a:srgbClr val="A8A39C"/>
                </a:solidFill>
                <a:latin typeface="Carlito" pitchFamily="34" charset="0"/>
                <a:ea typeface="Carlito" pitchFamily="34" charset="-122"/>
                <a:cs typeface="Carlito" pitchFamily="34" charset="-120"/>
              </a:rPr>
              <a:t>Investor</a:t>
            </a:r>
            <a:endParaRPr lang="en-US" sz="800" dirty="0"/>
          </a:p>
        </p:txBody>
      </p:sp>
      <p:sp>
        <p:nvSpPr>
          <p:cNvPr id="30" name="Text 28"/>
          <p:cNvSpPr/>
          <p:nvPr/>
        </p:nvSpPr>
        <p:spPr>
          <a:xfrm>
            <a:off x="3384017" y="3291402"/>
            <a:ext cx="698525" cy="201525"/>
          </a:xfrm>
          <a:prstGeom prst="roundRect">
            <a:avLst>
              <a:gd name="adj" fmla="val 18906"/>
            </a:avLst>
          </a:prstGeom>
          <a:noFill/>
          <a:ln w="7144">
            <a:solidFill>
              <a:srgbClr val="2A323C"/>
            </a:solidFill>
            <a:prstDash val="solid"/>
          </a:ln>
        </p:spPr>
        <p:txBody>
          <a:bodyPr wrap="square" rtlCol="0" anchor="ctr"/>
          <a:lstStyle/>
          <a:p>
            <a:pPr indent="0" marL="0">
              <a:buNone/>
            </a:pPr>
            <a:endParaRPr lang="en-US" dirty="0"/>
          </a:p>
        </p:txBody>
      </p:sp>
      <p:sp>
        <p:nvSpPr>
          <p:cNvPr id="31" name="Text 29"/>
          <p:cNvSpPr/>
          <p:nvPr/>
        </p:nvSpPr>
        <p:spPr>
          <a:xfrm>
            <a:off x="3384017" y="3302198"/>
            <a:ext cx="698525" cy="179933"/>
          </a:xfrm>
          <a:prstGeom prst="rect">
            <a:avLst/>
          </a:prstGeom>
          <a:noFill/>
          <a:ln/>
        </p:spPr>
        <p:txBody>
          <a:bodyPr wrap="none" lIns="0" tIns="0" rIns="0" bIns="0" rtlCol="0" anchor="ctr"/>
          <a:lstStyle/>
          <a:p>
            <a:pPr algn="ctr" indent="0" marL="0">
              <a:lnSpc>
                <a:spcPts val="742"/>
              </a:lnSpc>
              <a:buNone/>
            </a:pPr>
            <a:r>
              <a:rPr lang="en-US" sz="800" dirty="0">
                <a:solidFill>
                  <a:srgbClr val="A8A39C"/>
                </a:solidFill>
                <a:latin typeface="Carlito" pitchFamily="34" charset="0"/>
                <a:ea typeface="Carlito" pitchFamily="34" charset="-122"/>
                <a:cs typeface="Carlito" pitchFamily="34" charset="-120"/>
              </a:rPr>
              <a:t>Project Manager</a:t>
            </a:r>
            <a:endParaRPr lang="en-US" sz="800" dirty="0"/>
          </a:p>
        </p:txBody>
      </p:sp>
      <p:sp>
        <p:nvSpPr>
          <p:cNvPr id="32" name="Text 30"/>
          <p:cNvSpPr/>
          <p:nvPr/>
        </p:nvSpPr>
        <p:spPr>
          <a:xfrm>
            <a:off x="598646" y="3514198"/>
            <a:ext cx="919936" cy="201525"/>
          </a:xfrm>
          <a:prstGeom prst="roundRect">
            <a:avLst>
              <a:gd name="adj" fmla="val 18906"/>
            </a:avLst>
          </a:prstGeom>
          <a:noFill/>
          <a:ln w="7144">
            <a:solidFill>
              <a:srgbClr val="2A323C"/>
            </a:solidFill>
            <a:prstDash val="solid"/>
          </a:ln>
        </p:spPr>
        <p:txBody>
          <a:bodyPr wrap="square" rtlCol="0" anchor="ctr"/>
          <a:lstStyle/>
          <a:p>
            <a:pPr indent="0" marL="0">
              <a:buNone/>
            </a:pPr>
            <a:endParaRPr lang="en-US" dirty="0"/>
          </a:p>
        </p:txBody>
      </p:sp>
      <p:sp>
        <p:nvSpPr>
          <p:cNvPr id="33" name="Text 31"/>
          <p:cNvSpPr/>
          <p:nvPr/>
        </p:nvSpPr>
        <p:spPr>
          <a:xfrm>
            <a:off x="621506" y="3524994"/>
            <a:ext cx="874216" cy="179933"/>
          </a:xfrm>
          <a:prstGeom prst="rect">
            <a:avLst/>
          </a:prstGeom>
          <a:noFill/>
          <a:ln/>
        </p:spPr>
        <p:txBody>
          <a:bodyPr wrap="none" lIns="0" tIns="0" rIns="0" bIns="0" rtlCol="0" anchor="ctr"/>
          <a:lstStyle/>
          <a:p>
            <a:pPr algn="ctr" indent="0" marL="0">
              <a:lnSpc>
                <a:spcPts val="742"/>
              </a:lnSpc>
              <a:buNone/>
            </a:pPr>
            <a:r>
              <a:rPr lang="en-US" sz="800" dirty="0">
                <a:solidFill>
                  <a:srgbClr val="A8A39C"/>
                </a:solidFill>
                <a:latin typeface="Carlito" pitchFamily="34" charset="0"/>
                <a:ea typeface="Carlito" pitchFamily="34" charset="-122"/>
                <a:cs typeface="Carlito" pitchFamily="34" charset="-120"/>
              </a:rPr>
              <a:t>Environmental Officer</a:t>
            </a:r>
            <a:endParaRPr lang="en-US" sz="800" dirty="0"/>
          </a:p>
        </p:txBody>
      </p:sp>
      <p:sp>
        <p:nvSpPr>
          <p:cNvPr id="34" name="Text 32"/>
          <p:cNvSpPr/>
          <p:nvPr/>
        </p:nvSpPr>
        <p:spPr>
          <a:xfrm>
            <a:off x="621506" y="3804940"/>
            <a:ext cx="3707606" cy="153514"/>
          </a:xfrm>
          <a:prstGeom prst="rect">
            <a:avLst/>
          </a:prstGeom>
          <a:noFill/>
          <a:ln/>
        </p:spPr>
        <p:txBody>
          <a:bodyPr wrap="square" lIns="0" tIns="0" rIns="0" bIns="0" rtlCol="0" anchor="t"/>
          <a:lstStyle/>
          <a:p>
            <a:pPr algn="l" indent="0" marL="0">
              <a:lnSpc>
                <a:spcPts val="1024"/>
              </a:lnSpc>
              <a:buNone/>
            </a:pPr>
            <a:r>
              <a:rPr lang="en-US" sz="731" dirty="0">
                <a:solidFill>
                  <a:srgbClr val="E8E6E1"/>
                </a:solidFill>
                <a:latin typeface="Carlito" pitchFamily="34" charset="0"/>
                <a:ea typeface="Carlito" pitchFamily="34" charset="-122"/>
                <a:cs typeface="Carlito" pitchFamily="34" charset="-120"/>
              </a:rPr>
              <a:t>Versioned, not overwritten — draft → review → final, human edits recorded</a:t>
            </a:r>
            <a:endParaRPr lang="en-US" sz="731" dirty="0"/>
          </a:p>
        </p:txBody>
      </p:sp>
      <p:sp>
        <p:nvSpPr>
          <p:cNvPr id="35" name="Text 33"/>
          <p:cNvSpPr/>
          <p:nvPr/>
        </p:nvSpPr>
        <p:spPr>
          <a:xfrm>
            <a:off x="621506" y="3992017"/>
            <a:ext cx="3817334" cy="153514"/>
          </a:xfrm>
          <a:prstGeom prst="rect">
            <a:avLst/>
          </a:prstGeom>
          <a:noFill/>
          <a:ln/>
        </p:spPr>
        <p:txBody>
          <a:bodyPr wrap="square" lIns="0" tIns="0" rIns="0" bIns="0" rtlCol="0" anchor="t"/>
          <a:lstStyle/>
          <a:p>
            <a:pPr algn="l" indent="0" marL="0">
              <a:lnSpc>
                <a:spcPts val="1024"/>
              </a:lnSpc>
              <a:buNone/>
            </a:pPr>
            <a:r>
              <a:rPr lang="en-US" sz="800" dirty="0">
                <a:solidFill>
                  <a:srgbClr val="E8E6E1"/>
                </a:solidFill>
                <a:latin typeface="Carlito" pitchFamily="34" charset="0"/>
                <a:ea typeface="Carlito" pitchFamily="34" charset="-122"/>
                <a:cs typeface="Carlito" pitchFamily="34" charset="-120"/>
              </a:rPr>
              <a:t>Export formats — PDF, shapefile, KML, CSV</a:t>
            </a:r>
            <a:endParaRPr lang="en-US" sz="800" dirty="0"/>
          </a:p>
        </p:txBody>
      </p:sp>
      <p:sp>
        <p:nvSpPr>
          <p:cNvPr id="36" name="Text 34"/>
          <p:cNvSpPr/>
          <p:nvPr/>
        </p:nvSpPr>
        <p:spPr>
          <a:xfrm>
            <a:off x="621506" y="4179094"/>
            <a:ext cx="3707606" cy="153514"/>
          </a:xfrm>
          <a:prstGeom prst="rect">
            <a:avLst/>
          </a:prstGeom>
          <a:noFill/>
          <a:ln/>
        </p:spPr>
        <p:txBody>
          <a:bodyPr wrap="square" lIns="0" tIns="0" rIns="0" bIns="0" rtlCol="0" anchor="t"/>
          <a:lstStyle/>
          <a:p>
            <a:pPr algn="l" indent="0" marL="0">
              <a:lnSpc>
                <a:spcPts val="1024"/>
              </a:lnSpc>
              <a:buNone/>
            </a:pPr>
            <a:r>
              <a:rPr lang="en-US" sz="731" dirty="0">
                <a:solidFill>
                  <a:srgbClr val="E8E6E1"/>
                </a:solidFill>
                <a:latin typeface="Carlito" pitchFamily="34" charset="0"/>
                <a:ea typeface="Carlito" pitchFamily="34" charset="-122"/>
                <a:cs typeface="Carlito" pitchFamily="34" charset="-120"/>
              </a:rPr>
              <a:t>White-label — consultant logo, company name, contact on every document</a:t>
            </a:r>
            <a:endParaRPr lang="en-US" sz="731" dirty="0"/>
          </a:p>
        </p:txBody>
      </p:sp>
      <p:sp>
        <p:nvSpPr>
          <p:cNvPr id="37" name="Text 35"/>
          <p:cNvSpPr/>
          <p:nvPr/>
        </p:nvSpPr>
        <p:spPr>
          <a:xfrm>
            <a:off x="621506" y="4366171"/>
            <a:ext cx="3817334" cy="129927"/>
          </a:xfrm>
          <a:prstGeom prst="rect">
            <a:avLst/>
          </a:prstGeom>
          <a:noFill/>
          <a:ln/>
        </p:spPr>
        <p:txBody>
          <a:bodyPr wrap="square" lIns="0" tIns="0" rIns="0" bIns="0" rtlCol="0" anchor="t"/>
          <a:lstStyle/>
          <a:p>
            <a:pPr algn="l" indent="0" marL="0">
              <a:lnSpc>
                <a:spcPts val="1024"/>
              </a:lnSpc>
              <a:buNone/>
            </a:pPr>
            <a:r>
              <a:rPr lang="en-US" sz="800" dirty="0">
                <a:solidFill>
                  <a:srgbClr val="E8E6E1"/>
                </a:solidFill>
                <a:latin typeface="Carlito" pitchFamily="34" charset="0"/>
                <a:ea typeface="Carlito" pitchFamily="34" charset="-122"/>
                <a:cs typeface="Carlito" pitchFamily="34" charset="-120"/>
              </a:rPr>
              <a:t>QP/investor voices strip unsupported claims</a:t>
            </a:r>
            <a:endParaRPr lang="en-US" sz="800" dirty="0"/>
          </a:p>
        </p:txBody>
      </p:sp>
      <p:sp>
        <p:nvSpPr>
          <p:cNvPr id="38" name="Text 36"/>
          <p:cNvSpPr/>
          <p:nvPr/>
        </p:nvSpPr>
        <p:spPr>
          <a:xfrm>
            <a:off x="4654153" y="1871439"/>
            <a:ext cx="4029075" cy="2771105"/>
          </a:xfrm>
          <a:prstGeom prst="roundRect">
            <a:avLst>
              <a:gd name="adj" fmla="val 2750"/>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39" name="Text 37"/>
          <p:cNvSpPr/>
          <p:nvPr/>
        </p:nvSpPr>
        <p:spPr>
          <a:xfrm>
            <a:off x="4814888" y="2017886"/>
            <a:ext cx="3707606" cy="133302"/>
          </a:xfrm>
          <a:prstGeom prst="rect">
            <a:avLst/>
          </a:prstGeom>
          <a:noFill/>
          <a:ln/>
        </p:spPr>
        <p:txBody>
          <a:bodyPr wrap="none" lIns="0" tIns="0" rIns="0" bIns="0" rtlCol="0" anchor="t">
            <a:normAutofit/>
          </a:bodyPr>
          <a:lstStyle/>
          <a:p>
            <a:pPr algn="l" indent="0" marL="0">
              <a:lnSpc>
                <a:spcPts val="928"/>
              </a:lnSpc>
              <a:buNone/>
            </a:pPr>
            <a:r>
              <a:rPr lang="en-US" sz="800" spc="99" kern="0" dirty="0">
                <a:solidFill>
                  <a:srgbClr val="6B6760"/>
                </a:solidFill>
                <a:latin typeface="Liberation Sans Narrow" pitchFamily="34" charset="0"/>
                <a:ea typeface="Liberation Sans Narrow" pitchFamily="34" charset="-122"/>
                <a:cs typeface="Liberation Sans Narrow" pitchFamily="34" charset="-120"/>
              </a:rPr>
              <a:t>GROUP 7 · 4 FEATURES</a:t>
            </a:r>
            <a:endParaRPr lang="en-US" sz="800" dirty="0"/>
          </a:p>
        </p:txBody>
      </p:sp>
      <p:sp>
        <p:nvSpPr>
          <p:cNvPr id="40" name="Text 38"/>
          <p:cNvSpPr/>
          <p:nvPr/>
        </p:nvSpPr>
        <p:spPr>
          <a:xfrm>
            <a:off x="4814888" y="2178621"/>
            <a:ext cx="3817334" cy="173593"/>
          </a:xfrm>
          <a:prstGeom prst="rect">
            <a:avLst/>
          </a:prstGeom>
          <a:noFill/>
          <a:ln/>
        </p:spPr>
        <p:txBody>
          <a:bodyPr wrap="square" lIns="0" tIns="0" rIns="0" bIns="0" rtlCol="0" anchor="t"/>
          <a:lstStyle/>
          <a:p>
            <a:pPr algn="l" indent="0" marL="0">
              <a:lnSpc>
                <a:spcPts val="1266"/>
              </a:lnSpc>
              <a:buNone/>
            </a:pPr>
            <a:r>
              <a:rPr lang="en-US" sz="1013" b="1" dirty="0">
                <a:solidFill>
                  <a:srgbClr val="E8E6E1"/>
                </a:solidFill>
                <a:latin typeface="Carlito" pitchFamily="34" charset="0"/>
                <a:ea typeface="Carlito" pitchFamily="34" charset="-122"/>
                <a:cs typeface="Carlito" pitchFamily="34" charset="-120"/>
              </a:rPr>
              <a:t>Built to degrade, not to stop</a:t>
            </a:r>
            <a:endParaRPr lang="en-US" sz="1013" dirty="0"/>
          </a:p>
        </p:txBody>
      </p:sp>
      <p:sp>
        <p:nvSpPr>
          <p:cNvPr id="41" name="Text 39"/>
          <p:cNvSpPr/>
          <p:nvPr/>
        </p:nvSpPr>
        <p:spPr>
          <a:xfrm>
            <a:off x="4814888" y="2439367"/>
            <a:ext cx="3707606" cy="122587"/>
          </a:xfrm>
          <a:prstGeom prst="rect">
            <a:avLst/>
          </a:prstGeom>
          <a:noFill/>
          <a:ln/>
        </p:spPr>
        <p:txBody>
          <a:bodyPr wrap="none" lIns="0" tIns="0" rIns="0" bIns="0" rtlCol="0" anchor="t">
            <a:normAutofit/>
          </a:bodyPr>
          <a:lstStyle/>
          <a:p>
            <a:pPr algn="l" indent="0" marL="0">
              <a:lnSpc>
                <a:spcPts val="844"/>
              </a:lnSpc>
              <a:buNone/>
            </a:pPr>
            <a:r>
              <a:rPr lang="en-US" sz="800" spc="79" kern="0" dirty="0">
                <a:solidFill>
                  <a:srgbClr val="6B6760"/>
                </a:solidFill>
                <a:latin typeface="Carlito" pitchFamily="34" charset="0"/>
                <a:ea typeface="Carlito" pitchFamily="34" charset="-122"/>
                <a:cs typeface="Carlito" pitchFamily="34" charset="-120"/>
              </a:rPr>
              <a:t>CONNECTIVITY STATE</a:t>
            </a:r>
            <a:endParaRPr lang="en-US" sz="800" dirty="0"/>
          </a:p>
        </p:txBody>
      </p:sp>
      <p:sp>
        <p:nvSpPr>
          <p:cNvPr id="42" name="Text 40"/>
          <p:cNvSpPr/>
          <p:nvPr/>
        </p:nvSpPr>
        <p:spPr>
          <a:xfrm>
            <a:off x="4814888" y="2626891"/>
            <a:ext cx="2428763" cy="42863"/>
          </a:xfrm>
          <a:prstGeom prst="roundRect">
            <a:avLst>
              <a:gd name="adj" fmla="val 66666"/>
            </a:avLst>
          </a:prstGeom>
          <a:solidFill>
            <a:srgbClr val="2A323C"/>
          </a:solidFill>
          <a:ln/>
        </p:spPr>
        <p:txBody>
          <a:bodyPr wrap="square" rtlCol="0" anchor="ctr"/>
          <a:lstStyle/>
          <a:p>
            <a:pPr indent="0" marL="0">
              <a:buNone/>
            </a:pPr>
            <a:endParaRPr lang="en-US" dirty="0"/>
          </a:p>
        </p:txBody>
      </p:sp>
      <p:sp>
        <p:nvSpPr>
          <p:cNvPr id="43" name="Text 41"/>
          <p:cNvSpPr/>
          <p:nvPr/>
        </p:nvSpPr>
        <p:spPr>
          <a:xfrm>
            <a:off x="4843463" y="2605460"/>
            <a:ext cx="85725" cy="85725"/>
          </a:xfrm>
          <a:prstGeom prst="ellipse">
            <a:avLst/>
          </a:prstGeom>
          <a:solidFill>
            <a:srgbClr val="D4A437"/>
          </a:solidFill>
          <a:ln/>
          <a:effectLst>
            <a:outerShdw sx="100000" sy="100000" kx="0" ky="0" algn="bl" rotWithShape="0" blurRad="101600" dist="50800" dir="16200000">
              <a:srgbClr val="D4A437">
                <a:alpha val="18000"/>
              </a:srgbClr>
            </a:outerShdw>
          </a:effectLst>
        </p:spPr>
        <p:txBody>
          <a:bodyPr wrap="square" rtlCol="0" anchor="ctr"/>
          <a:lstStyle/>
          <a:p>
            <a:pPr indent="0" marL="0">
              <a:buNone/>
            </a:pPr>
            <a:endParaRPr lang="en-US" dirty="0"/>
          </a:p>
        </p:txBody>
      </p:sp>
      <p:sp>
        <p:nvSpPr>
          <p:cNvPr id="44" name="Text 42"/>
          <p:cNvSpPr/>
          <p:nvPr/>
        </p:nvSpPr>
        <p:spPr>
          <a:xfrm>
            <a:off x="7315088" y="2589386"/>
            <a:ext cx="1207405" cy="164592"/>
          </a:xfrm>
          <a:prstGeom prst="rect">
            <a:avLst/>
          </a:prstGeom>
          <a:noFill/>
          <a:ln/>
        </p:spPr>
        <p:txBody>
          <a:bodyPr wrap="none" lIns="0" tIns="0" rIns="0" bIns="0" rtlCol="0" anchor="t"/>
          <a:lstStyle/>
          <a:p>
            <a:pPr algn="l" indent="0" marL="0">
              <a:lnSpc>
                <a:spcPts val="928"/>
              </a:lnSpc>
              <a:buNone/>
            </a:pPr>
            <a:r>
              <a:rPr lang="en-US" sz="619" spc="62" kern="0" dirty="0">
                <a:solidFill>
                  <a:srgbClr val="E8E6E1"/>
                </a:solidFill>
                <a:latin typeface="Liberation Sans Narrow" pitchFamily="34" charset="0"/>
                <a:ea typeface="Liberation Sans Narrow" pitchFamily="34" charset="-122"/>
                <a:cs typeface="Liberation Sans Narrow" pitchFamily="34" charset="-120"/>
              </a:rPr>
              <a:t>OFFLINE — CACHED Z 12–14</a:t>
            </a:r>
            <a:endParaRPr lang="en-US" sz="619" dirty="0"/>
          </a:p>
        </p:txBody>
      </p:sp>
      <p:sp>
        <p:nvSpPr>
          <p:cNvPr id="45" name="Text 43"/>
          <p:cNvSpPr/>
          <p:nvPr/>
        </p:nvSpPr>
        <p:spPr>
          <a:xfrm>
            <a:off x="4814888" y="2821558"/>
            <a:ext cx="3707606" cy="153514"/>
          </a:xfrm>
          <a:prstGeom prst="rect">
            <a:avLst/>
          </a:prstGeom>
          <a:noFill/>
          <a:ln/>
        </p:spPr>
        <p:txBody>
          <a:bodyPr wrap="square" lIns="0" tIns="0" rIns="0" bIns="0" rtlCol="0" anchor="t"/>
          <a:lstStyle/>
          <a:p>
            <a:pPr algn="l" indent="0" marL="0">
              <a:lnSpc>
                <a:spcPts val="1024"/>
              </a:lnSpc>
              <a:buNone/>
            </a:pPr>
            <a:r>
              <a:rPr lang="en-US" sz="731" dirty="0">
                <a:solidFill>
                  <a:srgbClr val="E8E6E1"/>
                </a:solidFill>
                <a:latin typeface="Carlito" pitchFamily="34" charset="0"/>
                <a:ea typeface="Carlito" pitchFamily="34" charset="-122"/>
                <a:cs typeface="Carlito" pitchFamily="34" charset="-120"/>
              </a:rPr>
              <a:t>Offline map tiles — current view + surrounding zoom levels cached on load</a:t>
            </a:r>
            <a:endParaRPr lang="en-US" sz="731" dirty="0"/>
          </a:p>
        </p:txBody>
      </p:sp>
      <p:sp>
        <p:nvSpPr>
          <p:cNvPr id="46" name="Text 44"/>
          <p:cNvSpPr/>
          <p:nvPr/>
        </p:nvSpPr>
        <p:spPr>
          <a:xfrm>
            <a:off x="4814888" y="3008635"/>
            <a:ext cx="3707606" cy="153514"/>
          </a:xfrm>
          <a:prstGeom prst="rect">
            <a:avLst/>
          </a:prstGeom>
          <a:noFill/>
          <a:ln/>
        </p:spPr>
        <p:txBody>
          <a:bodyPr wrap="square" lIns="0" tIns="0" rIns="0" bIns="0" rtlCol="0" anchor="t"/>
          <a:lstStyle/>
          <a:p>
            <a:pPr algn="l" indent="0" marL="0">
              <a:lnSpc>
                <a:spcPts val="1024"/>
              </a:lnSpc>
              <a:buNone/>
            </a:pPr>
            <a:r>
              <a:rPr lang="en-US" sz="731" dirty="0">
                <a:solidFill>
                  <a:srgbClr val="E8E6E1"/>
                </a:solidFill>
                <a:latin typeface="Carlito" pitchFamily="34" charset="0"/>
                <a:ea typeface="Carlito" pitchFamily="34" charset="-122"/>
                <a:cs typeface="Carlito" pitchFamily="34" charset="-120"/>
              </a:rPr>
              <a:t>Offline targets and notes — QP notes queued on device, synced on reconnect</a:t>
            </a:r>
            <a:endParaRPr lang="en-US" sz="731" dirty="0"/>
          </a:p>
        </p:txBody>
      </p:sp>
      <p:sp>
        <p:nvSpPr>
          <p:cNvPr id="47" name="Text 45"/>
          <p:cNvSpPr/>
          <p:nvPr/>
        </p:nvSpPr>
        <p:spPr>
          <a:xfrm>
            <a:off x="4814888" y="3195712"/>
            <a:ext cx="3707606" cy="153514"/>
          </a:xfrm>
          <a:prstGeom prst="rect">
            <a:avLst/>
          </a:prstGeom>
          <a:noFill/>
          <a:ln/>
        </p:spPr>
        <p:txBody>
          <a:bodyPr wrap="square" lIns="0" tIns="0" rIns="0" bIns="0" rtlCol="0" anchor="t"/>
          <a:lstStyle/>
          <a:p>
            <a:pPr algn="l" indent="0" marL="0">
              <a:lnSpc>
                <a:spcPts val="1024"/>
              </a:lnSpc>
              <a:buNone/>
            </a:pPr>
            <a:r>
              <a:rPr lang="en-US" sz="731" dirty="0">
                <a:solidFill>
                  <a:srgbClr val="E8E6E1"/>
                </a:solidFill>
                <a:latin typeface="Carlito" pitchFamily="34" charset="0"/>
                <a:ea typeface="Carlito" pitchFamily="34" charset="-122"/>
                <a:cs typeface="Carlito" pitchFamily="34" charset="-120"/>
              </a:rPr>
              <a:t>Connectivity state — actions that need a network disabled and explained</a:t>
            </a:r>
            <a:endParaRPr lang="en-US" sz="731" dirty="0"/>
          </a:p>
        </p:txBody>
      </p:sp>
      <p:sp>
        <p:nvSpPr>
          <p:cNvPr id="48" name="Text 46"/>
          <p:cNvSpPr/>
          <p:nvPr/>
        </p:nvSpPr>
        <p:spPr>
          <a:xfrm>
            <a:off x="4814888" y="3382789"/>
            <a:ext cx="3707606" cy="153514"/>
          </a:xfrm>
          <a:prstGeom prst="rect">
            <a:avLst/>
          </a:prstGeom>
          <a:noFill/>
          <a:ln/>
        </p:spPr>
        <p:txBody>
          <a:bodyPr wrap="square" lIns="0" tIns="0" rIns="0" bIns="0" rtlCol="0" anchor="t"/>
          <a:lstStyle/>
          <a:p>
            <a:pPr algn="l" indent="0" marL="0">
              <a:lnSpc>
                <a:spcPts val="1024"/>
              </a:lnSpc>
              <a:buNone/>
            </a:pPr>
            <a:r>
              <a:rPr lang="en-US" sz="731" dirty="0">
                <a:solidFill>
                  <a:srgbClr val="E8E6E1"/>
                </a:solidFill>
                <a:latin typeface="Carlito" pitchFamily="34" charset="0"/>
                <a:ea typeface="Carlito" pitchFamily="34" charset="-122"/>
                <a:cs typeface="Carlito" pitchFamily="34" charset="-120"/>
              </a:rPr>
              <a:t>Portfolio dashboard — every project, ranked targets, area, commodity, status</a:t>
            </a:r>
            <a:endParaRPr lang="en-US" sz="731" dirty="0"/>
          </a:p>
        </p:txBody>
      </p:sp>
      <p:sp>
        <p:nvSpPr>
          <p:cNvPr id="49" name="Text 47"/>
          <p:cNvSpPr/>
          <p:nvPr/>
        </p:nvSpPr>
        <p:spPr>
          <a:xfrm>
            <a:off x="457200" y="4746129"/>
            <a:ext cx="1642281" cy="203597"/>
          </a:xfrm>
          <a:prstGeom prst="roundRect">
            <a:avLst>
              <a:gd name="adj" fmla="val 9357"/>
            </a:avLst>
          </a:prstGeom>
          <a:solidFill>
            <a:srgbClr val="6BAE85">
              <a:alpha val="8000"/>
            </a:srgbClr>
          </a:solidFill>
          <a:ln/>
        </p:spPr>
        <p:txBody>
          <a:bodyPr wrap="square" rtlCol="0" anchor="ctr"/>
          <a:lstStyle/>
          <a:p>
            <a:pPr indent="0" marL="0">
              <a:buNone/>
            </a:pPr>
            <a:endParaRPr lang="en-US" dirty="0"/>
          </a:p>
        </p:txBody>
      </p:sp>
      <p:sp>
        <p:nvSpPr>
          <p:cNvPr id="50" name="Shape 48"/>
          <p:cNvSpPr/>
          <p:nvPr/>
        </p:nvSpPr>
        <p:spPr>
          <a:xfrm>
            <a:off x="467916" y="4746129"/>
            <a:ext cx="0" cy="203597"/>
          </a:xfrm>
          <a:prstGeom prst="line">
            <a:avLst/>
          </a:prstGeom>
          <a:noFill/>
          <a:ln w="21431">
            <a:solidFill>
              <a:srgbClr val="6BAE85"/>
            </a:solidFill>
            <a:prstDash val="solid"/>
          </a:ln>
        </p:spPr>
      </p:sp>
      <p:sp>
        <p:nvSpPr>
          <p:cNvPr id="51" name="Text 49"/>
          <p:cNvSpPr/>
          <p:nvPr/>
        </p:nvSpPr>
        <p:spPr>
          <a:xfrm>
            <a:off x="550069" y="4788991"/>
            <a:ext cx="1551509" cy="117872"/>
          </a:xfrm>
          <a:prstGeom prst="rect">
            <a:avLst/>
          </a:prstGeom>
          <a:noFill/>
          <a:ln/>
        </p:spPr>
        <p:txBody>
          <a:bodyPr wrap="square" lIns="0" tIns="0" rIns="0" bIns="0" rtlCol="0" anchor="t"/>
          <a:lstStyle/>
          <a:p>
            <a:pPr algn="l" indent="0" marL="0">
              <a:lnSpc>
                <a:spcPts val="928"/>
              </a:lnSpc>
              <a:buNone/>
            </a:pPr>
            <a:r>
              <a:rPr lang="en-US" sz="619" b="1" spc="87" kern="0" dirty="0">
                <a:solidFill>
                  <a:srgbClr val="6BAE85"/>
                </a:solidFill>
                <a:latin typeface="Carlito" pitchFamily="34" charset="0"/>
                <a:ea typeface="Carlito" pitchFamily="34" charset="-122"/>
                <a:cs typeface="Carlito" pitchFamily="34" charset="-120"/>
              </a:rPr>
              <a:t>IMPACT · ONE SOURCE OF TRUTH</a:t>
            </a:r>
            <a:endParaRPr lang="en-US" sz="619" dirty="0"/>
          </a:p>
        </p:txBody>
      </p:sp>
      <p:sp>
        <p:nvSpPr>
          <p:cNvPr id="52" name="Text 50"/>
          <p:cNvSpPr/>
          <p:nvPr/>
        </p:nvSpPr>
        <p:spPr>
          <a:xfrm>
            <a:off x="5013685" y="4777941"/>
            <a:ext cx="3673115" cy="153570"/>
          </a:xfrm>
          <a:prstGeom prst="rect">
            <a:avLst/>
          </a:prstGeom>
          <a:noFill/>
          <a:ln/>
        </p:spPr>
        <p:txBody>
          <a:bodyPr wrap="square" lIns="0" tIns="0" rIns="0" bIns="0" rtlCol="0" anchor="t"/>
          <a:lstStyle/>
          <a:p>
            <a:pPr algn="r" indent="0" marL="0">
              <a:lnSpc>
                <a:spcPts val="1103"/>
              </a:lnSpc>
              <a:buNone/>
            </a:pPr>
            <a:r>
              <a:rPr lang="en-US" sz="788" dirty="0">
                <a:solidFill>
                  <a:srgbClr val="6BAE85"/>
                </a:solidFill>
                <a:latin typeface="Carlito" pitchFamily="34" charset="0"/>
                <a:ea typeface="Carlito" pitchFamily="34" charset="-122"/>
                <a:cs typeface="Carlito" pitchFamily="34" charset="-120"/>
              </a:rPr>
              <a:t>The deliverable and the screen draw from the same data. The field camp still works.</a:t>
            </a:r>
            <a:endParaRPr lang="en-US" sz="788" dirty="0"/>
          </a:p>
        </p:txBody>
      </p:sp>
      <p:sp>
        <p:nvSpPr>
          <p:cNvPr id="53" name="Text 51"/>
          <p:cNvSpPr/>
          <p:nvPr/>
        </p:nvSpPr>
        <p:spPr>
          <a:xfrm>
            <a:off x="457200" y="4868466"/>
            <a:ext cx="7885249" cy="164592"/>
          </a:xfrm>
          <a:prstGeom prst="rect">
            <a:avLst/>
          </a:prstGeom>
          <a:noFill/>
          <a:ln/>
        </p:spPr>
        <p:txBody>
          <a:bodyPr wrap="square" lIns="0" tIns="0" rIns="0" bIns="0" rtlCol="0" anchor="t"/>
          <a:lstStyle/>
          <a:p>
            <a:pPr algn="l" indent="0" marL="0">
              <a:lnSpc>
                <a:spcPts val="928"/>
              </a:lnSpc>
              <a:buNone/>
            </a:pPr>
            <a:r>
              <a:rPr lang="en-US" sz="800" spc="62" kern="0" dirty="0">
                <a:solidFill>
                  <a:srgbClr val="6B6760"/>
                </a:solidFill>
                <a:latin typeface="Carlito" pitchFamily="34" charset="0"/>
                <a:ea typeface="Carlito" pitchFamily="34" charset="-122"/>
                <a:cs typeface="Carlito" pitchFamily="34" charset="-120"/>
              </a:rPr>
              <a:t>TERRAPULSE · GOLD FIELDS GHANA</a:t>
            </a:r>
            <a:endParaRPr lang="en-US" sz="800" dirty="0"/>
          </a:p>
        </p:txBody>
      </p:sp>
      <p:sp>
        <p:nvSpPr>
          <p:cNvPr id="54" name="Text 52"/>
          <p:cNvSpPr/>
          <p:nvPr/>
        </p:nvSpPr>
        <p:spPr>
          <a:xfrm>
            <a:off x="8356736" y="4868466"/>
            <a:ext cx="474415"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6B6760"/>
                </a:solidFill>
                <a:latin typeface="Liberation Sans Narrow" pitchFamily="34" charset="0"/>
                <a:ea typeface="Liberation Sans Narrow" pitchFamily="34" charset="-122"/>
                <a:cs typeface="Liberation Sans Narrow" pitchFamily="34" charset="-120"/>
              </a:rPr>
              <a:t>10 / 12</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116"/>
        </a:solidFill>
      </p:bgPr>
    </p:bg>
    <p:spTree>
      <p:nvGrpSpPr>
        <p:cNvPr id="1" name=""/>
        <p:cNvGrpSpPr/>
        <p:nvPr/>
      </p:nvGrpSpPr>
      <p:grpSpPr>
        <a:xfrm>
          <a:off x="0" y="0"/>
          <a:ext cx="0" cy="0"/>
          <a:chOff x="0" y="0"/>
          <a:chExt cx="0" cy="0"/>
        </a:xfrm>
      </p:grpSpPr>
      <p:sp>
        <p:nvSpPr>
          <p:cNvPr id="2" name="Text 0"/>
          <p:cNvSpPr/>
          <p:nvPr/>
        </p:nvSpPr>
        <p:spPr>
          <a:xfrm>
            <a:off x="403622" y="289322"/>
            <a:ext cx="8336756" cy="721519"/>
          </a:xfrm>
          <a:prstGeom prst="roundRect">
            <a:avLst>
              <a:gd name="adj" fmla="val 10561"/>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3" name="Text 1"/>
          <p:cNvSpPr/>
          <p:nvPr/>
        </p:nvSpPr>
        <p:spPr>
          <a:xfrm>
            <a:off x="564356" y="378619"/>
            <a:ext cx="2101044" cy="203597"/>
          </a:xfrm>
          <a:prstGeom prst="roundRect">
            <a:avLst>
              <a:gd name="adj" fmla="val 9357"/>
            </a:avLst>
          </a:prstGeom>
          <a:solidFill>
            <a:srgbClr val="D4633F">
              <a:alpha val="8000"/>
            </a:srgbClr>
          </a:solidFill>
          <a:ln/>
        </p:spPr>
        <p:txBody>
          <a:bodyPr wrap="square" rtlCol="0" anchor="ctr"/>
          <a:lstStyle/>
          <a:p>
            <a:pPr indent="0" marL="0">
              <a:buNone/>
            </a:pPr>
            <a:endParaRPr lang="en-US" dirty="0"/>
          </a:p>
        </p:txBody>
      </p:sp>
      <p:sp>
        <p:nvSpPr>
          <p:cNvPr id="4" name="Shape 2"/>
          <p:cNvSpPr/>
          <p:nvPr/>
        </p:nvSpPr>
        <p:spPr>
          <a:xfrm>
            <a:off x="575072" y="378619"/>
            <a:ext cx="0" cy="203597"/>
          </a:xfrm>
          <a:prstGeom prst="line">
            <a:avLst/>
          </a:prstGeom>
          <a:noFill/>
          <a:ln w="21431">
            <a:solidFill>
              <a:srgbClr val="D4633F"/>
            </a:solidFill>
            <a:prstDash val="solid"/>
          </a:ln>
        </p:spPr>
      </p:sp>
      <p:sp>
        <p:nvSpPr>
          <p:cNvPr id="5" name="Text 3"/>
          <p:cNvSpPr/>
          <p:nvPr/>
        </p:nvSpPr>
        <p:spPr>
          <a:xfrm>
            <a:off x="657225" y="421481"/>
            <a:ext cx="2032178" cy="117872"/>
          </a:xfrm>
          <a:prstGeom prst="rect">
            <a:avLst/>
          </a:prstGeom>
          <a:noFill/>
          <a:ln/>
        </p:spPr>
        <p:txBody>
          <a:bodyPr wrap="square" lIns="0" tIns="0" rIns="0" bIns="0" rtlCol="0" anchor="t"/>
          <a:lstStyle/>
          <a:p>
            <a:pPr algn="l" indent="0" marL="0">
              <a:lnSpc>
                <a:spcPts val="928"/>
              </a:lnSpc>
              <a:buNone/>
            </a:pPr>
            <a:r>
              <a:rPr lang="en-US" sz="619" b="1" spc="87" kern="0" dirty="0">
                <a:solidFill>
                  <a:srgbClr val="D4633F"/>
                </a:solidFill>
                <a:latin typeface="Carlito" pitchFamily="34" charset="0"/>
                <a:ea typeface="Carlito" pitchFamily="34" charset="-122"/>
                <a:cs typeface="Carlito" pitchFamily="34" charset="-120"/>
              </a:rPr>
              <a:t>PROBLEM · AUTOMATION IS EASY TO CLAIM</a:t>
            </a:r>
            <a:endParaRPr lang="en-US" sz="619" dirty="0"/>
          </a:p>
        </p:txBody>
      </p:sp>
      <p:sp>
        <p:nvSpPr>
          <p:cNvPr id="6" name="Text 4"/>
          <p:cNvSpPr/>
          <p:nvPr/>
        </p:nvSpPr>
        <p:spPr>
          <a:xfrm>
            <a:off x="564356" y="632222"/>
            <a:ext cx="7715250" cy="289322"/>
          </a:xfrm>
          <a:prstGeom prst="rect">
            <a:avLst/>
          </a:prstGeom>
          <a:noFill/>
          <a:ln/>
        </p:spPr>
        <p:txBody>
          <a:bodyPr wrap="square" lIns="0" tIns="0" rIns="0" bIns="0" rtlCol="0" anchor="t"/>
          <a:lstStyle/>
          <a:p>
            <a:pPr algn="l" indent="0" marL="0">
              <a:lnSpc>
                <a:spcPts val="1139"/>
              </a:lnSpc>
              <a:buNone/>
            </a:pPr>
            <a:r>
              <a:rPr lang="en-US" sz="844" dirty="0">
                <a:solidFill>
                  <a:srgbClr val="E8E6E1"/>
                </a:solidFill>
                <a:latin typeface="Carlito" pitchFamily="34" charset="0"/>
                <a:ea typeface="Carlito" pitchFamily="34" charset="-122"/>
                <a:cs typeface="Carlito" pitchFamily="34" charset="-120"/>
              </a:rPr>
              <a:t>Every platform claims automation. The technical buyer’s question is not what it does — it is what it deliberately refuses to do. The constraints are what make the output usable in a disclosure context.</a:t>
            </a:r>
            <a:endParaRPr lang="en-US" sz="844" dirty="0"/>
          </a:p>
        </p:txBody>
      </p:sp>
      <p:sp>
        <p:nvSpPr>
          <p:cNvPr id="7" name="Text 5"/>
          <p:cNvSpPr/>
          <p:nvPr/>
        </p:nvSpPr>
        <p:spPr>
          <a:xfrm>
            <a:off x="428625" y="1071563"/>
            <a:ext cx="8636000" cy="175384"/>
          </a:xfrm>
          <a:prstGeom prst="rect">
            <a:avLst/>
          </a:prstGeom>
          <a:noFill/>
          <a:ln/>
        </p:spPr>
        <p:txBody>
          <a:bodyPr wrap="square" lIns="0" tIns="0" rIns="0" bIns="0" rtlCol="0" anchor="t">
            <a:normAutofit/>
          </a:bodyPr>
          <a:lstStyle/>
          <a:p>
            <a:pPr algn="l" indent="0" marL="0">
              <a:lnSpc>
                <a:spcPts val="1485"/>
              </a:lnSpc>
              <a:buNone/>
            </a:pPr>
            <a:r>
              <a:rPr lang="en-US" sz="1238" b="1" dirty="0">
                <a:solidFill>
                  <a:srgbClr val="E8E6E1"/>
                </a:solidFill>
                <a:latin typeface="Carlito" pitchFamily="34" charset="0"/>
                <a:ea typeface="Carlito" pitchFamily="34" charset="-122"/>
                <a:cs typeface="Carlito" pitchFamily="34" charset="-120"/>
              </a:rPr>
              <a:t>Four deliberate constraints</a:t>
            </a:r>
            <a:endParaRPr lang="en-US" sz="1238" dirty="0"/>
          </a:p>
        </p:txBody>
      </p:sp>
      <p:sp>
        <p:nvSpPr>
          <p:cNvPr id="8" name="Text 6"/>
          <p:cNvSpPr/>
          <p:nvPr/>
        </p:nvSpPr>
        <p:spPr>
          <a:xfrm>
            <a:off x="428625" y="1274378"/>
            <a:ext cx="8636000" cy="153591"/>
          </a:xfrm>
          <a:prstGeom prst="rect">
            <a:avLst/>
          </a:prstGeom>
          <a:noFill/>
          <a:ln/>
        </p:spPr>
        <p:txBody>
          <a:bodyPr wrap="square" lIns="0" tIns="0" rIns="0" bIns="0" rtlCol="0" anchor="t"/>
          <a:lstStyle/>
          <a:p>
            <a:pPr algn="l" indent="0" marL="0">
              <a:lnSpc>
                <a:spcPts val="945"/>
              </a:lnSpc>
              <a:buNone/>
            </a:pPr>
            <a:r>
              <a:rPr lang="en-US" sz="800" dirty="0">
                <a:solidFill>
                  <a:srgbClr val="A8A39C"/>
                </a:solidFill>
                <a:latin typeface="Carlito" pitchFamily="34" charset="0"/>
                <a:ea typeface="Carlito" pitchFamily="34" charset="-122"/>
                <a:cs typeface="Carlito" pitchFamily="34" charset="-120"/>
              </a:rPr>
              <a:t>The argument that matters to a technical buyer.</a:t>
            </a:r>
            <a:endParaRPr lang="en-US" sz="800" dirty="0"/>
          </a:p>
        </p:txBody>
      </p:sp>
      <p:sp>
        <p:nvSpPr>
          <p:cNvPr id="9" name="Text 7"/>
          <p:cNvSpPr/>
          <p:nvPr/>
        </p:nvSpPr>
        <p:spPr>
          <a:xfrm>
            <a:off x="403622" y="1469380"/>
            <a:ext cx="4121944" cy="1792188"/>
          </a:xfrm>
          <a:prstGeom prst="roundRect">
            <a:avLst>
              <a:gd name="adj" fmla="val 4252"/>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10" name="Text 8"/>
          <p:cNvSpPr/>
          <p:nvPr/>
        </p:nvSpPr>
        <p:spPr>
          <a:xfrm>
            <a:off x="521494" y="1572964"/>
            <a:ext cx="3886200" cy="108299"/>
          </a:xfrm>
          <a:prstGeom prst="rect">
            <a:avLst/>
          </a:prstGeom>
          <a:noFill/>
          <a:ln/>
        </p:spPr>
        <p:txBody>
          <a:bodyPr wrap="none" lIns="0" tIns="0" rIns="0" bIns="0" rtlCol="0" anchor="t">
            <a:normAutofit/>
          </a:bodyPr>
          <a:lstStyle/>
          <a:p>
            <a:pPr algn="l" indent="0" marL="0">
              <a:lnSpc>
                <a:spcPts val="844"/>
              </a:lnSpc>
              <a:buNone/>
            </a:pPr>
            <a:r>
              <a:rPr lang="en-US" sz="800" spc="90" kern="0" dirty="0">
                <a:solidFill>
                  <a:srgbClr val="D4A437"/>
                </a:solidFill>
                <a:latin typeface="Liberation Sans Narrow" pitchFamily="34" charset="0"/>
                <a:ea typeface="Liberation Sans Narrow" pitchFamily="34" charset="-122"/>
                <a:cs typeface="Liberation Sans Narrow" pitchFamily="34" charset="-120"/>
              </a:rPr>
              <a:t>01 / CONSTRAINTS</a:t>
            </a:r>
            <a:endParaRPr lang="en-US" sz="800" dirty="0"/>
          </a:p>
        </p:txBody>
      </p:sp>
      <p:sp>
        <p:nvSpPr>
          <p:cNvPr id="11" name="Text 9"/>
          <p:cNvSpPr/>
          <p:nvPr/>
        </p:nvSpPr>
        <p:spPr>
          <a:xfrm>
            <a:off x="521494" y="1708696"/>
            <a:ext cx="3995928" cy="164592"/>
          </a:xfrm>
          <a:prstGeom prst="rect">
            <a:avLst/>
          </a:prstGeom>
          <a:noFill/>
          <a:ln/>
        </p:spPr>
        <p:txBody>
          <a:bodyPr wrap="square" lIns="0" tIns="0" rIns="0" bIns="0" rtlCol="0" anchor="t"/>
          <a:lstStyle/>
          <a:p>
            <a:pPr algn="l" indent="0" marL="0">
              <a:lnSpc>
                <a:spcPts val="1097"/>
              </a:lnSpc>
              <a:buNone/>
            </a:pPr>
            <a:r>
              <a:rPr lang="en-US" sz="800" b="1" spc="102" kern="0" dirty="0">
                <a:solidFill>
                  <a:srgbClr val="6B6760"/>
                </a:solidFill>
                <a:latin typeface="Carlito" pitchFamily="34" charset="0"/>
                <a:ea typeface="Carlito" pitchFamily="34" charset="-122"/>
                <a:cs typeface="Carlito" pitchFamily="34" charset="-120"/>
              </a:rPr>
              <a:t>FOUR DELIBERATE CONSTRAINTS</a:t>
            </a:r>
            <a:endParaRPr lang="en-US" sz="800" dirty="0"/>
          </a:p>
        </p:txBody>
      </p:sp>
      <p:sp>
        <p:nvSpPr>
          <p:cNvPr id="12" name="Text 10"/>
          <p:cNvSpPr/>
          <p:nvPr/>
        </p:nvSpPr>
        <p:spPr>
          <a:xfrm>
            <a:off x="521494" y="1940868"/>
            <a:ext cx="297180" cy="148036"/>
          </a:xfrm>
          <a:prstGeom prst="rect">
            <a:avLst/>
          </a:prstGeom>
          <a:noFill/>
          <a:ln/>
        </p:spPr>
        <p:txBody>
          <a:bodyPr wrap="none" lIns="0" tIns="0" rIns="0" bIns="0" rtlCol="0" anchor="t"/>
          <a:lstStyle/>
          <a:p>
            <a:pPr algn="l" indent="0" marL="0">
              <a:lnSpc>
                <a:spcPts val="1080"/>
              </a:lnSpc>
              <a:buNone/>
            </a:pPr>
            <a:r>
              <a:rPr lang="en-US" sz="900" dirty="0">
                <a:solidFill>
                  <a:srgbClr val="D4A437"/>
                </a:solidFill>
                <a:latin typeface="Liberation Sans Narrow" pitchFamily="34" charset="0"/>
                <a:ea typeface="Liberation Sans Narrow" pitchFamily="34" charset="-122"/>
                <a:cs typeface="Liberation Sans Narrow" pitchFamily="34" charset="-120"/>
              </a:rPr>
              <a:t>01</a:t>
            </a:r>
            <a:endParaRPr lang="en-US" sz="900" dirty="0"/>
          </a:p>
        </p:txBody>
      </p:sp>
      <p:sp>
        <p:nvSpPr>
          <p:cNvPr id="13" name="Text 11"/>
          <p:cNvSpPr/>
          <p:nvPr/>
        </p:nvSpPr>
        <p:spPr>
          <a:xfrm>
            <a:off x="778669" y="1940868"/>
            <a:ext cx="3738753" cy="102941"/>
          </a:xfrm>
          <a:prstGeom prst="rect">
            <a:avLst/>
          </a:prstGeom>
          <a:noFill/>
          <a:ln/>
        </p:spPr>
        <p:txBody>
          <a:bodyPr wrap="square" lIns="0" tIns="0" rIns="0" bIns="0" rtlCol="0" anchor="t">
            <a:normAutofit/>
          </a:bodyPr>
          <a:lstStyle/>
          <a:p>
            <a:pPr algn="l" indent="0" marL="0">
              <a:lnSpc>
                <a:spcPts val="914"/>
              </a:lnSpc>
              <a:buNone/>
            </a:pPr>
            <a:r>
              <a:rPr lang="en-US" sz="800" dirty="0">
                <a:solidFill>
                  <a:srgbClr val="E8E6E1"/>
                </a:solidFill>
                <a:latin typeface="Carlito" pitchFamily="34" charset="0"/>
                <a:ea typeface="Carlito" pitchFamily="34" charset="-122"/>
                <a:cs typeface="Carlito" pitchFamily="34" charset="-120"/>
              </a:rPr>
              <a:t>The model cannot write a number</a:t>
            </a:r>
            <a:endParaRPr lang="en-US" sz="800" dirty="0"/>
          </a:p>
        </p:txBody>
      </p:sp>
      <p:sp>
        <p:nvSpPr>
          <p:cNvPr id="14" name="Text 12"/>
          <p:cNvSpPr/>
          <p:nvPr/>
        </p:nvSpPr>
        <p:spPr>
          <a:xfrm>
            <a:off x="778669" y="2071241"/>
            <a:ext cx="3629025" cy="148070"/>
          </a:xfrm>
          <a:prstGeom prst="rect">
            <a:avLst/>
          </a:prstGeom>
          <a:noFill/>
          <a:ln/>
        </p:spPr>
        <p:txBody>
          <a:bodyPr wrap="square" lIns="0" tIns="0" rIns="0" bIns="0" rtlCol="0" anchor="t"/>
          <a:lstStyle/>
          <a:p>
            <a:pPr algn="l" indent="0" marL="0">
              <a:lnSpc>
                <a:spcPts val="835"/>
              </a:lnSpc>
              <a:buNone/>
            </a:pPr>
            <a:r>
              <a:rPr lang="en-US" sz="800" dirty="0">
                <a:solidFill>
                  <a:srgbClr val="A8A39C"/>
                </a:solidFill>
                <a:latin typeface="Carlito" pitchFamily="34" charset="0"/>
                <a:ea typeface="Carlito" pitchFamily="34" charset="-122"/>
                <a:cs typeface="Carlito" pitchFamily="34" charset="-120"/>
              </a:rPr>
              <a:t>Every figure resolved from the database server-side.</a:t>
            </a:r>
            <a:endParaRPr lang="en-US" sz="800" dirty="0"/>
          </a:p>
        </p:txBody>
      </p:sp>
      <p:sp>
        <p:nvSpPr>
          <p:cNvPr id="15" name="Shape 13"/>
          <p:cNvSpPr/>
          <p:nvPr/>
        </p:nvSpPr>
        <p:spPr>
          <a:xfrm>
            <a:off x="521494" y="2216572"/>
            <a:ext cx="3886200" cy="0"/>
          </a:xfrm>
          <a:prstGeom prst="line">
            <a:avLst/>
          </a:prstGeom>
          <a:noFill/>
          <a:ln w="7144">
            <a:solidFill>
              <a:srgbClr val="2A323C"/>
            </a:solidFill>
            <a:prstDash val="solid"/>
          </a:ln>
        </p:spPr>
      </p:sp>
      <p:sp>
        <p:nvSpPr>
          <p:cNvPr id="16" name="Text 14"/>
          <p:cNvSpPr/>
          <p:nvPr/>
        </p:nvSpPr>
        <p:spPr>
          <a:xfrm>
            <a:off x="521494" y="2255862"/>
            <a:ext cx="297180" cy="148036"/>
          </a:xfrm>
          <a:prstGeom prst="rect">
            <a:avLst/>
          </a:prstGeom>
          <a:noFill/>
          <a:ln/>
        </p:spPr>
        <p:txBody>
          <a:bodyPr wrap="none" lIns="0" tIns="0" rIns="0" bIns="0" rtlCol="0" anchor="t"/>
          <a:lstStyle/>
          <a:p>
            <a:pPr algn="l" indent="0" marL="0">
              <a:lnSpc>
                <a:spcPts val="1080"/>
              </a:lnSpc>
              <a:buNone/>
            </a:pPr>
            <a:r>
              <a:rPr lang="en-US" sz="900" dirty="0">
                <a:solidFill>
                  <a:srgbClr val="D4A437"/>
                </a:solidFill>
                <a:latin typeface="Liberation Sans Narrow" pitchFamily="34" charset="0"/>
                <a:ea typeface="Liberation Sans Narrow" pitchFamily="34" charset="-122"/>
                <a:cs typeface="Liberation Sans Narrow" pitchFamily="34" charset="-120"/>
              </a:rPr>
              <a:t>02</a:t>
            </a:r>
            <a:endParaRPr lang="en-US" sz="900" dirty="0"/>
          </a:p>
        </p:txBody>
      </p:sp>
      <p:sp>
        <p:nvSpPr>
          <p:cNvPr id="17" name="Text 15"/>
          <p:cNvSpPr/>
          <p:nvPr/>
        </p:nvSpPr>
        <p:spPr>
          <a:xfrm>
            <a:off x="778669" y="2255862"/>
            <a:ext cx="3738753" cy="102941"/>
          </a:xfrm>
          <a:prstGeom prst="rect">
            <a:avLst/>
          </a:prstGeom>
          <a:noFill/>
          <a:ln/>
        </p:spPr>
        <p:txBody>
          <a:bodyPr wrap="square" lIns="0" tIns="0" rIns="0" bIns="0" rtlCol="0" anchor="t">
            <a:normAutofit/>
          </a:bodyPr>
          <a:lstStyle/>
          <a:p>
            <a:pPr algn="l" indent="0" marL="0">
              <a:lnSpc>
                <a:spcPts val="914"/>
              </a:lnSpc>
              <a:buNone/>
            </a:pPr>
            <a:r>
              <a:rPr lang="en-US" sz="800" dirty="0">
                <a:solidFill>
                  <a:srgbClr val="E8E6E1"/>
                </a:solidFill>
                <a:latin typeface="Carlito" pitchFamily="34" charset="0"/>
                <a:ea typeface="Carlito" pitchFamily="34" charset="-122"/>
                <a:cs typeface="Carlito" pitchFamily="34" charset="-120"/>
              </a:rPr>
              <a:t>Ranking is withheld where the model does not apply</a:t>
            </a:r>
            <a:endParaRPr lang="en-US" sz="800" dirty="0"/>
          </a:p>
        </p:txBody>
      </p:sp>
      <p:sp>
        <p:nvSpPr>
          <p:cNvPr id="18" name="Text 16"/>
          <p:cNvSpPr/>
          <p:nvPr/>
        </p:nvSpPr>
        <p:spPr>
          <a:xfrm>
            <a:off x="778669" y="2386236"/>
            <a:ext cx="3629025" cy="106040"/>
          </a:xfrm>
          <a:prstGeom prst="rect">
            <a:avLst/>
          </a:prstGeom>
          <a:noFill/>
          <a:ln/>
        </p:spPr>
        <p:txBody>
          <a:bodyPr wrap="square" lIns="0" tIns="0" rIns="0" bIns="0" rtlCol="0" anchor="t"/>
          <a:lstStyle/>
          <a:p>
            <a:pPr algn="l" indent="0" marL="0">
              <a:lnSpc>
                <a:spcPts val="835"/>
              </a:lnSpc>
              <a:buNone/>
            </a:pPr>
            <a:r>
              <a:rPr lang="en-US" sz="800" dirty="0">
                <a:solidFill>
                  <a:srgbClr val="A8A39C"/>
                </a:solidFill>
                <a:latin typeface="Carlito" pitchFamily="34" charset="0"/>
                <a:ea typeface="Carlito" pitchFamily="34" charset="-122"/>
                <a:cs typeface="Carlito" pitchFamily="34" charset="-120"/>
              </a:rPr>
              <a:t>Gold-only; other commodities get full data, no targets.</a:t>
            </a:r>
            <a:endParaRPr lang="en-US" sz="800" dirty="0"/>
          </a:p>
        </p:txBody>
      </p:sp>
      <p:sp>
        <p:nvSpPr>
          <p:cNvPr id="19" name="Shape 17"/>
          <p:cNvSpPr/>
          <p:nvPr/>
        </p:nvSpPr>
        <p:spPr>
          <a:xfrm>
            <a:off x="521494" y="2531566"/>
            <a:ext cx="3886200" cy="0"/>
          </a:xfrm>
          <a:prstGeom prst="line">
            <a:avLst/>
          </a:prstGeom>
          <a:noFill/>
          <a:ln w="7144">
            <a:solidFill>
              <a:srgbClr val="2A323C"/>
            </a:solidFill>
            <a:prstDash val="solid"/>
          </a:ln>
        </p:spPr>
      </p:sp>
      <p:sp>
        <p:nvSpPr>
          <p:cNvPr id="20" name="Text 18"/>
          <p:cNvSpPr/>
          <p:nvPr/>
        </p:nvSpPr>
        <p:spPr>
          <a:xfrm>
            <a:off x="521494" y="2570857"/>
            <a:ext cx="297180" cy="148036"/>
          </a:xfrm>
          <a:prstGeom prst="rect">
            <a:avLst/>
          </a:prstGeom>
          <a:noFill/>
          <a:ln/>
        </p:spPr>
        <p:txBody>
          <a:bodyPr wrap="none" lIns="0" tIns="0" rIns="0" bIns="0" rtlCol="0" anchor="t"/>
          <a:lstStyle/>
          <a:p>
            <a:pPr algn="l" indent="0" marL="0">
              <a:lnSpc>
                <a:spcPts val="1080"/>
              </a:lnSpc>
              <a:buNone/>
            </a:pPr>
            <a:r>
              <a:rPr lang="en-US" sz="900" dirty="0">
                <a:solidFill>
                  <a:srgbClr val="D4A437"/>
                </a:solidFill>
                <a:latin typeface="Liberation Sans Narrow" pitchFamily="34" charset="0"/>
                <a:ea typeface="Liberation Sans Narrow" pitchFamily="34" charset="-122"/>
                <a:cs typeface="Liberation Sans Narrow" pitchFamily="34" charset="-120"/>
              </a:rPr>
              <a:t>03</a:t>
            </a:r>
            <a:endParaRPr lang="en-US" sz="900" dirty="0"/>
          </a:p>
        </p:txBody>
      </p:sp>
      <p:sp>
        <p:nvSpPr>
          <p:cNvPr id="21" name="Text 19"/>
          <p:cNvSpPr/>
          <p:nvPr/>
        </p:nvSpPr>
        <p:spPr>
          <a:xfrm>
            <a:off x="778669" y="2570857"/>
            <a:ext cx="3738753" cy="102941"/>
          </a:xfrm>
          <a:prstGeom prst="rect">
            <a:avLst/>
          </a:prstGeom>
          <a:noFill/>
          <a:ln/>
        </p:spPr>
        <p:txBody>
          <a:bodyPr wrap="square" lIns="0" tIns="0" rIns="0" bIns="0" rtlCol="0" anchor="t">
            <a:normAutofit/>
          </a:bodyPr>
          <a:lstStyle/>
          <a:p>
            <a:pPr algn="l" indent="0" marL="0">
              <a:lnSpc>
                <a:spcPts val="914"/>
              </a:lnSpc>
              <a:buNone/>
            </a:pPr>
            <a:r>
              <a:rPr lang="en-US" sz="800" dirty="0">
                <a:solidFill>
                  <a:srgbClr val="E8E6E1"/>
                </a:solidFill>
                <a:latin typeface="Carlito" pitchFamily="34" charset="0"/>
                <a:ea typeface="Carlito" pitchFamily="34" charset="-122"/>
                <a:cs typeface="Carlito" pitchFamily="34" charset="-120"/>
              </a:rPr>
              <a:t>Deposit names are verified before they are shown</a:t>
            </a:r>
            <a:endParaRPr lang="en-US" sz="800" dirty="0"/>
          </a:p>
        </p:txBody>
      </p:sp>
      <p:sp>
        <p:nvSpPr>
          <p:cNvPr id="22" name="Text 20"/>
          <p:cNvSpPr/>
          <p:nvPr/>
        </p:nvSpPr>
        <p:spPr>
          <a:xfrm>
            <a:off x="778669" y="2701230"/>
            <a:ext cx="3629025" cy="106040"/>
          </a:xfrm>
          <a:prstGeom prst="rect">
            <a:avLst/>
          </a:prstGeom>
          <a:noFill/>
          <a:ln/>
        </p:spPr>
        <p:txBody>
          <a:bodyPr wrap="square" lIns="0" tIns="0" rIns="0" bIns="0" rtlCol="0" anchor="t"/>
          <a:lstStyle/>
          <a:p>
            <a:pPr algn="l" indent="0" marL="0">
              <a:lnSpc>
                <a:spcPts val="835"/>
              </a:lnSpc>
              <a:buNone/>
            </a:pPr>
            <a:r>
              <a:rPr lang="en-US" sz="800" dirty="0">
                <a:solidFill>
                  <a:srgbClr val="A8A39C"/>
                </a:solidFill>
                <a:latin typeface="Carlito" pitchFamily="34" charset="0"/>
                <a:ea typeface="Carlito" pitchFamily="34" charset="-122"/>
                <a:cs typeface="Carlito" pitchFamily="34" charset="-120"/>
              </a:rPr>
              <a:t>Checked against a known-deposits register, stripped if no match.</a:t>
            </a:r>
            <a:endParaRPr lang="en-US" sz="800" dirty="0"/>
          </a:p>
        </p:txBody>
      </p:sp>
      <p:sp>
        <p:nvSpPr>
          <p:cNvPr id="23" name="Shape 21"/>
          <p:cNvSpPr/>
          <p:nvPr/>
        </p:nvSpPr>
        <p:spPr>
          <a:xfrm>
            <a:off x="521494" y="2846561"/>
            <a:ext cx="3886200" cy="0"/>
          </a:xfrm>
          <a:prstGeom prst="line">
            <a:avLst/>
          </a:prstGeom>
          <a:noFill/>
          <a:ln w="7144">
            <a:solidFill>
              <a:srgbClr val="2A323C"/>
            </a:solidFill>
            <a:prstDash val="solid"/>
          </a:ln>
        </p:spPr>
      </p:sp>
      <p:sp>
        <p:nvSpPr>
          <p:cNvPr id="24" name="Text 22"/>
          <p:cNvSpPr/>
          <p:nvPr/>
        </p:nvSpPr>
        <p:spPr>
          <a:xfrm>
            <a:off x="521494" y="2885852"/>
            <a:ext cx="297180" cy="148036"/>
          </a:xfrm>
          <a:prstGeom prst="rect">
            <a:avLst/>
          </a:prstGeom>
          <a:noFill/>
          <a:ln/>
        </p:spPr>
        <p:txBody>
          <a:bodyPr wrap="none" lIns="0" tIns="0" rIns="0" bIns="0" rtlCol="0" anchor="t"/>
          <a:lstStyle/>
          <a:p>
            <a:pPr algn="l" indent="0" marL="0">
              <a:lnSpc>
                <a:spcPts val="1080"/>
              </a:lnSpc>
              <a:buNone/>
            </a:pPr>
            <a:r>
              <a:rPr lang="en-US" sz="900" dirty="0">
                <a:solidFill>
                  <a:srgbClr val="D4A437"/>
                </a:solidFill>
                <a:latin typeface="Liberation Sans Narrow" pitchFamily="34" charset="0"/>
                <a:ea typeface="Liberation Sans Narrow" pitchFamily="34" charset="-122"/>
                <a:cs typeface="Liberation Sans Narrow" pitchFamily="34" charset="-120"/>
              </a:rPr>
              <a:t>04</a:t>
            </a:r>
            <a:endParaRPr lang="en-US" sz="900" dirty="0"/>
          </a:p>
        </p:txBody>
      </p:sp>
      <p:sp>
        <p:nvSpPr>
          <p:cNvPr id="25" name="Text 23"/>
          <p:cNvSpPr/>
          <p:nvPr/>
        </p:nvSpPr>
        <p:spPr>
          <a:xfrm>
            <a:off x="778669" y="2885852"/>
            <a:ext cx="3629025" cy="102941"/>
          </a:xfrm>
          <a:prstGeom prst="rect">
            <a:avLst/>
          </a:prstGeom>
          <a:noFill/>
          <a:ln/>
        </p:spPr>
        <p:txBody>
          <a:bodyPr wrap="none" lIns="0" tIns="0" rIns="0" bIns="0" rtlCol="0" anchor="t">
            <a:normAutofit/>
          </a:bodyPr>
          <a:lstStyle/>
          <a:p>
            <a:pPr algn="l" indent="0" marL="0">
              <a:lnSpc>
                <a:spcPts val="914"/>
              </a:lnSpc>
              <a:buNone/>
            </a:pPr>
            <a:r>
              <a:rPr lang="en-US" sz="800" dirty="0">
                <a:solidFill>
                  <a:srgbClr val="E8E6E1"/>
                </a:solidFill>
                <a:latin typeface="Carlito" pitchFamily="34" charset="0"/>
                <a:ea typeface="Carlito" pitchFamily="34" charset="-122"/>
                <a:cs typeface="Carlito" pitchFamily="34" charset="-120"/>
              </a:rPr>
              <a:t>Nothing is a black box</a:t>
            </a:r>
            <a:endParaRPr lang="en-US" sz="800" dirty="0"/>
          </a:p>
        </p:txBody>
      </p:sp>
      <p:sp>
        <p:nvSpPr>
          <p:cNvPr id="26" name="Text 24"/>
          <p:cNvSpPr/>
          <p:nvPr/>
        </p:nvSpPr>
        <p:spPr>
          <a:xfrm>
            <a:off x="778669" y="3016225"/>
            <a:ext cx="3629025" cy="106040"/>
          </a:xfrm>
          <a:prstGeom prst="rect">
            <a:avLst/>
          </a:prstGeom>
          <a:noFill/>
          <a:ln/>
        </p:spPr>
        <p:txBody>
          <a:bodyPr wrap="square" lIns="0" tIns="0" rIns="0" bIns="0" rtlCol="0" anchor="t"/>
          <a:lstStyle/>
          <a:p>
            <a:pPr algn="l" indent="0" marL="0">
              <a:lnSpc>
                <a:spcPts val="835"/>
              </a:lnSpc>
              <a:buNone/>
            </a:pPr>
            <a:r>
              <a:rPr lang="en-US" sz="619" dirty="0">
                <a:solidFill>
                  <a:srgbClr val="A8A39C"/>
                </a:solidFill>
                <a:latin typeface="Carlito" pitchFamily="34" charset="0"/>
                <a:ea typeface="Carlito" pitchFamily="34" charset="-122"/>
                <a:cs typeface="Carlito" pitchFamily="34" charset="-120"/>
              </a:rPr>
              <a:t>Weights published, contributions per-target, parameters recorded, files checksummed.</a:t>
            </a:r>
            <a:endParaRPr lang="en-US" sz="619" dirty="0"/>
          </a:p>
        </p:txBody>
      </p:sp>
      <p:sp>
        <p:nvSpPr>
          <p:cNvPr id="27" name="Text 25"/>
          <p:cNvSpPr/>
          <p:nvPr/>
        </p:nvSpPr>
        <p:spPr>
          <a:xfrm>
            <a:off x="4618434" y="1469380"/>
            <a:ext cx="4121944" cy="1792188"/>
          </a:xfrm>
          <a:prstGeom prst="roundRect">
            <a:avLst>
              <a:gd name="adj" fmla="val 4252"/>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28" name="Text 26"/>
          <p:cNvSpPr/>
          <p:nvPr/>
        </p:nvSpPr>
        <p:spPr>
          <a:xfrm>
            <a:off x="4736306" y="1572964"/>
            <a:ext cx="3886200" cy="108299"/>
          </a:xfrm>
          <a:prstGeom prst="rect">
            <a:avLst/>
          </a:prstGeom>
          <a:noFill/>
          <a:ln/>
        </p:spPr>
        <p:txBody>
          <a:bodyPr wrap="none" lIns="0" tIns="0" rIns="0" bIns="0" rtlCol="0" anchor="t">
            <a:normAutofit/>
          </a:bodyPr>
          <a:lstStyle/>
          <a:p>
            <a:pPr algn="l" indent="0" marL="0">
              <a:lnSpc>
                <a:spcPts val="844"/>
              </a:lnSpc>
              <a:buNone/>
            </a:pPr>
            <a:r>
              <a:rPr lang="en-US" sz="800" spc="90" kern="0" dirty="0">
                <a:solidFill>
                  <a:srgbClr val="D4A437"/>
                </a:solidFill>
                <a:latin typeface="Liberation Sans Narrow" pitchFamily="34" charset="0"/>
                <a:ea typeface="Liberation Sans Narrow" pitchFamily="34" charset="-122"/>
                <a:cs typeface="Liberation Sans Narrow" pitchFamily="34" charset="-120"/>
              </a:rPr>
              <a:t>02 / SOURCES</a:t>
            </a:r>
            <a:endParaRPr lang="en-US" sz="800" dirty="0"/>
          </a:p>
        </p:txBody>
      </p:sp>
      <p:sp>
        <p:nvSpPr>
          <p:cNvPr id="29" name="Text 27"/>
          <p:cNvSpPr/>
          <p:nvPr/>
        </p:nvSpPr>
        <p:spPr>
          <a:xfrm>
            <a:off x="4736306" y="1708696"/>
            <a:ext cx="3995928" cy="164592"/>
          </a:xfrm>
          <a:prstGeom prst="rect">
            <a:avLst/>
          </a:prstGeom>
          <a:noFill/>
          <a:ln/>
        </p:spPr>
        <p:txBody>
          <a:bodyPr wrap="square" lIns="0" tIns="0" rIns="0" bIns="0" rtlCol="0" anchor="t"/>
          <a:lstStyle/>
          <a:p>
            <a:pPr algn="l" indent="0" marL="0">
              <a:lnSpc>
                <a:spcPts val="1097"/>
              </a:lnSpc>
              <a:buNone/>
            </a:pPr>
            <a:r>
              <a:rPr lang="en-US" sz="800" b="1" spc="102" kern="0" dirty="0">
                <a:solidFill>
                  <a:srgbClr val="6B6760"/>
                </a:solidFill>
                <a:latin typeface="Carlito" pitchFamily="34" charset="0"/>
                <a:ea typeface="Carlito" pitchFamily="34" charset="-122"/>
                <a:cs typeface="Carlito" pitchFamily="34" charset="-120"/>
              </a:rPr>
              <a:t>TWELVE INTEGRATED SOURCES</a:t>
            </a:r>
            <a:endParaRPr lang="en-US" sz="800" dirty="0"/>
          </a:p>
        </p:txBody>
      </p:sp>
      <p:sp>
        <p:nvSpPr>
          <p:cNvPr id="30" name="Text 28"/>
          <p:cNvSpPr/>
          <p:nvPr/>
        </p:nvSpPr>
        <p:spPr>
          <a:xfrm>
            <a:off x="4736306" y="1919436"/>
            <a:ext cx="1063304" cy="91440"/>
          </a:xfrm>
          <a:prstGeom prst="rect">
            <a:avLst/>
          </a:prstGeom>
          <a:noFill/>
          <a:ln/>
        </p:spPr>
        <p:txBody>
          <a:bodyPr wrap="none" lIns="0" tIns="0" rIns="0" bIns="0" rtlCol="0" anchor="t">
            <a:normAutofit/>
          </a:bodyPr>
          <a:lstStyle/>
          <a:p>
            <a:pPr algn="l" indent="0" marL="0">
              <a:lnSpc>
                <a:spcPts val="810"/>
              </a:lnSpc>
              <a:buNone/>
            </a:pPr>
            <a:r>
              <a:rPr lang="en-US" sz="800" dirty="0">
                <a:solidFill>
                  <a:srgbClr val="E8E6E1"/>
                </a:solidFill>
                <a:latin typeface="Carlito" pitchFamily="34" charset="0"/>
                <a:ea typeface="Carlito" pitchFamily="34" charset="-122"/>
                <a:cs typeface="Carlito" pitchFamily="34" charset="-120"/>
              </a:rPr>
              <a:t>Your survey data</a:t>
            </a:r>
            <a:endParaRPr lang="en-US" sz="800" dirty="0"/>
          </a:p>
        </p:txBody>
      </p:sp>
      <p:sp>
        <p:nvSpPr>
          <p:cNvPr id="31" name="Text 29"/>
          <p:cNvSpPr/>
          <p:nvPr/>
        </p:nvSpPr>
        <p:spPr>
          <a:xfrm>
            <a:off x="4736306" y="2036527"/>
            <a:ext cx="1063304" cy="131674"/>
          </a:xfrm>
          <a:prstGeom prst="rect">
            <a:avLst/>
          </a:prstGeom>
          <a:noFill/>
          <a:ln/>
        </p:spPr>
        <p:txBody>
          <a:bodyPr wrap="none" lIns="0" tIns="0" rIns="0" bIns="0" rtlCol="0" anchor="t"/>
          <a:lstStyle/>
          <a:p>
            <a:pPr algn="l" indent="0" marL="0">
              <a:lnSpc>
                <a:spcPts val="675"/>
              </a:lnSpc>
              <a:buNone/>
            </a:pPr>
            <a:r>
              <a:rPr lang="en-US" sz="800" dirty="0">
                <a:solidFill>
                  <a:srgbClr val="A8A39C"/>
                </a:solidFill>
                <a:latin typeface="Carlito" pitchFamily="34" charset="0"/>
                <a:ea typeface="Carlito" pitchFamily="34" charset="-122"/>
                <a:cs typeface="Carlito" pitchFamily="34" charset="-120"/>
              </a:rPr>
              <a:t>Primary anomaly</a:t>
            </a:r>
            <a:endParaRPr lang="en-US" sz="800" dirty="0"/>
          </a:p>
        </p:txBody>
      </p:sp>
      <p:sp>
        <p:nvSpPr>
          <p:cNvPr id="32" name="Text 30"/>
          <p:cNvSpPr/>
          <p:nvPr/>
        </p:nvSpPr>
        <p:spPr>
          <a:xfrm>
            <a:off x="5729288" y="1919436"/>
            <a:ext cx="1063304" cy="91440"/>
          </a:xfrm>
          <a:prstGeom prst="rect">
            <a:avLst/>
          </a:prstGeom>
          <a:noFill/>
          <a:ln/>
        </p:spPr>
        <p:txBody>
          <a:bodyPr wrap="none" lIns="0" tIns="0" rIns="0" bIns="0" rtlCol="0" anchor="t">
            <a:normAutofit/>
          </a:bodyPr>
          <a:lstStyle/>
          <a:p>
            <a:pPr algn="l" indent="0" marL="0">
              <a:lnSpc>
                <a:spcPts val="810"/>
              </a:lnSpc>
              <a:buNone/>
            </a:pPr>
            <a:r>
              <a:rPr lang="en-US" sz="800" dirty="0">
                <a:solidFill>
                  <a:srgbClr val="E8E6E1"/>
                </a:solidFill>
                <a:latin typeface="Liberation Sans Narrow" pitchFamily="34" charset="0"/>
                <a:ea typeface="Liberation Sans Narrow" pitchFamily="34" charset="-122"/>
                <a:cs typeface="Liberation Sans Narrow" pitchFamily="34" charset="-120"/>
              </a:rPr>
              <a:t>Sentinel-2</a:t>
            </a:r>
            <a:endParaRPr lang="en-US" sz="800" dirty="0"/>
          </a:p>
        </p:txBody>
      </p:sp>
      <p:sp>
        <p:nvSpPr>
          <p:cNvPr id="33" name="Text 31"/>
          <p:cNvSpPr/>
          <p:nvPr/>
        </p:nvSpPr>
        <p:spPr>
          <a:xfrm>
            <a:off x="5729288" y="2036527"/>
            <a:ext cx="1063304" cy="131674"/>
          </a:xfrm>
          <a:prstGeom prst="rect">
            <a:avLst/>
          </a:prstGeom>
          <a:noFill/>
          <a:ln/>
        </p:spPr>
        <p:txBody>
          <a:bodyPr wrap="none" lIns="0" tIns="0" rIns="0" bIns="0" rtlCol="0" anchor="t"/>
          <a:lstStyle/>
          <a:p>
            <a:pPr algn="l" indent="0" marL="0">
              <a:lnSpc>
                <a:spcPts val="675"/>
              </a:lnSpc>
              <a:buNone/>
            </a:pPr>
            <a:r>
              <a:rPr lang="en-US" sz="800" dirty="0">
                <a:solidFill>
                  <a:srgbClr val="A8A39C"/>
                </a:solidFill>
                <a:latin typeface="Carlito" pitchFamily="34" charset="0"/>
                <a:ea typeface="Carlito" pitchFamily="34" charset="-122"/>
                <a:cs typeface="Carlito" pitchFamily="34" charset="-120"/>
              </a:rPr>
              <a:t>Alteration</a:t>
            </a:r>
            <a:endParaRPr lang="en-US" sz="800" dirty="0"/>
          </a:p>
        </p:txBody>
      </p:sp>
      <p:sp>
        <p:nvSpPr>
          <p:cNvPr id="34" name="Text 32"/>
          <p:cNvSpPr/>
          <p:nvPr/>
        </p:nvSpPr>
        <p:spPr>
          <a:xfrm>
            <a:off x="6722269" y="1919436"/>
            <a:ext cx="1063304" cy="91440"/>
          </a:xfrm>
          <a:prstGeom prst="rect">
            <a:avLst/>
          </a:prstGeom>
          <a:noFill/>
          <a:ln/>
        </p:spPr>
        <p:txBody>
          <a:bodyPr wrap="none" lIns="0" tIns="0" rIns="0" bIns="0" rtlCol="0" anchor="t">
            <a:normAutofit/>
          </a:bodyPr>
          <a:lstStyle/>
          <a:p>
            <a:pPr algn="l" indent="0" marL="0">
              <a:lnSpc>
                <a:spcPts val="810"/>
              </a:lnSpc>
              <a:buNone/>
            </a:pPr>
            <a:r>
              <a:rPr lang="en-US" sz="800" dirty="0">
                <a:solidFill>
                  <a:srgbClr val="E8E6E1"/>
                </a:solidFill>
                <a:latin typeface="Carlito" pitchFamily="34" charset="0"/>
                <a:ea typeface="Carlito" pitchFamily="34" charset="-122"/>
                <a:cs typeface="Carlito" pitchFamily="34" charset="-120"/>
              </a:rPr>
              <a:t>Copernicus DEM</a:t>
            </a:r>
            <a:endParaRPr lang="en-US" sz="800" dirty="0"/>
          </a:p>
        </p:txBody>
      </p:sp>
      <p:sp>
        <p:nvSpPr>
          <p:cNvPr id="35" name="Text 33"/>
          <p:cNvSpPr/>
          <p:nvPr/>
        </p:nvSpPr>
        <p:spPr>
          <a:xfrm>
            <a:off x="6722269" y="2036527"/>
            <a:ext cx="1063304" cy="131674"/>
          </a:xfrm>
          <a:prstGeom prst="rect">
            <a:avLst/>
          </a:prstGeom>
          <a:noFill/>
          <a:ln/>
        </p:spPr>
        <p:txBody>
          <a:bodyPr wrap="none" lIns="0" tIns="0" rIns="0" bIns="0" rtlCol="0" anchor="t"/>
          <a:lstStyle/>
          <a:p>
            <a:pPr algn="l" indent="0" marL="0">
              <a:lnSpc>
                <a:spcPts val="675"/>
              </a:lnSpc>
              <a:buNone/>
            </a:pPr>
            <a:r>
              <a:rPr lang="en-US" sz="800" dirty="0">
                <a:solidFill>
                  <a:srgbClr val="A8A39C"/>
                </a:solidFill>
                <a:latin typeface="Carlito" pitchFamily="34" charset="0"/>
                <a:ea typeface="Carlito" pitchFamily="34" charset="-122"/>
                <a:cs typeface="Carlito" pitchFamily="34" charset="-120"/>
              </a:rPr>
              <a:t>Terrain / access</a:t>
            </a:r>
            <a:endParaRPr lang="en-US" sz="800" dirty="0"/>
          </a:p>
        </p:txBody>
      </p:sp>
      <p:sp>
        <p:nvSpPr>
          <p:cNvPr id="36" name="Text 34"/>
          <p:cNvSpPr/>
          <p:nvPr/>
        </p:nvSpPr>
        <p:spPr>
          <a:xfrm>
            <a:off x="7715250" y="1919436"/>
            <a:ext cx="907256" cy="91440"/>
          </a:xfrm>
          <a:prstGeom prst="rect">
            <a:avLst/>
          </a:prstGeom>
          <a:noFill/>
          <a:ln/>
        </p:spPr>
        <p:txBody>
          <a:bodyPr wrap="none" lIns="0" tIns="0" rIns="0" bIns="0" rtlCol="0" anchor="t">
            <a:normAutofit/>
          </a:bodyPr>
          <a:lstStyle/>
          <a:p>
            <a:pPr algn="l" indent="0" marL="0">
              <a:lnSpc>
                <a:spcPts val="810"/>
              </a:lnSpc>
              <a:buNone/>
            </a:pPr>
            <a:r>
              <a:rPr lang="en-US" sz="800" dirty="0">
                <a:solidFill>
                  <a:srgbClr val="E8E6E1"/>
                </a:solidFill>
                <a:latin typeface="Liberation Sans Narrow" pitchFamily="34" charset="0"/>
                <a:ea typeface="Liberation Sans Narrow" pitchFamily="34" charset="-122"/>
                <a:cs typeface="Liberation Sans Narrow" pitchFamily="34" charset="-120"/>
              </a:rPr>
              <a:t>NOAA EMAG2</a:t>
            </a:r>
            <a:endParaRPr lang="en-US" sz="800" dirty="0"/>
          </a:p>
        </p:txBody>
      </p:sp>
      <p:sp>
        <p:nvSpPr>
          <p:cNvPr id="37" name="Text 35"/>
          <p:cNvSpPr/>
          <p:nvPr/>
        </p:nvSpPr>
        <p:spPr>
          <a:xfrm>
            <a:off x="7715250" y="2036527"/>
            <a:ext cx="907256" cy="131674"/>
          </a:xfrm>
          <a:prstGeom prst="rect">
            <a:avLst/>
          </a:prstGeom>
          <a:noFill/>
          <a:ln/>
        </p:spPr>
        <p:txBody>
          <a:bodyPr wrap="none" lIns="0" tIns="0" rIns="0" bIns="0" rtlCol="0" anchor="t"/>
          <a:lstStyle/>
          <a:p>
            <a:pPr algn="l" indent="0" marL="0">
              <a:lnSpc>
                <a:spcPts val="675"/>
              </a:lnSpc>
              <a:buNone/>
            </a:pPr>
            <a:r>
              <a:rPr lang="en-US" sz="600" dirty="0">
                <a:solidFill>
                  <a:srgbClr val="A8A39C"/>
                </a:solidFill>
                <a:latin typeface="Carlito" pitchFamily="34" charset="0"/>
                <a:ea typeface="Carlito" pitchFamily="34" charset="-122"/>
                <a:cs typeface="Carlito" pitchFamily="34" charset="-120"/>
              </a:rPr>
              <a:t>Basement context</a:t>
            </a:r>
            <a:endParaRPr lang="en-US" sz="600" dirty="0"/>
          </a:p>
        </p:txBody>
      </p:sp>
      <p:sp>
        <p:nvSpPr>
          <p:cNvPr id="38" name="Text 36"/>
          <p:cNvSpPr/>
          <p:nvPr/>
        </p:nvSpPr>
        <p:spPr>
          <a:xfrm>
            <a:off x="4736306" y="2172258"/>
            <a:ext cx="1063304" cy="91440"/>
          </a:xfrm>
          <a:prstGeom prst="rect">
            <a:avLst/>
          </a:prstGeom>
          <a:noFill/>
          <a:ln/>
        </p:spPr>
        <p:txBody>
          <a:bodyPr wrap="none" lIns="0" tIns="0" rIns="0" bIns="0" rtlCol="0" anchor="t">
            <a:normAutofit/>
          </a:bodyPr>
          <a:lstStyle/>
          <a:p>
            <a:pPr algn="l" indent="0" marL="0">
              <a:lnSpc>
                <a:spcPts val="810"/>
              </a:lnSpc>
              <a:buNone/>
            </a:pPr>
            <a:r>
              <a:rPr lang="en-US" sz="800" dirty="0">
                <a:solidFill>
                  <a:srgbClr val="E8E6E1"/>
                </a:solidFill>
                <a:latin typeface="Carlito" pitchFamily="34" charset="0"/>
                <a:ea typeface="Carlito" pitchFamily="34" charset="-122"/>
                <a:cs typeface="Carlito" pitchFamily="34" charset="-120"/>
              </a:rPr>
              <a:t>Macrostrat</a:t>
            </a:r>
            <a:endParaRPr lang="en-US" sz="800" dirty="0"/>
          </a:p>
        </p:txBody>
      </p:sp>
      <p:sp>
        <p:nvSpPr>
          <p:cNvPr id="39" name="Text 37"/>
          <p:cNvSpPr/>
          <p:nvPr/>
        </p:nvSpPr>
        <p:spPr>
          <a:xfrm>
            <a:off x="4736306" y="2289349"/>
            <a:ext cx="1161288" cy="131674"/>
          </a:xfrm>
          <a:prstGeom prst="rect">
            <a:avLst/>
          </a:prstGeom>
          <a:noFill/>
          <a:ln/>
        </p:spPr>
        <p:txBody>
          <a:bodyPr wrap="none" lIns="0" tIns="0" rIns="0" bIns="0" rtlCol="0" anchor="t"/>
          <a:lstStyle/>
          <a:p>
            <a:pPr algn="l" indent="0" marL="0">
              <a:lnSpc>
                <a:spcPts val="675"/>
              </a:lnSpc>
              <a:buNone/>
            </a:pPr>
            <a:r>
              <a:rPr lang="en-US" sz="800" dirty="0">
                <a:solidFill>
                  <a:srgbClr val="A8A39C"/>
                </a:solidFill>
                <a:latin typeface="Carlito" pitchFamily="34" charset="0"/>
                <a:ea typeface="Carlito" pitchFamily="34" charset="-122"/>
                <a:cs typeface="Carlito" pitchFamily="34" charset="-120"/>
              </a:rPr>
              <a:t>Host-rock</a:t>
            </a:r>
            <a:endParaRPr lang="en-US" sz="800" dirty="0"/>
          </a:p>
        </p:txBody>
      </p:sp>
      <p:sp>
        <p:nvSpPr>
          <p:cNvPr id="40" name="Text 38"/>
          <p:cNvSpPr/>
          <p:nvPr/>
        </p:nvSpPr>
        <p:spPr>
          <a:xfrm>
            <a:off x="5729288" y="2172258"/>
            <a:ext cx="1063304" cy="91440"/>
          </a:xfrm>
          <a:prstGeom prst="rect">
            <a:avLst/>
          </a:prstGeom>
          <a:noFill/>
          <a:ln/>
        </p:spPr>
        <p:txBody>
          <a:bodyPr wrap="none" lIns="0" tIns="0" rIns="0" bIns="0" rtlCol="0" anchor="t">
            <a:normAutofit/>
          </a:bodyPr>
          <a:lstStyle/>
          <a:p>
            <a:pPr algn="l" indent="0" marL="0">
              <a:lnSpc>
                <a:spcPts val="810"/>
              </a:lnSpc>
              <a:buNone/>
            </a:pPr>
            <a:r>
              <a:rPr lang="en-US" sz="800" dirty="0">
                <a:solidFill>
                  <a:srgbClr val="E8E6E1"/>
                </a:solidFill>
                <a:latin typeface="Carlito" pitchFamily="34" charset="0"/>
                <a:ea typeface="Carlito" pitchFamily="34" charset="-122"/>
                <a:cs typeface="Carlito" pitchFamily="34" charset="-120"/>
              </a:rPr>
              <a:t>OneGeology / BRGM</a:t>
            </a:r>
            <a:endParaRPr lang="en-US" sz="800" dirty="0"/>
          </a:p>
        </p:txBody>
      </p:sp>
      <p:sp>
        <p:nvSpPr>
          <p:cNvPr id="41" name="Text 39"/>
          <p:cNvSpPr/>
          <p:nvPr/>
        </p:nvSpPr>
        <p:spPr>
          <a:xfrm>
            <a:off x="5729288" y="2289349"/>
            <a:ext cx="1063304" cy="131674"/>
          </a:xfrm>
          <a:prstGeom prst="rect">
            <a:avLst/>
          </a:prstGeom>
          <a:noFill/>
          <a:ln/>
        </p:spPr>
        <p:txBody>
          <a:bodyPr wrap="none" lIns="0" tIns="0" rIns="0" bIns="0" rtlCol="0" anchor="t"/>
          <a:lstStyle/>
          <a:p>
            <a:pPr algn="l" indent="0" marL="0">
              <a:lnSpc>
                <a:spcPts val="675"/>
              </a:lnSpc>
              <a:buNone/>
            </a:pPr>
            <a:r>
              <a:rPr lang="en-US" sz="800" dirty="0">
                <a:solidFill>
                  <a:srgbClr val="A8A39C"/>
                </a:solidFill>
                <a:latin typeface="Carlito" pitchFamily="34" charset="0"/>
                <a:ea typeface="Carlito" pitchFamily="34" charset="-122"/>
                <a:cs typeface="Carlito" pitchFamily="34" charset="-120"/>
              </a:rPr>
              <a:t>Map context</a:t>
            </a:r>
            <a:endParaRPr lang="en-US" sz="800" dirty="0"/>
          </a:p>
        </p:txBody>
      </p:sp>
      <p:sp>
        <p:nvSpPr>
          <p:cNvPr id="42" name="Text 40"/>
          <p:cNvSpPr/>
          <p:nvPr/>
        </p:nvSpPr>
        <p:spPr>
          <a:xfrm>
            <a:off x="6722269" y="2172258"/>
            <a:ext cx="1161288" cy="91440"/>
          </a:xfrm>
          <a:prstGeom prst="rect">
            <a:avLst/>
          </a:prstGeom>
          <a:noFill/>
          <a:ln/>
        </p:spPr>
        <p:txBody>
          <a:bodyPr wrap="none" lIns="0" tIns="0" rIns="0" bIns="0" rtlCol="0" anchor="t">
            <a:normAutofit/>
          </a:bodyPr>
          <a:lstStyle/>
          <a:p>
            <a:pPr algn="l" indent="0" marL="0">
              <a:lnSpc>
                <a:spcPts val="810"/>
              </a:lnSpc>
              <a:buNone/>
            </a:pPr>
            <a:r>
              <a:rPr lang="en-US" sz="800" dirty="0">
                <a:solidFill>
                  <a:srgbClr val="E8E6E1"/>
                </a:solidFill>
                <a:latin typeface="Carlito" pitchFamily="34" charset="0"/>
                <a:ea typeface="Carlito" pitchFamily="34" charset="-122"/>
                <a:cs typeface="Carlito" pitchFamily="34" charset="-120"/>
              </a:rPr>
              <a:t>USGS MRDS</a:t>
            </a:r>
            <a:endParaRPr lang="en-US" sz="800" dirty="0"/>
          </a:p>
        </p:txBody>
      </p:sp>
      <p:sp>
        <p:nvSpPr>
          <p:cNvPr id="43" name="Text 41"/>
          <p:cNvSpPr/>
          <p:nvPr/>
        </p:nvSpPr>
        <p:spPr>
          <a:xfrm>
            <a:off x="6722269" y="2289349"/>
            <a:ext cx="1063304" cy="131674"/>
          </a:xfrm>
          <a:prstGeom prst="rect">
            <a:avLst/>
          </a:prstGeom>
          <a:noFill/>
          <a:ln/>
        </p:spPr>
        <p:txBody>
          <a:bodyPr wrap="none" lIns="0" tIns="0" rIns="0" bIns="0" rtlCol="0" anchor="t"/>
          <a:lstStyle/>
          <a:p>
            <a:pPr algn="l" indent="0" marL="0">
              <a:lnSpc>
                <a:spcPts val="675"/>
              </a:lnSpc>
              <a:buNone/>
            </a:pPr>
            <a:r>
              <a:rPr lang="en-US" sz="600" dirty="0">
                <a:solidFill>
                  <a:srgbClr val="A8A39C"/>
                </a:solidFill>
                <a:latin typeface="Carlito" pitchFamily="34" charset="0"/>
                <a:ea typeface="Carlito" pitchFamily="34" charset="-122"/>
                <a:cs typeface="Carlito" pitchFamily="34" charset="-120"/>
              </a:rPr>
              <a:t>Proximity weighting</a:t>
            </a:r>
            <a:endParaRPr lang="en-US" sz="600" dirty="0"/>
          </a:p>
        </p:txBody>
      </p:sp>
      <p:sp>
        <p:nvSpPr>
          <p:cNvPr id="44" name="Text 42"/>
          <p:cNvSpPr/>
          <p:nvPr/>
        </p:nvSpPr>
        <p:spPr>
          <a:xfrm>
            <a:off x="7715250" y="2172258"/>
            <a:ext cx="907256" cy="91440"/>
          </a:xfrm>
          <a:prstGeom prst="rect">
            <a:avLst/>
          </a:prstGeom>
          <a:noFill/>
          <a:ln/>
        </p:spPr>
        <p:txBody>
          <a:bodyPr wrap="none" lIns="0" tIns="0" rIns="0" bIns="0" rtlCol="0" anchor="t">
            <a:normAutofit/>
          </a:bodyPr>
          <a:lstStyle/>
          <a:p>
            <a:pPr algn="l" indent="0" marL="0">
              <a:lnSpc>
                <a:spcPts val="810"/>
              </a:lnSpc>
              <a:buNone/>
            </a:pPr>
            <a:r>
              <a:rPr lang="en-US" sz="800" dirty="0">
                <a:solidFill>
                  <a:srgbClr val="E8E6E1"/>
                </a:solidFill>
                <a:latin typeface="Carlito" pitchFamily="34" charset="0"/>
                <a:ea typeface="Carlito" pitchFamily="34" charset="-122"/>
                <a:cs typeface="Carlito" pitchFamily="34" charset="-120"/>
              </a:rPr>
              <a:t>WDPA</a:t>
            </a:r>
            <a:endParaRPr lang="en-US" sz="800" dirty="0"/>
          </a:p>
        </p:txBody>
      </p:sp>
      <p:sp>
        <p:nvSpPr>
          <p:cNvPr id="45" name="Text 43"/>
          <p:cNvSpPr/>
          <p:nvPr/>
        </p:nvSpPr>
        <p:spPr>
          <a:xfrm>
            <a:off x="7715250" y="2289349"/>
            <a:ext cx="907256" cy="131674"/>
          </a:xfrm>
          <a:prstGeom prst="rect">
            <a:avLst/>
          </a:prstGeom>
          <a:noFill/>
          <a:ln/>
        </p:spPr>
        <p:txBody>
          <a:bodyPr wrap="none" lIns="0" tIns="0" rIns="0" bIns="0" rtlCol="0" anchor="t"/>
          <a:lstStyle/>
          <a:p>
            <a:pPr algn="l" indent="0" marL="0">
              <a:lnSpc>
                <a:spcPts val="675"/>
              </a:lnSpc>
              <a:buNone/>
            </a:pPr>
            <a:r>
              <a:rPr lang="en-US" sz="800" dirty="0">
                <a:solidFill>
                  <a:srgbClr val="A8A39C"/>
                </a:solidFill>
                <a:latin typeface="Carlito" pitchFamily="34" charset="0"/>
                <a:ea typeface="Carlito" pitchFamily="34" charset="-122"/>
                <a:cs typeface="Carlito" pitchFamily="34" charset="-120"/>
              </a:rPr>
              <a:t>Exclusion</a:t>
            </a:r>
            <a:endParaRPr lang="en-US" sz="800" dirty="0"/>
          </a:p>
        </p:txBody>
      </p:sp>
      <p:sp>
        <p:nvSpPr>
          <p:cNvPr id="46" name="Text 44"/>
          <p:cNvSpPr/>
          <p:nvPr/>
        </p:nvSpPr>
        <p:spPr>
          <a:xfrm>
            <a:off x="4736306" y="2425080"/>
            <a:ext cx="1063304" cy="91440"/>
          </a:xfrm>
          <a:prstGeom prst="rect">
            <a:avLst/>
          </a:prstGeom>
          <a:noFill/>
          <a:ln/>
        </p:spPr>
        <p:txBody>
          <a:bodyPr wrap="none" lIns="0" tIns="0" rIns="0" bIns="0" rtlCol="0" anchor="t">
            <a:normAutofit/>
          </a:bodyPr>
          <a:lstStyle/>
          <a:p>
            <a:pPr algn="l" indent="0" marL="0">
              <a:lnSpc>
                <a:spcPts val="810"/>
              </a:lnSpc>
              <a:buNone/>
            </a:pPr>
            <a:r>
              <a:rPr lang="en-US" sz="800" dirty="0">
                <a:solidFill>
                  <a:srgbClr val="E8E6E1"/>
                </a:solidFill>
                <a:latin typeface="Carlito" pitchFamily="34" charset="0"/>
                <a:ea typeface="Carlito" pitchFamily="34" charset="-122"/>
                <a:cs typeface="Carlito" pitchFamily="34" charset="-120"/>
              </a:rPr>
              <a:t>OpenStreetMap</a:t>
            </a:r>
            <a:endParaRPr lang="en-US" sz="800" dirty="0"/>
          </a:p>
        </p:txBody>
      </p:sp>
      <p:sp>
        <p:nvSpPr>
          <p:cNvPr id="47" name="Text 45"/>
          <p:cNvSpPr/>
          <p:nvPr/>
        </p:nvSpPr>
        <p:spPr>
          <a:xfrm>
            <a:off x="4736306" y="2542170"/>
            <a:ext cx="1161288" cy="131674"/>
          </a:xfrm>
          <a:prstGeom prst="rect">
            <a:avLst/>
          </a:prstGeom>
          <a:noFill/>
          <a:ln/>
        </p:spPr>
        <p:txBody>
          <a:bodyPr wrap="none" lIns="0" tIns="0" rIns="0" bIns="0" rtlCol="0" anchor="t"/>
          <a:lstStyle/>
          <a:p>
            <a:pPr algn="l" indent="0" marL="0">
              <a:lnSpc>
                <a:spcPts val="675"/>
              </a:lnSpc>
              <a:buNone/>
            </a:pPr>
            <a:r>
              <a:rPr lang="en-US" sz="800" dirty="0">
                <a:solidFill>
                  <a:srgbClr val="A8A39C"/>
                </a:solidFill>
                <a:latin typeface="Carlito" pitchFamily="34" charset="0"/>
                <a:ea typeface="Carlito" pitchFamily="34" charset="-122"/>
                <a:cs typeface="Carlito" pitchFamily="34" charset="-120"/>
              </a:rPr>
              <a:t>Logistics</a:t>
            </a:r>
            <a:endParaRPr lang="en-US" sz="800" dirty="0"/>
          </a:p>
        </p:txBody>
      </p:sp>
      <p:sp>
        <p:nvSpPr>
          <p:cNvPr id="48" name="Text 46"/>
          <p:cNvSpPr/>
          <p:nvPr/>
        </p:nvSpPr>
        <p:spPr>
          <a:xfrm>
            <a:off x="5729288" y="2425080"/>
            <a:ext cx="1063304" cy="91440"/>
          </a:xfrm>
          <a:prstGeom prst="rect">
            <a:avLst/>
          </a:prstGeom>
          <a:noFill/>
          <a:ln/>
        </p:spPr>
        <p:txBody>
          <a:bodyPr wrap="none" lIns="0" tIns="0" rIns="0" bIns="0" rtlCol="0" anchor="t">
            <a:normAutofit/>
          </a:bodyPr>
          <a:lstStyle/>
          <a:p>
            <a:pPr algn="l" indent="0" marL="0">
              <a:lnSpc>
                <a:spcPts val="810"/>
              </a:lnSpc>
              <a:buNone/>
            </a:pPr>
            <a:r>
              <a:rPr lang="en-US" sz="800" dirty="0">
                <a:solidFill>
                  <a:srgbClr val="E8E6E1"/>
                </a:solidFill>
                <a:latin typeface="Carlito" pitchFamily="34" charset="0"/>
                <a:ea typeface="Carlito" pitchFamily="34" charset="-122"/>
                <a:cs typeface="Carlito" pitchFamily="34" charset="-120"/>
              </a:rPr>
              <a:t>Landsat / ASTER</a:t>
            </a:r>
            <a:endParaRPr lang="en-US" sz="800" dirty="0"/>
          </a:p>
        </p:txBody>
      </p:sp>
      <p:sp>
        <p:nvSpPr>
          <p:cNvPr id="49" name="Text 47"/>
          <p:cNvSpPr/>
          <p:nvPr/>
        </p:nvSpPr>
        <p:spPr>
          <a:xfrm>
            <a:off x="5729288" y="2542170"/>
            <a:ext cx="1063304" cy="131674"/>
          </a:xfrm>
          <a:prstGeom prst="rect">
            <a:avLst/>
          </a:prstGeom>
          <a:noFill/>
          <a:ln/>
        </p:spPr>
        <p:txBody>
          <a:bodyPr wrap="none" lIns="0" tIns="0" rIns="0" bIns="0" rtlCol="0" anchor="t"/>
          <a:lstStyle/>
          <a:p>
            <a:pPr algn="l" indent="0" marL="0">
              <a:lnSpc>
                <a:spcPts val="675"/>
              </a:lnSpc>
              <a:buNone/>
            </a:pPr>
            <a:r>
              <a:rPr lang="en-US" sz="800" dirty="0">
                <a:solidFill>
                  <a:srgbClr val="A8A39C"/>
                </a:solidFill>
                <a:latin typeface="Carlito" pitchFamily="34" charset="0"/>
                <a:ea typeface="Carlito" pitchFamily="34" charset="-122"/>
                <a:cs typeface="Carlito" pitchFamily="34" charset="-120"/>
              </a:rPr>
              <a:t>Long-archive SWIR</a:t>
            </a:r>
            <a:endParaRPr lang="en-US" sz="800" dirty="0"/>
          </a:p>
        </p:txBody>
      </p:sp>
      <p:sp>
        <p:nvSpPr>
          <p:cNvPr id="50" name="Shape 48"/>
          <p:cNvSpPr/>
          <p:nvPr/>
        </p:nvSpPr>
        <p:spPr>
          <a:xfrm>
            <a:off x="4736306" y="2695761"/>
            <a:ext cx="3886200" cy="0"/>
          </a:xfrm>
          <a:prstGeom prst="line">
            <a:avLst/>
          </a:prstGeom>
          <a:noFill/>
          <a:ln w="7144">
            <a:solidFill>
              <a:srgbClr val="2A323C"/>
            </a:solidFill>
            <a:prstDash val="solid"/>
          </a:ln>
        </p:spPr>
      </p:sp>
      <p:sp>
        <p:nvSpPr>
          <p:cNvPr id="51" name="Text 49"/>
          <p:cNvSpPr/>
          <p:nvPr/>
        </p:nvSpPr>
        <p:spPr>
          <a:xfrm>
            <a:off x="4736306" y="2692189"/>
            <a:ext cx="3886200" cy="241402"/>
          </a:xfrm>
          <a:prstGeom prst="rect">
            <a:avLst/>
          </a:prstGeom>
          <a:noFill/>
          <a:ln/>
        </p:spPr>
        <p:txBody>
          <a:bodyPr wrap="square" lIns="0" tIns="42863" rIns="0" bIns="0" rtlCol="0" anchor="t"/>
          <a:lstStyle/>
          <a:p>
            <a:pPr algn="l" indent="0" marL="0">
              <a:lnSpc>
                <a:spcPts val="844"/>
              </a:lnSpc>
              <a:buNone/>
            </a:pPr>
            <a:r>
              <a:rPr lang="en-US" sz="800" spc="79" kern="0" dirty="0">
                <a:solidFill>
                  <a:srgbClr val="6B6760"/>
                </a:solidFill>
                <a:latin typeface="Courier New" pitchFamily="34" charset="0"/>
                <a:ea typeface="Courier New" pitchFamily="34" charset="-122"/>
                <a:cs typeface="Courier New" pitchFamily="34" charset="-120"/>
              </a:rPr>
              <a:t>ALL LICENSED FOR COMMERCIAL USE · FETCHED TO YOUR BOUNDARY</a:t>
            </a:r>
            <a:endParaRPr lang="en-US" sz="800" dirty="0"/>
          </a:p>
        </p:txBody>
      </p:sp>
      <p:sp>
        <p:nvSpPr>
          <p:cNvPr id="52" name="Text 50"/>
          <p:cNvSpPr/>
          <p:nvPr/>
        </p:nvSpPr>
        <p:spPr>
          <a:xfrm>
            <a:off x="403622" y="3354437"/>
            <a:ext cx="8336756" cy="1616273"/>
          </a:xfrm>
          <a:prstGeom prst="roundRect">
            <a:avLst>
              <a:gd name="adj" fmla="val 4715"/>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53" name="Text 51"/>
          <p:cNvSpPr/>
          <p:nvPr/>
        </p:nvSpPr>
        <p:spPr>
          <a:xfrm>
            <a:off x="521494" y="3443734"/>
            <a:ext cx="4660909" cy="101156"/>
          </a:xfrm>
          <a:prstGeom prst="rect">
            <a:avLst/>
          </a:prstGeom>
          <a:noFill/>
          <a:ln/>
        </p:spPr>
        <p:txBody>
          <a:bodyPr wrap="none" lIns="0" tIns="0" rIns="0" bIns="0" rtlCol="0" anchor="t">
            <a:normAutofit/>
          </a:bodyPr>
          <a:lstStyle/>
          <a:p>
            <a:pPr algn="l" indent="0" marL="0">
              <a:lnSpc>
                <a:spcPts val="844"/>
              </a:lnSpc>
              <a:buNone/>
            </a:pPr>
            <a:r>
              <a:rPr lang="en-US" sz="800" spc="90" kern="0" dirty="0">
                <a:solidFill>
                  <a:srgbClr val="D4A437"/>
                </a:solidFill>
                <a:latin typeface="Liberation Sans Narrow" pitchFamily="34" charset="0"/>
                <a:ea typeface="Liberation Sans Narrow" pitchFamily="34" charset="-122"/>
                <a:cs typeface="Liberation Sans Narrow" pitchFamily="34" charset="-120"/>
              </a:rPr>
              <a:t>03 / PLANS</a:t>
            </a:r>
            <a:endParaRPr lang="en-US" sz="800" dirty="0"/>
          </a:p>
        </p:txBody>
      </p:sp>
      <p:sp>
        <p:nvSpPr>
          <p:cNvPr id="54" name="Text 52"/>
          <p:cNvSpPr/>
          <p:nvPr/>
        </p:nvSpPr>
        <p:spPr>
          <a:xfrm>
            <a:off x="521494" y="3572321"/>
            <a:ext cx="4297235" cy="164592"/>
          </a:xfrm>
          <a:prstGeom prst="rect">
            <a:avLst/>
          </a:prstGeom>
          <a:noFill/>
          <a:ln/>
        </p:spPr>
        <p:txBody>
          <a:bodyPr wrap="square" lIns="0" tIns="0" rIns="0" bIns="0" rtlCol="0" anchor="t"/>
          <a:lstStyle/>
          <a:p>
            <a:pPr algn="l" indent="0" marL="0">
              <a:lnSpc>
                <a:spcPts val="1097"/>
              </a:lnSpc>
              <a:buNone/>
            </a:pPr>
            <a:r>
              <a:rPr lang="en-US" sz="800" b="1" spc="102" kern="0" dirty="0">
                <a:solidFill>
                  <a:srgbClr val="6B6760"/>
                </a:solidFill>
                <a:latin typeface="Carlito" pitchFamily="34" charset="0"/>
                <a:ea typeface="Carlito" pitchFamily="34" charset="-122"/>
                <a:cs typeface="Carlito" pitchFamily="34" charset="-120"/>
              </a:rPr>
              <a:t>COMMERCIAL SHAPE — PILOT SIZED FOR AN ENGAGEMENT LIKE THIS</a:t>
            </a:r>
            <a:endParaRPr lang="en-US" sz="800" dirty="0"/>
          </a:p>
        </p:txBody>
      </p:sp>
      <p:sp>
        <p:nvSpPr>
          <p:cNvPr id="55" name="Text 53"/>
          <p:cNvSpPr/>
          <p:nvPr/>
        </p:nvSpPr>
        <p:spPr>
          <a:xfrm>
            <a:off x="525066" y="3772346"/>
            <a:ext cx="1964531" cy="916186"/>
          </a:xfrm>
          <a:prstGeom prst="roundRect">
            <a:avLst>
              <a:gd name="adj" fmla="val 6238"/>
            </a:avLst>
          </a:prstGeom>
          <a:solidFill>
            <a:srgbClr val="161B22"/>
          </a:solidFill>
          <a:ln w="7144">
            <a:solidFill>
              <a:srgbClr val="2A323C"/>
            </a:solidFill>
            <a:prstDash val="solid"/>
          </a:ln>
        </p:spPr>
        <p:txBody>
          <a:bodyPr wrap="square" rtlCol="0" anchor="ctr"/>
          <a:lstStyle/>
          <a:p>
            <a:pPr indent="0" marL="0">
              <a:buNone/>
            </a:pPr>
            <a:endParaRPr lang="en-US" dirty="0"/>
          </a:p>
        </p:txBody>
      </p:sp>
      <p:sp>
        <p:nvSpPr>
          <p:cNvPr id="56" name="Text 54"/>
          <p:cNvSpPr/>
          <p:nvPr/>
        </p:nvSpPr>
        <p:spPr>
          <a:xfrm>
            <a:off x="600075" y="3840212"/>
            <a:ext cx="1814513" cy="111090"/>
          </a:xfrm>
          <a:prstGeom prst="rect">
            <a:avLst/>
          </a:prstGeom>
          <a:noFill/>
          <a:ln/>
        </p:spPr>
        <p:txBody>
          <a:bodyPr wrap="none" lIns="0" tIns="0" rIns="0" bIns="0" rtlCol="0" anchor="t">
            <a:normAutofit/>
          </a:bodyPr>
          <a:lstStyle/>
          <a:p>
            <a:pPr algn="l" indent="0" marL="0">
              <a:lnSpc>
                <a:spcPts val="866"/>
              </a:lnSpc>
              <a:buNone/>
            </a:pPr>
            <a:r>
              <a:rPr lang="en-US" sz="800" b="1" dirty="0">
                <a:solidFill>
                  <a:srgbClr val="E8E6E1"/>
                </a:solidFill>
                <a:latin typeface="Carlito" pitchFamily="34" charset="0"/>
                <a:ea typeface="Carlito" pitchFamily="34" charset="-122"/>
                <a:cs typeface="Carlito" pitchFamily="34" charset="-120"/>
              </a:rPr>
              <a:t>Starter</a:t>
            </a:r>
            <a:endParaRPr lang="en-US" sz="800" dirty="0"/>
          </a:p>
        </p:txBody>
      </p:sp>
      <p:sp>
        <p:nvSpPr>
          <p:cNvPr id="57" name="Text 55"/>
          <p:cNvSpPr/>
          <p:nvPr/>
        </p:nvSpPr>
        <p:spPr>
          <a:xfrm>
            <a:off x="600075" y="4000165"/>
            <a:ext cx="1757363" cy="120658"/>
          </a:xfrm>
          <a:prstGeom prst="rect">
            <a:avLst/>
          </a:prstGeom>
          <a:noFill/>
          <a:ln/>
        </p:spPr>
        <p:txBody>
          <a:bodyPr wrap="none" lIns="0" tIns="0" rIns="0" bIns="0" rtlCol="0" anchor="t"/>
          <a:lstStyle/>
          <a:p>
            <a:pPr algn="l" indent="0" marL="0">
              <a:lnSpc>
                <a:spcPts val="495"/>
              </a:lnSpc>
              <a:buNone/>
            </a:pPr>
            <a:r>
              <a:rPr lang="en-US" sz="800" spc="45" kern="0" dirty="0">
                <a:solidFill>
                  <a:srgbClr val="6B6760"/>
                </a:solidFill>
                <a:latin typeface="Carlito" pitchFamily="34" charset="0"/>
                <a:ea typeface="Carlito" pitchFamily="34" charset="-122"/>
                <a:cs typeface="Carlito" pitchFamily="34" charset="-120"/>
              </a:rPr>
              <a:t>SEATS</a:t>
            </a:r>
            <a:endParaRPr lang="en-US" sz="800" dirty="0"/>
          </a:p>
        </p:txBody>
      </p:sp>
      <p:sp>
        <p:nvSpPr>
          <p:cNvPr id="58" name="Text 56"/>
          <p:cNvSpPr/>
          <p:nvPr/>
        </p:nvSpPr>
        <p:spPr>
          <a:xfrm>
            <a:off x="2371725" y="3978734"/>
            <a:ext cx="91440" cy="120587"/>
          </a:xfrm>
          <a:prstGeom prst="rect">
            <a:avLst/>
          </a:prstGeom>
          <a:noFill/>
          <a:ln/>
        </p:spPr>
        <p:txBody>
          <a:bodyPr wrap="square" lIns="0" tIns="0" rIns="0" bIns="0" rtlCol="0" anchor="t"/>
          <a:lstStyle/>
          <a:p>
            <a:pPr algn="l" indent="0" marL="0">
              <a:lnSpc>
                <a:spcPts val="742"/>
              </a:lnSpc>
              <a:buNone/>
            </a:pPr>
            <a:r>
              <a:rPr lang="en-US" sz="800" dirty="0">
                <a:solidFill>
                  <a:srgbClr val="E8E6E1"/>
                </a:solidFill>
                <a:latin typeface="Liberation Sans Narrow" pitchFamily="34" charset="0"/>
                <a:ea typeface="Liberation Sans Narrow" pitchFamily="34" charset="-122"/>
                <a:cs typeface="Liberation Sans Narrow" pitchFamily="34" charset="-120"/>
              </a:rPr>
              <a:t>2</a:t>
            </a:r>
            <a:endParaRPr lang="en-US" sz="800" dirty="0"/>
          </a:p>
        </p:txBody>
      </p:sp>
      <p:sp>
        <p:nvSpPr>
          <p:cNvPr id="59" name="Text 57"/>
          <p:cNvSpPr/>
          <p:nvPr/>
        </p:nvSpPr>
        <p:spPr>
          <a:xfrm>
            <a:off x="600075" y="4122948"/>
            <a:ext cx="1757363" cy="120658"/>
          </a:xfrm>
          <a:prstGeom prst="rect">
            <a:avLst/>
          </a:prstGeom>
          <a:noFill/>
          <a:ln/>
        </p:spPr>
        <p:txBody>
          <a:bodyPr wrap="none" lIns="0" tIns="0" rIns="0" bIns="0" rtlCol="0" anchor="t"/>
          <a:lstStyle/>
          <a:p>
            <a:pPr algn="l" indent="0" marL="0">
              <a:lnSpc>
                <a:spcPts val="495"/>
              </a:lnSpc>
              <a:buNone/>
            </a:pPr>
            <a:r>
              <a:rPr lang="en-US" sz="800" spc="45" kern="0" dirty="0">
                <a:solidFill>
                  <a:srgbClr val="6B6760"/>
                </a:solidFill>
                <a:latin typeface="Carlito" pitchFamily="34" charset="0"/>
                <a:ea typeface="Carlito" pitchFamily="34" charset="-122"/>
                <a:cs typeface="Carlito" pitchFamily="34" charset="-120"/>
              </a:rPr>
              <a:t>PROJECTS</a:t>
            </a:r>
            <a:endParaRPr lang="en-US" sz="800" dirty="0"/>
          </a:p>
        </p:txBody>
      </p:sp>
      <p:sp>
        <p:nvSpPr>
          <p:cNvPr id="60" name="Text 58"/>
          <p:cNvSpPr/>
          <p:nvPr/>
        </p:nvSpPr>
        <p:spPr>
          <a:xfrm>
            <a:off x="2371725" y="4101517"/>
            <a:ext cx="91440" cy="120587"/>
          </a:xfrm>
          <a:prstGeom prst="rect">
            <a:avLst/>
          </a:prstGeom>
          <a:noFill/>
          <a:ln/>
        </p:spPr>
        <p:txBody>
          <a:bodyPr wrap="square" lIns="0" tIns="0" rIns="0" bIns="0" rtlCol="0" anchor="t"/>
          <a:lstStyle/>
          <a:p>
            <a:pPr algn="l" indent="0" marL="0">
              <a:lnSpc>
                <a:spcPts val="742"/>
              </a:lnSpc>
              <a:buNone/>
            </a:pPr>
            <a:r>
              <a:rPr lang="en-US" sz="800" dirty="0">
                <a:solidFill>
                  <a:srgbClr val="E8E6E1"/>
                </a:solidFill>
                <a:latin typeface="Liberation Sans Narrow" pitchFamily="34" charset="0"/>
                <a:ea typeface="Liberation Sans Narrow" pitchFamily="34" charset="-122"/>
                <a:cs typeface="Liberation Sans Narrow" pitchFamily="34" charset="-120"/>
              </a:rPr>
              <a:t>3</a:t>
            </a:r>
            <a:endParaRPr lang="en-US" sz="800" dirty="0"/>
          </a:p>
        </p:txBody>
      </p:sp>
      <p:sp>
        <p:nvSpPr>
          <p:cNvPr id="61" name="Text 59"/>
          <p:cNvSpPr/>
          <p:nvPr/>
        </p:nvSpPr>
        <p:spPr>
          <a:xfrm>
            <a:off x="600075" y="4245732"/>
            <a:ext cx="1714500" cy="120658"/>
          </a:xfrm>
          <a:prstGeom prst="rect">
            <a:avLst/>
          </a:prstGeom>
          <a:noFill/>
          <a:ln/>
        </p:spPr>
        <p:txBody>
          <a:bodyPr wrap="none" lIns="0" tIns="0" rIns="0" bIns="0" rtlCol="0" anchor="t"/>
          <a:lstStyle/>
          <a:p>
            <a:pPr algn="l" indent="0" marL="0">
              <a:lnSpc>
                <a:spcPts val="495"/>
              </a:lnSpc>
              <a:buNone/>
            </a:pPr>
            <a:r>
              <a:rPr lang="en-US" sz="800" spc="45" kern="0" dirty="0">
                <a:solidFill>
                  <a:srgbClr val="6B6760"/>
                </a:solidFill>
                <a:latin typeface="Carlito" pitchFamily="34" charset="0"/>
                <a:ea typeface="Carlito" pitchFamily="34" charset="-122"/>
                <a:cs typeface="Carlito" pitchFamily="34" charset="-120"/>
              </a:rPr>
              <a:t>ANALYSIS RUNS</a:t>
            </a:r>
            <a:endParaRPr lang="en-US" sz="800" dirty="0"/>
          </a:p>
        </p:txBody>
      </p:sp>
      <p:sp>
        <p:nvSpPr>
          <p:cNvPr id="62" name="Text 60"/>
          <p:cNvSpPr/>
          <p:nvPr/>
        </p:nvSpPr>
        <p:spPr>
          <a:xfrm>
            <a:off x="2296864" y="4224300"/>
            <a:ext cx="155437" cy="120587"/>
          </a:xfrm>
          <a:prstGeom prst="rect">
            <a:avLst/>
          </a:prstGeom>
          <a:noFill/>
          <a:ln/>
        </p:spPr>
        <p:txBody>
          <a:bodyPr wrap="square" lIns="0" tIns="0" rIns="0" bIns="0" rtlCol="0" anchor="t"/>
          <a:lstStyle/>
          <a:p>
            <a:pPr algn="l" indent="0" marL="0">
              <a:lnSpc>
                <a:spcPts val="742"/>
              </a:lnSpc>
              <a:buNone/>
            </a:pPr>
            <a:r>
              <a:rPr lang="en-US" sz="675" dirty="0">
                <a:solidFill>
                  <a:srgbClr val="E8E6E1"/>
                </a:solidFill>
                <a:latin typeface="Liberation Sans Narrow" pitchFamily="34" charset="0"/>
                <a:ea typeface="Liberation Sans Narrow" pitchFamily="34" charset="-122"/>
                <a:cs typeface="Liberation Sans Narrow" pitchFamily="34" charset="-120"/>
              </a:rPr>
              <a:t>20</a:t>
            </a:r>
            <a:endParaRPr lang="en-US" sz="675" dirty="0"/>
          </a:p>
        </p:txBody>
      </p:sp>
      <p:sp>
        <p:nvSpPr>
          <p:cNvPr id="63" name="Text 61"/>
          <p:cNvSpPr/>
          <p:nvPr/>
        </p:nvSpPr>
        <p:spPr>
          <a:xfrm>
            <a:off x="600075" y="4368515"/>
            <a:ext cx="1714500" cy="120658"/>
          </a:xfrm>
          <a:prstGeom prst="rect">
            <a:avLst/>
          </a:prstGeom>
          <a:noFill/>
          <a:ln/>
        </p:spPr>
        <p:txBody>
          <a:bodyPr wrap="none" lIns="0" tIns="0" rIns="0" bIns="0" rtlCol="0" anchor="t"/>
          <a:lstStyle/>
          <a:p>
            <a:pPr algn="l" indent="0" marL="0">
              <a:lnSpc>
                <a:spcPts val="495"/>
              </a:lnSpc>
              <a:buNone/>
            </a:pPr>
            <a:r>
              <a:rPr lang="en-US" sz="800" spc="45" kern="0" dirty="0">
                <a:solidFill>
                  <a:srgbClr val="6B6760"/>
                </a:solidFill>
                <a:latin typeface="Carlito" pitchFamily="34" charset="0"/>
                <a:ea typeface="Carlito" pitchFamily="34" charset="-122"/>
                <a:cs typeface="Carlito" pitchFamily="34" charset="-120"/>
              </a:rPr>
              <a:t>REPORTS</a:t>
            </a:r>
            <a:endParaRPr lang="en-US" sz="800" dirty="0"/>
          </a:p>
        </p:txBody>
      </p:sp>
      <p:sp>
        <p:nvSpPr>
          <p:cNvPr id="64" name="Text 62"/>
          <p:cNvSpPr/>
          <p:nvPr/>
        </p:nvSpPr>
        <p:spPr>
          <a:xfrm>
            <a:off x="2296864" y="4347083"/>
            <a:ext cx="155437" cy="120587"/>
          </a:xfrm>
          <a:prstGeom prst="rect">
            <a:avLst/>
          </a:prstGeom>
          <a:noFill/>
          <a:ln/>
        </p:spPr>
        <p:txBody>
          <a:bodyPr wrap="square" lIns="0" tIns="0" rIns="0" bIns="0" rtlCol="0" anchor="t"/>
          <a:lstStyle/>
          <a:p>
            <a:pPr algn="l" indent="0" marL="0">
              <a:lnSpc>
                <a:spcPts val="742"/>
              </a:lnSpc>
              <a:buNone/>
            </a:pPr>
            <a:r>
              <a:rPr lang="en-US" sz="675" dirty="0">
                <a:solidFill>
                  <a:srgbClr val="E8E6E1"/>
                </a:solidFill>
                <a:latin typeface="Liberation Sans Narrow" pitchFamily="34" charset="0"/>
                <a:ea typeface="Liberation Sans Narrow" pitchFamily="34" charset="-122"/>
                <a:cs typeface="Liberation Sans Narrow" pitchFamily="34" charset="-120"/>
              </a:rPr>
              <a:t>10</a:t>
            </a:r>
            <a:endParaRPr lang="en-US" sz="675" dirty="0"/>
          </a:p>
        </p:txBody>
      </p:sp>
      <p:sp>
        <p:nvSpPr>
          <p:cNvPr id="65" name="Shape 63"/>
          <p:cNvSpPr/>
          <p:nvPr/>
        </p:nvSpPr>
        <p:spPr>
          <a:xfrm>
            <a:off x="600075" y="4487726"/>
            <a:ext cx="1814513" cy="0"/>
          </a:xfrm>
          <a:prstGeom prst="line">
            <a:avLst/>
          </a:prstGeom>
          <a:noFill/>
          <a:ln w="7144">
            <a:solidFill>
              <a:srgbClr val="2A323C"/>
            </a:solidFill>
            <a:prstDash val="solid"/>
          </a:ln>
        </p:spPr>
      </p:sp>
      <p:sp>
        <p:nvSpPr>
          <p:cNvPr id="66" name="Text 64"/>
          <p:cNvSpPr/>
          <p:nvPr/>
        </p:nvSpPr>
        <p:spPr>
          <a:xfrm>
            <a:off x="600075" y="4484154"/>
            <a:ext cx="1923383" cy="129369"/>
          </a:xfrm>
          <a:prstGeom prst="rect">
            <a:avLst/>
          </a:prstGeom>
          <a:noFill/>
          <a:ln/>
        </p:spPr>
        <p:txBody>
          <a:bodyPr wrap="square" lIns="0" tIns="28575" rIns="0" bIns="0" rtlCol="0" anchor="t"/>
          <a:lstStyle/>
          <a:p>
            <a:pPr algn="l" indent="0" marL="0">
              <a:lnSpc>
                <a:spcPts val="703"/>
              </a:lnSpc>
              <a:buNone/>
            </a:pPr>
            <a:r>
              <a:rPr lang="en-US" sz="800" dirty="0">
                <a:solidFill>
                  <a:srgbClr val="A8A39C"/>
                </a:solidFill>
                <a:latin typeface="Carlito" pitchFamily="34" charset="0"/>
                <a:ea typeface="Carlito" pitchFamily="34" charset="-122"/>
                <a:cs typeface="Carlito" pitchFamily="34" charset="-120"/>
              </a:rPr>
              <a:t>Map, upload, analysis, reports.</a:t>
            </a:r>
            <a:endParaRPr lang="en-US" sz="800" dirty="0"/>
          </a:p>
        </p:txBody>
      </p:sp>
      <p:sp>
        <p:nvSpPr>
          <p:cNvPr id="67" name="Text 65"/>
          <p:cNvSpPr/>
          <p:nvPr/>
        </p:nvSpPr>
        <p:spPr>
          <a:xfrm>
            <a:off x="2568178" y="3772346"/>
            <a:ext cx="1964531" cy="916186"/>
          </a:xfrm>
          <a:prstGeom prst="roundRect">
            <a:avLst>
              <a:gd name="adj" fmla="val 6238"/>
            </a:avLst>
          </a:prstGeom>
          <a:solidFill>
            <a:srgbClr val="D4A437">
              <a:alpha val="6000"/>
            </a:srgbClr>
          </a:solidFill>
          <a:ln w="7144">
            <a:solidFill>
              <a:srgbClr val="D4A437"/>
            </a:solidFill>
            <a:prstDash val="solid"/>
          </a:ln>
        </p:spPr>
        <p:txBody>
          <a:bodyPr wrap="square" rtlCol="0" anchor="ctr"/>
          <a:lstStyle/>
          <a:p>
            <a:pPr indent="0" marL="0">
              <a:buNone/>
            </a:pPr>
            <a:endParaRPr lang="en-US" dirty="0"/>
          </a:p>
        </p:txBody>
      </p:sp>
      <p:sp>
        <p:nvSpPr>
          <p:cNvPr id="68" name="Text 66"/>
          <p:cNvSpPr/>
          <p:nvPr/>
        </p:nvSpPr>
        <p:spPr>
          <a:xfrm>
            <a:off x="2643188" y="3842333"/>
            <a:ext cx="1215442" cy="120627"/>
          </a:xfrm>
          <a:prstGeom prst="rect">
            <a:avLst/>
          </a:prstGeom>
          <a:noFill/>
          <a:ln/>
        </p:spPr>
        <p:txBody>
          <a:bodyPr wrap="none" lIns="0" tIns="0" rIns="0" bIns="0" rtlCol="0" anchor="t"/>
          <a:lstStyle/>
          <a:p>
            <a:pPr algn="l" indent="0" marL="0">
              <a:lnSpc>
                <a:spcPts val="866"/>
              </a:lnSpc>
              <a:buNone/>
            </a:pPr>
            <a:r>
              <a:rPr lang="en-US" sz="800" b="1" dirty="0">
                <a:solidFill>
                  <a:srgbClr val="E8E6E1"/>
                </a:solidFill>
                <a:latin typeface="Carlito" pitchFamily="34" charset="0"/>
                <a:ea typeface="Carlito" pitchFamily="34" charset="-122"/>
                <a:cs typeface="Carlito" pitchFamily="34" charset="-120"/>
              </a:rPr>
              <a:t>Pilot</a:t>
            </a:r>
            <a:endParaRPr lang="en-US" sz="800" dirty="0"/>
          </a:p>
        </p:txBody>
      </p:sp>
      <p:sp>
        <p:nvSpPr>
          <p:cNvPr id="69" name="Text 67"/>
          <p:cNvSpPr/>
          <p:nvPr/>
        </p:nvSpPr>
        <p:spPr>
          <a:xfrm>
            <a:off x="3850057" y="3833354"/>
            <a:ext cx="630503" cy="128016"/>
          </a:xfrm>
          <a:prstGeom prst="roundRect">
            <a:avLst>
              <a:gd name="adj" fmla="val 14881"/>
            </a:avLst>
          </a:prstGeom>
          <a:solidFill>
            <a:srgbClr val="D4A437"/>
          </a:solidFill>
          <a:ln/>
        </p:spPr>
        <p:txBody>
          <a:bodyPr wrap="square" rtlCol="0" anchor="ctr"/>
          <a:lstStyle/>
          <a:p>
            <a:pPr indent="0" marL="0">
              <a:buNone/>
            </a:pPr>
            <a:endParaRPr lang="en-US" dirty="0"/>
          </a:p>
        </p:txBody>
      </p:sp>
      <p:sp>
        <p:nvSpPr>
          <p:cNvPr id="70" name="Text 68"/>
          <p:cNvSpPr/>
          <p:nvPr/>
        </p:nvSpPr>
        <p:spPr>
          <a:xfrm>
            <a:off x="3738710" y="3840212"/>
            <a:ext cx="853196" cy="114300"/>
          </a:xfrm>
          <a:prstGeom prst="rect">
            <a:avLst/>
          </a:prstGeom>
          <a:noFill/>
          <a:ln/>
        </p:spPr>
        <p:txBody>
          <a:bodyPr wrap="square" lIns="0" tIns="0" rIns="0" bIns="0" rtlCol="0" anchor="ctr"/>
          <a:lstStyle/>
          <a:p>
            <a:pPr algn="ctr" indent="0" marL="0">
              <a:lnSpc>
                <a:spcPts val="675"/>
              </a:lnSpc>
              <a:buNone/>
            </a:pPr>
            <a:r>
              <a:rPr lang="en-US" sz="800" b="1" spc="63" kern="0" dirty="0">
                <a:solidFill>
                  <a:srgbClr val="0E1116"/>
                </a:solidFill>
                <a:latin typeface="Carlito" pitchFamily="34" charset="0"/>
                <a:ea typeface="Carlito" pitchFamily="34" charset="-122"/>
                <a:cs typeface="Carlito" pitchFamily="34" charset="-120"/>
              </a:rPr>
              <a:t>RECOMMENDED</a:t>
            </a:r>
            <a:endParaRPr lang="en-US" sz="800" dirty="0"/>
          </a:p>
        </p:txBody>
      </p:sp>
      <p:sp>
        <p:nvSpPr>
          <p:cNvPr id="71" name="Text 69"/>
          <p:cNvSpPr/>
          <p:nvPr/>
        </p:nvSpPr>
        <p:spPr>
          <a:xfrm>
            <a:off x="2643188" y="4004518"/>
            <a:ext cx="1714500" cy="120658"/>
          </a:xfrm>
          <a:prstGeom prst="rect">
            <a:avLst/>
          </a:prstGeom>
          <a:noFill/>
          <a:ln/>
        </p:spPr>
        <p:txBody>
          <a:bodyPr wrap="none" lIns="0" tIns="0" rIns="0" bIns="0" rtlCol="0" anchor="t"/>
          <a:lstStyle/>
          <a:p>
            <a:pPr algn="l" indent="0" marL="0">
              <a:lnSpc>
                <a:spcPts val="495"/>
              </a:lnSpc>
              <a:buNone/>
            </a:pPr>
            <a:r>
              <a:rPr lang="en-US" sz="800" spc="45" kern="0" dirty="0">
                <a:solidFill>
                  <a:srgbClr val="6B6760"/>
                </a:solidFill>
                <a:latin typeface="Carlito" pitchFamily="34" charset="0"/>
                <a:ea typeface="Carlito" pitchFamily="34" charset="-122"/>
                <a:cs typeface="Carlito" pitchFamily="34" charset="-120"/>
              </a:rPr>
              <a:t>SEATS</a:t>
            </a:r>
            <a:endParaRPr lang="en-US" sz="800" dirty="0"/>
          </a:p>
        </p:txBody>
      </p:sp>
      <p:sp>
        <p:nvSpPr>
          <p:cNvPr id="72" name="Text 70"/>
          <p:cNvSpPr/>
          <p:nvPr/>
        </p:nvSpPr>
        <p:spPr>
          <a:xfrm>
            <a:off x="4339977" y="3983087"/>
            <a:ext cx="155437" cy="120587"/>
          </a:xfrm>
          <a:prstGeom prst="rect">
            <a:avLst/>
          </a:prstGeom>
          <a:noFill/>
          <a:ln/>
        </p:spPr>
        <p:txBody>
          <a:bodyPr wrap="square" lIns="0" tIns="0" rIns="0" bIns="0" rtlCol="0" anchor="t"/>
          <a:lstStyle/>
          <a:p>
            <a:pPr algn="l" indent="0" marL="0">
              <a:lnSpc>
                <a:spcPts val="742"/>
              </a:lnSpc>
              <a:buNone/>
            </a:pPr>
            <a:r>
              <a:rPr lang="en-US" sz="675" dirty="0">
                <a:solidFill>
                  <a:srgbClr val="E8E6E1"/>
                </a:solidFill>
                <a:latin typeface="Liberation Sans Narrow" pitchFamily="34" charset="0"/>
                <a:ea typeface="Liberation Sans Narrow" pitchFamily="34" charset="-122"/>
                <a:cs typeface="Liberation Sans Narrow" pitchFamily="34" charset="-120"/>
              </a:rPr>
              <a:t>10</a:t>
            </a:r>
            <a:endParaRPr lang="en-US" sz="675" dirty="0"/>
          </a:p>
        </p:txBody>
      </p:sp>
      <p:sp>
        <p:nvSpPr>
          <p:cNvPr id="73" name="Text 71"/>
          <p:cNvSpPr/>
          <p:nvPr/>
        </p:nvSpPr>
        <p:spPr>
          <a:xfrm>
            <a:off x="2643188" y="4127302"/>
            <a:ext cx="1714500" cy="120658"/>
          </a:xfrm>
          <a:prstGeom prst="rect">
            <a:avLst/>
          </a:prstGeom>
          <a:noFill/>
          <a:ln/>
        </p:spPr>
        <p:txBody>
          <a:bodyPr wrap="none" lIns="0" tIns="0" rIns="0" bIns="0" rtlCol="0" anchor="t"/>
          <a:lstStyle/>
          <a:p>
            <a:pPr algn="l" indent="0" marL="0">
              <a:lnSpc>
                <a:spcPts val="495"/>
              </a:lnSpc>
              <a:buNone/>
            </a:pPr>
            <a:r>
              <a:rPr lang="en-US" sz="800" spc="45" kern="0" dirty="0">
                <a:solidFill>
                  <a:srgbClr val="6B6760"/>
                </a:solidFill>
                <a:latin typeface="Carlito" pitchFamily="34" charset="0"/>
                <a:ea typeface="Carlito" pitchFamily="34" charset="-122"/>
                <a:cs typeface="Carlito" pitchFamily="34" charset="-120"/>
              </a:rPr>
              <a:t>PROJECTS</a:t>
            </a:r>
            <a:endParaRPr lang="en-US" sz="800" dirty="0"/>
          </a:p>
        </p:txBody>
      </p:sp>
      <p:sp>
        <p:nvSpPr>
          <p:cNvPr id="74" name="Text 72"/>
          <p:cNvSpPr/>
          <p:nvPr/>
        </p:nvSpPr>
        <p:spPr>
          <a:xfrm>
            <a:off x="4339977" y="4105870"/>
            <a:ext cx="155437" cy="120587"/>
          </a:xfrm>
          <a:prstGeom prst="rect">
            <a:avLst/>
          </a:prstGeom>
          <a:noFill/>
          <a:ln/>
        </p:spPr>
        <p:txBody>
          <a:bodyPr wrap="square" lIns="0" tIns="0" rIns="0" bIns="0" rtlCol="0" anchor="t"/>
          <a:lstStyle/>
          <a:p>
            <a:pPr algn="l" indent="0" marL="0">
              <a:lnSpc>
                <a:spcPts val="742"/>
              </a:lnSpc>
              <a:buNone/>
            </a:pPr>
            <a:r>
              <a:rPr lang="en-US" sz="675" dirty="0">
                <a:solidFill>
                  <a:srgbClr val="E8E6E1"/>
                </a:solidFill>
                <a:latin typeface="Liberation Sans Narrow" pitchFamily="34" charset="0"/>
                <a:ea typeface="Liberation Sans Narrow" pitchFamily="34" charset="-122"/>
                <a:cs typeface="Liberation Sans Narrow" pitchFamily="34" charset="-120"/>
              </a:rPr>
              <a:t>15</a:t>
            </a:r>
            <a:endParaRPr lang="en-US" sz="675" dirty="0"/>
          </a:p>
        </p:txBody>
      </p:sp>
      <p:sp>
        <p:nvSpPr>
          <p:cNvPr id="75" name="Text 73"/>
          <p:cNvSpPr/>
          <p:nvPr/>
        </p:nvSpPr>
        <p:spPr>
          <a:xfrm>
            <a:off x="2643188" y="4250085"/>
            <a:ext cx="1671638" cy="120658"/>
          </a:xfrm>
          <a:prstGeom prst="rect">
            <a:avLst/>
          </a:prstGeom>
          <a:noFill/>
          <a:ln/>
        </p:spPr>
        <p:txBody>
          <a:bodyPr wrap="none" lIns="0" tIns="0" rIns="0" bIns="0" rtlCol="0" anchor="t"/>
          <a:lstStyle/>
          <a:p>
            <a:pPr algn="l" indent="0" marL="0">
              <a:lnSpc>
                <a:spcPts val="495"/>
              </a:lnSpc>
              <a:buNone/>
            </a:pPr>
            <a:r>
              <a:rPr lang="en-US" sz="800" spc="45" kern="0" dirty="0">
                <a:solidFill>
                  <a:srgbClr val="6B6760"/>
                </a:solidFill>
                <a:latin typeface="Carlito" pitchFamily="34" charset="0"/>
                <a:ea typeface="Carlito" pitchFamily="34" charset="-122"/>
                <a:cs typeface="Carlito" pitchFamily="34" charset="-120"/>
              </a:rPr>
              <a:t>ANALYSIS RUNS</a:t>
            </a:r>
            <a:endParaRPr lang="en-US" sz="800" dirty="0"/>
          </a:p>
        </p:txBody>
      </p:sp>
      <p:sp>
        <p:nvSpPr>
          <p:cNvPr id="76" name="Text 74"/>
          <p:cNvSpPr/>
          <p:nvPr/>
        </p:nvSpPr>
        <p:spPr>
          <a:xfrm>
            <a:off x="4284330" y="4228654"/>
            <a:ext cx="218153" cy="120587"/>
          </a:xfrm>
          <a:prstGeom prst="rect">
            <a:avLst/>
          </a:prstGeom>
          <a:noFill/>
          <a:ln/>
        </p:spPr>
        <p:txBody>
          <a:bodyPr wrap="square" lIns="0" tIns="0" rIns="0" bIns="0" rtlCol="0" anchor="t"/>
          <a:lstStyle/>
          <a:p>
            <a:pPr algn="l" indent="0" marL="0">
              <a:lnSpc>
                <a:spcPts val="742"/>
              </a:lnSpc>
              <a:buNone/>
            </a:pPr>
            <a:r>
              <a:rPr lang="en-US" sz="675" dirty="0">
                <a:solidFill>
                  <a:srgbClr val="E8E6E1"/>
                </a:solidFill>
                <a:latin typeface="Liberation Sans Narrow" pitchFamily="34" charset="0"/>
                <a:ea typeface="Liberation Sans Narrow" pitchFamily="34" charset="-122"/>
                <a:cs typeface="Liberation Sans Narrow" pitchFamily="34" charset="-120"/>
              </a:rPr>
              <a:t>150</a:t>
            </a:r>
            <a:endParaRPr lang="en-US" sz="675" dirty="0"/>
          </a:p>
        </p:txBody>
      </p:sp>
      <p:sp>
        <p:nvSpPr>
          <p:cNvPr id="77" name="Text 75"/>
          <p:cNvSpPr/>
          <p:nvPr/>
        </p:nvSpPr>
        <p:spPr>
          <a:xfrm>
            <a:off x="2643188" y="4372868"/>
            <a:ext cx="1714500" cy="120658"/>
          </a:xfrm>
          <a:prstGeom prst="rect">
            <a:avLst/>
          </a:prstGeom>
          <a:noFill/>
          <a:ln/>
        </p:spPr>
        <p:txBody>
          <a:bodyPr wrap="none" lIns="0" tIns="0" rIns="0" bIns="0" rtlCol="0" anchor="t"/>
          <a:lstStyle/>
          <a:p>
            <a:pPr algn="l" indent="0" marL="0">
              <a:lnSpc>
                <a:spcPts val="495"/>
              </a:lnSpc>
              <a:buNone/>
            </a:pPr>
            <a:r>
              <a:rPr lang="en-US" sz="800" spc="45" kern="0" dirty="0">
                <a:solidFill>
                  <a:srgbClr val="6B6760"/>
                </a:solidFill>
                <a:latin typeface="Carlito" pitchFamily="34" charset="0"/>
                <a:ea typeface="Carlito" pitchFamily="34" charset="-122"/>
                <a:cs typeface="Carlito" pitchFamily="34" charset="-120"/>
              </a:rPr>
              <a:t>REPORTS</a:t>
            </a:r>
            <a:endParaRPr lang="en-US" sz="800" dirty="0"/>
          </a:p>
        </p:txBody>
      </p:sp>
      <p:sp>
        <p:nvSpPr>
          <p:cNvPr id="78" name="Text 76"/>
          <p:cNvSpPr/>
          <p:nvPr/>
        </p:nvSpPr>
        <p:spPr>
          <a:xfrm>
            <a:off x="4339977" y="4351437"/>
            <a:ext cx="155437" cy="120587"/>
          </a:xfrm>
          <a:prstGeom prst="rect">
            <a:avLst/>
          </a:prstGeom>
          <a:noFill/>
          <a:ln/>
        </p:spPr>
        <p:txBody>
          <a:bodyPr wrap="square" lIns="0" tIns="0" rIns="0" bIns="0" rtlCol="0" anchor="t"/>
          <a:lstStyle/>
          <a:p>
            <a:pPr algn="l" indent="0" marL="0">
              <a:lnSpc>
                <a:spcPts val="742"/>
              </a:lnSpc>
              <a:buNone/>
            </a:pPr>
            <a:r>
              <a:rPr lang="en-US" sz="675" dirty="0">
                <a:solidFill>
                  <a:srgbClr val="E8E6E1"/>
                </a:solidFill>
                <a:latin typeface="Liberation Sans Narrow" pitchFamily="34" charset="0"/>
                <a:ea typeface="Liberation Sans Narrow" pitchFamily="34" charset="-122"/>
                <a:cs typeface="Liberation Sans Narrow" pitchFamily="34" charset="-120"/>
              </a:rPr>
              <a:t>60</a:t>
            </a:r>
            <a:endParaRPr lang="en-US" sz="675" dirty="0"/>
          </a:p>
        </p:txBody>
      </p:sp>
      <p:sp>
        <p:nvSpPr>
          <p:cNvPr id="79" name="Shape 77"/>
          <p:cNvSpPr/>
          <p:nvPr/>
        </p:nvSpPr>
        <p:spPr>
          <a:xfrm>
            <a:off x="2643188" y="4492079"/>
            <a:ext cx="1814513" cy="0"/>
          </a:xfrm>
          <a:prstGeom prst="line">
            <a:avLst/>
          </a:prstGeom>
          <a:noFill/>
          <a:ln w="7144">
            <a:solidFill>
              <a:srgbClr val="2A323C"/>
            </a:solidFill>
            <a:prstDash val="solid"/>
          </a:ln>
        </p:spPr>
      </p:sp>
      <p:sp>
        <p:nvSpPr>
          <p:cNvPr id="80" name="Text 78"/>
          <p:cNvSpPr/>
          <p:nvPr/>
        </p:nvSpPr>
        <p:spPr>
          <a:xfrm>
            <a:off x="2643188" y="4488507"/>
            <a:ext cx="1923383" cy="125016"/>
          </a:xfrm>
          <a:prstGeom prst="rect">
            <a:avLst/>
          </a:prstGeom>
          <a:noFill/>
          <a:ln/>
        </p:spPr>
        <p:txBody>
          <a:bodyPr wrap="square" lIns="0" tIns="28575" rIns="0" bIns="0" rtlCol="0" anchor="t"/>
          <a:lstStyle/>
          <a:p>
            <a:pPr algn="l" indent="0" marL="0">
              <a:lnSpc>
                <a:spcPts val="703"/>
              </a:lnSpc>
              <a:buNone/>
            </a:pPr>
            <a:r>
              <a:rPr lang="en-US" sz="600" dirty="0">
                <a:solidFill>
                  <a:srgbClr val="D4A437"/>
                </a:solidFill>
                <a:latin typeface="Carlito" pitchFamily="34" charset="0"/>
                <a:ea typeface="Carlito" pitchFamily="34" charset="-122"/>
                <a:cs typeface="Carlito" pitchFamily="34" charset="-120"/>
              </a:rPr>
              <a:t>+ Copilot, team · sized for Gold Fields.</a:t>
            </a:r>
            <a:endParaRPr lang="en-US" sz="600" dirty="0"/>
          </a:p>
        </p:txBody>
      </p:sp>
      <p:sp>
        <p:nvSpPr>
          <p:cNvPr id="81" name="Text 79"/>
          <p:cNvSpPr/>
          <p:nvPr/>
        </p:nvSpPr>
        <p:spPr>
          <a:xfrm>
            <a:off x="4611291" y="3772346"/>
            <a:ext cx="1964531" cy="916186"/>
          </a:xfrm>
          <a:prstGeom prst="roundRect">
            <a:avLst>
              <a:gd name="adj" fmla="val 6238"/>
            </a:avLst>
          </a:prstGeom>
          <a:solidFill>
            <a:srgbClr val="161B22"/>
          </a:solidFill>
          <a:ln w="7144">
            <a:solidFill>
              <a:srgbClr val="2A323C"/>
            </a:solidFill>
            <a:prstDash val="solid"/>
          </a:ln>
        </p:spPr>
        <p:txBody>
          <a:bodyPr wrap="square" rtlCol="0" anchor="ctr"/>
          <a:lstStyle/>
          <a:p>
            <a:pPr indent="0" marL="0">
              <a:buNone/>
            </a:pPr>
            <a:endParaRPr lang="en-US" dirty="0"/>
          </a:p>
        </p:txBody>
      </p:sp>
      <p:sp>
        <p:nvSpPr>
          <p:cNvPr id="82" name="Text 80"/>
          <p:cNvSpPr/>
          <p:nvPr/>
        </p:nvSpPr>
        <p:spPr>
          <a:xfrm>
            <a:off x="4686300" y="3840212"/>
            <a:ext cx="1814512" cy="111090"/>
          </a:xfrm>
          <a:prstGeom prst="rect">
            <a:avLst/>
          </a:prstGeom>
          <a:noFill/>
          <a:ln/>
        </p:spPr>
        <p:txBody>
          <a:bodyPr wrap="none" lIns="0" tIns="0" rIns="0" bIns="0" rtlCol="0" anchor="t">
            <a:normAutofit/>
          </a:bodyPr>
          <a:lstStyle/>
          <a:p>
            <a:pPr algn="l" indent="0" marL="0">
              <a:lnSpc>
                <a:spcPts val="866"/>
              </a:lnSpc>
              <a:buNone/>
            </a:pPr>
            <a:r>
              <a:rPr lang="en-US" sz="800" b="1" dirty="0">
                <a:solidFill>
                  <a:srgbClr val="E8E6E1"/>
                </a:solidFill>
                <a:latin typeface="Carlito" pitchFamily="34" charset="0"/>
                <a:ea typeface="Carlito" pitchFamily="34" charset="-122"/>
                <a:cs typeface="Carlito" pitchFamily="34" charset="-120"/>
              </a:rPr>
              <a:t>Pro</a:t>
            </a:r>
            <a:endParaRPr lang="en-US" sz="800" dirty="0"/>
          </a:p>
        </p:txBody>
      </p:sp>
      <p:sp>
        <p:nvSpPr>
          <p:cNvPr id="83" name="Text 81"/>
          <p:cNvSpPr/>
          <p:nvPr/>
        </p:nvSpPr>
        <p:spPr>
          <a:xfrm>
            <a:off x="4686300" y="4000165"/>
            <a:ext cx="1757363" cy="120658"/>
          </a:xfrm>
          <a:prstGeom prst="rect">
            <a:avLst/>
          </a:prstGeom>
          <a:noFill/>
          <a:ln/>
        </p:spPr>
        <p:txBody>
          <a:bodyPr wrap="none" lIns="0" tIns="0" rIns="0" bIns="0" rtlCol="0" anchor="t"/>
          <a:lstStyle/>
          <a:p>
            <a:pPr algn="l" indent="0" marL="0">
              <a:lnSpc>
                <a:spcPts val="495"/>
              </a:lnSpc>
              <a:buNone/>
            </a:pPr>
            <a:r>
              <a:rPr lang="en-US" sz="800" spc="45" kern="0" dirty="0">
                <a:solidFill>
                  <a:srgbClr val="6B6760"/>
                </a:solidFill>
                <a:latin typeface="Carlito" pitchFamily="34" charset="0"/>
                <a:ea typeface="Carlito" pitchFamily="34" charset="-122"/>
                <a:cs typeface="Carlito" pitchFamily="34" charset="-120"/>
              </a:rPr>
              <a:t>SEATS</a:t>
            </a:r>
            <a:endParaRPr lang="en-US" sz="800" dirty="0"/>
          </a:p>
        </p:txBody>
      </p:sp>
      <p:sp>
        <p:nvSpPr>
          <p:cNvPr id="84" name="Text 82"/>
          <p:cNvSpPr/>
          <p:nvPr/>
        </p:nvSpPr>
        <p:spPr>
          <a:xfrm>
            <a:off x="6457950" y="3978734"/>
            <a:ext cx="91440" cy="120587"/>
          </a:xfrm>
          <a:prstGeom prst="rect">
            <a:avLst/>
          </a:prstGeom>
          <a:noFill/>
          <a:ln/>
        </p:spPr>
        <p:txBody>
          <a:bodyPr wrap="square" lIns="0" tIns="0" rIns="0" bIns="0" rtlCol="0" anchor="t"/>
          <a:lstStyle/>
          <a:p>
            <a:pPr algn="l" indent="0" marL="0">
              <a:lnSpc>
                <a:spcPts val="742"/>
              </a:lnSpc>
              <a:buNone/>
            </a:pPr>
            <a:r>
              <a:rPr lang="en-US" sz="800" dirty="0">
                <a:solidFill>
                  <a:srgbClr val="E8E6E1"/>
                </a:solidFill>
                <a:latin typeface="Liberation Sans Narrow" pitchFamily="34" charset="0"/>
                <a:ea typeface="Liberation Sans Narrow" pitchFamily="34" charset="-122"/>
                <a:cs typeface="Liberation Sans Narrow" pitchFamily="34" charset="-120"/>
              </a:rPr>
              <a:t>8</a:t>
            </a:r>
            <a:endParaRPr lang="en-US" sz="800" dirty="0"/>
          </a:p>
        </p:txBody>
      </p:sp>
      <p:sp>
        <p:nvSpPr>
          <p:cNvPr id="85" name="Text 83"/>
          <p:cNvSpPr/>
          <p:nvPr/>
        </p:nvSpPr>
        <p:spPr>
          <a:xfrm>
            <a:off x="4686300" y="4122948"/>
            <a:ext cx="1714500" cy="120658"/>
          </a:xfrm>
          <a:prstGeom prst="rect">
            <a:avLst/>
          </a:prstGeom>
          <a:noFill/>
          <a:ln/>
        </p:spPr>
        <p:txBody>
          <a:bodyPr wrap="none" lIns="0" tIns="0" rIns="0" bIns="0" rtlCol="0" anchor="t"/>
          <a:lstStyle/>
          <a:p>
            <a:pPr algn="l" indent="0" marL="0">
              <a:lnSpc>
                <a:spcPts val="495"/>
              </a:lnSpc>
              <a:buNone/>
            </a:pPr>
            <a:r>
              <a:rPr lang="en-US" sz="800" spc="45" kern="0" dirty="0">
                <a:solidFill>
                  <a:srgbClr val="6B6760"/>
                </a:solidFill>
                <a:latin typeface="Carlito" pitchFamily="34" charset="0"/>
                <a:ea typeface="Carlito" pitchFamily="34" charset="-122"/>
                <a:cs typeface="Carlito" pitchFamily="34" charset="-120"/>
              </a:rPr>
              <a:t>PROJECTS</a:t>
            </a:r>
            <a:endParaRPr lang="en-US" sz="800" dirty="0"/>
          </a:p>
        </p:txBody>
      </p:sp>
      <p:sp>
        <p:nvSpPr>
          <p:cNvPr id="86" name="Text 84"/>
          <p:cNvSpPr/>
          <p:nvPr/>
        </p:nvSpPr>
        <p:spPr>
          <a:xfrm>
            <a:off x="6383089" y="4101517"/>
            <a:ext cx="155437" cy="120587"/>
          </a:xfrm>
          <a:prstGeom prst="rect">
            <a:avLst/>
          </a:prstGeom>
          <a:noFill/>
          <a:ln/>
        </p:spPr>
        <p:txBody>
          <a:bodyPr wrap="square" lIns="0" tIns="0" rIns="0" bIns="0" rtlCol="0" anchor="t"/>
          <a:lstStyle/>
          <a:p>
            <a:pPr algn="l" indent="0" marL="0">
              <a:lnSpc>
                <a:spcPts val="742"/>
              </a:lnSpc>
              <a:buNone/>
            </a:pPr>
            <a:r>
              <a:rPr lang="en-US" sz="675" dirty="0">
                <a:solidFill>
                  <a:srgbClr val="E8E6E1"/>
                </a:solidFill>
                <a:latin typeface="Liberation Sans Narrow" pitchFamily="34" charset="0"/>
                <a:ea typeface="Liberation Sans Narrow" pitchFamily="34" charset="-122"/>
                <a:cs typeface="Liberation Sans Narrow" pitchFamily="34" charset="-120"/>
              </a:rPr>
              <a:t>20</a:t>
            </a:r>
            <a:endParaRPr lang="en-US" sz="675" dirty="0"/>
          </a:p>
        </p:txBody>
      </p:sp>
      <p:sp>
        <p:nvSpPr>
          <p:cNvPr id="87" name="Text 85"/>
          <p:cNvSpPr/>
          <p:nvPr/>
        </p:nvSpPr>
        <p:spPr>
          <a:xfrm>
            <a:off x="4686300" y="4245732"/>
            <a:ext cx="1671638" cy="120658"/>
          </a:xfrm>
          <a:prstGeom prst="rect">
            <a:avLst/>
          </a:prstGeom>
          <a:noFill/>
          <a:ln/>
        </p:spPr>
        <p:txBody>
          <a:bodyPr wrap="none" lIns="0" tIns="0" rIns="0" bIns="0" rtlCol="0" anchor="t"/>
          <a:lstStyle/>
          <a:p>
            <a:pPr algn="l" indent="0" marL="0">
              <a:lnSpc>
                <a:spcPts val="495"/>
              </a:lnSpc>
              <a:buNone/>
            </a:pPr>
            <a:r>
              <a:rPr lang="en-US" sz="800" spc="45" kern="0" dirty="0">
                <a:solidFill>
                  <a:srgbClr val="6B6760"/>
                </a:solidFill>
                <a:latin typeface="Carlito" pitchFamily="34" charset="0"/>
                <a:ea typeface="Carlito" pitchFamily="34" charset="-122"/>
                <a:cs typeface="Carlito" pitchFamily="34" charset="-120"/>
              </a:rPr>
              <a:t>ANALYSIS RUNS</a:t>
            </a:r>
            <a:endParaRPr lang="en-US" sz="800" dirty="0"/>
          </a:p>
        </p:txBody>
      </p:sp>
      <p:sp>
        <p:nvSpPr>
          <p:cNvPr id="88" name="Text 86"/>
          <p:cNvSpPr/>
          <p:nvPr/>
        </p:nvSpPr>
        <p:spPr>
          <a:xfrm>
            <a:off x="6327442" y="4224300"/>
            <a:ext cx="218153" cy="120587"/>
          </a:xfrm>
          <a:prstGeom prst="rect">
            <a:avLst/>
          </a:prstGeom>
          <a:noFill/>
          <a:ln/>
        </p:spPr>
        <p:txBody>
          <a:bodyPr wrap="square" lIns="0" tIns="0" rIns="0" bIns="0" rtlCol="0" anchor="t"/>
          <a:lstStyle/>
          <a:p>
            <a:pPr algn="l" indent="0" marL="0">
              <a:lnSpc>
                <a:spcPts val="742"/>
              </a:lnSpc>
              <a:buNone/>
            </a:pPr>
            <a:r>
              <a:rPr lang="en-US" sz="675" dirty="0">
                <a:solidFill>
                  <a:srgbClr val="E8E6E1"/>
                </a:solidFill>
                <a:latin typeface="Liberation Sans Narrow" pitchFamily="34" charset="0"/>
                <a:ea typeface="Liberation Sans Narrow" pitchFamily="34" charset="-122"/>
                <a:cs typeface="Liberation Sans Narrow" pitchFamily="34" charset="-120"/>
              </a:rPr>
              <a:t>100</a:t>
            </a:r>
            <a:endParaRPr lang="en-US" sz="675" dirty="0"/>
          </a:p>
        </p:txBody>
      </p:sp>
      <p:sp>
        <p:nvSpPr>
          <p:cNvPr id="89" name="Text 87"/>
          <p:cNvSpPr/>
          <p:nvPr/>
        </p:nvSpPr>
        <p:spPr>
          <a:xfrm>
            <a:off x="4686300" y="4368515"/>
            <a:ext cx="1714500" cy="120658"/>
          </a:xfrm>
          <a:prstGeom prst="rect">
            <a:avLst/>
          </a:prstGeom>
          <a:noFill/>
          <a:ln/>
        </p:spPr>
        <p:txBody>
          <a:bodyPr wrap="none" lIns="0" tIns="0" rIns="0" bIns="0" rtlCol="0" anchor="t"/>
          <a:lstStyle/>
          <a:p>
            <a:pPr algn="l" indent="0" marL="0">
              <a:lnSpc>
                <a:spcPts val="495"/>
              </a:lnSpc>
              <a:buNone/>
            </a:pPr>
            <a:r>
              <a:rPr lang="en-US" sz="800" spc="45" kern="0" dirty="0">
                <a:solidFill>
                  <a:srgbClr val="6B6760"/>
                </a:solidFill>
                <a:latin typeface="Carlito" pitchFamily="34" charset="0"/>
                <a:ea typeface="Carlito" pitchFamily="34" charset="-122"/>
                <a:cs typeface="Carlito" pitchFamily="34" charset="-120"/>
              </a:rPr>
              <a:t>REPORTS</a:t>
            </a:r>
            <a:endParaRPr lang="en-US" sz="800" dirty="0"/>
          </a:p>
        </p:txBody>
      </p:sp>
      <p:sp>
        <p:nvSpPr>
          <p:cNvPr id="90" name="Text 88"/>
          <p:cNvSpPr/>
          <p:nvPr/>
        </p:nvSpPr>
        <p:spPr>
          <a:xfrm>
            <a:off x="6383089" y="4347083"/>
            <a:ext cx="155437" cy="120587"/>
          </a:xfrm>
          <a:prstGeom prst="rect">
            <a:avLst/>
          </a:prstGeom>
          <a:noFill/>
          <a:ln/>
        </p:spPr>
        <p:txBody>
          <a:bodyPr wrap="square" lIns="0" tIns="0" rIns="0" bIns="0" rtlCol="0" anchor="t"/>
          <a:lstStyle/>
          <a:p>
            <a:pPr algn="l" indent="0" marL="0">
              <a:lnSpc>
                <a:spcPts val="742"/>
              </a:lnSpc>
              <a:buNone/>
            </a:pPr>
            <a:r>
              <a:rPr lang="en-US" sz="675" dirty="0">
                <a:solidFill>
                  <a:srgbClr val="E8E6E1"/>
                </a:solidFill>
                <a:latin typeface="Liberation Sans Narrow" pitchFamily="34" charset="0"/>
                <a:ea typeface="Liberation Sans Narrow" pitchFamily="34" charset="-122"/>
                <a:cs typeface="Liberation Sans Narrow" pitchFamily="34" charset="-120"/>
              </a:rPr>
              <a:t>50</a:t>
            </a:r>
            <a:endParaRPr lang="en-US" sz="675" dirty="0"/>
          </a:p>
        </p:txBody>
      </p:sp>
      <p:sp>
        <p:nvSpPr>
          <p:cNvPr id="91" name="Shape 89"/>
          <p:cNvSpPr/>
          <p:nvPr/>
        </p:nvSpPr>
        <p:spPr>
          <a:xfrm>
            <a:off x="4686300" y="4487726"/>
            <a:ext cx="1814513" cy="0"/>
          </a:xfrm>
          <a:prstGeom prst="line">
            <a:avLst/>
          </a:prstGeom>
          <a:noFill/>
          <a:ln w="7144">
            <a:solidFill>
              <a:srgbClr val="2A323C"/>
            </a:solidFill>
            <a:prstDash val="solid"/>
          </a:ln>
        </p:spPr>
      </p:sp>
      <p:sp>
        <p:nvSpPr>
          <p:cNvPr id="92" name="Text 90"/>
          <p:cNvSpPr/>
          <p:nvPr/>
        </p:nvSpPr>
        <p:spPr>
          <a:xfrm>
            <a:off x="4686300" y="4484154"/>
            <a:ext cx="1814512" cy="129369"/>
          </a:xfrm>
          <a:prstGeom prst="rect">
            <a:avLst/>
          </a:prstGeom>
          <a:noFill/>
          <a:ln/>
        </p:spPr>
        <p:txBody>
          <a:bodyPr wrap="none" lIns="0" tIns="28575" rIns="0" bIns="0" rtlCol="0" anchor="t"/>
          <a:lstStyle/>
          <a:p>
            <a:pPr algn="l" indent="0" marL="0">
              <a:lnSpc>
                <a:spcPts val="703"/>
              </a:lnSpc>
              <a:buNone/>
            </a:pPr>
            <a:r>
              <a:rPr lang="en-US" sz="800" dirty="0">
                <a:solidFill>
                  <a:srgbClr val="A8A39C"/>
                </a:solidFill>
                <a:latin typeface="Carlito" pitchFamily="34" charset="0"/>
                <a:ea typeface="Carlito" pitchFamily="34" charset="-122"/>
                <a:cs typeface="Carlito" pitchFamily="34" charset="-120"/>
              </a:rPr>
              <a:t>+ Copilot, team.</a:t>
            </a:r>
            <a:endParaRPr lang="en-US" sz="800" dirty="0"/>
          </a:p>
        </p:txBody>
      </p:sp>
      <p:sp>
        <p:nvSpPr>
          <p:cNvPr id="93" name="Text 91"/>
          <p:cNvSpPr/>
          <p:nvPr/>
        </p:nvSpPr>
        <p:spPr>
          <a:xfrm>
            <a:off x="6654403" y="3772346"/>
            <a:ext cx="1964531" cy="916186"/>
          </a:xfrm>
          <a:prstGeom prst="roundRect">
            <a:avLst>
              <a:gd name="adj" fmla="val 6238"/>
            </a:avLst>
          </a:prstGeom>
          <a:solidFill>
            <a:srgbClr val="161B22"/>
          </a:solidFill>
          <a:ln w="7144">
            <a:solidFill>
              <a:srgbClr val="2A323C"/>
            </a:solidFill>
            <a:prstDash val="solid"/>
          </a:ln>
        </p:spPr>
        <p:txBody>
          <a:bodyPr wrap="square" rtlCol="0" anchor="ctr"/>
          <a:lstStyle/>
          <a:p>
            <a:pPr indent="0" marL="0">
              <a:buNone/>
            </a:pPr>
            <a:endParaRPr lang="en-US" dirty="0"/>
          </a:p>
        </p:txBody>
      </p:sp>
      <p:sp>
        <p:nvSpPr>
          <p:cNvPr id="94" name="Text 92"/>
          <p:cNvSpPr/>
          <p:nvPr/>
        </p:nvSpPr>
        <p:spPr>
          <a:xfrm>
            <a:off x="6729413" y="3840212"/>
            <a:ext cx="1814512" cy="111090"/>
          </a:xfrm>
          <a:prstGeom prst="rect">
            <a:avLst/>
          </a:prstGeom>
          <a:noFill/>
          <a:ln/>
        </p:spPr>
        <p:txBody>
          <a:bodyPr wrap="none" lIns="0" tIns="0" rIns="0" bIns="0" rtlCol="0" anchor="t">
            <a:normAutofit/>
          </a:bodyPr>
          <a:lstStyle/>
          <a:p>
            <a:pPr algn="l" indent="0" marL="0">
              <a:lnSpc>
                <a:spcPts val="866"/>
              </a:lnSpc>
              <a:buNone/>
            </a:pPr>
            <a:r>
              <a:rPr lang="en-US" sz="800" b="1" dirty="0">
                <a:solidFill>
                  <a:srgbClr val="E8E6E1"/>
                </a:solidFill>
                <a:latin typeface="Carlito" pitchFamily="34" charset="0"/>
                <a:ea typeface="Carlito" pitchFamily="34" charset="-122"/>
                <a:cs typeface="Carlito" pitchFamily="34" charset="-120"/>
              </a:rPr>
              <a:t>Enterprise</a:t>
            </a:r>
            <a:endParaRPr lang="en-US" sz="800" dirty="0"/>
          </a:p>
        </p:txBody>
      </p:sp>
      <p:sp>
        <p:nvSpPr>
          <p:cNvPr id="95" name="Text 93"/>
          <p:cNvSpPr/>
          <p:nvPr/>
        </p:nvSpPr>
        <p:spPr>
          <a:xfrm>
            <a:off x="6729413" y="4000165"/>
            <a:ext cx="1671638" cy="120658"/>
          </a:xfrm>
          <a:prstGeom prst="rect">
            <a:avLst/>
          </a:prstGeom>
          <a:noFill/>
          <a:ln/>
        </p:spPr>
        <p:txBody>
          <a:bodyPr wrap="none" lIns="0" tIns="0" rIns="0" bIns="0" rtlCol="0" anchor="t"/>
          <a:lstStyle/>
          <a:p>
            <a:pPr algn="l" indent="0" marL="0">
              <a:lnSpc>
                <a:spcPts val="495"/>
              </a:lnSpc>
              <a:buNone/>
            </a:pPr>
            <a:r>
              <a:rPr lang="en-US" sz="800" spc="45" kern="0" dirty="0">
                <a:solidFill>
                  <a:srgbClr val="6B6760"/>
                </a:solidFill>
                <a:latin typeface="Carlito" pitchFamily="34" charset="0"/>
                <a:ea typeface="Carlito" pitchFamily="34" charset="-122"/>
                <a:cs typeface="Carlito" pitchFamily="34" charset="-120"/>
              </a:rPr>
              <a:t>SEATS</a:t>
            </a:r>
            <a:endParaRPr lang="en-US" sz="800" dirty="0"/>
          </a:p>
        </p:txBody>
      </p:sp>
      <p:sp>
        <p:nvSpPr>
          <p:cNvPr id="96" name="Text 94"/>
          <p:cNvSpPr/>
          <p:nvPr/>
        </p:nvSpPr>
        <p:spPr>
          <a:xfrm>
            <a:off x="8370555" y="3978734"/>
            <a:ext cx="218153" cy="120587"/>
          </a:xfrm>
          <a:prstGeom prst="rect">
            <a:avLst/>
          </a:prstGeom>
          <a:noFill/>
          <a:ln/>
        </p:spPr>
        <p:txBody>
          <a:bodyPr wrap="square" lIns="0" tIns="0" rIns="0" bIns="0" rtlCol="0" anchor="t"/>
          <a:lstStyle/>
          <a:p>
            <a:pPr algn="l" indent="0" marL="0">
              <a:lnSpc>
                <a:spcPts val="742"/>
              </a:lnSpc>
              <a:buNone/>
            </a:pPr>
            <a:r>
              <a:rPr lang="en-US" sz="675" dirty="0">
                <a:solidFill>
                  <a:srgbClr val="E8E6E1"/>
                </a:solidFill>
                <a:latin typeface="Liberation Sans Narrow" pitchFamily="34" charset="0"/>
                <a:ea typeface="Liberation Sans Narrow" pitchFamily="34" charset="-122"/>
                <a:cs typeface="Liberation Sans Narrow" pitchFamily="34" charset="-120"/>
              </a:rPr>
              <a:t>100</a:t>
            </a:r>
            <a:endParaRPr lang="en-US" sz="675" dirty="0"/>
          </a:p>
        </p:txBody>
      </p:sp>
      <p:sp>
        <p:nvSpPr>
          <p:cNvPr id="97" name="Text 95"/>
          <p:cNvSpPr/>
          <p:nvPr/>
        </p:nvSpPr>
        <p:spPr>
          <a:xfrm>
            <a:off x="6729413" y="4122948"/>
            <a:ext cx="1671638" cy="120658"/>
          </a:xfrm>
          <a:prstGeom prst="rect">
            <a:avLst/>
          </a:prstGeom>
          <a:noFill/>
          <a:ln/>
        </p:spPr>
        <p:txBody>
          <a:bodyPr wrap="none" lIns="0" tIns="0" rIns="0" bIns="0" rtlCol="0" anchor="t"/>
          <a:lstStyle/>
          <a:p>
            <a:pPr algn="l" indent="0" marL="0">
              <a:lnSpc>
                <a:spcPts val="495"/>
              </a:lnSpc>
              <a:buNone/>
            </a:pPr>
            <a:r>
              <a:rPr lang="en-US" sz="800" spc="45" kern="0" dirty="0">
                <a:solidFill>
                  <a:srgbClr val="6B6760"/>
                </a:solidFill>
                <a:latin typeface="Carlito" pitchFamily="34" charset="0"/>
                <a:ea typeface="Carlito" pitchFamily="34" charset="-122"/>
                <a:cs typeface="Carlito" pitchFamily="34" charset="-120"/>
              </a:rPr>
              <a:t>PROJECTS</a:t>
            </a:r>
            <a:endParaRPr lang="en-US" sz="800" dirty="0"/>
          </a:p>
        </p:txBody>
      </p:sp>
      <p:sp>
        <p:nvSpPr>
          <p:cNvPr id="98" name="Text 96"/>
          <p:cNvSpPr/>
          <p:nvPr/>
        </p:nvSpPr>
        <p:spPr>
          <a:xfrm>
            <a:off x="8370555" y="4101517"/>
            <a:ext cx="218153" cy="120587"/>
          </a:xfrm>
          <a:prstGeom prst="rect">
            <a:avLst/>
          </a:prstGeom>
          <a:noFill/>
          <a:ln/>
        </p:spPr>
        <p:txBody>
          <a:bodyPr wrap="square" lIns="0" tIns="0" rIns="0" bIns="0" rtlCol="0" anchor="t"/>
          <a:lstStyle/>
          <a:p>
            <a:pPr algn="l" indent="0" marL="0">
              <a:lnSpc>
                <a:spcPts val="742"/>
              </a:lnSpc>
              <a:buNone/>
            </a:pPr>
            <a:r>
              <a:rPr lang="en-US" sz="675" dirty="0">
                <a:solidFill>
                  <a:srgbClr val="E8E6E1"/>
                </a:solidFill>
                <a:latin typeface="Liberation Sans Narrow" pitchFamily="34" charset="0"/>
                <a:ea typeface="Liberation Sans Narrow" pitchFamily="34" charset="-122"/>
                <a:cs typeface="Liberation Sans Narrow" pitchFamily="34" charset="-120"/>
              </a:rPr>
              <a:t>200</a:t>
            </a:r>
            <a:endParaRPr lang="en-US" sz="675" dirty="0"/>
          </a:p>
        </p:txBody>
      </p:sp>
      <p:sp>
        <p:nvSpPr>
          <p:cNvPr id="99" name="Text 97"/>
          <p:cNvSpPr/>
          <p:nvPr/>
        </p:nvSpPr>
        <p:spPr>
          <a:xfrm>
            <a:off x="6729413" y="4245732"/>
            <a:ext cx="1585913" cy="120658"/>
          </a:xfrm>
          <a:prstGeom prst="rect">
            <a:avLst/>
          </a:prstGeom>
          <a:noFill/>
          <a:ln/>
        </p:spPr>
        <p:txBody>
          <a:bodyPr wrap="none" lIns="0" tIns="0" rIns="0" bIns="0" rtlCol="0" anchor="t"/>
          <a:lstStyle/>
          <a:p>
            <a:pPr algn="l" indent="0" marL="0">
              <a:lnSpc>
                <a:spcPts val="495"/>
              </a:lnSpc>
              <a:buNone/>
            </a:pPr>
            <a:r>
              <a:rPr lang="en-US" sz="800" spc="45" kern="0" dirty="0">
                <a:solidFill>
                  <a:srgbClr val="6B6760"/>
                </a:solidFill>
                <a:latin typeface="Carlito" pitchFamily="34" charset="0"/>
                <a:ea typeface="Carlito" pitchFamily="34" charset="-122"/>
                <a:cs typeface="Carlito" pitchFamily="34" charset="-120"/>
              </a:rPr>
              <a:t>ANALYSIS RUNS</a:t>
            </a:r>
            <a:endParaRPr lang="en-US" sz="800" dirty="0"/>
          </a:p>
        </p:txBody>
      </p:sp>
      <p:sp>
        <p:nvSpPr>
          <p:cNvPr id="100" name="Text 98"/>
          <p:cNvSpPr/>
          <p:nvPr/>
        </p:nvSpPr>
        <p:spPr>
          <a:xfrm>
            <a:off x="8273574" y="4224300"/>
            <a:ext cx="326389" cy="120587"/>
          </a:xfrm>
          <a:prstGeom prst="rect">
            <a:avLst/>
          </a:prstGeom>
          <a:noFill/>
          <a:ln/>
        </p:spPr>
        <p:txBody>
          <a:bodyPr wrap="square" lIns="0" tIns="0" rIns="0" bIns="0" rtlCol="0" anchor="t"/>
          <a:lstStyle/>
          <a:p>
            <a:pPr algn="l" indent="0" marL="0">
              <a:lnSpc>
                <a:spcPts val="742"/>
              </a:lnSpc>
              <a:buNone/>
            </a:pPr>
            <a:r>
              <a:rPr lang="en-US" sz="675" dirty="0">
                <a:solidFill>
                  <a:srgbClr val="E8E6E1"/>
                </a:solidFill>
                <a:latin typeface="Liberation Sans Narrow" pitchFamily="34" charset="0"/>
                <a:ea typeface="Liberation Sans Narrow" pitchFamily="34" charset="-122"/>
                <a:cs typeface="Liberation Sans Narrow" pitchFamily="34" charset="-120"/>
              </a:rPr>
              <a:t>1,000</a:t>
            </a:r>
            <a:endParaRPr lang="en-US" sz="675" dirty="0"/>
          </a:p>
        </p:txBody>
      </p:sp>
      <p:sp>
        <p:nvSpPr>
          <p:cNvPr id="101" name="Text 99"/>
          <p:cNvSpPr/>
          <p:nvPr/>
        </p:nvSpPr>
        <p:spPr>
          <a:xfrm>
            <a:off x="6729413" y="4368515"/>
            <a:ext cx="1671638" cy="120658"/>
          </a:xfrm>
          <a:prstGeom prst="rect">
            <a:avLst/>
          </a:prstGeom>
          <a:noFill/>
          <a:ln/>
        </p:spPr>
        <p:txBody>
          <a:bodyPr wrap="none" lIns="0" tIns="0" rIns="0" bIns="0" rtlCol="0" anchor="t"/>
          <a:lstStyle/>
          <a:p>
            <a:pPr algn="l" indent="0" marL="0">
              <a:lnSpc>
                <a:spcPts val="495"/>
              </a:lnSpc>
              <a:buNone/>
            </a:pPr>
            <a:r>
              <a:rPr lang="en-US" sz="800" spc="45" kern="0" dirty="0">
                <a:solidFill>
                  <a:srgbClr val="6B6760"/>
                </a:solidFill>
                <a:latin typeface="Carlito" pitchFamily="34" charset="0"/>
                <a:ea typeface="Carlito" pitchFamily="34" charset="-122"/>
                <a:cs typeface="Carlito" pitchFamily="34" charset="-120"/>
              </a:rPr>
              <a:t>REPORTS</a:t>
            </a:r>
            <a:endParaRPr lang="en-US" sz="800" dirty="0"/>
          </a:p>
        </p:txBody>
      </p:sp>
      <p:sp>
        <p:nvSpPr>
          <p:cNvPr id="102" name="Text 100"/>
          <p:cNvSpPr/>
          <p:nvPr/>
        </p:nvSpPr>
        <p:spPr>
          <a:xfrm>
            <a:off x="8370555" y="4347083"/>
            <a:ext cx="218153" cy="120587"/>
          </a:xfrm>
          <a:prstGeom prst="rect">
            <a:avLst/>
          </a:prstGeom>
          <a:noFill/>
          <a:ln/>
        </p:spPr>
        <p:txBody>
          <a:bodyPr wrap="square" lIns="0" tIns="0" rIns="0" bIns="0" rtlCol="0" anchor="t"/>
          <a:lstStyle/>
          <a:p>
            <a:pPr algn="l" indent="0" marL="0">
              <a:lnSpc>
                <a:spcPts val="742"/>
              </a:lnSpc>
              <a:buNone/>
            </a:pPr>
            <a:r>
              <a:rPr lang="en-US" sz="675" dirty="0">
                <a:solidFill>
                  <a:srgbClr val="E8E6E1"/>
                </a:solidFill>
                <a:latin typeface="Liberation Sans Narrow" pitchFamily="34" charset="0"/>
                <a:ea typeface="Liberation Sans Narrow" pitchFamily="34" charset="-122"/>
                <a:cs typeface="Liberation Sans Narrow" pitchFamily="34" charset="-120"/>
              </a:rPr>
              <a:t>500</a:t>
            </a:r>
            <a:endParaRPr lang="en-US" sz="675" dirty="0"/>
          </a:p>
        </p:txBody>
      </p:sp>
      <p:sp>
        <p:nvSpPr>
          <p:cNvPr id="103" name="Shape 101"/>
          <p:cNvSpPr/>
          <p:nvPr/>
        </p:nvSpPr>
        <p:spPr>
          <a:xfrm>
            <a:off x="6729413" y="4487726"/>
            <a:ext cx="1814513" cy="0"/>
          </a:xfrm>
          <a:prstGeom prst="line">
            <a:avLst/>
          </a:prstGeom>
          <a:noFill/>
          <a:ln w="7144">
            <a:solidFill>
              <a:srgbClr val="2A323C"/>
            </a:solidFill>
            <a:prstDash val="solid"/>
          </a:ln>
        </p:spPr>
      </p:sp>
      <p:sp>
        <p:nvSpPr>
          <p:cNvPr id="104" name="Text 102"/>
          <p:cNvSpPr/>
          <p:nvPr/>
        </p:nvSpPr>
        <p:spPr>
          <a:xfrm>
            <a:off x="6729413" y="4484154"/>
            <a:ext cx="1814512" cy="129369"/>
          </a:xfrm>
          <a:prstGeom prst="rect">
            <a:avLst/>
          </a:prstGeom>
          <a:noFill/>
          <a:ln/>
        </p:spPr>
        <p:txBody>
          <a:bodyPr wrap="none" lIns="0" tIns="28575" rIns="0" bIns="0" rtlCol="0" anchor="t"/>
          <a:lstStyle/>
          <a:p>
            <a:pPr algn="l" indent="0" marL="0">
              <a:lnSpc>
                <a:spcPts val="703"/>
              </a:lnSpc>
              <a:buNone/>
            </a:pPr>
            <a:r>
              <a:rPr lang="en-US" sz="800" dirty="0">
                <a:solidFill>
                  <a:srgbClr val="A8A39C"/>
                </a:solidFill>
                <a:latin typeface="Carlito" pitchFamily="34" charset="0"/>
                <a:ea typeface="Carlito" pitchFamily="34" charset="-122"/>
                <a:cs typeface="Carlito" pitchFamily="34" charset="-120"/>
              </a:rPr>
              <a:t>+ Copilot, team.</a:t>
            </a:r>
            <a:endParaRPr lang="en-US" sz="800" dirty="0"/>
          </a:p>
        </p:txBody>
      </p:sp>
      <p:sp>
        <p:nvSpPr>
          <p:cNvPr id="105" name="Shape 103"/>
          <p:cNvSpPr/>
          <p:nvPr/>
        </p:nvSpPr>
        <p:spPr>
          <a:xfrm>
            <a:off x="521494" y="4745682"/>
            <a:ext cx="8101013" cy="0"/>
          </a:xfrm>
          <a:prstGeom prst="line">
            <a:avLst/>
          </a:prstGeom>
          <a:noFill/>
          <a:ln w="7144">
            <a:solidFill>
              <a:srgbClr val="2A323C"/>
            </a:solidFill>
            <a:prstDash val="solid"/>
          </a:ln>
        </p:spPr>
      </p:sp>
      <p:sp>
        <p:nvSpPr>
          <p:cNvPr id="106" name="Text 104"/>
          <p:cNvSpPr/>
          <p:nvPr/>
        </p:nvSpPr>
        <p:spPr>
          <a:xfrm>
            <a:off x="521494" y="4742111"/>
            <a:ext cx="8101013" cy="139303"/>
          </a:xfrm>
          <a:prstGeom prst="rect">
            <a:avLst/>
          </a:prstGeom>
          <a:noFill/>
          <a:ln/>
        </p:spPr>
        <p:txBody>
          <a:bodyPr wrap="square" lIns="0" tIns="35719" rIns="0" bIns="0" rtlCol="0" anchor="t"/>
          <a:lstStyle/>
          <a:p>
            <a:pPr algn="l" indent="0" marL="0">
              <a:lnSpc>
                <a:spcPts val="759"/>
              </a:lnSpc>
              <a:buNone/>
            </a:pPr>
            <a:r>
              <a:rPr lang="en-US" sz="800" spc="71" kern="0" dirty="0">
                <a:solidFill>
                  <a:srgbClr val="6B6760"/>
                </a:solidFill>
                <a:latin typeface="Courier New" pitchFamily="34" charset="0"/>
                <a:ea typeface="Courier New" pitchFamily="34" charset="-122"/>
                <a:cs typeface="Courier New" pitchFamily="34" charset="-120"/>
              </a:rPr>
              <a:t>MONTHLY LIMITS, ALL EDITABLE PER TENANT · AI WORK ADDITIONALLY DRAWS ON USAGE CREDITS</a:t>
            </a:r>
            <a:endParaRPr lang="en-US" sz="800" dirty="0"/>
          </a:p>
        </p:txBody>
      </p:sp>
      <p:sp>
        <p:nvSpPr>
          <p:cNvPr id="107" name="Text 105"/>
          <p:cNvSpPr/>
          <p:nvPr/>
        </p:nvSpPr>
        <p:spPr>
          <a:xfrm>
            <a:off x="400050" y="5031432"/>
            <a:ext cx="1659582" cy="203597"/>
          </a:xfrm>
          <a:prstGeom prst="roundRect">
            <a:avLst>
              <a:gd name="adj" fmla="val 9357"/>
            </a:avLst>
          </a:prstGeom>
          <a:solidFill>
            <a:srgbClr val="6BAE85">
              <a:alpha val="8000"/>
            </a:srgbClr>
          </a:solidFill>
          <a:ln/>
        </p:spPr>
        <p:txBody>
          <a:bodyPr wrap="square" rtlCol="0" anchor="ctr"/>
          <a:lstStyle/>
          <a:p>
            <a:pPr indent="0" marL="0">
              <a:buNone/>
            </a:pPr>
            <a:endParaRPr lang="en-US" dirty="0"/>
          </a:p>
        </p:txBody>
      </p:sp>
      <p:sp>
        <p:nvSpPr>
          <p:cNvPr id="108" name="Shape 106"/>
          <p:cNvSpPr/>
          <p:nvPr/>
        </p:nvSpPr>
        <p:spPr>
          <a:xfrm>
            <a:off x="410766" y="5031432"/>
            <a:ext cx="0" cy="203597"/>
          </a:xfrm>
          <a:prstGeom prst="line">
            <a:avLst/>
          </a:prstGeom>
          <a:noFill/>
          <a:ln w="21431">
            <a:solidFill>
              <a:srgbClr val="6BAE85"/>
            </a:solidFill>
            <a:prstDash val="solid"/>
          </a:ln>
        </p:spPr>
      </p:sp>
      <p:sp>
        <p:nvSpPr>
          <p:cNvPr id="109" name="Text 107"/>
          <p:cNvSpPr/>
          <p:nvPr/>
        </p:nvSpPr>
        <p:spPr>
          <a:xfrm>
            <a:off x="492919" y="5074295"/>
            <a:ext cx="1569848" cy="91440"/>
          </a:xfrm>
          <a:prstGeom prst="rect">
            <a:avLst/>
          </a:prstGeom>
          <a:noFill/>
          <a:ln/>
        </p:spPr>
        <p:txBody>
          <a:bodyPr wrap="square" lIns="0" tIns="0" rIns="0" bIns="0" rtlCol="0" anchor="t"/>
          <a:lstStyle/>
          <a:p>
            <a:pPr algn="l" indent="0" marL="0">
              <a:lnSpc>
                <a:spcPts val="928"/>
              </a:lnSpc>
              <a:buNone/>
            </a:pPr>
            <a:r>
              <a:rPr lang="en-US" sz="619" b="1" spc="87" kern="0" dirty="0">
                <a:solidFill>
                  <a:srgbClr val="6BAE85"/>
                </a:solidFill>
                <a:latin typeface="Carlito" pitchFamily="34" charset="0"/>
                <a:ea typeface="Carlito" pitchFamily="34" charset="-122"/>
                <a:cs typeface="Carlito" pitchFamily="34" charset="-120"/>
              </a:rPr>
              <a:t>IMPACT · BUILT FOR DISCLOSURE</a:t>
            </a:r>
            <a:endParaRPr lang="en-US" sz="619" dirty="0"/>
          </a:p>
        </p:txBody>
      </p:sp>
      <p:sp>
        <p:nvSpPr>
          <p:cNvPr id="110" name="Text 108"/>
          <p:cNvSpPr/>
          <p:nvPr/>
        </p:nvSpPr>
        <p:spPr>
          <a:xfrm>
            <a:off x="3842221" y="5070500"/>
            <a:ext cx="4901729" cy="91440"/>
          </a:xfrm>
          <a:prstGeom prst="rect">
            <a:avLst/>
          </a:prstGeom>
          <a:noFill/>
          <a:ln/>
        </p:spPr>
        <p:txBody>
          <a:bodyPr wrap="square" lIns="0" tIns="0" rIns="0" bIns="0" rtlCol="0" anchor="t"/>
          <a:lstStyle/>
          <a:p>
            <a:pPr algn="r" indent="0" marL="0">
              <a:lnSpc>
                <a:spcPts val="987"/>
              </a:lnSpc>
              <a:buNone/>
            </a:pPr>
            <a:r>
              <a:rPr lang="en-US" sz="731" dirty="0">
                <a:solidFill>
                  <a:srgbClr val="6BAE85"/>
                </a:solidFill>
                <a:latin typeface="Carlito" pitchFamily="34" charset="0"/>
                <a:ea typeface="Carlito" pitchFamily="34" charset="-122"/>
                <a:cs typeface="Carlito" pitchFamily="34" charset="-120"/>
              </a:rPr>
              <a:t>Pilot exists precisely for an engagement like this one — near-Pro capability, sized for a real evaluation rather than a trial.</a:t>
            </a:r>
            <a:endParaRPr lang="en-US" sz="731" dirty="0"/>
          </a:p>
        </p:txBody>
      </p:sp>
      <p:sp>
        <p:nvSpPr>
          <p:cNvPr id="111" name="Text 109"/>
          <p:cNvSpPr/>
          <p:nvPr/>
        </p:nvSpPr>
        <p:spPr>
          <a:xfrm>
            <a:off x="457200" y="4868466"/>
            <a:ext cx="7885249" cy="164592"/>
          </a:xfrm>
          <a:prstGeom prst="rect">
            <a:avLst/>
          </a:prstGeom>
          <a:noFill/>
          <a:ln/>
        </p:spPr>
        <p:txBody>
          <a:bodyPr wrap="square" lIns="0" tIns="0" rIns="0" bIns="0" rtlCol="0" anchor="t"/>
          <a:lstStyle/>
          <a:p>
            <a:pPr algn="l" indent="0" marL="0">
              <a:lnSpc>
                <a:spcPts val="928"/>
              </a:lnSpc>
              <a:buNone/>
            </a:pPr>
            <a:r>
              <a:rPr lang="en-US" sz="800" spc="62" kern="0" dirty="0">
                <a:solidFill>
                  <a:srgbClr val="6B6760"/>
                </a:solidFill>
                <a:latin typeface="Carlito" pitchFamily="34" charset="0"/>
                <a:ea typeface="Carlito" pitchFamily="34" charset="-122"/>
                <a:cs typeface="Carlito" pitchFamily="34" charset="-120"/>
              </a:rPr>
              <a:t>TERRAPULSE · GOLD FIELDS GHANA</a:t>
            </a:r>
            <a:endParaRPr lang="en-US" sz="800" dirty="0"/>
          </a:p>
        </p:txBody>
      </p:sp>
      <p:sp>
        <p:nvSpPr>
          <p:cNvPr id="112" name="Text 110"/>
          <p:cNvSpPr/>
          <p:nvPr/>
        </p:nvSpPr>
        <p:spPr>
          <a:xfrm>
            <a:off x="8356736" y="4868466"/>
            <a:ext cx="474415"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6B6760"/>
                </a:solidFill>
                <a:latin typeface="Liberation Sans Narrow" pitchFamily="34" charset="0"/>
                <a:ea typeface="Liberation Sans Narrow" pitchFamily="34" charset="-122"/>
                <a:cs typeface="Liberation Sans Narrow" pitchFamily="34" charset="-120"/>
              </a:rPr>
              <a:t>11 / 12</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116"/>
        </a:solidFill>
      </p:bgPr>
    </p:bg>
    <p:spTree>
      <p:nvGrpSpPr>
        <p:cNvPr id="1" name=""/>
        <p:cNvGrpSpPr/>
        <p:nvPr/>
      </p:nvGrpSpPr>
      <p:grpSpPr>
        <a:xfrm>
          <a:off x="0" y="0"/>
          <a:ext cx="0" cy="0"/>
          <a:chOff x="0" y="0"/>
          <a:chExt cx="0" cy="0"/>
        </a:xfrm>
      </p:grpSpPr>
      <p:sp>
        <p:nvSpPr>
          <p:cNvPr id="2" name="Text 0"/>
          <p:cNvSpPr/>
          <p:nvPr/>
        </p:nvSpPr>
        <p:spPr>
          <a:xfrm>
            <a:off x="5517147" y="3429000"/>
            <a:ext cx="3626853" cy="1714500"/>
          </a:xfrm>
          <a:prstGeom prst="rect">
            <a:avLst/>
          </a:prstGeom>
          <a:noFill/>
          <a:ln/>
        </p:spPr>
        <p:txBody>
          <a:bodyPr wrap="square" lIns="0" tIns="0" rIns="0" bIns="0" rtlCol="0" anchor="t"/>
          <a:lstStyle/>
          <a:p>
            <a:pPr algn="l" indent="0" marL="0">
              <a:lnSpc>
                <a:spcPts val="15750"/>
              </a:lnSpc>
              <a:buNone/>
            </a:pPr>
            <a:r>
              <a:rPr lang="en-US" sz="15750" b="1" dirty="0">
                <a:solidFill>
                  <a:srgbClr val="D4A437">
                    <a:alpha val="4000"/>
                  </a:srgbClr>
                </a:solidFill>
                <a:latin typeface="Liberation Sans Narrow" pitchFamily="34" charset="0"/>
                <a:ea typeface="Liberation Sans Narrow" pitchFamily="34" charset="-122"/>
                <a:cs typeface="Liberation Sans Narrow" pitchFamily="34" charset="-120"/>
              </a:rPr>
              <a:t>12</a:t>
            </a:r>
            <a:endParaRPr lang="en-US" sz="15750" dirty="0"/>
          </a:p>
        </p:txBody>
      </p:sp>
      <p:sp>
        <p:nvSpPr>
          <p:cNvPr id="3" name="Shape 1"/>
          <p:cNvSpPr/>
          <p:nvPr/>
        </p:nvSpPr>
        <p:spPr>
          <a:xfrm>
            <a:off x="646509" y="521494"/>
            <a:ext cx="0" cy="203597"/>
          </a:xfrm>
          <a:prstGeom prst="line">
            <a:avLst/>
          </a:prstGeom>
          <a:noFill/>
          <a:ln w="21431">
            <a:solidFill>
              <a:srgbClr val="D4633F"/>
            </a:solidFill>
            <a:prstDash val="solid"/>
          </a:ln>
        </p:spPr>
      </p:sp>
      <p:sp>
        <p:nvSpPr>
          <p:cNvPr id="4" name="Shape 2"/>
          <p:cNvSpPr/>
          <p:nvPr/>
        </p:nvSpPr>
        <p:spPr>
          <a:xfrm>
            <a:off x="607219" y="3020578"/>
            <a:ext cx="2366925" cy="0"/>
          </a:xfrm>
          <a:prstGeom prst="line">
            <a:avLst/>
          </a:prstGeom>
          <a:noFill/>
          <a:ln w="7144">
            <a:solidFill>
              <a:srgbClr val="2A323C"/>
            </a:solidFill>
            <a:prstDash val="solid"/>
          </a:ln>
        </p:spPr>
      </p:sp>
      <p:sp>
        <p:nvSpPr>
          <p:cNvPr id="5" name="Shape 3"/>
          <p:cNvSpPr/>
          <p:nvPr/>
        </p:nvSpPr>
        <p:spPr>
          <a:xfrm>
            <a:off x="3388482" y="3131418"/>
            <a:ext cx="2366925" cy="0"/>
          </a:xfrm>
          <a:prstGeom prst="line">
            <a:avLst/>
          </a:prstGeom>
          <a:noFill/>
          <a:ln w="7144">
            <a:solidFill>
              <a:srgbClr val="2A323C"/>
            </a:solidFill>
            <a:prstDash val="solid"/>
          </a:ln>
        </p:spPr>
      </p:sp>
      <p:sp>
        <p:nvSpPr>
          <p:cNvPr id="6" name="Shape 4"/>
          <p:cNvSpPr/>
          <p:nvPr/>
        </p:nvSpPr>
        <p:spPr>
          <a:xfrm>
            <a:off x="6169744" y="3131418"/>
            <a:ext cx="2367037" cy="0"/>
          </a:xfrm>
          <a:prstGeom prst="line">
            <a:avLst/>
          </a:prstGeom>
          <a:noFill/>
          <a:ln w="7144">
            <a:solidFill>
              <a:srgbClr val="2A323C"/>
            </a:solidFill>
            <a:prstDash val="solid"/>
          </a:ln>
        </p:spPr>
      </p:sp>
      <p:sp>
        <p:nvSpPr>
          <p:cNvPr id="7" name="Shape 5"/>
          <p:cNvSpPr/>
          <p:nvPr/>
        </p:nvSpPr>
        <p:spPr>
          <a:xfrm>
            <a:off x="457200" y="3528008"/>
            <a:ext cx="8229600" cy="0"/>
          </a:xfrm>
          <a:prstGeom prst="line">
            <a:avLst/>
          </a:prstGeom>
          <a:noFill/>
          <a:ln w="7144">
            <a:solidFill>
              <a:srgbClr val="2A323C"/>
            </a:solidFill>
            <a:prstDash val="solid"/>
          </a:ln>
        </p:spPr>
      </p:sp>
      <p:sp>
        <p:nvSpPr>
          <p:cNvPr id="8" name="Shape 6"/>
          <p:cNvSpPr/>
          <p:nvPr/>
        </p:nvSpPr>
        <p:spPr>
          <a:xfrm>
            <a:off x="8683228" y="3524436"/>
            <a:ext cx="0" cy="752215"/>
          </a:xfrm>
          <a:prstGeom prst="line">
            <a:avLst/>
          </a:prstGeom>
          <a:noFill/>
          <a:ln w="7144">
            <a:solidFill>
              <a:srgbClr val="2A323C"/>
            </a:solidFill>
            <a:prstDash val="solid"/>
          </a:ln>
        </p:spPr>
      </p:sp>
      <p:sp>
        <p:nvSpPr>
          <p:cNvPr id="9" name="Shape 7"/>
          <p:cNvSpPr/>
          <p:nvPr/>
        </p:nvSpPr>
        <p:spPr>
          <a:xfrm>
            <a:off x="457200" y="4273079"/>
            <a:ext cx="8229600" cy="0"/>
          </a:xfrm>
          <a:prstGeom prst="line">
            <a:avLst/>
          </a:prstGeom>
          <a:noFill/>
          <a:ln w="7144">
            <a:solidFill>
              <a:srgbClr val="2A323C"/>
            </a:solidFill>
            <a:prstDash val="solid"/>
          </a:ln>
        </p:spPr>
      </p:sp>
      <p:sp>
        <p:nvSpPr>
          <p:cNvPr id="10" name="Shape 8"/>
          <p:cNvSpPr/>
          <p:nvPr/>
        </p:nvSpPr>
        <p:spPr>
          <a:xfrm>
            <a:off x="467916" y="3524436"/>
            <a:ext cx="0" cy="752215"/>
          </a:xfrm>
          <a:prstGeom prst="line">
            <a:avLst/>
          </a:prstGeom>
          <a:noFill/>
          <a:ln w="21431">
            <a:solidFill>
              <a:srgbClr val="D4A437"/>
            </a:solidFill>
            <a:prstDash val="solid"/>
          </a:ln>
        </p:spPr>
      </p:sp>
      <p:sp>
        <p:nvSpPr>
          <p:cNvPr id="11" name="Shape 9"/>
          <p:cNvSpPr/>
          <p:nvPr/>
        </p:nvSpPr>
        <p:spPr>
          <a:xfrm>
            <a:off x="675084" y="3691198"/>
            <a:ext cx="0" cy="203597"/>
          </a:xfrm>
          <a:prstGeom prst="line">
            <a:avLst/>
          </a:prstGeom>
          <a:noFill/>
          <a:ln w="21431">
            <a:solidFill>
              <a:srgbClr val="6BAE85"/>
            </a:solidFill>
            <a:prstDash val="solid"/>
          </a:ln>
        </p:spPr>
      </p:sp>
      <p:sp>
        <p:nvSpPr>
          <p:cNvPr id="12" name="Text 10"/>
          <p:cNvSpPr/>
          <p:nvPr/>
        </p:nvSpPr>
        <p:spPr>
          <a:xfrm>
            <a:off x="457200" y="4868466"/>
            <a:ext cx="7245660" cy="164592"/>
          </a:xfrm>
          <a:prstGeom prst="rect">
            <a:avLst/>
          </a:prstGeom>
          <a:noFill/>
          <a:ln/>
        </p:spPr>
        <p:txBody>
          <a:bodyPr wrap="square" lIns="0" tIns="0" rIns="0" bIns="0" rtlCol="0" anchor="t"/>
          <a:lstStyle/>
          <a:p>
            <a:pPr algn="l" indent="0" marL="0">
              <a:lnSpc>
                <a:spcPts val="928"/>
              </a:lnSpc>
              <a:buNone/>
            </a:pPr>
            <a:r>
              <a:rPr lang="en-US" sz="800" spc="62" kern="0" dirty="0">
                <a:solidFill>
                  <a:srgbClr val="6B6760"/>
                </a:solidFill>
                <a:latin typeface="Carlito" pitchFamily="34" charset="0"/>
                <a:ea typeface="Carlito" pitchFamily="34" charset="-122"/>
                <a:cs typeface="Carlito" pitchFamily="34" charset="-120"/>
              </a:rPr>
              <a:t>TERRAPULSE · GOLD FIELDS GHANA</a:t>
            </a:r>
            <a:endParaRPr lang="en-US" sz="800" dirty="0"/>
          </a:p>
        </p:txBody>
      </p:sp>
      <p:sp>
        <p:nvSpPr>
          <p:cNvPr id="13" name="Text 11"/>
          <p:cNvSpPr/>
          <p:nvPr/>
        </p:nvSpPr>
        <p:spPr>
          <a:xfrm>
            <a:off x="7717148" y="4868466"/>
            <a:ext cx="1211429"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6B6760"/>
                </a:solidFill>
                <a:latin typeface="Liberation Sans Narrow" pitchFamily="34" charset="0"/>
                <a:ea typeface="Liberation Sans Narrow" pitchFamily="34" charset="-122"/>
                <a:cs typeface="Liberation Sans Narrow" pitchFamily="34" charset="-120"/>
              </a:rPr>
              <a:t>12 / 12 · END OF DECK</a:t>
            </a:r>
            <a:endParaRPr lang="en-US" sz="800" dirty="0"/>
          </a:p>
        </p:txBody>
      </p:sp>
      <p:sp>
        <p:nvSpPr>
          <p:cNvPr id="14" name="Text 12"/>
          <p:cNvSpPr/>
          <p:nvPr/>
        </p:nvSpPr>
        <p:spPr>
          <a:xfrm>
            <a:off x="460772" y="403622"/>
            <a:ext cx="8222456" cy="683568"/>
          </a:xfrm>
          <a:prstGeom prst="roundRect">
            <a:avLst>
              <a:gd name="adj" fmla="val 11147"/>
            </a:avLst>
          </a:prstGeom>
          <a:solidFill>
            <a:srgbClr val="1F262E"/>
          </a:solidFill>
          <a:ln w="7144">
            <a:solidFill>
              <a:srgbClr val="2A323C"/>
            </a:solidFill>
            <a:prstDash val="solid"/>
          </a:ln>
        </p:spPr>
        <p:txBody>
          <a:bodyPr wrap="square" rtlCol="0" anchor="ctr"/>
          <a:lstStyle/>
          <a:p>
            <a:pPr indent="0" marL="0">
              <a:buNone/>
            </a:pPr>
            <a:endParaRPr lang="en-US" dirty="0"/>
          </a:p>
        </p:txBody>
      </p:sp>
      <p:sp>
        <p:nvSpPr>
          <p:cNvPr id="15" name="Text 13"/>
          <p:cNvSpPr/>
          <p:nvPr/>
        </p:nvSpPr>
        <p:spPr>
          <a:xfrm>
            <a:off x="635794" y="521494"/>
            <a:ext cx="2291023" cy="203597"/>
          </a:xfrm>
          <a:prstGeom prst="roundRect">
            <a:avLst>
              <a:gd name="adj" fmla="val 9357"/>
            </a:avLst>
          </a:prstGeom>
          <a:solidFill>
            <a:srgbClr val="D4633F">
              <a:alpha val="8000"/>
            </a:srgbClr>
          </a:solidFill>
          <a:ln/>
        </p:spPr>
        <p:txBody>
          <a:bodyPr wrap="square" rtlCol="0" anchor="ctr"/>
          <a:lstStyle/>
          <a:p>
            <a:pPr indent="0" marL="0">
              <a:buNone/>
            </a:pPr>
            <a:endParaRPr lang="en-US" dirty="0"/>
          </a:p>
        </p:txBody>
      </p:sp>
      <p:sp>
        <p:nvSpPr>
          <p:cNvPr id="16" name="Text 14"/>
          <p:cNvSpPr/>
          <p:nvPr/>
        </p:nvSpPr>
        <p:spPr>
          <a:xfrm>
            <a:off x="728663" y="564356"/>
            <a:ext cx="2222157" cy="117872"/>
          </a:xfrm>
          <a:prstGeom prst="rect">
            <a:avLst/>
          </a:prstGeom>
          <a:noFill/>
          <a:ln/>
        </p:spPr>
        <p:txBody>
          <a:bodyPr wrap="square" lIns="0" tIns="0" rIns="0" bIns="0" rtlCol="0" anchor="t"/>
          <a:lstStyle/>
          <a:p>
            <a:pPr algn="l" indent="0" marL="0">
              <a:lnSpc>
                <a:spcPts val="928"/>
              </a:lnSpc>
              <a:buNone/>
            </a:pPr>
            <a:r>
              <a:rPr lang="en-US" sz="619" b="1" spc="87" kern="0" dirty="0">
                <a:solidFill>
                  <a:srgbClr val="D4633F"/>
                </a:solidFill>
                <a:latin typeface="Carlito" pitchFamily="34" charset="0"/>
                <a:ea typeface="Carlito" pitchFamily="34" charset="-122"/>
                <a:cs typeface="Carlito" pitchFamily="34" charset="-120"/>
              </a:rPr>
              <a:t>PROBLEM · SAY THESE BEFORE THEY’RE FOUND</a:t>
            </a:r>
            <a:endParaRPr lang="en-US" sz="619" dirty="0"/>
          </a:p>
        </p:txBody>
      </p:sp>
      <p:sp>
        <p:nvSpPr>
          <p:cNvPr id="17" name="Text 15"/>
          <p:cNvSpPr/>
          <p:nvPr/>
        </p:nvSpPr>
        <p:spPr>
          <a:xfrm>
            <a:off x="635794" y="789384"/>
            <a:ext cx="7715250" cy="179933"/>
          </a:xfrm>
          <a:prstGeom prst="rect">
            <a:avLst/>
          </a:prstGeom>
          <a:noFill/>
          <a:ln/>
        </p:spPr>
        <p:txBody>
          <a:bodyPr wrap="square" lIns="0" tIns="0" rIns="0" bIns="0" rtlCol="0" anchor="t"/>
          <a:lstStyle/>
          <a:p>
            <a:pPr algn="l" indent="0" marL="0">
              <a:lnSpc>
                <a:spcPts val="1418"/>
              </a:lnSpc>
              <a:buNone/>
            </a:pPr>
            <a:r>
              <a:rPr lang="en-US" sz="1013" dirty="0">
                <a:solidFill>
                  <a:srgbClr val="E8E6E1"/>
                </a:solidFill>
                <a:latin typeface="Carlito" pitchFamily="34" charset="0"/>
                <a:ea typeface="Carlito" pitchFamily="34" charset="-122"/>
                <a:cs typeface="Carlito" pitchFamily="34" charset="-120"/>
              </a:rPr>
              <a:t>Named by us they read as engineering judgement. Discovered by you they read as overselling. So here are the gaps — on the record.</a:t>
            </a:r>
            <a:endParaRPr lang="en-US" sz="1013" dirty="0"/>
          </a:p>
        </p:txBody>
      </p:sp>
      <p:sp>
        <p:nvSpPr>
          <p:cNvPr id="18" name="Text 16"/>
          <p:cNvSpPr/>
          <p:nvPr/>
        </p:nvSpPr>
        <p:spPr>
          <a:xfrm>
            <a:off x="457200" y="1190774"/>
            <a:ext cx="8636000" cy="261890"/>
          </a:xfrm>
          <a:prstGeom prst="rect">
            <a:avLst/>
          </a:prstGeom>
          <a:noFill/>
          <a:ln/>
        </p:spPr>
        <p:txBody>
          <a:bodyPr wrap="none" lIns="0" tIns="0" rIns="0" bIns="0" rtlCol="0" anchor="t">
            <a:normAutofit/>
          </a:bodyPr>
          <a:lstStyle/>
          <a:p>
            <a:pPr algn="l" indent="0" marL="0">
              <a:lnSpc>
                <a:spcPts val="1941"/>
              </a:lnSpc>
              <a:buNone/>
            </a:pPr>
            <a:r>
              <a:rPr lang="en-US" sz="1688" b="1" dirty="0">
                <a:solidFill>
                  <a:srgbClr val="E8E6E1"/>
                </a:solidFill>
                <a:latin typeface="Carlito" pitchFamily="34" charset="0"/>
                <a:ea typeface="Carlito" pitchFamily="34" charset="-122"/>
                <a:cs typeface="Carlito" pitchFamily="34" charset="-120"/>
              </a:rPr>
              <a:t>What it doesn’t do yet</a:t>
            </a:r>
            <a:endParaRPr lang="en-US" sz="1688" dirty="0"/>
          </a:p>
        </p:txBody>
      </p:sp>
      <p:sp>
        <p:nvSpPr>
          <p:cNvPr id="19" name="Text 17"/>
          <p:cNvSpPr/>
          <p:nvPr/>
        </p:nvSpPr>
        <p:spPr>
          <a:xfrm>
            <a:off x="457200" y="1480096"/>
            <a:ext cx="7000875" cy="159081"/>
          </a:xfrm>
          <a:prstGeom prst="rect">
            <a:avLst/>
          </a:prstGeom>
          <a:noFill/>
          <a:ln/>
        </p:spPr>
        <p:txBody>
          <a:bodyPr wrap="square" lIns="0" tIns="0" rIns="0" bIns="0" rtlCol="0" anchor="t"/>
          <a:lstStyle/>
          <a:p>
            <a:pPr algn="l" indent="0" marL="0">
              <a:lnSpc>
                <a:spcPts val="1142"/>
              </a:lnSpc>
              <a:buNone/>
            </a:pPr>
            <a:r>
              <a:rPr lang="en-US" sz="788" dirty="0">
                <a:solidFill>
                  <a:srgbClr val="A8A39C"/>
                </a:solidFill>
                <a:latin typeface="Carlito" pitchFamily="34" charset="0"/>
                <a:ea typeface="Carlito" pitchFamily="34" charset="-122"/>
                <a:cs typeface="Carlito" pitchFamily="34" charset="-120"/>
              </a:rPr>
              <a:t>Per-commodity profiles are specified and not yet built. A licence boundary is required. A few UI surfaces are visible but not functional.</a:t>
            </a:r>
            <a:endParaRPr lang="en-US" sz="788" dirty="0"/>
          </a:p>
        </p:txBody>
      </p:sp>
      <p:sp>
        <p:nvSpPr>
          <p:cNvPr id="20" name="Text 18"/>
          <p:cNvSpPr/>
          <p:nvPr/>
        </p:nvSpPr>
        <p:spPr>
          <a:xfrm>
            <a:off x="460772" y="1714388"/>
            <a:ext cx="2659819" cy="1706463"/>
          </a:xfrm>
          <a:prstGeom prst="roundRect">
            <a:avLst>
              <a:gd name="adj" fmla="val 4465"/>
            </a:avLst>
          </a:prstGeom>
          <a:solidFill>
            <a:srgbClr val="161B22"/>
          </a:solidFill>
          <a:ln w="7144">
            <a:solidFill>
              <a:srgbClr val="2A323C"/>
            </a:solidFill>
            <a:prstDash val="solid"/>
          </a:ln>
        </p:spPr>
        <p:txBody>
          <a:bodyPr wrap="square" rtlCol="0" anchor="ctr"/>
          <a:lstStyle/>
          <a:p>
            <a:pPr indent="0" marL="0">
              <a:buNone/>
            </a:pPr>
            <a:endParaRPr lang="en-US" dirty="0"/>
          </a:p>
        </p:txBody>
      </p:sp>
      <p:sp>
        <p:nvSpPr>
          <p:cNvPr id="21" name="Text 19"/>
          <p:cNvSpPr/>
          <p:nvPr/>
        </p:nvSpPr>
        <p:spPr>
          <a:xfrm>
            <a:off x="607219" y="1846548"/>
            <a:ext cx="2366925" cy="161877"/>
          </a:xfrm>
          <a:prstGeom prst="rect">
            <a:avLst/>
          </a:prstGeom>
          <a:noFill/>
          <a:ln/>
        </p:spPr>
        <p:txBody>
          <a:bodyPr wrap="none" lIns="0" tIns="0" rIns="0" bIns="0" rtlCol="0" anchor="t">
            <a:normAutofit/>
          </a:bodyPr>
          <a:lstStyle/>
          <a:p>
            <a:pPr algn="l" indent="0" marL="0">
              <a:lnSpc>
                <a:spcPts val="928"/>
              </a:lnSpc>
              <a:buNone/>
            </a:pPr>
            <a:r>
              <a:rPr lang="en-US" sz="800" spc="99" kern="0" dirty="0">
                <a:solidFill>
                  <a:srgbClr val="6B6760"/>
                </a:solidFill>
                <a:latin typeface="Liberation Sans Narrow" pitchFamily="34" charset="0"/>
                <a:ea typeface="Liberation Sans Narrow" pitchFamily="34" charset="-122"/>
                <a:cs typeface="Liberation Sans Narrow" pitchFamily="34" charset="-120"/>
              </a:rPr>
              <a:t>LIMIT 01</a:t>
            </a:r>
            <a:endParaRPr lang="en-US" sz="800" dirty="0"/>
          </a:p>
        </p:txBody>
      </p:sp>
      <p:sp>
        <p:nvSpPr>
          <p:cNvPr id="22" name="Text 20"/>
          <p:cNvSpPr/>
          <p:nvPr/>
        </p:nvSpPr>
        <p:spPr>
          <a:xfrm>
            <a:off x="607219" y="2035857"/>
            <a:ext cx="2366925" cy="166601"/>
          </a:xfrm>
          <a:prstGeom prst="rect">
            <a:avLst/>
          </a:prstGeom>
          <a:noFill/>
          <a:ln/>
        </p:spPr>
        <p:txBody>
          <a:bodyPr wrap="none" lIns="0" tIns="0" rIns="0" bIns="0" rtlCol="0" anchor="t"/>
          <a:lstStyle/>
          <a:p>
            <a:pPr algn="l" indent="0" marL="0">
              <a:lnSpc>
                <a:spcPts val="1215"/>
              </a:lnSpc>
              <a:buNone/>
            </a:pPr>
            <a:r>
              <a:rPr lang="en-US" sz="1013" b="1" dirty="0">
                <a:solidFill>
                  <a:srgbClr val="E8E6E1"/>
                </a:solidFill>
                <a:latin typeface="Carlito" pitchFamily="34" charset="0"/>
                <a:ea typeface="Carlito" pitchFamily="34" charset="-122"/>
                <a:cs typeface="Carlito" pitchFamily="34" charset="-120"/>
              </a:rPr>
              <a:t>Ranking is gold-only</a:t>
            </a:r>
            <a:endParaRPr lang="en-US" sz="1013" dirty="0"/>
          </a:p>
        </p:txBody>
      </p:sp>
      <p:sp>
        <p:nvSpPr>
          <p:cNvPr id="23" name="Text 21"/>
          <p:cNvSpPr/>
          <p:nvPr/>
        </p:nvSpPr>
        <p:spPr>
          <a:xfrm>
            <a:off x="607219" y="2261555"/>
            <a:ext cx="2366925" cy="728020"/>
          </a:xfrm>
          <a:prstGeom prst="rect">
            <a:avLst/>
          </a:prstGeom>
          <a:noFill/>
          <a:ln/>
        </p:spPr>
        <p:txBody>
          <a:bodyPr wrap="square" lIns="0" tIns="0" rIns="0" bIns="0" rtlCol="0" anchor="t">
            <a:normAutofit/>
          </a:bodyPr>
          <a:lstStyle/>
          <a:p>
            <a:pPr algn="l" indent="0" marL="0">
              <a:lnSpc>
                <a:spcPts val="1055"/>
              </a:lnSpc>
              <a:buNone/>
            </a:pPr>
            <a:r>
              <a:rPr lang="en-US" sz="800" dirty="0">
                <a:solidFill>
                  <a:srgbClr val="A8A39C"/>
                </a:solidFill>
                <a:latin typeface="Carlito" pitchFamily="34" charset="0"/>
                <a:ea typeface="Carlito" pitchFamily="34" charset="-122"/>
                <a:cs typeface="Carlito" pitchFamily="34" charset="-120"/>
              </a:rPr>
              <a:t>Copper, lithium, nickel and the rest get every layer, map and geochemical treatment, but no ranked targets. The weights and lithology favourability are tuned for orogenic gold — returning numbers from the wrong deposit model would be worse than returning none.</a:t>
            </a:r>
            <a:endParaRPr lang="en-US" sz="800" dirty="0"/>
          </a:p>
        </p:txBody>
      </p:sp>
      <p:sp>
        <p:nvSpPr>
          <p:cNvPr id="24" name="Text 22"/>
          <p:cNvSpPr/>
          <p:nvPr/>
        </p:nvSpPr>
        <p:spPr>
          <a:xfrm>
            <a:off x="607219" y="3017007"/>
            <a:ext cx="2366925" cy="285973"/>
          </a:xfrm>
          <a:prstGeom prst="rect">
            <a:avLst/>
          </a:prstGeom>
          <a:noFill/>
          <a:ln/>
        </p:spPr>
        <p:txBody>
          <a:bodyPr wrap="square" lIns="0" tIns="57150" rIns="0" bIns="0" rtlCol="0" anchor="t"/>
          <a:lstStyle/>
          <a:p>
            <a:pPr algn="l" indent="0" marL="0">
              <a:lnSpc>
                <a:spcPts val="873"/>
              </a:lnSpc>
              <a:buNone/>
            </a:pPr>
            <a:r>
              <a:rPr lang="en-US" sz="800" spc="65" kern="0" dirty="0">
                <a:solidFill>
                  <a:srgbClr val="D4A437"/>
                </a:solidFill>
                <a:latin typeface="Carlito" pitchFamily="34" charset="0"/>
                <a:ea typeface="Carlito" pitchFamily="34" charset="-122"/>
                <a:cs typeface="Carlito" pitchFamily="34" charset="-120"/>
              </a:rPr>
              <a:t>PER-COMMODITY PROFILES — SPECIFIED, NOT YET BUILT · OFFER A DATE</a:t>
            </a:r>
            <a:endParaRPr lang="en-US" sz="800" dirty="0"/>
          </a:p>
        </p:txBody>
      </p:sp>
      <p:sp>
        <p:nvSpPr>
          <p:cNvPr id="25" name="Text 23"/>
          <p:cNvSpPr/>
          <p:nvPr/>
        </p:nvSpPr>
        <p:spPr>
          <a:xfrm>
            <a:off x="3242035" y="1714388"/>
            <a:ext cx="2659819" cy="1706463"/>
          </a:xfrm>
          <a:prstGeom prst="roundRect">
            <a:avLst>
              <a:gd name="adj" fmla="val 4465"/>
            </a:avLst>
          </a:prstGeom>
          <a:solidFill>
            <a:srgbClr val="161B22"/>
          </a:solidFill>
          <a:ln w="7144">
            <a:solidFill>
              <a:srgbClr val="2A323C"/>
            </a:solidFill>
            <a:prstDash val="solid"/>
          </a:ln>
        </p:spPr>
        <p:txBody>
          <a:bodyPr wrap="square" rtlCol="0" anchor="ctr"/>
          <a:lstStyle/>
          <a:p>
            <a:pPr indent="0" marL="0">
              <a:buNone/>
            </a:pPr>
            <a:endParaRPr lang="en-US" dirty="0"/>
          </a:p>
        </p:txBody>
      </p:sp>
      <p:sp>
        <p:nvSpPr>
          <p:cNvPr id="26" name="Text 24"/>
          <p:cNvSpPr/>
          <p:nvPr/>
        </p:nvSpPr>
        <p:spPr>
          <a:xfrm>
            <a:off x="3388482" y="1846548"/>
            <a:ext cx="2366925" cy="161877"/>
          </a:xfrm>
          <a:prstGeom prst="rect">
            <a:avLst/>
          </a:prstGeom>
          <a:noFill/>
          <a:ln/>
        </p:spPr>
        <p:txBody>
          <a:bodyPr wrap="none" lIns="0" tIns="0" rIns="0" bIns="0" rtlCol="0" anchor="t">
            <a:normAutofit/>
          </a:bodyPr>
          <a:lstStyle/>
          <a:p>
            <a:pPr algn="l" indent="0" marL="0">
              <a:lnSpc>
                <a:spcPts val="928"/>
              </a:lnSpc>
              <a:buNone/>
            </a:pPr>
            <a:r>
              <a:rPr lang="en-US" sz="800" spc="99" kern="0" dirty="0">
                <a:solidFill>
                  <a:srgbClr val="6B6760"/>
                </a:solidFill>
                <a:latin typeface="Liberation Sans Narrow" pitchFamily="34" charset="0"/>
                <a:ea typeface="Liberation Sans Narrow" pitchFamily="34" charset="-122"/>
                <a:cs typeface="Liberation Sans Narrow" pitchFamily="34" charset="-120"/>
              </a:rPr>
              <a:t>LIMIT 02</a:t>
            </a:r>
            <a:endParaRPr lang="en-US" sz="800" dirty="0"/>
          </a:p>
        </p:txBody>
      </p:sp>
      <p:sp>
        <p:nvSpPr>
          <p:cNvPr id="27" name="Text 25"/>
          <p:cNvSpPr/>
          <p:nvPr/>
        </p:nvSpPr>
        <p:spPr>
          <a:xfrm>
            <a:off x="3388482" y="2035857"/>
            <a:ext cx="2366925" cy="166601"/>
          </a:xfrm>
          <a:prstGeom prst="rect">
            <a:avLst/>
          </a:prstGeom>
          <a:noFill/>
          <a:ln/>
        </p:spPr>
        <p:txBody>
          <a:bodyPr wrap="none" lIns="0" tIns="0" rIns="0" bIns="0" rtlCol="0" anchor="t"/>
          <a:lstStyle/>
          <a:p>
            <a:pPr algn="l" indent="0" marL="0">
              <a:lnSpc>
                <a:spcPts val="1215"/>
              </a:lnSpc>
              <a:buNone/>
            </a:pPr>
            <a:r>
              <a:rPr lang="en-US" sz="1013" b="1" dirty="0">
                <a:solidFill>
                  <a:srgbClr val="E8E6E1"/>
                </a:solidFill>
                <a:latin typeface="Carlito" pitchFamily="34" charset="0"/>
                <a:ea typeface="Carlito" pitchFamily="34" charset="-122"/>
                <a:cs typeface="Carlito" pitchFamily="34" charset="-120"/>
              </a:rPr>
              <a:t>A boundary is required</a:t>
            </a:r>
            <a:endParaRPr lang="en-US" sz="1013" dirty="0"/>
          </a:p>
        </p:txBody>
      </p:sp>
      <p:sp>
        <p:nvSpPr>
          <p:cNvPr id="28" name="Text 26"/>
          <p:cNvSpPr/>
          <p:nvPr/>
        </p:nvSpPr>
        <p:spPr>
          <a:xfrm>
            <a:off x="3388482" y="2261555"/>
            <a:ext cx="2366925" cy="838859"/>
          </a:xfrm>
          <a:prstGeom prst="rect">
            <a:avLst/>
          </a:prstGeom>
          <a:noFill/>
          <a:ln/>
        </p:spPr>
        <p:txBody>
          <a:bodyPr wrap="square" lIns="0" tIns="0" rIns="0" bIns="0" rtlCol="0" anchor="t">
            <a:normAutofit/>
          </a:bodyPr>
          <a:lstStyle/>
          <a:p>
            <a:pPr algn="l" indent="0" marL="0">
              <a:lnSpc>
                <a:spcPts val="1055"/>
              </a:lnSpc>
              <a:buNone/>
            </a:pPr>
            <a:r>
              <a:rPr lang="en-US" sz="800" dirty="0">
                <a:solidFill>
                  <a:srgbClr val="A8A39C"/>
                </a:solidFill>
                <a:latin typeface="Carlito" pitchFamily="34" charset="0"/>
                <a:ea typeface="Carlito" pitchFamily="34" charset="-122"/>
                <a:cs typeface="Carlito" pitchFamily="34" charset="-120"/>
              </a:rPr>
              <a:t>Imagery, terrain, regional magnetics and analysis all need a licence polygon. Without one they refuse rather than guess at an extent.</a:t>
            </a:r>
            <a:endParaRPr lang="en-US" sz="800" dirty="0"/>
          </a:p>
        </p:txBody>
      </p:sp>
      <p:sp>
        <p:nvSpPr>
          <p:cNvPr id="29" name="Text 27"/>
          <p:cNvSpPr/>
          <p:nvPr/>
        </p:nvSpPr>
        <p:spPr>
          <a:xfrm>
            <a:off x="3388482" y="3127846"/>
            <a:ext cx="2476653" cy="175133"/>
          </a:xfrm>
          <a:prstGeom prst="rect">
            <a:avLst/>
          </a:prstGeom>
          <a:noFill/>
          <a:ln/>
        </p:spPr>
        <p:txBody>
          <a:bodyPr wrap="square" lIns="0" tIns="57150" rIns="0" bIns="0" rtlCol="0" anchor="t"/>
          <a:lstStyle/>
          <a:p>
            <a:pPr algn="l" indent="0" marL="0">
              <a:lnSpc>
                <a:spcPts val="873"/>
              </a:lnSpc>
              <a:buNone/>
            </a:pPr>
            <a:r>
              <a:rPr lang="en-US" sz="647" spc="65" kern="0" dirty="0">
                <a:solidFill>
                  <a:srgbClr val="D4A437"/>
                </a:solidFill>
                <a:latin typeface="Carlito" pitchFamily="34" charset="0"/>
                <a:ea typeface="Carlito" pitchFamily="34" charset="-122"/>
                <a:cs typeface="Carlito" pitchFamily="34" charset="-120"/>
              </a:rPr>
              <a:t>BY DESIGN — NO EXTRAPOLATION PAST THE LICENCE</a:t>
            </a:r>
            <a:endParaRPr lang="en-US" sz="647" dirty="0"/>
          </a:p>
        </p:txBody>
      </p:sp>
      <p:sp>
        <p:nvSpPr>
          <p:cNvPr id="30" name="Text 28"/>
          <p:cNvSpPr/>
          <p:nvPr/>
        </p:nvSpPr>
        <p:spPr>
          <a:xfrm>
            <a:off x="6023297" y="1714388"/>
            <a:ext cx="2659931" cy="1706463"/>
          </a:xfrm>
          <a:prstGeom prst="roundRect">
            <a:avLst>
              <a:gd name="adj" fmla="val 4465"/>
            </a:avLst>
          </a:prstGeom>
          <a:solidFill>
            <a:srgbClr val="161B22"/>
          </a:solidFill>
          <a:ln w="7144">
            <a:solidFill>
              <a:srgbClr val="2A323C"/>
            </a:solidFill>
            <a:prstDash val="solid"/>
          </a:ln>
        </p:spPr>
        <p:txBody>
          <a:bodyPr wrap="square" rtlCol="0" anchor="ctr"/>
          <a:lstStyle/>
          <a:p>
            <a:pPr indent="0" marL="0">
              <a:buNone/>
            </a:pPr>
            <a:endParaRPr lang="en-US" dirty="0"/>
          </a:p>
        </p:txBody>
      </p:sp>
      <p:sp>
        <p:nvSpPr>
          <p:cNvPr id="31" name="Text 29"/>
          <p:cNvSpPr/>
          <p:nvPr/>
        </p:nvSpPr>
        <p:spPr>
          <a:xfrm>
            <a:off x="6169744" y="1846548"/>
            <a:ext cx="2367037" cy="161877"/>
          </a:xfrm>
          <a:prstGeom prst="rect">
            <a:avLst/>
          </a:prstGeom>
          <a:noFill/>
          <a:ln/>
        </p:spPr>
        <p:txBody>
          <a:bodyPr wrap="none" lIns="0" tIns="0" rIns="0" bIns="0" rtlCol="0" anchor="t">
            <a:normAutofit/>
          </a:bodyPr>
          <a:lstStyle/>
          <a:p>
            <a:pPr algn="l" indent="0" marL="0">
              <a:lnSpc>
                <a:spcPts val="928"/>
              </a:lnSpc>
              <a:buNone/>
            </a:pPr>
            <a:r>
              <a:rPr lang="en-US" sz="800" spc="99" kern="0" dirty="0">
                <a:solidFill>
                  <a:srgbClr val="6B6760"/>
                </a:solidFill>
                <a:latin typeface="Liberation Sans Narrow" pitchFamily="34" charset="0"/>
                <a:ea typeface="Liberation Sans Narrow" pitchFamily="34" charset="-122"/>
                <a:cs typeface="Liberation Sans Narrow" pitchFamily="34" charset="-120"/>
              </a:rPr>
              <a:t>LIMIT 03</a:t>
            </a:r>
            <a:endParaRPr lang="en-US" sz="800" dirty="0"/>
          </a:p>
        </p:txBody>
      </p:sp>
      <p:sp>
        <p:nvSpPr>
          <p:cNvPr id="32" name="Text 30"/>
          <p:cNvSpPr/>
          <p:nvPr/>
        </p:nvSpPr>
        <p:spPr>
          <a:xfrm>
            <a:off x="6169744" y="2035857"/>
            <a:ext cx="2367037" cy="166601"/>
          </a:xfrm>
          <a:prstGeom prst="rect">
            <a:avLst/>
          </a:prstGeom>
          <a:noFill/>
          <a:ln/>
        </p:spPr>
        <p:txBody>
          <a:bodyPr wrap="none" lIns="0" tIns="0" rIns="0" bIns="0" rtlCol="0" anchor="t"/>
          <a:lstStyle/>
          <a:p>
            <a:pPr algn="l" indent="0" marL="0">
              <a:lnSpc>
                <a:spcPts val="1215"/>
              </a:lnSpc>
              <a:buNone/>
            </a:pPr>
            <a:r>
              <a:rPr lang="en-US" sz="1013" b="1" dirty="0">
                <a:solidFill>
                  <a:srgbClr val="E8E6E1"/>
                </a:solidFill>
                <a:latin typeface="Carlito" pitchFamily="34" charset="0"/>
                <a:ea typeface="Carlito" pitchFamily="34" charset="-122"/>
                <a:cs typeface="Carlito" pitchFamily="34" charset="-120"/>
              </a:rPr>
              <a:t>Smaller gaps</a:t>
            </a:r>
            <a:endParaRPr lang="en-US" sz="1013" dirty="0"/>
          </a:p>
        </p:txBody>
      </p:sp>
      <p:sp>
        <p:nvSpPr>
          <p:cNvPr id="33" name="Text 31"/>
          <p:cNvSpPr/>
          <p:nvPr/>
        </p:nvSpPr>
        <p:spPr>
          <a:xfrm>
            <a:off x="6169744" y="2261555"/>
            <a:ext cx="2367037" cy="838859"/>
          </a:xfrm>
          <a:prstGeom prst="rect">
            <a:avLst/>
          </a:prstGeom>
          <a:noFill/>
          <a:ln/>
        </p:spPr>
        <p:txBody>
          <a:bodyPr wrap="square" lIns="0" tIns="0" rIns="0" bIns="0" rtlCol="0" anchor="t">
            <a:normAutofit/>
          </a:bodyPr>
          <a:lstStyle/>
          <a:p>
            <a:pPr algn="l" indent="0" marL="0">
              <a:lnSpc>
                <a:spcPts val="1055"/>
              </a:lnSpc>
              <a:buNone/>
            </a:pPr>
            <a:r>
              <a:rPr lang="en-US" sz="800" dirty="0">
                <a:solidFill>
                  <a:srgbClr val="A8A39C"/>
                </a:solidFill>
                <a:latin typeface="Carlito" pitchFamily="34" charset="0"/>
                <a:ea typeface="Carlito" pitchFamily="34" charset="-122"/>
                <a:cs typeface="Carlito" pitchFamily="34" charset="-120"/>
              </a:rPr>
              <a:t>Social sign-in, self-service password change, and branding accent colour and font are visible in the interface but not yet functional.</a:t>
            </a:r>
            <a:endParaRPr lang="en-US" sz="800" dirty="0"/>
          </a:p>
        </p:txBody>
      </p:sp>
      <p:sp>
        <p:nvSpPr>
          <p:cNvPr id="34" name="Text 32"/>
          <p:cNvSpPr/>
          <p:nvPr/>
        </p:nvSpPr>
        <p:spPr>
          <a:xfrm>
            <a:off x="6169744" y="3127846"/>
            <a:ext cx="2367037" cy="175133"/>
          </a:xfrm>
          <a:prstGeom prst="rect">
            <a:avLst/>
          </a:prstGeom>
          <a:noFill/>
          <a:ln/>
        </p:spPr>
        <p:txBody>
          <a:bodyPr wrap="none" lIns="0" tIns="57150" rIns="0" bIns="0" rtlCol="0" anchor="t"/>
          <a:lstStyle/>
          <a:p>
            <a:pPr algn="l" indent="0" marL="0">
              <a:lnSpc>
                <a:spcPts val="873"/>
              </a:lnSpc>
              <a:buNone/>
            </a:pPr>
            <a:r>
              <a:rPr lang="en-US" sz="800" spc="65" kern="0" dirty="0">
                <a:solidFill>
                  <a:srgbClr val="D4A437"/>
                </a:solidFill>
                <a:latin typeface="Carlito" pitchFamily="34" charset="0"/>
                <a:ea typeface="Carlito" pitchFamily="34" charset="-122"/>
                <a:cs typeface="Carlito" pitchFamily="34" charset="-120"/>
              </a:rPr>
              <a:t>NEXT RELEASE WINDOW</a:t>
            </a:r>
            <a:endParaRPr lang="en-US" sz="800" dirty="0"/>
          </a:p>
        </p:txBody>
      </p:sp>
      <p:sp>
        <p:nvSpPr>
          <p:cNvPr id="35" name="Text 33"/>
          <p:cNvSpPr/>
          <p:nvPr/>
        </p:nvSpPr>
        <p:spPr>
          <a:xfrm>
            <a:off x="457200" y="3524436"/>
            <a:ext cx="8229600" cy="752215"/>
          </a:xfrm>
          <a:prstGeom prst="roundRect">
            <a:avLst>
              <a:gd name="adj" fmla="val 10130"/>
            </a:avLst>
          </a:prstGeom>
          <a:solidFill>
            <a:srgbClr val="1F262E"/>
          </a:solidFill>
          <a:ln/>
        </p:spPr>
        <p:txBody>
          <a:bodyPr wrap="square" rtlCol="0" anchor="ctr"/>
          <a:lstStyle/>
          <a:p>
            <a:pPr indent="0" marL="0">
              <a:buNone/>
            </a:pPr>
            <a:endParaRPr lang="en-US" dirty="0"/>
          </a:p>
        </p:txBody>
      </p:sp>
      <p:sp>
        <p:nvSpPr>
          <p:cNvPr id="36" name="Text 34"/>
          <p:cNvSpPr/>
          <p:nvPr/>
        </p:nvSpPr>
        <p:spPr>
          <a:xfrm>
            <a:off x="664369" y="3691198"/>
            <a:ext cx="2652117" cy="203597"/>
          </a:xfrm>
          <a:prstGeom prst="roundRect">
            <a:avLst>
              <a:gd name="adj" fmla="val 9357"/>
            </a:avLst>
          </a:prstGeom>
          <a:solidFill>
            <a:srgbClr val="6BAE85">
              <a:alpha val="8000"/>
            </a:srgbClr>
          </a:solidFill>
          <a:ln/>
        </p:spPr>
        <p:txBody>
          <a:bodyPr wrap="square" rtlCol="0" anchor="ctr"/>
          <a:lstStyle/>
          <a:p>
            <a:pPr indent="0" marL="0">
              <a:buNone/>
            </a:pPr>
            <a:endParaRPr lang="en-US" dirty="0"/>
          </a:p>
        </p:txBody>
      </p:sp>
      <p:sp>
        <p:nvSpPr>
          <p:cNvPr id="37" name="Text 35"/>
          <p:cNvSpPr/>
          <p:nvPr/>
        </p:nvSpPr>
        <p:spPr>
          <a:xfrm>
            <a:off x="757238" y="3734060"/>
            <a:ext cx="2583251" cy="117872"/>
          </a:xfrm>
          <a:prstGeom prst="rect">
            <a:avLst/>
          </a:prstGeom>
          <a:noFill/>
          <a:ln/>
        </p:spPr>
        <p:txBody>
          <a:bodyPr wrap="square" lIns="0" tIns="0" rIns="0" bIns="0" rtlCol="0" anchor="t"/>
          <a:lstStyle/>
          <a:p>
            <a:pPr algn="l" indent="0" marL="0">
              <a:lnSpc>
                <a:spcPts val="928"/>
              </a:lnSpc>
              <a:buNone/>
            </a:pPr>
            <a:r>
              <a:rPr lang="en-US" sz="619" b="1" spc="87" kern="0" dirty="0">
                <a:solidFill>
                  <a:srgbClr val="6BAE85"/>
                </a:solidFill>
                <a:latin typeface="Carlito" pitchFamily="34" charset="0"/>
                <a:ea typeface="Carlito" pitchFamily="34" charset="-122"/>
                <a:cs typeface="Carlito" pitchFamily="34" charset="-120"/>
              </a:rPr>
              <a:t>IMPACT · ENGINEERING JUDGEMENT, NOT OVERSELLING</a:t>
            </a:r>
            <a:endParaRPr lang="en-US" sz="619" dirty="0"/>
          </a:p>
        </p:txBody>
      </p:sp>
      <p:sp>
        <p:nvSpPr>
          <p:cNvPr id="38" name="Text 36"/>
          <p:cNvSpPr/>
          <p:nvPr/>
        </p:nvSpPr>
        <p:spPr>
          <a:xfrm>
            <a:off x="664369" y="3951945"/>
            <a:ext cx="4957204" cy="170459"/>
          </a:xfrm>
          <a:prstGeom prst="rect">
            <a:avLst/>
          </a:prstGeom>
          <a:noFill/>
          <a:ln/>
        </p:spPr>
        <p:txBody>
          <a:bodyPr wrap="square" lIns="0" tIns="0" rIns="0" bIns="0" rtlCol="0" anchor="t"/>
          <a:lstStyle/>
          <a:p>
            <a:pPr algn="l" indent="0" marL="0">
              <a:lnSpc>
                <a:spcPts val="1243"/>
              </a:lnSpc>
              <a:buNone/>
            </a:pPr>
            <a:r>
              <a:rPr lang="en-US" sz="956" dirty="0">
                <a:solidFill>
                  <a:srgbClr val="6BAE85"/>
                </a:solidFill>
                <a:latin typeface="Carlito" pitchFamily="34" charset="0"/>
                <a:ea typeface="Carlito" pitchFamily="34" charset="-122"/>
                <a:cs typeface="Carlito" pitchFamily="34" charset="-120"/>
              </a:rPr>
              <a:t>Every layer of evidence. One ranked list of targets. The paper trail to defend it.</a:t>
            </a:r>
            <a:endParaRPr lang="en-US" sz="956" dirty="0"/>
          </a:p>
        </p:txBody>
      </p:sp>
      <p:sp>
        <p:nvSpPr>
          <p:cNvPr id="39" name="Text 37"/>
          <p:cNvSpPr/>
          <p:nvPr/>
        </p:nvSpPr>
        <p:spPr>
          <a:xfrm>
            <a:off x="4662424" y="3660167"/>
            <a:ext cx="3831494" cy="119015"/>
          </a:xfrm>
          <a:prstGeom prst="rect">
            <a:avLst/>
          </a:prstGeom>
          <a:noFill/>
          <a:ln/>
        </p:spPr>
        <p:txBody>
          <a:bodyPr wrap="none" lIns="0" tIns="0" rIns="0" bIns="0" rtlCol="0" anchor="t">
            <a:normAutofit/>
          </a:bodyPr>
          <a:lstStyle/>
          <a:p>
            <a:pPr algn="r" indent="0" marL="0">
              <a:lnSpc>
                <a:spcPts val="928"/>
              </a:lnSpc>
              <a:buNone/>
            </a:pPr>
            <a:r>
              <a:rPr lang="en-US" sz="800" spc="99" kern="0" dirty="0">
                <a:solidFill>
                  <a:srgbClr val="A8A39C"/>
                </a:solidFill>
                <a:latin typeface="Carlito" pitchFamily="34" charset="0"/>
                <a:ea typeface="Carlito" pitchFamily="34" charset="-122"/>
                <a:cs typeface="Carlito" pitchFamily="34" charset="-120"/>
              </a:rPr>
              <a:t>NEXT STEP</a:t>
            </a:r>
            <a:endParaRPr lang="en-US" sz="800" dirty="0"/>
          </a:p>
        </p:txBody>
      </p:sp>
      <p:sp>
        <p:nvSpPr>
          <p:cNvPr id="40" name="Text 38"/>
          <p:cNvSpPr/>
          <p:nvPr/>
        </p:nvSpPr>
        <p:spPr>
          <a:xfrm>
            <a:off x="5546090" y="3806614"/>
            <a:ext cx="2947828" cy="175884"/>
          </a:xfrm>
          <a:prstGeom prst="rect">
            <a:avLst/>
          </a:prstGeom>
          <a:noFill/>
          <a:ln/>
        </p:spPr>
        <p:txBody>
          <a:bodyPr wrap="square" lIns="0" tIns="0" rIns="0" bIns="0" rtlCol="0" anchor="t"/>
          <a:lstStyle/>
          <a:p>
            <a:pPr algn="r" indent="0" marL="0">
              <a:lnSpc>
                <a:spcPts val="1283"/>
              </a:lnSpc>
              <a:buNone/>
            </a:pPr>
            <a:r>
              <a:rPr lang="en-US" sz="1069" b="1" dirty="0">
                <a:solidFill>
                  <a:srgbClr val="E8E6E1"/>
                </a:solidFill>
                <a:latin typeface="Carlito" pitchFamily="34" charset="0"/>
                <a:ea typeface="Carlito" pitchFamily="34" charset="-122"/>
                <a:cs typeface="Carlito" pitchFamily="34" charset="-120"/>
              </a:rPr>
              <a:t>Pilot plan — sized for a Gold Fields evaluation</a:t>
            </a:r>
            <a:endParaRPr lang="en-US" sz="1069" dirty="0"/>
          </a:p>
        </p:txBody>
      </p:sp>
      <p:sp>
        <p:nvSpPr>
          <p:cNvPr id="41" name="Text 39"/>
          <p:cNvSpPr/>
          <p:nvPr/>
        </p:nvSpPr>
        <p:spPr>
          <a:xfrm>
            <a:off x="5401727" y="4012332"/>
            <a:ext cx="3092192" cy="128588"/>
          </a:xfrm>
          <a:prstGeom prst="rect">
            <a:avLst/>
          </a:prstGeom>
          <a:noFill/>
          <a:ln/>
        </p:spPr>
        <p:txBody>
          <a:bodyPr wrap="square" lIns="0" tIns="0" rIns="0" bIns="0" rtlCol="0" anchor="t"/>
          <a:lstStyle/>
          <a:p>
            <a:pPr algn="r" indent="0" marL="0">
              <a:lnSpc>
                <a:spcPts val="1013"/>
              </a:lnSpc>
              <a:buNone/>
            </a:pPr>
            <a:r>
              <a:rPr lang="en-US" sz="800" spc="95" kern="0" dirty="0">
                <a:solidFill>
                  <a:srgbClr val="D4A437"/>
                </a:solidFill>
                <a:latin typeface="Courier New" pitchFamily="34" charset="0"/>
                <a:ea typeface="Courier New" pitchFamily="34" charset="-122"/>
                <a:cs typeface="Courier New" pitchFamily="34" charset="-120"/>
              </a:rPr>
              <a:t>TERRAPULSE · READY WHEN YOU ARE</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2026-08-13T00:14:11Z</dcterms:created>
  <dcterms:modified xsi:type="dcterms:W3CDTF">2026-08-13T00:14:11Z</dcterms:modified>
</cp:coreProperties>
</file>