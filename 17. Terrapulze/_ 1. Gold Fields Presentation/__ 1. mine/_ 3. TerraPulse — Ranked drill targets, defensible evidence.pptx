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Open the room: this deck is for senior geologists who own the rig decision on a Ghana licence.
 - Name the question we answer: where does the rig go — and can you defend it?
 - Set the Birimian context: Ashanti and Sefwi greenstone belts, Ghana licensing round 2026.
 - Three stat chips preview the architecture — 32 features, 12 sources, 5-stage pipeline with provenance.
 - Pace the room slowly; the next slide names the three frictions every senior geologist will recognise.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Invite the room to recognise these three frictions — they are not abstractions, they are Tuesday morning.
 - Pause on "weeks of GIS work" — that is the price of admission, not the analysis.
 - Problem 02 is the tenure problem: when the senior geologist leaves, the reasoning leaves with them.
 - Problem 03 is why most prospectivity work dies the day it ships — it cannot be re-run on fresh data.
 - Tee up the three claims that follow: assembly is automatic, the ranking explains itself, the work is defensible.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Land the "weeks → wait" line — this is the slide's centre of gravity.
 - Frame the Birimian greenstone context: Ashanti and Sefwi belts, multiple licences, repeated assembly cost.
 - All eight public sources are licensed for commercial use — no rights friction.
 - Your boundary polygon scopes every fetch; nothing is pulled you did not ask for.
 - The next claim (02) explains why the ranking that follows is defensible.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Emphasise "agree or disagree with a number" — this is the slide's emotional pivot.
 - This is where a senior geologist will lean in and start checking the evidence rows.
 - Walk one row live: e.g. "Gold geochemistry +24.1 — that's the 95th percentile of soil pathfinders."
 - Depth-to-source is an estimate, not a promise — be transparent about that in Q&amp;A.
 - Tee up Claim 03 (defensibility): the same numbers become the audit trail when the board asks.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Name the standards explicitly: NI 43-101, JORC, and the Minerals Commission of Ghana — the deck’s regulatory hook.
- The QP annotation (notes, review status, reviewer, date) persists into every export — PDF, shapefile, KML, CSV.
- Lineage is per-layer AND per-target; deposit model version is pinned so re-runs match the original, not the latest.
- Reports are versioned (draft → review → final), never overwritten — so the audit trail survives.
- This slide is the regulatory close of the three-claim arc; the next slide opens the “how it works” pipeline.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Walk the audience left to right; do not stop on the early stages — the punchline is at the right.
- Pause on Stage 04 (Score &amp; Rank): the deposit model is orogenic-gold-tuned and returns on slide 11.
- Stage 05 is persona-aware — one run, multiple report shapes (board / regulator / QP).
- Close on the provenance ribbon: it is the structural answer to Claim 03.
- If asked: kriging to 50 m is non-negotiable; it is what makes cross-layer comparison possible.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Show the layer panel on the live build — visibility and opacity per layer, with hover explanation of why each layer matters.
- Demo click-to-inspect: returns WGS84 + local UTM, raster values, nearest sample, nearest known deposit.
- Percentile classes are computed per-element from the project’s own population — not fixed cut-offs.
- Licence boundary is always drawn, never an opt-in — regulators look for this first.
- The viewer traces back to the file (and its checksum) that produced each layer — the audit link back to Claim 03.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Orogenic-gold weights are published (NOT proprietary) — the model is auditable, not a black box.
- Depth-to-source is derived from the RTP produced in Stage 03 of the pipeline (slide 06).
- QP notes — reviewer, status, date — carry into the shapefile export, which matters for Minerals Commission filings.
- Each target carries its evidence contribution breakdown, so a reviewer can see WHY it ranked, not just that it did.
- This is the deck’s centre of gravity — pause here; the next slide is the live map walkthrough.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The constraint is the feature: an LLM that cannot write a number is the only kind that belongs in disclosure.
 - Name the verified-claims register — every deposit analogue is checked against a known-deposits list before it is shown.
 - This is the ONLY AI in the deck — every other slide is deterministic.
 - The model selects and interprets; the database supplies the values, server-side.
 - Sessions are named per project, so earlier Q&amp;A persists as context for the next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The QP voice is NI 43-101 / JORC aware — it strips unsupported claims automatically before circulation.
 - White-label matters for consultants working alongside Gold Fields; the report carries their mark, not ours.
 - The report IS the disclosure artefact — not a marketing piece.
 - Versioned, not overwritten: regeneration produces a new version; the old one stays for audit.
 - Same data, written twice — the screen and the PDF cannot disagree because they share one source.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Constraint 02 is the deck's most important limit — gold-only ranking; copper, lithium, nickel get full data but no targets. Link forward to slide 12.
 - Constraint 03 matters to a Birimian audience — analogues like Obuasi and Ahafo are checked against the register before they are surfaced.
 - Constraint 01 — the LLM selects and interprets, but never supplies a value; everything resolves server-side.
 - Constraint 04 — published weights, per-target contributions, checksummed source files; the audit trail is the product.
 - All 12 sources are licensed for commercial use; no scraping, no grey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Close on the single ask: one licence polygon on a Birimian ground — and we return ranked targets with the provenance trail.
 - Reiterate the gold-only constraint as engineering judgement, not a gap — returning numbers from the wrong model would be worse than returning none.
 - Thank the room and invite the senior geologist to challenge a specific number on any earlier slide.
 - Pilot plan is sized for a real evaluation (10 seats, 15 projects, 150 runs/month, 60 reports/month) — not a free trial.
 - Top-ups via Paystack with a visible ledger; pay for what you use rather than being throttled.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115"/>
        </a:solidFill>
      </p:bgPr>
    </p:bg>
    <p:spTree>
      <p:nvGrpSpPr>
        <p:cNvPr id="1" name=""/>
        <p:cNvGrpSpPr/>
        <p:nvPr/>
      </p:nvGrpSpPr>
      <p:grpSpPr>
        <a:xfrm>
          <a:off x="0" y="0"/>
          <a:ext cx="0" cy="0"/>
          <a:chOff x="0" y="0"/>
          <a:chExt cx="0" cy="0"/>
        </a:xfrm>
      </p:grpSpPr>
      <p:pic>
        <p:nvPicPr>
          <p:cNvPr id="2" name="Image 0" descr="/tmp/h2p-fit-1786579664780-xjak6r.png">    </p:cNvPr>
          <p:cNvPicPr>
            <a:picLocks noChangeAspect="1"/>
          </p:cNvPicPr>
          <p:nvPr/>
        </p:nvPicPr>
        <p:blipFill>
          <a:blip r:embed="rId1">
            <a:alphaModFix amt="55000"/>
          </a:blip>
          <a:stretch>
            <a:fillRect/>
          </a:stretch>
        </p:blipFill>
        <p:spPr>
          <a:xfrm>
            <a:off x="0" y="0"/>
            <a:ext cx="9144000" cy="5143500"/>
          </a:xfrm>
          <a:prstGeom prst="rect">
            <a:avLst/>
          </a:prstGeom>
        </p:spPr>
      </p:pic>
      <p:pic>
        <p:nvPicPr>
          <p:cNvPr id="3" name="Image 1" descr="preencoded.png">    </p:cNvPr>
          <p:cNvPicPr>
            <a:picLocks noChangeAspect="1"/>
          </p:cNvPicPr>
          <p:nvPr/>
        </p:nvPicPr>
        <p:blipFill>
          <a:blip r:embed="rId2"/>
          <a:stretch>
            <a:fillRect/>
          </a:stretch>
        </p:blipFill>
        <p:spPr>
          <a:xfrm>
            <a:off x="0" y="0"/>
            <a:ext cx="9144000" cy="5143500"/>
          </a:xfrm>
          <a:prstGeom prst="rect">
            <a:avLst/>
          </a:prstGeom>
        </p:spPr>
      </p:pic>
      <p:pic>
        <p:nvPicPr>
          <p:cNvPr id="4" name="Image 2" descr="preencoded.png">    </p:cNvPr>
          <p:cNvPicPr>
            <a:picLocks noChangeAspect="1"/>
          </p:cNvPicPr>
          <p:nvPr/>
        </p:nvPicPr>
        <p:blipFill>
          <a:blip r:embed="rId3"/>
          <a:stretch>
            <a:fillRect/>
          </a:stretch>
        </p:blipFill>
        <p:spPr>
          <a:xfrm>
            <a:off x="0" y="0"/>
            <a:ext cx="9144000" cy="5143500"/>
          </a:xfrm>
          <a:prstGeom prst="rect">
            <a:avLst/>
          </a:prstGeom>
        </p:spPr>
      </p:pic>
      <p:sp>
        <p:nvSpPr>
          <p:cNvPr id="5" name="Text 0"/>
          <p:cNvSpPr/>
          <p:nvPr/>
        </p:nvSpPr>
        <p:spPr>
          <a:xfrm>
            <a:off x="514350" y="200025"/>
            <a:ext cx="2326933" cy="164592"/>
          </a:xfrm>
          <a:prstGeom prst="rect">
            <a:avLst/>
          </a:prstGeom>
          <a:noFill/>
          <a:ln/>
        </p:spPr>
        <p:txBody>
          <a:bodyPr wrap="square" lIns="0" tIns="0" rIns="0" bIns="0" rtlCol="0" anchor="t"/>
          <a:lstStyle/>
          <a:p>
            <a:pPr algn="l" indent="0" marL="0">
              <a:lnSpc>
                <a:spcPts val="928"/>
              </a:lnSpc>
              <a:buNone/>
            </a:pPr>
            <a:r>
              <a:rPr lang="en-US" sz="619" spc="111" kern="0" dirty="0">
                <a:solidFill>
                  <a:srgbClr val="8A8576"/>
                </a:solidFill>
                <a:latin typeface="Courier New" pitchFamily="34" charset="0"/>
                <a:ea typeface="Courier New" pitchFamily="34" charset="-122"/>
                <a:cs typeface="Courier New" pitchFamily="34" charset="-120"/>
              </a:rPr>
              <a:t>TERRAPULSE × GOLD FIELDS GHANA / 2026</a:t>
            </a:r>
            <a:endParaRPr lang="en-US" sz="619" dirty="0"/>
          </a:p>
        </p:txBody>
      </p:sp>
      <p:sp>
        <p:nvSpPr>
          <p:cNvPr id="6" name="Text 1"/>
          <p:cNvSpPr/>
          <p:nvPr/>
        </p:nvSpPr>
        <p:spPr>
          <a:xfrm>
            <a:off x="8299586" y="200025"/>
            <a:ext cx="474415" cy="164592"/>
          </a:xfrm>
          <a:prstGeom prst="rect">
            <a:avLst/>
          </a:prstGeom>
          <a:noFill/>
          <a:ln/>
        </p:spPr>
        <p:txBody>
          <a:bodyPr wrap="none" lIns="0" tIns="0" rIns="0" bIns="0" rtlCol="0" anchor="t"/>
          <a:lstStyle/>
          <a:p>
            <a:pPr algn="l" indent="0" marL="0">
              <a:lnSpc>
                <a:spcPts val="928"/>
              </a:lnSpc>
              <a:buNone/>
            </a:pPr>
            <a:r>
              <a:rPr lang="en-US" sz="800" spc="62" kern="0" dirty="0">
                <a:solidFill>
                  <a:srgbClr val="8A8576"/>
                </a:solidFill>
                <a:latin typeface="Liberation Sans Narrow" pitchFamily="34" charset="0"/>
                <a:ea typeface="Liberation Sans Narrow" pitchFamily="34" charset="-122"/>
                <a:cs typeface="Liberation Sans Narrow" pitchFamily="34" charset="-120"/>
              </a:rPr>
              <a:t>01 / 12</a:t>
            </a:r>
            <a:endParaRPr lang="en-US" sz="800" dirty="0"/>
          </a:p>
        </p:txBody>
      </p:sp>
      <p:sp>
        <p:nvSpPr>
          <p:cNvPr id="7" name="Shape 2"/>
          <p:cNvSpPr/>
          <p:nvPr/>
        </p:nvSpPr>
        <p:spPr>
          <a:xfrm>
            <a:off x="514350" y="4050283"/>
            <a:ext cx="8115300" cy="0"/>
          </a:xfrm>
          <a:prstGeom prst="line">
            <a:avLst/>
          </a:prstGeom>
          <a:noFill/>
          <a:ln w="7144">
            <a:solidFill>
              <a:srgbClr val="2A2F37"/>
            </a:solidFill>
            <a:prstDash val="solid"/>
          </a:ln>
        </p:spPr>
      </p:sp>
      <p:sp>
        <p:nvSpPr>
          <p:cNvPr id="8" name="Shape 3"/>
          <p:cNvSpPr/>
          <p:nvPr/>
        </p:nvSpPr>
        <p:spPr>
          <a:xfrm>
            <a:off x="1872779" y="4196730"/>
            <a:ext cx="0" cy="418133"/>
          </a:xfrm>
          <a:prstGeom prst="line">
            <a:avLst/>
          </a:prstGeom>
          <a:noFill/>
          <a:ln w="7144">
            <a:solidFill>
              <a:srgbClr val="2A2F37"/>
            </a:solidFill>
            <a:prstDash val="solid"/>
          </a:ln>
        </p:spPr>
      </p:sp>
      <p:sp>
        <p:nvSpPr>
          <p:cNvPr id="9" name="Shape 4"/>
          <p:cNvSpPr/>
          <p:nvPr/>
        </p:nvSpPr>
        <p:spPr>
          <a:xfrm>
            <a:off x="3255652" y="4196730"/>
            <a:ext cx="0" cy="418133"/>
          </a:xfrm>
          <a:prstGeom prst="line">
            <a:avLst/>
          </a:prstGeom>
          <a:noFill/>
          <a:ln w="7144">
            <a:solidFill>
              <a:srgbClr val="2A2F37"/>
            </a:solidFill>
            <a:prstDash val="solid"/>
          </a:ln>
        </p:spPr>
      </p:sp>
      <p:sp>
        <p:nvSpPr>
          <p:cNvPr id="10" name="Shape 5"/>
          <p:cNvSpPr/>
          <p:nvPr/>
        </p:nvSpPr>
        <p:spPr>
          <a:xfrm>
            <a:off x="514350" y="4736306"/>
            <a:ext cx="8115300" cy="0"/>
          </a:xfrm>
          <a:prstGeom prst="line">
            <a:avLst/>
          </a:prstGeom>
          <a:noFill/>
          <a:ln w="7144">
            <a:solidFill>
              <a:srgbClr val="2A2F37"/>
            </a:solidFill>
            <a:prstDash val="solid"/>
          </a:ln>
        </p:spPr>
      </p:sp>
      <p:sp>
        <p:nvSpPr>
          <p:cNvPr id="11" name="Text 6"/>
          <p:cNvSpPr/>
          <p:nvPr/>
        </p:nvSpPr>
        <p:spPr>
          <a:xfrm>
            <a:off x="514350" y="4825603"/>
            <a:ext cx="7316763" cy="117872"/>
          </a:xfrm>
          <a:prstGeom prst="rect">
            <a:avLst/>
          </a:prstGeom>
          <a:noFill/>
          <a:ln/>
        </p:spPr>
        <p:txBody>
          <a:bodyPr wrap="square" lIns="0" tIns="0" rIns="0" bIns="0" rtlCol="0" anchor="t"/>
          <a:lstStyle/>
          <a:p>
            <a:pPr algn="l" indent="0" marL="0">
              <a:lnSpc>
                <a:spcPts val="928"/>
              </a:lnSpc>
              <a:buNone/>
            </a:pPr>
            <a:r>
              <a:rPr lang="en-US" sz="800" spc="87" kern="0" dirty="0">
                <a:solidFill>
                  <a:srgbClr val="8A8576"/>
                </a:solidFill>
                <a:latin typeface="Courier New" pitchFamily="34" charset="0"/>
                <a:ea typeface="Courier New" pitchFamily="34" charset="-122"/>
                <a:cs typeface="Courier New" pitchFamily="34" charset="-120"/>
              </a:rPr>
              <a:t>BIRIMIAN-GROUND TRUTH — ASHANTI / SEFWI BELTS</a:t>
            </a:r>
            <a:endParaRPr lang="en-US" sz="800" dirty="0"/>
          </a:p>
        </p:txBody>
      </p:sp>
      <p:sp>
        <p:nvSpPr>
          <p:cNvPr id="12" name="Text 7"/>
          <p:cNvSpPr/>
          <p:nvPr/>
        </p:nvSpPr>
        <p:spPr>
          <a:xfrm>
            <a:off x="7845400" y="4825603"/>
            <a:ext cx="784250" cy="117872"/>
          </a:xfrm>
          <a:prstGeom prst="rect">
            <a:avLst/>
          </a:prstGeom>
          <a:noFill/>
          <a:ln/>
        </p:spPr>
        <p:txBody>
          <a:bodyPr wrap="none" lIns="0" tIns="0" rIns="0" bIns="0" rtlCol="0" anchor="t"/>
          <a:lstStyle/>
          <a:p>
            <a:pPr algn="l" indent="0" marL="0">
              <a:lnSpc>
                <a:spcPts val="928"/>
              </a:lnSpc>
              <a:buNone/>
            </a:pPr>
            <a:r>
              <a:rPr lang="en-US" sz="619" spc="87" kern="0" dirty="0">
                <a:solidFill>
                  <a:srgbClr val="8A8576"/>
                </a:solidFill>
                <a:latin typeface="Liberation Sans Narrow" pitchFamily="34" charset="0"/>
                <a:ea typeface="Liberation Sans Narrow" pitchFamily="34" charset="-122"/>
                <a:cs typeface="Liberation Sans Narrow" pitchFamily="34" charset="-120"/>
              </a:rPr>
              <a:t>AUG 2026 · ACCRA</a:t>
            </a:r>
            <a:endParaRPr lang="en-US" sz="619" dirty="0"/>
          </a:p>
        </p:txBody>
      </p:sp>
      <p:sp>
        <p:nvSpPr>
          <p:cNvPr id="13" name="Text 8"/>
          <p:cNvSpPr/>
          <p:nvPr/>
        </p:nvSpPr>
        <p:spPr>
          <a:xfrm>
            <a:off x="514350" y="1282750"/>
            <a:ext cx="4022378" cy="164592"/>
          </a:xfrm>
          <a:prstGeom prst="rect">
            <a:avLst/>
          </a:prstGeom>
          <a:noFill/>
          <a:ln/>
        </p:spPr>
        <p:txBody>
          <a:bodyPr wrap="square" lIns="0" tIns="0" rIns="0" bIns="0" rtlCol="0" anchor="t"/>
          <a:lstStyle/>
          <a:p>
            <a:pPr algn="l" indent="0" marL="0">
              <a:lnSpc>
                <a:spcPts val="1013"/>
              </a:lnSpc>
              <a:buNone/>
            </a:pPr>
            <a:r>
              <a:rPr lang="en-US" sz="800" spc="189" kern="0" dirty="0">
                <a:solidFill>
                  <a:srgbClr val="D4A24A"/>
                </a:solidFill>
                <a:latin typeface="Courier New" pitchFamily="34" charset="0"/>
                <a:ea typeface="Courier New" pitchFamily="34" charset="-122"/>
                <a:cs typeface="Courier New" pitchFamily="34" charset="-120"/>
              </a:rPr>
              <a:t>A TECHNICAL BRIEFING FOR SENIOR GEOLOGISTS</a:t>
            </a:r>
            <a:endParaRPr lang="en-US" sz="800" dirty="0"/>
          </a:p>
        </p:txBody>
      </p:sp>
      <p:sp>
        <p:nvSpPr>
          <p:cNvPr id="14" name="Text 9"/>
          <p:cNvSpPr/>
          <p:nvPr/>
        </p:nvSpPr>
        <p:spPr>
          <a:xfrm>
            <a:off x="514350" y="1568500"/>
            <a:ext cx="6715125" cy="1588377"/>
          </a:xfrm>
          <a:prstGeom prst="rect">
            <a:avLst/>
          </a:prstGeom>
          <a:noFill/>
          <a:ln/>
        </p:spPr>
        <p:txBody>
          <a:bodyPr wrap="square" lIns="0" tIns="0" rIns="0" bIns="0" rtlCol="0" anchor="t"/>
          <a:lstStyle/>
          <a:p>
            <a:pPr algn="l" indent="0" marL="0">
              <a:lnSpc>
                <a:spcPts val="3861"/>
              </a:lnSpc>
              <a:buNone/>
            </a:pPr>
            <a:r>
              <a:rPr lang="en-US" sz="3713" spc="-67" kern="0" dirty="0">
                <a:solidFill>
                  <a:srgbClr val="F5F1E8"/>
                </a:solidFill>
                <a:latin typeface="Tinos" pitchFamily="34" charset="0"/>
                <a:ea typeface="Tinos" pitchFamily="34" charset="-122"/>
                <a:cs typeface="Tinos" pitchFamily="34" charset="-120"/>
              </a:rPr>
              <a:t>Every layer of evidence, one ranked list of targets, and the </a:t>
            </a:r>
            <a:pPr algn="l" indent="0" marL="0">
              <a:lnSpc>
                <a:spcPts val="3861"/>
              </a:lnSpc>
              <a:buNone/>
            </a:pPr>
            <a:r>
              <a:rPr lang="en-US" sz="3713" i="1" spc="-67" kern="0" dirty="0">
                <a:solidFill>
                  <a:srgbClr val="D4A24A"/>
                </a:solidFill>
                <a:latin typeface="Tinos" pitchFamily="34" charset="0"/>
                <a:ea typeface="Tinos" pitchFamily="34" charset="-122"/>
                <a:cs typeface="Tinos" pitchFamily="34" charset="-120"/>
              </a:rPr>
              <a:t>paper trail to defend it.</a:t>
            </a:r>
            <a:endParaRPr lang="en-US" sz="3713" dirty="0"/>
          </a:p>
        </p:txBody>
      </p:sp>
      <p:sp>
        <p:nvSpPr>
          <p:cNvPr id="15" name="Text 10"/>
          <p:cNvSpPr/>
          <p:nvPr/>
        </p:nvSpPr>
        <p:spPr>
          <a:xfrm>
            <a:off x="514350" y="3210669"/>
            <a:ext cx="4572000" cy="609746"/>
          </a:xfrm>
          <a:prstGeom prst="rect">
            <a:avLst/>
          </a:prstGeom>
          <a:noFill/>
          <a:ln/>
        </p:spPr>
        <p:txBody>
          <a:bodyPr wrap="square" lIns="0" tIns="0" rIns="0" bIns="0" rtlCol="0" anchor="t"/>
          <a:lstStyle/>
          <a:p>
            <a:pPr algn="l" indent="0" marL="0">
              <a:lnSpc>
                <a:spcPts val="1482"/>
              </a:lnSpc>
              <a:buNone/>
            </a:pPr>
            <a:r>
              <a:rPr lang="en-US" sz="956" dirty="0">
                <a:solidFill>
                  <a:srgbClr val="C9C3B5"/>
                </a:solidFill>
                <a:latin typeface="Carlito" pitchFamily="34" charset="0"/>
                <a:ea typeface="Carlito" pitchFamily="34" charset="-122"/>
                <a:cs typeface="Carlito" pitchFamily="34" charset="-120"/>
              </a:rPr>
              <a:t>TerraPulse takes an exploration project's data — yours and the world's public record — and returns ranked drill targets, each carrying the evidence that produced it and the full lineage needed to stand behind it.</a:t>
            </a:r>
            <a:endParaRPr lang="en-US" sz="956" dirty="0"/>
          </a:p>
        </p:txBody>
      </p:sp>
      <p:sp>
        <p:nvSpPr>
          <p:cNvPr id="16" name="Text 11"/>
          <p:cNvSpPr/>
          <p:nvPr/>
        </p:nvSpPr>
        <p:spPr>
          <a:xfrm>
            <a:off x="488111" y="4196730"/>
            <a:ext cx="388591" cy="231458"/>
          </a:xfrm>
          <a:prstGeom prst="rect">
            <a:avLst/>
          </a:prstGeom>
          <a:noFill/>
          <a:ln/>
        </p:spPr>
        <p:txBody>
          <a:bodyPr wrap="none" lIns="0" tIns="0" rIns="0" bIns="0" rtlCol="0" anchor="t"/>
          <a:lstStyle/>
          <a:p>
            <a:pPr algn="l" indent="0" marL="0">
              <a:lnSpc>
                <a:spcPts val="1688"/>
              </a:lnSpc>
              <a:buNone/>
            </a:pPr>
            <a:r>
              <a:rPr lang="en-US" sz="1688" spc="-17" kern="0" dirty="0">
                <a:solidFill>
                  <a:srgbClr val="D4A24A"/>
                </a:solidFill>
                <a:latin typeface="Liberation Sans Narrow" pitchFamily="34" charset="0"/>
                <a:ea typeface="Liberation Sans Narrow" pitchFamily="34" charset="-122"/>
                <a:cs typeface="Liberation Sans Narrow" pitchFamily="34" charset="-120"/>
              </a:rPr>
              <a:t>32</a:t>
            </a:r>
            <a:endParaRPr lang="en-US" sz="1688" dirty="0"/>
          </a:p>
        </p:txBody>
      </p:sp>
      <p:sp>
        <p:nvSpPr>
          <p:cNvPr id="17" name="Text 12"/>
          <p:cNvSpPr/>
          <p:nvPr/>
        </p:nvSpPr>
        <p:spPr>
          <a:xfrm>
            <a:off x="824433" y="4296742"/>
            <a:ext cx="859036" cy="296141"/>
          </a:xfrm>
          <a:prstGeom prst="rect">
            <a:avLst/>
          </a:prstGeom>
          <a:noFill/>
          <a:ln/>
        </p:spPr>
        <p:txBody>
          <a:bodyPr wrap="square" lIns="0" tIns="0" rIns="0" bIns="0" rtlCol="0" anchor="t"/>
          <a:lstStyle/>
          <a:p>
            <a:pPr algn="l" indent="0" marL="0">
              <a:lnSpc>
                <a:spcPts val="835"/>
              </a:lnSpc>
              <a:buNone/>
            </a:pPr>
            <a:r>
              <a:rPr lang="en-US" sz="800" spc="99" kern="0" dirty="0">
                <a:solidFill>
                  <a:srgbClr val="8A8576"/>
                </a:solidFill>
                <a:latin typeface="Carlito" pitchFamily="34" charset="0"/>
                <a:ea typeface="Carlito" pitchFamily="34" charset="-122"/>
                <a:cs typeface="Carlito" pitchFamily="34" charset="-120"/>
              </a:rPr>
              <a:t>FEATURES ACROSS</a:t>
            </a:r>
            <a:endParaRPr lang="en-US" sz="800" dirty="0"/>
          </a:p>
          <a:p>
            <a:pPr algn="l" indent="0" marL="0">
              <a:lnSpc>
                <a:spcPts val="835"/>
              </a:lnSpc>
              <a:buNone/>
            </a:pPr>
            <a:r>
              <a:rPr lang="en-US" sz="800" spc="99" kern="0" dirty="0">
                <a:solidFill>
                  <a:srgbClr val="8A8576"/>
                </a:solidFill>
                <a:latin typeface="Liberation Sans Narrow" pitchFamily="34" charset="0"/>
                <a:ea typeface="Liberation Sans Narrow" pitchFamily="34" charset="-122"/>
                <a:cs typeface="Liberation Sans Narrow" pitchFamily="34" charset="-120"/>
              </a:rPr>
              <a:t>7 GROUPS</a:t>
            </a:r>
            <a:endParaRPr lang="en-US" sz="800" dirty="0"/>
          </a:p>
        </p:txBody>
      </p:sp>
      <p:sp>
        <p:nvSpPr>
          <p:cNvPr id="18" name="Text 13"/>
          <p:cNvSpPr/>
          <p:nvPr/>
        </p:nvSpPr>
        <p:spPr>
          <a:xfrm>
            <a:off x="2035849" y="4196730"/>
            <a:ext cx="388591" cy="231458"/>
          </a:xfrm>
          <a:prstGeom prst="rect">
            <a:avLst/>
          </a:prstGeom>
          <a:noFill/>
          <a:ln/>
        </p:spPr>
        <p:txBody>
          <a:bodyPr wrap="none" lIns="0" tIns="0" rIns="0" bIns="0" rtlCol="0" anchor="t"/>
          <a:lstStyle/>
          <a:p>
            <a:pPr algn="l" indent="0" marL="0">
              <a:lnSpc>
                <a:spcPts val="1688"/>
              </a:lnSpc>
              <a:buNone/>
            </a:pPr>
            <a:r>
              <a:rPr lang="en-US" sz="1688" spc="-17" kern="0" dirty="0">
                <a:solidFill>
                  <a:srgbClr val="D4A24A"/>
                </a:solidFill>
                <a:latin typeface="Liberation Sans Narrow" pitchFamily="34" charset="0"/>
                <a:ea typeface="Liberation Sans Narrow" pitchFamily="34" charset="-122"/>
                <a:cs typeface="Liberation Sans Narrow" pitchFamily="34" charset="-120"/>
              </a:rPr>
              <a:t>12</a:t>
            </a:r>
            <a:endParaRPr lang="en-US" sz="1688" dirty="0"/>
          </a:p>
        </p:txBody>
      </p:sp>
      <p:sp>
        <p:nvSpPr>
          <p:cNvPr id="19" name="Text 14"/>
          <p:cNvSpPr/>
          <p:nvPr/>
        </p:nvSpPr>
        <p:spPr>
          <a:xfrm>
            <a:off x="2372171" y="4296742"/>
            <a:ext cx="694172" cy="296141"/>
          </a:xfrm>
          <a:prstGeom prst="rect">
            <a:avLst/>
          </a:prstGeom>
          <a:noFill/>
          <a:ln/>
        </p:spPr>
        <p:txBody>
          <a:bodyPr wrap="square" lIns="0" tIns="0" rIns="0" bIns="0" rtlCol="0" anchor="t"/>
          <a:lstStyle/>
          <a:p>
            <a:pPr algn="l" indent="0" marL="0">
              <a:lnSpc>
                <a:spcPts val="835"/>
              </a:lnSpc>
              <a:buNone/>
            </a:pPr>
            <a:r>
              <a:rPr lang="en-US" sz="800" spc="99" kern="0" dirty="0">
                <a:solidFill>
                  <a:srgbClr val="8A8576"/>
                </a:solidFill>
                <a:latin typeface="Carlito" pitchFamily="34" charset="0"/>
                <a:ea typeface="Carlito" pitchFamily="34" charset="-122"/>
                <a:cs typeface="Carlito" pitchFamily="34" charset="-120"/>
              </a:rPr>
              <a:t>INTEGRATED</a:t>
            </a:r>
            <a:endParaRPr lang="en-US" sz="800" dirty="0"/>
          </a:p>
          <a:p>
            <a:pPr algn="l" indent="0" marL="0">
              <a:lnSpc>
                <a:spcPts val="835"/>
              </a:lnSpc>
              <a:buNone/>
            </a:pPr>
            <a:r>
              <a:rPr lang="en-US" sz="800" spc="99" kern="0" dirty="0">
                <a:solidFill>
                  <a:srgbClr val="8A8576"/>
                </a:solidFill>
                <a:latin typeface="Carlito" pitchFamily="34" charset="0"/>
                <a:ea typeface="Carlito" pitchFamily="34" charset="-122"/>
                <a:cs typeface="Carlito" pitchFamily="34" charset="-120"/>
              </a:rPr>
              <a:t>DATA SOURCES</a:t>
            </a:r>
            <a:endParaRPr lang="en-US" sz="800" dirty="0"/>
          </a:p>
        </p:txBody>
      </p:sp>
      <p:sp>
        <p:nvSpPr>
          <p:cNvPr id="20" name="Text 15"/>
          <p:cNvSpPr/>
          <p:nvPr/>
        </p:nvSpPr>
        <p:spPr>
          <a:xfrm>
            <a:off x="3413090" y="4196730"/>
            <a:ext cx="231800" cy="231458"/>
          </a:xfrm>
          <a:prstGeom prst="rect">
            <a:avLst/>
          </a:prstGeom>
          <a:noFill/>
          <a:ln/>
        </p:spPr>
        <p:txBody>
          <a:bodyPr wrap="none" lIns="0" tIns="0" rIns="0" bIns="0" rtlCol="0" anchor="t"/>
          <a:lstStyle/>
          <a:p>
            <a:pPr algn="l" indent="0" marL="0">
              <a:lnSpc>
                <a:spcPts val="1688"/>
              </a:lnSpc>
              <a:buNone/>
            </a:pPr>
            <a:r>
              <a:rPr lang="en-US" sz="1688" spc="-17" kern="0" dirty="0">
                <a:solidFill>
                  <a:srgbClr val="D4A24A"/>
                </a:solidFill>
                <a:latin typeface="Liberation Sans Narrow" pitchFamily="34" charset="0"/>
                <a:ea typeface="Liberation Sans Narrow" pitchFamily="34" charset="-122"/>
                <a:cs typeface="Liberation Sans Narrow" pitchFamily="34" charset="-120"/>
              </a:rPr>
              <a:t>5</a:t>
            </a:r>
            <a:endParaRPr lang="en-US" sz="1688" dirty="0"/>
          </a:p>
        </p:txBody>
      </p:sp>
      <p:sp>
        <p:nvSpPr>
          <p:cNvPr id="21" name="Text 16"/>
          <p:cNvSpPr/>
          <p:nvPr/>
        </p:nvSpPr>
        <p:spPr>
          <a:xfrm>
            <a:off x="3650010" y="4296742"/>
            <a:ext cx="1200150" cy="318120"/>
          </a:xfrm>
          <a:prstGeom prst="rect">
            <a:avLst/>
          </a:prstGeom>
          <a:noFill/>
          <a:ln/>
        </p:spPr>
        <p:txBody>
          <a:bodyPr wrap="square" lIns="0" tIns="0" rIns="0" bIns="0" rtlCol="0" anchor="t"/>
          <a:lstStyle/>
          <a:p>
            <a:pPr algn="l" indent="0" marL="0">
              <a:lnSpc>
                <a:spcPts val="835"/>
              </a:lnSpc>
              <a:buNone/>
            </a:pPr>
            <a:r>
              <a:rPr lang="en-US" sz="800" spc="99" kern="0" dirty="0">
                <a:solidFill>
                  <a:srgbClr val="8A8576"/>
                </a:solidFill>
                <a:latin typeface="Carlito" pitchFamily="34" charset="0"/>
                <a:ea typeface="Carlito" pitchFamily="34" charset="-122"/>
                <a:cs typeface="Carlito" pitchFamily="34" charset="-120"/>
              </a:rPr>
              <a:t>STAGE PIPELINE, PROVENANCE</a:t>
            </a:r>
            <a:endParaRPr lang="en-US" sz="800" dirty="0"/>
          </a:p>
          <a:p>
            <a:pPr algn="l" indent="0" marL="0">
              <a:lnSpc>
                <a:spcPts val="835"/>
              </a:lnSpc>
              <a:buNone/>
            </a:pPr>
            <a:r>
              <a:rPr lang="en-US" sz="800" spc="99" kern="0" dirty="0">
                <a:solidFill>
                  <a:srgbClr val="8A8576"/>
                </a:solidFill>
                <a:latin typeface="Carlito" pitchFamily="34" charset="0"/>
                <a:ea typeface="Carlito" pitchFamily="34" charset="-122"/>
                <a:cs typeface="Carlito" pitchFamily="34" charset="-120"/>
              </a:rPr>
              <a:t>WRITTEN AT EVERY STAGE</a:t>
            </a:r>
            <a:endParaRPr lang="en-US" sz="800" dirty="0"/>
          </a:p>
        </p:txBody>
      </p:sp>
      <p:sp>
        <p:nvSpPr>
          <p:cNvPr id="22" name="Text 17"/>
          <p:cNvSpPr/>
          <p:nvPr/>
        </p:nvSpPr>
        <p:spPr>
          <a:xfrm>
            <a:off x="8229600" y="942975"/>
            <a:ext cx="400050" cy="7144"/>
          </a:xfrm>
          <a:prstGeom prst="rect">
            <a:avLst/>
          </a:prstGeom>
          <a:solidFill>
            <a:srgbClr val="D4A24A"/>
          </a:solidFill>
          <a:ln/>
        </p:spPr>
        <p:txBody>
          <a:bodyPr wrap="square" rtlCol="0" anchor="ctr"/>
          <a:lstStyle/>
          <a:p>
            <a:pPr indent="0" marL="0">
              <a:buNone/>
            </a:pPr>
            <a:endParaRPr lang="en-US" dirty="0"/>
          </a:p>
        </p:txBody>
      </p:sp>
      <p:sp>
        <p:nvSpPr>
          <p:cNvPr id="23" name="Text 18"/>
          <p:cNvSpPr/>
          <p:nvPr/>
        </p:nvSpPr>
        <p:spPr>
          <a:xfrm>
            <a:off x="7703753" y="657225"/>
            <a:ext cx="925897" cy="449885"/>
          </a:xfrm>
          <a:prstGeom prst="rect">
            <a:avLst/>
          </a:prstGeom>
          <a:noFill/>
          <a:ln/>
        </p:spPr>
        <p:txBody>
          <a:bodyPr wrap="square" lIns="0" tIns="0" rIns="0" bIns="0" rtlCol="0" anchor="t"/>
          <a:lstStyle/>
          <a:p>
            <a:pPr algn="r" indent="0" marL="0">
              <a:lnSpc>
                <a:spcPts val="900"/>
              </a:lnSpc>
              <a:buNone/>
            </a:pPr>
            <a:r>
              <a:rPr lang="en-US" sz="800" spc="124" kern="0" dirty="0">
                <a:solidFill>
                  <a:srgbClr val="8A8576"/>
                </a:solidFill>
                <a:latin typeface="Liberation Sans Narrow" pitchFamily="34" charset="0"/>
                <a:ea typeface="Liberation Sans Narrow" pitchFamily="34" charset="-122"/>
                <a:cs typeface="Liberation Sans Narrow" pitchFamily="34" charset="-120"/>
              </a:rPr>
              <a:t>VOL. 01 / 2026</a:t>
            </a:r>
            <a:endParaRPr lang="en-US" sz="800" dirty="0"/>
          </a:p>
          <a:p>
            <a:pPr algn="r" indent="0" marL="0">
              <a:lnSpc>
                <a:spcPts val="900"/>
              </a:lnSpc>
              <a:buNone/>
            </a:pPr>
            <a:r>
              <a:rPr lang="en-US" sz="800" spc="124" kern="0" dirty="0">
                <a:solidFill>
                  <a:srgbClr val="8A8576"/>
                </a:solidFill>
                <a:latin typeface="Courier New" pitchFamily="34" charset="0"/>
                <a:ea typeface="Courier New" pitchFamily="34" charset="-122"/>
                <a:cs typeface="Courier New" pitchFamily="34" charset="-120"/>
              </a:rPr>
              <a:t>TECHNICAL BRIEFING</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1115"/>
        </a:solidFill>
      </p:bgPr>
    </p:bg>
    <p:spTree>
      <p:nvGrpSpPr>
        <p:cNvPr id="1" name=""/>
        <p:cNvGrpSpPr/>
        <p:nvPr/>
      </p:nvGrpSpPr>
      <p:grpSpPr>
        <a:xfrm>
          <a:off x="0" y="0"/>
          <a:ext cx="0" cy="0"/>
          <a:chOff x="0" y="0"/>
          <a:chExt cx="0" cy="0"/>
        </a:xfrm>
      </p:grpSpPr>
      <p:sp>
        <p:nvSpPr>
          <p:cNvPr id="2" name="Text 0"/>
          <p:cNvSpPr/>
          <p:nvPr/>
        </p:nvSpPr>
        <p:spPr>
          <a:xfrm>
            <a:off x="514350" y="200025"/>
            <a:ext cx="2326933" cy="164592"/>
          </a:xfrm>
          <a:prstGeom prst="rect">
            <a:avLst/>
          </a:prstGeom>
          <a:noFill/>
          <a:ln/>
        </p:spPr>
        <p:txBody>
          <a:bodyPr wrap="square" lIns="0" tIns="0" rIns="0" bIns="0" rtlCol="0" anchor="t"/>
          <a:lstStyle/>
          <a:p>
            <a:pPr algn="l" indent="0" marL="0">
              <a:lnSpc>
                <a:spcPts val="928"/>
              </a:lnSpc>
              <a:buNone/>
            </a:pPr>
            <a:r>
              <a:rPr lang="en-US" sz="619" spc="111" kern="0" dirty="0">
                <a:solidFill>
                  <a:srgbClr val="8A8576"/>
                </a:solidFill>
                <a:latin typeface="Courier New" pitchFamily="34" charset="0"/>
                <a:ea typeface="Courier New" pitchFamily="34" charset="-122"/>
                <a:cs typeface="Courier New" pitchFamily="34" charset="-120"/>
              </a:rPr>
              <a:t>TERRAPULSE × GOLD FIELDS GHANA / 2026</a:t>
            </a:r>
            <a:endParaRPr lang="en-US" sz="619" dirty="0"/>
          </a:p>
        </p:txBody>
      </p:sp>
      <p:sp>
        <p:nvSpPr>
          <p:cNvPr id="3" name="Text 1"/>
          <p:cNvSpPr/>
          <p:nvPr/>
        </p:nvSpPr>
        <p:spPr>
          <a:xfrm>
            <a:off x="8299586" y="200025"/>
            <a:ext cx="474415" cy="164592"/>
          </a:xfrm>
          <a:prstGeom prst="rect">
            <a:avLst/>
          </a:prstGeom>
          <a:noFill/>
          <a:ln/>
        </p:spPr>
        <p:txBody>
          <a:bodyPr wrap="none" lIns="0" tIns="0" rIns="0" bIns="0" rtlCol="0" anchor="t"/>
          <a:lstStyle/>
          <a:p>
            <a:pPr algn="l" indent="0" marL="0">
              <a:lnSpc>
                <a:spcPts val="928"/>
              </a:lnSpc>
              <a:buNone/>
            </a:pPr>
            <a:r>
              <a:rPr lang="en-US" sz="800" spc="62" kern="0" dirty="0">
                <a:solidFill>
                  <a:srgbClr val="8A8576"/>
                </a:solidFill>
                <a:latin typeface="Liberation Sans Narrow" pitchFamily="34" charset="0"/>
                <a:ea typeface="Liberation Sans Narrow" pitchFamily="34" charset="-122"/>
                <a:cs typeface="Liberation Sans Narrow" pitchFamily="34" charset="-120"/>
              </a:rPr>
              <a:t>02 / 12</a:t>
            </a:r>
            <a:endParaRPr lang="en-US" sz="800" dirty="0"/>
          </a:p>
        </p:txBody>
      </p:sp>
      <p:sp>
        <p:nvSpPr>
          <p:cNvPr id="4" name="Text 2"/>
          <p:cNvSpPr/>
          <p:nvPr/>
        </p:nvSpPr>
        <p:spPr>
          <a:xfrm>
            <a:off x="517922" y="1765846"/>
            <a:ext cx="2593181" cy="2278856"/>
          </a:xfrm>
          <a:prstGeom prst="roundRect">
            <a:avLst>
              <a:gd name="adj" fmla="val 1672"/>
            </a:avLst>
          </a:prstGeom>
          <a:solidFill>
            <a:srgbClr val="1C2128"/>
          </a:solidFill>
          <a:ln w="7144">
            <a:solidFill>
              <a:srgbClr val="2A2F37"/>
            </a:solidFill>
            <a:prstDash val="solid"/>
          </a:ln>
        </p:spPr>
        <p:txBody>
          <a:bodyPr wrap="square" rtlCol="0" anchor="ctr"/>
          <a:lstStyle/>
          <a:p>
            <a:pPr indent="0" marL="0">
              <a:buNone/>
            </a:pPr>
            <a:endParaRPr lang="en-US" dirty="0"/>
          </a:p>
        </p:txBody>
      </p:sp>
      <p:sp>
        <p:nvSpPr>
          <p:cNvPr id="5" name="Text 3"/>
          <p:cNvSpPr/>
          <p:nvPr/>
        </p:nvSpPr>
        <p:spPr>
          <a:xfrm>
            <a:off x="2784521" y="1898005"/>
            <a:ext cx="181343" cy="164592"/>
          </a:xfrm>
          <a:prstGeom prst="rect">
            <a:avLst/>
          </a:prstGeom>
          <a:noFill/>
          <a:ln/>
        </p:spPr>
        <p:txBody>
          <a:bodyPr wrap="none" lIns="0" tIns="0" rIns="0" bIns="0" rtlCol="0" anchor="t"/>
          <a:lstStyle/>
          <a:p>
            <a:pPr algn="l" indent="0" marL="0">
              <a:lnSpc>
                <a:spcPts val="1181"/>
              </a:lnSpc>
              <a:buNone/>
            </a:pPr>
            <a:r>
              <a:rPr lang="en-US" sz="788" spc="142" kern="0" dirty="0">
                <a:solidFill>
                  <a:srgbClr val="8A8576"/>
                </a:solidFill>
                <a:latin typeface="Liberation Sans Narrow" pitchFamily="34" charset="0"/>
                <a:ea typeface="Liberation Sans Narrow" pitchFamily="34" charset="-122"/>
                <a:cs typeface="Liberation Sans Narrow" pitchFamily="34" charset="-120"/>
              </a:rPr>
              <a:t>01</a:t>
            </a:r>
            <a:endParaRPr lang="en-US" sz="788" dirty="0"/>
          </a:p>
        </p:txBody>
      </p:sp>
      <p:sp>
        <p:nvSpPr>
          <p:cNvPr id="6" name="Text 4"/>
          <p:cNvSpPr/>
          <p:nvPr/>
        </p:nvSpPr>
        <p:spPr>
          <a:xfrm>
            <a:off x="670084" y="1929509"/>
            <a:ext cx="768690" cy="212027"/>
          </a:xfrm>
          <a:prstGeom prst="rect">
            <a:avLst/>
          </a:prstGeom>
          <a:solidFill>
            <a:srgbClr val="B23A1F">
              <a:alpha val="10000"/>
            </a:srgbClr>
          </a:solidFill>
          <a:ln/>
        </p:spPr>
        <p:txBody>
          <a:bodyPr wrap="square" rtlCol="0" anchor="ctr"/>
          <a:lstStyle/>
          <a:p>
            <a:pPr indent="0" marL="0">
              <a:buNone/>
            </a:pPr>
            <a:endParaRPr lang="en-US" dirty="0"/>
          </a:p>
        </p:txBody>
      </p:sp>
      <p:sp>
        <p:nvSpPr>
          <p:cNvPr id="7" name="Shape 5"/>
          <p:cNvSpPr/>
          <p:nvPr/>
        </p:nvSpPr>
        <p:spPr>
          <a:xfrm>
            <a:off x="700088" y="1940868"/>
            <a:ext cx="0" cy="189309"/>
          </a:xfrm>
          <a:prstGeom prst="line">
            <a:avLst/>
          </a:prstGeom>
          <a:noFill/>
          <a:ln w="14288">
            <a:solidFill>
              <a:srgbClr val="B23A1F"/>
            </a:solidFill>
            <a:prstDash val="solid"/>
          </a:ln>
        </p:spPr>
      </p:sp>
      <p:sp>
        <p:nvSpPr>
          <p:cNvPr id="8" name="Text 6"/>
          <p:cNvSpPr/>
          <p:nvPr/>
        </p:nvSpPr>
        <p:spPr>
          <a:xfrm>
            <a:off x="685377" y="1940868"/>
            <a:ext cx="738104" cy="264345"/>
          </a:xfrm>
          <a:prstGeom prst="rect">
            <a:avLst/>
          </a:prstGeom>
          <a:noFill/>
          <a:ln/>
        </p:spPr>
        <p:txBody>
          <a:bodyPr wrap="none" lIns="71438" tIns="35719" rIns="71438" bIns="35719" rtlCol="0" anchor="t"/>
          <a:lstStyle/>
          <a:p>
            <a:pPr algn="l" indent="0" marL="0">
              <a:lnSpc>
                <a:spcPts val="928"/>
              </a:lnSpc>
              <a:buNone/>
            </a:pPr>
            <a:r>
              <a:rPr lang="en-US" sz="800" spc="136" kern="0" dirty="0">
                <a:solidFill>
                  <a:srgbClr val="B23A1F"/>
                </a:solidFill>
                <a:latin typeface="Liberation Sans Narrow" pitchFamily="34" charset="0"/>
                <a:ea typeface="Liberation Sans Narrow" pitchFamily="34" charset="-122"/>
                <a:cs typeface="Liberation Sans Narrow" pitchFamily="34" charset="-120"/>
              </a:rPr>
              <a:t>PROBLEM 01</a:t>
            </a:r>
            <a:endParaRPr lang="en-US" sz="800" dirty="0"/>
          </a:p>
        </p:txBody>
      </p:sp>
      <p:sp>
        <p:nvSpPr>
          <p:cNvPr id="9" name="Text 7"/>
          <p:cNvSpPr/>
          <p:nvPr/>
        </p:nvSpPr>
        <p:spPr>
          <a:xfrm>
            <a:off x="692944" y="2258764"/>
            <a:ext cx="2243138" cy="203610"/>
          </a:xfrm>
          <a:prstGeom prst="rect">
            <a:avLst/>
          </a:prstGeom>
          <a:noFill/>
          <a:ln/>
        </p:spPr>
        <p:txBody>
          <a:bodyPr wrap="none" lIns="0" tIns="0" rIns="0" bIns="0" rtlCol="0" anchor="t"/>
          <a:lstStyle/>
          <a:p>
            <a:pPr algn="l" indent="0" marL="0">
              <a:lnSpc>
                <a:spcPts val="1485"/>
              </a:lnSpc>
              <a:buNone/>
            </a:pPr>
            <a:r>
              <a:rPr lang="en-US" sz="1238" spc="-6" kern="0" dirty="0">
                <a:solidFill>
                  <a:srgbClr val="F5F1E8"/>
                </a:solidFill>
                <a:latin typeface="Tinos" pitchFamily="34" charset="0"/>
                <a:ea typeface="Tinos" pitchFamily="34" charset="-122"/>
                <a:cs typeface="Tinos" pitchFamily="34" charset="-120"/>
              </a:rPr>
              <a:t>The data doesn't meet.</a:t>
            </a:r>
            <a:endParaRPr lang="en-US" sz="1238" dirty="0"/>
          </a:p>
        </p:txBody>
      </p:sp>
      <p:sp>
        <p:nvSpPr>
          <p:cNvPr id="10" name="Text 8"/>
          <p:cNvSpPr/>
          <p:nvPr/>
        </p:nvSpPr>
        <p:spPr>
          <a:xfrm>
            <a:off x="692944" y="2547305"/>
            <a:ext cx="2243138" cy="905939"/>
          </a:xfrm>
          <a:prstGeom prst="rect">
            <a:avLst/>
          </a:prstGeom>
          <a:noFill/>
          <a:ln/>
        </p:spPr>
        <p:txBody>
          <a:bodyPr wrap="square" lIns="0" tIns="0" rIns="0" bIns="0" rtlCol="0" anchor="t"/>
          <a:lstStyle/>
          <a:p>
            <a:pPr algn="l" indent="0" marL="0">
              <a:lnSpc>
                <a:spcPts val="1321"/>
              </a:lnSpc>
              <a:buNone/>
            </a:pPr>
            <a:r>
              <a:rPr lang="en-US" sz="816" dirty="0">
                <a:solidFill>
                  <a:srgbClr val="C9C3B5"/>
                </a:solidFill>
                <a:latin typeface="Carlito" pitchFamily="34" charset="0"/>
                <a:ea typeface="Carlito" pitchFamily="34" charset="-122"/>
                <a:cs typeface="Carlito" pitchFamily="34" charset="-120"/>
              </a:rPr>
              <a:t>Magnetics in one format, soil geochem in another, assay certificates as PDFs, imagery and geology somewhere else entirely. Getting them onto one grid is senior GIS work measured in weeks — not the analysis, just the assembly.</a:t>
            </a:r>
            <a:endParaRPr lang="en-US" sz="816" dirty="0"/>
          </a:p>
        </p:txBody>
      </p:sp>
      <p:sp>
        <p:nvSpPr>
          <p:cNvPr id="11" name="Shape 9"/>
          <p:cNvSpPr/>
          <p:nvPr/>
        </p:nvSpPr>
        <p:spPr>
          <a:xfrm>
            <a:off x="692944" y="3616077"/>
            <a:ext cx="2243138" cy="0"/>
          </a:xfrm>
          <a:prstGeom prst="line">
            <a:avLst/>
          </a:prstGeom>
          <a:noFill/>
          <a:ln w="7144">
            <a:solidFill>
              <a:srgbClr val="2A2F37"/>
            </a:solidFill>
            <a:prstDash val="solid"/>
          </a:ln>
        </p:spPr>
      </p:sp>
      <p:sp>
        <p:nvSpPr>
          <p:cNvPr id="12" name="Text 10"/>
          <p:cNvSpPr/>
          <p:nvPr/>
        </p:nvSpPr>
        <p:spPr>
          <a:xfrm>
            <a:off x="692944" y="3780383"/>
            <a:ext cx="42863" cy="42863"/>
          </a:xfrm>
          <a:prstGeom prst="roundRect">
            <a:avLst>
              <a:gd name="adj" fmla="val 66666"/>
            </a:avLst>
          </a:prstGeom>
          <a:solidFill>
            <a:srgbClr val="B23A1F"/>
          </a:solidFill>
          <a:ln/>
        </p:spPr>
        <p:txBody>
          <a:bodyPr wrap="square" rtlCol="0" anchor="ctr"/>
          <a:lstStyle/>
          <a:p>
            <a:pPr indent="0" marL="0">
              <a:buNone/>
            </a:pPr>
            <a:endParaRPr lang="en-US" dirty="0"/>
          </a:p>
        </p:txBody>
      </p:sp>
      <p:sp>
        <p:nvSpPr>
          <p:cNvPr id="13" name="Text 11"/>
          <p:cNvSpPr/>
          <p:nvPr/>
        </p:nvSpPr>
        <p:spPr>
          <a:xfrm>
            <a:off x="692944" y="3612505"/>
            <a:ext cx="2243138" cy="242888"/>
          </a:xfrm>
          <a:prstGeom prst="rect">
            <a:avLst/>
          </a:prstGeom>
          <a:noFill/>
          <a:ln/>
        </p:spPr>
        <p:txBody>
          <a:bodyPr wrap="none" lIns="0" tIns="128588" rIns="0" bIns="0" rtlCol="0" anchor="t"/>
          <a:lstStyle/>
          <a:p>
            <a:pPr algn="l" indent="0" marL="0">
              <a:lnSpc>
                <a:spcPts val="844"/>
              </a:lnSpc>
              <a:buNone/>
            </a:pPr>
            <a:r>
              <a:rPr lang="en-US" sz="800" spc="101" kern="0" dirty="0">
                <a:solidFill>
                  <a:srgbClr val="8A8576"/>
                </a:solidFill>
                <a:latin typeface="Courier New" pitchFamily="34" charset="0"/>
                <a:ea typeface="Courier New" pitchFamily="34" charset="-122"/>
                <a:cs typeface="Courier New" pitchFamily="34" charset="-120"/>
              </a:rPr>
              <a:t>DATA INTEGRATION</a:t>
            </a:r>
            <a:endParaRPr lang="en-US" sz="800" dirty="0"/>
          </a:p>
        </p:txBody>
      </p:sp>
      <p:sp>
        <p:nvSpPr>
          <p:cNvPr id="14" name="Text 12"/>
          <p:cNvSpPr/>
          <p:nvPr/>
        </p:nvSpPr>
        <p:spPr>
          <a:xfrm>
            <a:off x="2146025" y="3469630"/>
            <a:ext cx="1165774" cy="385763"/>
          </a:xfrm>
          <a:prstGeom prst="rect">
            <a:avLst/>
          </a:prstGeom>
          <a:noFill/>
          <a:ln/>
        </p:spPr>
        <p:txBody>
          <a:bodyPr wrap="square" lIns="0" tIns="0" rIns="0" bIns="0" rtlCol="0" anchor="t"/>
          <a:lstStyle/>
          <a:p>
            <a:pPr algn="l" indent="0" marL="0">
              <a:lnSpc>
                <a:spcPts val="5063"/>
              </a:lnSpc>
              <a:buNone/>
            </a:pPr>
            <a:r>
              <a:rPr lang="en-US" sz="5063" dirty="0">
                <a:solidFill>
                  <a:srgbClr val="F5F1E8">
                    <a:alpha val="4000"/>
                  </a:srgbClr>
                </a:solidFill>
                <a:latin typeface="Liberation Sans Narrow" pitchFamily="34" charset="0"/>
                <a:ea typeface="Liberation Sans Narrow" pitchFamily="34" charset="-122"/>
                <a:cs typeface="Liberation Sans Narrow" pitchFamily="34" charset="-120"/>
              </a:rPr>
              <a:t>01</a:t>
            </a:r>
            <a:endParaRPr lang="en-US" sz="5063" dirty="0"/>
          </a:p>
        </p:txBody>
      </p:sp>
      <p:sp>
        <p:nvSpPr>
          <p:cNvPr id="15" name="Text 13"/>
          <p:cNvSpPr/>
          <p:nvPr/>
        </p:nvSpPr>
        <p:spPr>
          <a:xfrm>
            <a:off x="3275409" y="1765846"/>
            <a:ext cx="2593181" cy="2278856"/>
          </a:xfrm>
          <a:prstGeom prst="roundRect">
            <a:avLst>
              <a:gd name="adj" fmla="val 1672"/>
            </a:avLst>
          </a:prstGeom>
          <a:solidFill>
            <a:srgbClr val="1C2128"/>
          </a:solidFill>
          <a:ln w="7144">
            <a:solidFill>
              <a:srgbClr val="2A2F37"/>
            </a:solidFill>
            <a:prstDash val="solid"/>
          </a:ln>
        </p:spPr>
        <p:txBody>
          <a:bodyPr wrap="square" rtlCol="0" anchor="ctr"/>
          <a:lstStyle/>
          <a:p>
            <a:pPr indent="0" marL="0">
              <a:buNone/>
            </a:pPr>
            <a:endParaRPr lang="en-US" dirty="0"/>
          </a:p>
        </p:txBody>
      </p:sp>
      <p:sp>
        <p:nvSpPr>
          <p:cNvPr id="16" name="Text 14"/>
          <p:cNvSpPr/>
          <p:nvPr/>
        </p:nvSpPr>
        <p:spPr>
          <a:xfrm>
            <a:off x="5542008" y="1898005"/>
            <a:ext cx="181343" cy="164592"/>
          </a:xfrm>
          <a:prstGeom prst="rect">
            <a:avLst/>
          </a:prstGeom>
          <a:noFill/>
          <a:ln/>
        </p:spPr>
        <p:txBody>
          <a:bodyPr wrap="none" lIns="0" tIns="0" rIns="0" bIns="0" rtlCol="0" anchor="t"/>
          <a:lstStyle/>
          <a:p>
            <a:pPr algn="l" indent="0" marL="0">
              <a:lnSpc>
                <a:spcPts val="1181"/>
              </a:lnSpc>
              <a:buNone/>
            </a:pPr>
            <a:r>
              <a:rPr lang="en-US" sz="788" spc="142" kern="0" dirty="0">
                <a:solidFill>
                  <a:srgbClr val="8A8576"/>
                </a:solidFill>
                <a:latin typeface="Liberation Sans Narrow" pitchFamily="34" charset="0"/>
                <a:ea typeface="Liberation Sans Narrow" pitchFamily="34" charset="-122"/>
                <a:cs typeface="Liberation Sans Narrow" pitchFamily="34" charset="-120"/>
              </a:rPr>
              <a:t>02</a:t>
            </a:r>
            <a:endParaRPr lang="en-US" sz="788" dirty="0"/>
          </a:p>
        </p:txBody>
      </p:sp>
      <p:sp>
        <p:nvSpPr>
          <p:cNvPr id="17" name="Text 15"/>
          <p:cNvSpPr/>
          <p:nvPr/>
        </p:nvSpPr>
        <p:spPr>
          <a:xfrm>
            <a:off x="3427571" y="1929509"/>
            <a:ext cx="768690" cy="212027"/>
          </a:xfrm>
          <a:prstGeom prst="rect">
            <a:avLst/>
          </a:prstGeom>
          <a:solidFill>
            <a:srgbClr val="B23A1F">
              <a:alpha val="10000"/>
            </a:srgbClr>
          </a:solidFill>
          <a:ln/>
        </p:spPr>
        <p:txBody>
          <a:bodyPr wrap="square" rtlCol="0" anchor="ctr"/>
          <a:lstStyle/>
          <a:p>
            <a:pPr indent="0" marL="0">
              <a:buNone/>
            </a:pPr>
            <a:endParaRPr lang="en-US" dirty="0"/>
          </a:p>
        </p:txBody>
      </p:sp>
      <p:sp>
        <p:nvSpPr>
          <p:cNvPr id="18" name="Shape 16"/>
          <p:cNvSpPr/>
          <p:nvPr/>
        </p:nvSpPr>
        <p:spPr>
          <a:xfrm>
            <a:off x="3457575" y="1940868"/>
            <a:ext cx="0" cy="189309"/>
          </a:xfrm>
          <a:prstGeom prst="line">
            <a:avLst/>
          </a:prstGeom>
          <a:noFill/>
          <a:ln w="14288">
            <a:solidFill>
              <a:srgbClr val="B23A1F"/>
            </a:solidFill>
            <a:prstDash val="solid"/>
          </a:ln>
        </p:spPr>
      </p:sp>
      <p:sp>
        <p:nvSpPr>
          <p:cNvPr id="19" name="Text 17"/>
          <p:cNvSpPr/>
          <p:nvPr/>
        </p:nvSpPr>
        <p:spPr>
          <a:xfrm>
            <a:off x="3442864" y="1940868"/>
            <a:ext cx="738104" cy="264345"/>
          </a:xfrm>
          <a:prstGeom prst="rect">
            <a:avLst/>
          </a:prstGeom>
          <a:noFill/>
          <a:ln/>
        </p:spPr>
        <p:txBody>
          <a:bodyPr wrap="none" lIns="71438" tIns="35719" rIns="71438" bIns="35719" rtlCol="0" anchor="t"/>
          <a:lstStyle/>
          <a:p>
            <a:pPr algn="l" indent="0" marL="0">
              <a:lnSpc>
                <a:spcPts val="928"/>
              </a:lnSpc>
              <a:buNone/>
            </a:pPr>
            <a:r>
              <a:rPr lang="en-US" sz="800" spc="136" kern="0" dirty="0">
                <a:solidFill>
                  <a:srgbClr val="B23A1F"/>
                </a:solidFill>
                <a:latin typeface="Liberation Sans Narrow" pitchFamily="34" charset="0"/>
                <a:ea typeface="Liberation Sans Narrow" pitchFamily="34" charset="-122"/>
                <a:cs typeface="Liberation Sans Narrow" pitchFamily="34" charset="-120"/>
              </a:rPr>
              <a:t>PROBLEM 02</a:t>
            </a:r>
            <a:endParaRPr lang="en-US" sz="800" dirty="0"/>
          </a:p>
        </p:txBody>
      </p:sp>
      <p:sp>
        <p:nvSpPr>
          <p:cNvPr id="20" name="Text 18"/>
          <p:cNvSpPr/>
          <p:nvPr/>
        </p:nvSpPr>
        <p:spPr>
          <a:xfrm>
            <a:off x="3450431" y="2258764"/>
            <a:ext cx="2352866" cy="203610"/>
          </a:xfrm>
          <a:prstGeom prst="rect">
            <a:avLst/>
          </a:prstGeom>
          <a:noFill/>
          <a:ln/>
        </p:spPr>
        <p:txBody>
          <a:bodyPr wrap="square" lIns="0" tIns="0" rIns="0" bIns="0" rtlCol="0" anchor="t"/>
          <a:lstStyle/>
          <a:p>
            <a:pPr algn="l" indent="0" marL="0">
              <a:lnSpc>
                <a:spcPts val="1485"/>
              </a:lnSpc>
              <a:buNone/>
            </a:pPr>
            <a:r>
              <a:rPr lang="en-US" sz="1238" spc="-6" kern="0" dirty="0">
                <a:solidFill>
                  <a:srgbClr val="F5F1E8"/>
                </a:solidFill>
                <a:latin typeface="Tinos" pitchFamily="34" charset="0"/>
                <a:ea typeface="Tinos" pitchFamily="34" charset="-122"/>
                <a:cs typeface="Tinos" pitchFamily="34" charset="-120"/>
              </a:rPr>
              <a:t>The reasoning doesn't survive.</a:t>
            </a:r>
            <a:endParaRPr lang="en-US" sz="1238" dirty="0"/>
          </a:p>
        </p:txBody>
      </p:sp>
      <p:sp>
        <p:nvSpPr>
          <p:cNvPr id="21" name="Text 19"/>
          <p:cNvSpPr/>
          <p:nvPr/>
        </p:nvSpPr>
        <p:spPr>
          <a:xfrm>
            <a:off x="3450431" y="2547305"/>
            <a:ext cx="2243138" cy="905939"/>
          </a:xfrm>
          <a:prstGeom prst="rect">
            <a:avLst/>
          </a:prstGeom>
          <a:noFill/>
          <a:ln/>
        </p:spPr>
        <p:txBody>
          <a:bodyPr wrap="square" lIns="0" tIns="0" rIns="0" bIns="0" rtlCol="0" anchor="t"/>
          <a:lstStyle/>
          <a:p>
            <a:pPr algn="l" indent="0" marL="0">
              <a:lnSpc>
                <a:spcPts val="1321"/>
              </a:lnSpc>
              <a:buNone/>
            </a:pPr>
            <a:r>
              <a:rPr lang="en-US" sz="816" dirty="0">
                <a:solidFill>
                  <a:srgbClr val="C9C3B5"/>
                </a:solidFill>
                <a:latin typeface="Carlito" pitchFamily="34" charset="0"/>
                <a:ea typeface="Carlito" pitchFamily="34" charset="-122"/>
                <a:cs typeface="Carlito" pitchFamily="34" charset="-120"/>
              </a:rPr>
              <a:t>A target is a judgement made by an experienced geologist looking at several screens. When they leave, or the board asks why, the reasoning is gone — only the conclusion remains. A polygon on a map with no chain of evidence behind it.</a:t>
            </a:r>
            <a:endParaRPr lang="en-US" sz="816" dirty="0"/>
          </a:p>
        </p:txBody>
      </p:sp>
      <p:sp>
        <p:nvSpPr>
          <p:cNvPr id="22" name="Shape 20"/>
          <p:cNvSpPr/>
          <p:nvPr/>
        </p:nvSpPr>
        <p:spPr>
          <a:xfrm>
            <a:off x="3450431" y="3616077"/>
            <a:ext cx="2243138" cy="0"/>
          </a:xfrm>
          <a:prstGeom prst="line">
            <a:avLst/>
          </a:prstGeom>
          <a:noFill/>
          <a:ln w="7144">
            <a:solidFill>
              <a:srgbClr val="2A2F37"/>
            </a:solidFill>
            <a:prstDash val="solid"/>
          </a:ln>
        </p:spPr>
      </p:sp>
      <p:sp>
        <p:nvSpPr>
          <p:cNvPr id="23" name="Text 21"/>
          <p:cNvSpPr/>
          <p:nvPr/>
        </p:nvSpPr>
        <p:spPr>
          <a:xfrm>
            <a:off x="3450431" y="3780383"/>
            <a:ext cx="42863" cy="42863"/>
          </a:xfrm>
          <a:prstGeom prst="roundRect">
            <a:avLst>
              <a:gd name="adj" fmla="val 66666"/>
            </a:avLst>
          </a:prstGeom>
          <a:solidFill>
            <a:srgbClr val="B23A1F"/>
          </a:solidFill>
          <a:ln/>
        </p:spPr>
        <p:txBody>
          <a:bodyPr wrap="square" rtlCol="0" anchor="ctr"/>
          <a:lstStyle/>
          <a:p>
            <a:pPr indent="0" marL="0">
              <a:buNone/>
            </a:pPr>
            <a:endParaRPr lang="en-US" dirty="0"/>
          </a:p>
        </p:txBody>
      </p:sp>
      <p:sp>
        <p:nvSpPr>
          <p:cNvPr id="24" name="Text 22"/>
          <p:cNvSpPr/>
          <p:nvPr/>
        </p:nvSpPr>
        <p:spPr>
          <a:xfrm>
            <a:off x="3450431" y="3612505"/>
            <a:ext cx="2243138" cy="242888"/>
          </a:xfrm>
          <a:prstGeom prst="rect">
            <a:avLst/>
          </a:prstGeom>
          <a:noFill/>
          <a:ln/>
        </p:spPr>
        <p:txBody>
          <a:bodyPr wrap="none" lIns="0" tIns="128588" rIns="0" bIns="0" rtlCol="0" anchor="t"/>
          <a:lstStyle/>
          <a:p>
            <a:pPr algn="l" indent="0" marL="0">
              <a:lnSpc>
                <a:spcPts val="844"/>
              </a:lnSpc>
              <a:buNone/>
            </a:pPr>
            <a:r>
              <a:rPr lang="en-US" sz="800" spc="101" kern="0" dirty="0">
                <a:solidFill>
                  <a:srgbClr val="8A8576"/>
                </a:solidFill>
                <a:latin typeface="Courier New" pitchFamily="34" charset="0"/>
                <a:ea typeface="Courier New" pitchFamily="34" charset="-122"/>
                <a:cs typeface="Courier New" pitchFamily="34" charset="-120"/>
              </a:rPr>
              <a:t>REASONING LOSS</a:t>
            </a:r>
            <a:endParaRPr lang="en-US" sz="800" dirty="0"/>
          </a:p>
        </p:txBody>
      </p:sp>
      <p:sp>
        <p:nvSpPr>
          <p:cNvPr id="25" name="Text 23"/>
          <p:cNvSpPr/>
          <p:nvPr/>
        </p:nvSpPr>
        <p:spPr>
          <a:xfrm>
            <a:off x="4903513" y="3469630"/>
            <a:ext cx="1165774" cy="385763"/>
          </a:xfrm>
          <a:prstGeom prst="rect">
            <a:avLst/>
          </a:prstGeom>
          <a:noFill/>
          <a:ln/>
        </p:spPr>
        <p:txBody>
          <a:bodyPr wrap="square" lIns="0" tIns="0" rIns="0" bIns="0" rtlCol="0" anchor="t"/>
          <a:lstStyle/>
          <a:p>
            <a:pPr algn="l" indent="0" marL="0">
              <a:lnSpc>
                <a:spcPts val="5063"/>
              </a:lnSpc>
              <a:buNone/>
            </a:pPr>
            <a:r>
              <a:rPr lang="en-US" sz="5063" dirty="0">
                <a:solidFill>
                  <a:srgbClr val="F5F1E8">
                    <a:alpha val="4000"/>
                  </a:srgbClr>
                </a:solidFill>
                <a:latin typeface="Liberation Sans Narrow" pitchFamily="34" charset="0"/>
                <a:ea typeface="Liberation Sans Narrow" pitchFamily="34" charset="-122"/>
                <a:cs typeface="Liberation Sans Narrow" pitchFamily="34" charset="-120"/>
              </a:rPr>
              <a:t>02</a:t>
            </a:r>
            <a:endParaRPr lang="en-US" sz="5063" dirty="0"/>
          </a:p>
        </p:txBody>
      </p:sp>
      <p:sp>
        <p:nvSpPr>
          <p:cNvPr id="26" name="Text 24"/>
          <p:cNvSpPr/>
          <p:nvPr/>
        </p:nvSpPr>
        <p:spPr>
          <a:xfrm>
            <a:off x="6032897" y="1765846"/>
            <a:ext cx="2593181" cy="2278856"/>
          </a:xfrm>
          <a:prstGeom prst="roundRect">
            <a:avLst>
              <a:gd name="adj" fmla="val 1672"/>
            </a:avLst>
          </a:prstGeom>
          <a:solidFill>
            <a:srgbClr val="1C2128"/>
          </a:solidFill>
          <a:ln w="7144">
            <a:solidFill>
              <a:srgbClr val="2A2F37"/>
            </a:solidFill>
            <a:prstDash val="solid"/>
          </a:ln>
        </p:spPr>
        <p:txBody>
          <a:bodyPr wrap="square" rtlCol="0" anchor="ctr"/>
          <a:lstStyle/>
          <a:p>
            <a:pPr indent="0" marL="0">
              <a:buNone/>
            </a:pPr>
            <a:endParaRPr lang="en-US" dirty="0"/>
          </a:p>
        </p:txBody>
      </p:sp>
      <p:sp>
        <p:nvSpPr>
          <p:cNvPr id="27" name="Text 25"/>
          <p:cNvSpPr/>
          <p:nvPr/>
        </p:nvSpPr>
        <p:spPr>
          <a:xfrm>
            <a:off x="8299496" y="1898005"/>
            <a:ext cx="181343" cy="164592"/>
          </a:xfrm>
          <a:prstGeom prst="rect">
            <a:avLst/>
          </a:prstGeom>
          <a:noFill/>
          <a:ln/>
        </p:spPr>
        <p:txBody>
          <a:bodyPr wrap="none" lIns="0" tIns="0" rIns="0" bIns="0" rtlCol="0" anchor="t"/>
          <a:lstStyle/>
          <a:p>
            <a:pPr algn="l" indent="0" marL="0">
              <a:lnSpc>
                <a:spcPts val="1181"/>
              </a:lnSpc>
              <a:buNone/>
            </a:pPr>
            <a:r>
              <a:rPr lang="en-US" sz="788" spc="142" kern="0" dirty="0">
                <a:solidFill>
                  <a:srgbClr val="8A8576"/>
                </a:solidFill>
                <a:latin typeface="Liberation Sans Narrow" pitchFamily="34" charset="0"/>
                <a:ea typeface="Liberation Sans Narrow" pitchFamily="34" charset="-122"/>
                <a:cs typeface="Liberation Sans Narrow" pitchFamily="34" charset="-120"/>
              </a:rPr>
              <a:t>03</a:t>
            </a:r>
            <a:endParaRPr lang="en-US" sz="788" dirty="0"/>
          </a:p>
        </p:txBody>
      </p:sp>
      <p:sp>
        <p:nvSpPr>
          <p:cNvPr id="28" name="Text 26"/>
          <p:cNvSpPr/>
          <p:nvPr/>
        </p:nvSpPr>
        <p:spPr>
          <a:xfrm>
            <a:off x="6185059" y="1929509"/>
            <a:ext cx="768690" cy="212027"/>
          </a:xfrm>
          <a:prstGeom prst="rect">
            <a:avLst/>
          </a:prstGeom>
          <a:solidFill>
            <a:srgbClr val="B23A1F">
              <a:alpha val="10000"/>
            </a:srgbClr>
          </a:solidFill>
          <a:ln/>
        </p:spPr>
        <p:txBody>
          <a:bodyPr wrap="square" rtlCol="0" anchor="ctr"/>
          <a:lstStyle/>
          <a:p>
            <a:pPr indent="0" marL="0">
              <a:buNone/>
            </a:pPr>
            <a:endParaRPr lang="en-US" dirty="0"/>
          </a:p>
        </p:txBody>
      </p:sp>
      <p:sp>
        <p:nvSpPr>
          <p:cNvPr id="29" name="Shape 27"/>
          <p:cNvSpPr/>
          <p:nvPr/>
        </p:nvSpPr>
        <p:spPr>
          <a:xfrm>
            <a:off x="6215063" y="1940868"/>
            <a:ext cx="0" cy="189309"/>
          </a:xfrm>
          <a:prstGeom prst="line">
            <a:avLst/>
          </a:prstGeom>
          <a:noFill/>
          <a:ln w="14288">
            <a:solidFill>
              <a:srgbClr val="B23A1F"/>
            </a:solidFill>
            <a:prstDash val="solid"/>
          </a:ln>
        </p:spPr>
      </p:sp>
      <p:sp>
        <p:nvSpPr>
          <p:cNvPr id="30" name="Text 28"/>
          <p:cNvSpPr/>
          <p:nvPr/>
        </p:nvSpPr>
        <p:spPr>
          <a:xfrm>
            <a:off x="6200352" y="1940868"/>
            <a:ext cx="738104" cy="264345"/>
          </a:xfrm>
          <a:prstGeom prst="rect">
            <a:avLst/>
          </a:prstGeom>
          <a:noFill/>
          <a:ln/>
        </p:spPr>
        <p:txBody>
          <a:bodyPr wrap="none" lIns="71438" tIns="35719" rIns="71438" bIns="35719" rtlCol="0" anchor="t"/>
          <a:lstStyle/>
          <a:p>
            <a:pPr algn="l" indent="0" marL="0">
              <a:lnSpc>
                <a:spcPts val="928"/>
              </a:lnSpc>
              <a:buNone/>
            </a:pPr>
            <a:r>
              <a:rPr lang="en-US" sz="800" spc="136" kern="0" dirty="0">
                <a:solidFill>
                  <a:srgbClr val="B23A1F"/>
                </a:solidFill>
                <a:latin typeface="Liberation Sans Narrow" pitchFamily="34" charset="0"/>
                <a:ea typeface="Liberation Sans Narrow" pitchFamily="34" charset="-122"/>
                <a:cs typeface="Liberation Sans Narrow" pitchFamily="34" charset="-120"/>
              </a:rPr>
              <a:t>PROBLEM 03</a:t>
            </a:r>
            <a:endParaRPr lang="en-US" sz="800" dirty="0"/>
          </a:p>
        </p:txBody>
      </p:sp>
      <p:sp>
        <p:nvSpPr>
          <p:cNvPr id="31" name="Text 29"/>
          <p:cNvSpPr/>
          <p:nvPr/>
        </p:nvSpPr>
        <p:spPr>
          <a:xfrm>
            <a:off x="6207919" y="2258764"/>
            <a:ext cx="2243137" cy="203610"/>
          </a:xfrm>
          <a:prstGeom prst="rect">
            <a:avLst/>
          </a:prstGeom>
          <a:noFill/>
          <a:ln/>
        </p:spPr>
        <p:txBody>
          <a:bodyPr wrap="none" lIns="0" tIns="0" rIns="0" bIns="0" rtlCol="0" anchor="t"/>
          <a:lstStyle/>
          <a:p>
            <a:pPr algn="l" indent="0" marL="0">
              <a:lnSpc>
                <a:spcPts val="1485"/>
              </a:lnSpc>
              <a:buNone/>
            </a:pPr>
            <a:r>
              <a:rPr lang="en-US" sz="1238" spc="-6" kern="0" dirty="0">
                <a:solidFill>
                  <a:srgbClr val="F5F1E8"/>
                </a:solidFill>
                <a:latin typeface="Tinos" pitchFamily="34" charset="0"/>
                <a:ea typeface="Tinos" pitchFamily="34" charset="-122"/>
                <a:cs typeface="Tinos" pitchFamily="34" charset="-120"/>
              </a:rPr>
              <a:t>The work doesn't re-run.</a:t>
            </a:r>
            <a:endParaRPr lang="en-US" sz="1238" dirty="0"/>
          </a:p>
        </p:txBody>
      </p:sp>
      <p:sp>
        <p:nvSpPr>
          <p:cNvPr id="32" name="Text 30"/>
          <p:cNvSpPr/>
          <p:nvPr/>
        </p:nvSpPr>
        <p:spPr>
          <a:xfrm>
            <a:off x="6207919" y="2547305"/>
            <a:ext cx="2243138" cy="905939"/>
          </a:xfrm>
          <a:prstGeom prst="rect">
            <a:avLst/>
          </a:prstGeom>
          <a:noFill/>
          <a:ln/>
        </p:spPr>
        <p:txBody>
          <a:bodyPr wrap="square" lIns="0" tIns="0" rIns="0" bIns="0" rtlCol="0" anchor="t"/>
          <a:lstStyle/>
          <a:p>
            <a:pPr algn="l" indent="0" marL="0">
              <a:lnSpc>
                <a:spcPts val="1321"/>
              </a:lnSpc>
              <a:buNone/>
            </a:pPr>
            <a:r>
              <a:rPr lang="en-US" sz="816" dirty="0">
                <a:solidFill>
                  <a:srgbClr val="C9C3B5"/>
                </a:solidFill>
                <a:latin typeface="Carlito" pitchFamily="34" charset="0"/>
                <a:ea typeface="Carlito" pitchFamily="34" charset="-122"/>
                <a:cs typeface="Carlito" pitchFamily="34" charset="-120"/>
              </a:rPr>
              <a:t>New assays land and the integration starts again from scratch. The last analysis was a one-off deliverable, not something you can point at fresh data and press a button on. The work is dead the day it ships.</a:t>
            </a:r>
            <a:endParaRPr lang="en-US" sz="816" dirty="0"/>
          </a:p>
        </p:txBody>
      </p:sp>
      <p:sp>
        <p:nvSpPr>
          <p:cNvPr id="33" name="Shape 31"/>
          <p:cNvSpPr/>
          <p:nvPr/>
        </p:nvSpPr>
        <p:spPr>
          <a:xfrm>
            <a:off x="6207919" y="3616077"/>
            <a:ext cx="2243138" cy="0"/>
          </a:xfrm>
          <a:prstGeom prst="line">
            <a:avLst/>
          </a:prstGeom>
          <a:noFill/>
          <a:ln w="7144">
            <a:solidFill>
              <a:srgbClr val="2A2F37"/>
            </a:solidFill>
            <a:prstDash val="solid"/>
          </a:ln>
        </p:spPr>
      </p:sp>
      <p:sp>
        <p:nvSpPr>
          <p:cNvPr id="34" name="Text 32"/>
          <p:cNvSpPr/>
          <p:nvPr/>
        </p:nvSpPr>
        <p:spPr>
          <a:xfrm>
            <a:off x="6207919" y="3780383"/>
            <a:ext cx="42863" cy="42863"/>
          </a:xfrm>
          <a:prstGeom prst="roundRect">
            <a:avLst>
              <a:gd name="adj" fmla="val 66666"/>
            </a:avLst>
          </a:prstGeom>
          <a:solidFill>
            <a:srgbClr val="B23A1F"/>
          </a:solidFill>
          <a:ln/>
        </p:spPr>
        <p:txBody>
          <a:bodyPr wrap="square" rtlCol="0" anchor="ctr"/>
          <a:lstStyle/>
          <a:p>
            <a:pPr indent="0" marL="0">
              <a:buNone/>
            </a:pPr>
            <a:endParaRPr lang="en-US" dirty="0"/>
          </a:p>
        </p:txBody>
      </p:sp>
      <p:sp>
        <p:nvSpPr>
          <p:cNvPr id="35" name="Text 33"/>
          <p:cNvSpPr/>
          <p:nvPr/>
        </p:nvSpPr>
        <p:spPr>
          <a:xfrm>
            <a:off x="6207919" y="3612505"/>
            <a:ext cx="2243138" cy="242888"/>
          </a:xfrm>
          <a:prstGeom prst="rect">
            <a:avLst/>
          </a:prstGeom>
          <a:noFill/>
          <a:ln/>
        </p:spPr>
        <p:txBody>
          <a:bodyPr wrap="none" lIns="0" tIns="128588" rIns="0" bIns="0" rtlCol="0" anchor="t"/>
          <a:lstStyle/>
          <a:p>
            <a:pPr algn="l" indent="0" marL="0">
              <a:lnSpc>
                <a:spcPts val="844"/>
              </a:lnSpc>
              <a:buNone/>
            </a:pPr>
            <a:r>
              <a:rPr lang="en-US" sz="800" spc="101" kern="0" dirty="0">
                <a:solidFill>
                  <a:srgbClr val="8A8576"/>
                </a:solidFill>
                <a:latin typeface="Courier New" pitchFamily="34" charset="0"/>
                <a:ea typeface="Courier New" pitchFamily="34" charset="-122"/>
                <a:cs typeface="Courier New" pitchFamily="34" charset="-120"/>
              </a:rPr>
              <a:t>NO REPRODUCIBILITY</a:t>
            </a:r>
            <a:endParaRPr lang="en-US" sz="800" dirty="0"/>
          </a:p>
        </p:txBody>
      </p:sp>
      <p:sp>
        <p:nvSpPr>
          <p:cNvPr id="36" name="Text 34"/>
          <p:cNvSpPr/>
          <p:nvPr/>
        </p:nvSpPr>
        <p:spPr>
          <a:xfrm>
            <a:off x="7661000" y="3469630"/>
            <a:ext cx="1165774" cy="385763"/>
          </a:xfrm>
          <a:prstGeom prst="rect">
            <a:avLst/>
          </a:prstGeom>
          <a:noFill/>
          <a:ln/>
        </p:spPr>
        <p:txBody>
          <a:bodyPr wrap="square" lIns="0" tIns="0" rIns="0" bIns="0" rtlCol="0" anchor="t"/>
          <a:lstStyle/>
          <a:p>
            <a:pPr algn="l" indent="0" marL="0">
              <a:lnSpc>
                <a:spcPts val="5063"/>
              </a:lnSpc>
              <a:buNone/>
            </a:pPr>
            <a:r>
              <a:rPr lang="en-US" sz="5063" dirty="0">
                <a:solidFill>
                  <a:srgbClr val="F5F1E8">
                    <a:alpha val="4000"/>
                  </a:srgbClr>
                </a:solidFill>
                <a:latin typeface="Liberation Sans Narrow" pitchFamily="34" charset="0"/>
                <a:ea typeface="Liberation Sans Narrow" pitchFamily="34" charset="-122"/>
                <a:cs typeface="Liberation Sans Narrow" pitchFamily="34" charset="-120"/>
              </a:rPr>
              <a:t>03</a:t>
            </a:r>
            <a:endParaRPr lang="en-US" sz="5063" dirty="0"/>
          </a:p>
        </p:txBody>
      </p:sp>
      <p:sp>
        <p:nvSpPr>
          <p:cNvPr id="37" name="Shape 35"/>
          <p:cNvSpPr/>
          <p:nvPr/>
        </p:nvSpPr>
        <p:spPr>
          <a:xfrm>
            <a:off x="514350" y="4736306"/>
            <a:ext cx="8115300" cy="0"/>
          </a:xfrm>
          <a:prstGeom prst="line">
            <a:avLst/>
          </a:prstGeom>
          <a:noFill/>
          <a:ln w="7144">
            <a:solidFill>
              <a:srgbClr val="2A2F37"/>
            </a:solidFill>
            <a:prstDash val="solid"/>
          </a:ln>
        </p:spPr>
      </p:sp>
      <p:sp>
        <p:nvSpPr>
          <p:cNvPr id="38" name="Text 36"/>
          <p:cNvSpPr/>
          <p:nvPr/>
        </p:nvSpPr>
        <p:spPr>
          <a:xfrm>
            <a:off x="514350" y="4825603"/>
            <a:ext cx="7748960" cy="117872"/>
          </a:xfrm>
          <a:prstGeom prst="rect">
            <a:avLst/>
          </a:prstGeom>
          <a:noFill/>
          <a:ln/>
        </p:spPr>
        <p:txBody>
          <a:bodyPr wrap="square" lIns="0" tIns="0" rIns="0" bIns="0" rtlCol="0" anchor="t"/>
          <a:lstStyle/>
          <a:p>
            <a:pPr algn="l" indent="0" marL="0">
              <a:lnSpc>
                <a:spcPts val="928"/>
              </a:lnSpc>
              <a:buNone/>
            </a:pPr>
            <a:r>
              <a:rPr lang="en-US" sz="800" spc="87" kern="0" dirty="0">
                <a:solidFill>
                  <a:srgbClr val="8A8576"/>
                </a:solidFill>
                <a:latin typeface="Courier New" pitchFamily="34" charset="0"/>
                <a:ea typeface="Courier New" pitchFamily="34" charset="-122"/>
                <a:cs typeface="Courier New" pitchFamily="34" charset="-120"/>
              </a:rPr>
              <a:t>PROBLEM-FRAMING — THREE FRICTIONS</a:t>
            </a:r>
            <a:endParaRPr lang="en-US" sz="800" dirty="0"/>
          </a:p>
        </p:txBody>
      </p:sp>
      <p:sp>
        <p:nvSpPr>
          <p:cNvPr id="39" name="Text 37"/>
          <p:cNvSpPr/>
          <p:nvPr/>
        </p:nvSpPr>
        <p:spPr>
          <a:xfrm>
            <a:off x="8277597" y="4825603"/>
            <a:ext cx="352053" cy="117872"/>
          </a:xfrm>
          <a:prstGeom prst="rect">
            <a:avLst/>
          </a:prstGeom>
          <a:noFill/>
          <a:ln/>
        </p:spPr>
        <p:txBody>
          <a:bodyPr wrap="none" lIns="0" tIns="0" rIns="0" bIns="0" rtlCol="0" anchor="t"/>
          <a:lstStyle/>
          <a:p>
            <a:pPr algn="l" indent="0" marL="0">
              <a:lnSpc>
                <a:spcPts val="928"/>
              </a:lnSpc>
              <a:buNone/>
            </a:pPr>
            <a:r>
              <a:rPr lang="en-US" sz="619" spc="87" kern="0" dirty="0">
                <a:solidFill>
                  <a:srgbClr val="8A8576"/>
                </a:solidFill>
                <a:latin typeface="Liberation Sans Narrow" pitchFamily="34" charset="0"/>
                <a:ea typeface="Liberation Sans Narrow" pitchFamily="34" charset="-122"/>
                <a:cs typeface="Liberation Sans Narrow" pitchFamily="34" charset="-120"/>
              </a:rPr>
              <a:t>02 / 12</a:t>
            </a:r>
            <a:endParaRPr lang="en-US" sz="619" dirty="0"/>
          </a:p>
        </p:txBody>
      </p:sp>
      <p:sp>
        <p:nvSpPr>
          <p:cNvPr id="40" name="Text 38"/>
          <p:cNvSpPr/>
          <p:nvPr/>
        </p:nvSpPr>
        <p:spPr>
          <a:xfrm>
            <a:off x="514350" y="453628"/>
            <a:ext cx="1855974" cy="164592"/>
          </a:xfrm>
          <a:prstGeom prst="rect">
            <a:avLst/>
          </a:prstGeom>
          <a:noFill/>
          <a:ln/>
        </p:spPr>
        <p:txBody>
          <a:bodyPr wrap="none" lIns="0" tIns="0" rIns="0" bIns="0" rtlCol="0" anchor="t"/>
          <a:lstStyle/>
          <a:p>
            <a:pPr algn="l" indent="0" marL="0">
              <a:lnSpc>
                <a:spcPts val="1013"/>
              </a:lnSpc>
              <a:buNone/>
            </a:pPr>
            <a:r>
              <a:rPr lang="en-US" sz="800" spc="176" kern="0" dirty="0">
                <a:solidFill>
                  <a:srgbClr val="D4A24A"/>
                </a:solidFill>
                <a:latin typeface="Courier New" pitchFamily="34" charset="0"/>
                <a:ea typeface="Courier New" pitchFamily="34" charset="-122"/>
                <a:cs typeface="Courier New" pitchFamily="34" charset="-120"/>
              </a:rPr>
              <a:t>WHY THIS EXISTS</a:t>
            </a:r>
            <a:endParaRPr lang="en-US" sz="800" dirty="0"/>
          </a:p>
        </p:txBody>
      </p:sp>
      <p:sp>
        <p:nvSpPr>
          <p:cNvPr id="41" name="Text 39"/>
          <p:cNvSpPr/>
          <p:nvPr/>
        </p:nvSpPr>
        <p:spPr>
          <a:xfrm>
            <a:off x="514350" y="682228"/>
            <a:ext cx="7229475" cy="333202"/>
          </a:xfrm>
          <a:prstGeom prst="rect">
            <a:avLst/>
          </a:prstGeom>
          <a:noFill/>
          <a:ln/>
        </p:spPr>
        <p:txBody>
          <a:bodyPr wrap="square" lIns="0" tIns="0" rIns="0" bIns="0" rtlCol="0" anchor="t"/>
          <a:lstStyle/>
          <a:p>
            <a:pPr algn="l" indent="0" marL="0">
              <a:lnSpc>
                <a:spcPts val="2430"/>
              </a:lnSpc>
              <a:buNone/>
            </a:pPr>
            <a:r>
              <a:rPr lang="en-US" sz="2250" spc="-27" kern="0" dirty="0">
                <a:solidFill>
                  <a:srgbClr val="F5F1E8"/>
                </a:solidFill>
                <a:latin typeface="Tinos" pitchFamily="34" charset="0"/>
                <a:ea typeface="Tinos" pitchFamily="34" charset="-122"/>
                <a:cs typeface="Tinos" pitchFamily="34" charset="-120"/>
              </a:rPr>
              <a:t>The problem, as exploration teams actually experience it.</a:t>
            </a:r>
            <a:endParaRPr lang="en-US" sz="2250" dirty="0"/>
          </a:p>
        </p:txBody>
      </p:sp>
      <p:sp>
        <p:nvSpPr>
          <p:cNvPr id="42" name="Text 40"/>
          <p:cNvSpPr/>
          <p:nvPr/>
        </p:nvSpPr>
        <p:spPr>
          <a:xfrm>
            <a:off x="514350" y="1090761"/>
            <a:ext cx="400050" cy="14288"/>
          </a:xfrm>
          <a:prstGeom prst="rect">
            <a:avLst/>
          </a:prstGeom>
          <a:solidFill>
            <a:srgbClr val="D4A24A"/>
          </a:solidFill>
          <a:ln/>
        </p:spPr>
        <p:txBody>
          <a:bodyPr wrap="square" rtlCol="0" anchor="ctr"/>
          <a:lstStyle/>
          <a:p>
            <a:pPr indent="0" marL="0">
              <a:buNone/>
            </a:pPr>
            <a:endParaRPr lang="en-US" dirty="0"/>
          </a:p>
        </p:txBody>
      </p:sp>
      <p:sp>
        <p:nvSpPr>
          <p:cNvPr id="43" name="Text 41"/>
          <p:cNvSpPr/>
          <p:nvPr/>
        </p:nvSpPr>
        <p:spPr>
          <a:xfrm>
            <a:off x="514350" y="1205061"/>
            <a:ext cx="6286500" cy="370332"/>
          </a:xfrm>
          <a:prstGeom prst="rect">
            <a:avLst/>
          </a:prstGeom>
          <a:noFill/>
          <a:ln/>
        </p:spPr>
        <p:txBody>
          <a:bodyPr wrap="square" lIns="0" tIns="0" rIns="0" bIns="0" rtlCol="0" anchor="t"/>
          <a:lstStyle/>
          <a:p>
            <a:pPr algn="l" indent="0" marL="0">
              <a:lnSpc>
                <a:spcPts val="1350"/>
              </a:lnSpc>
              <a:buNone/>
            </a:pPr>
            <a:r>
              <a:rPr lang="en-US" sz="844" dirty="0">
                <a:solidFill>
                  <a:srgbClr val="C9C3B5"/>
                </a:solidFill>
                <a:latin typeface="Carlito" pitchFamily="34" charset="0"/>
                <a:ea typeface="Carlito" pitchFamily="34" charset="-122"/>
                <a:cs typeface="Carlito" pitchFamily="34" charset="-120"/>
              </a:rPr>
              <a:t>Three frictions every senior geologist on a Ghana licence recognises. None of them are about the geology — they are about the data, the reasoning, and the rework. TerraPulse is built against these three.</a:t>
            </a:r>
            <a:endParaRPr lang="en-US" sz="844"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115"/>
        </a:solidFill>
      </p:bgPr>
    </p:bg>
    <p:spTree>
      <p:nvGrpSpPr>
        <p:cNvPr id="1" name=""/>
        <p:cNvGrpSpPr/>
        <p:nvPr/>
      </p:nvGrpSpPr>
      <p:grpSpPr>
        <a:xfrm>
          <a:off x="0" y="0"/>
          <a:ext cx="0" cy="0"/>
          <a:chOff x="0" y="0"/>
          <a:chExt cx="0" cy="0"/>
        </a:xfrm>
      </p:grpSpPr>
      <p:sp>
        <p:nvSpPr>
          <p:cNvPr id="2" name="Text 0"/>
          <p:cNvSpPr/>
          <p:nvPr/>
        </p:nvSpPr>
        <p:spPr>
          <a:xfrm>
            <a:off x="514350" y="200025"/>
            <a:ext cx="2326933" cy="164592"/>
          </a:xfrm>
          <a:prstGeom prst="rect">
            <a:avLst/>
          </a:prstGeom>
          <a:noFill/>
          <a:ln/>
        </p:spPr>
        <p:txBody>
          <a:bodyPr wrap="square" lIns="0" tIns="0" rIns="0" bIns="0" rtlCol="0" anchor="t"/>
          <a:lstStyle/>
          <a:p>
            <a:pPr algn="l" indent="0" marL="0">
              <a:lnSpc>
                <a:spcPts val="928"/>
              </a:lnSpc>
              <a:buNone/>
            </a:pPr>
            <a:r>
              <a:rPr lang="en-US" sz="619" spc="111" kern="0" dirty="0">
                <a:solidFill>
                  <a:srgbClr val="8A8576"/>
                </a:solidFill>
                <a:latin typeface="Courier New" pitchFamily="34" charset="0"/>
                <a:ea typeface="Courier New" pitchFamily="34" charset="-122"/>
                <a:cs typeface="Courier New" pitchFamily="34" charset="-120"/>
              </a:rPr>
              <a:t>TERRAPULSE × GOLD FIELDS GHANA / 2026</a:t>
            </a:r>
            <a:endParaRPr lang="en-US" sz="619" dirty="0"/>
          </a:p>
        </p:txBody>
      </p:sp>
      <p:sp>
        <p:nvSpPr>
          <p:cNvPr id="3" name="Text 1"/>
          <p:cNvSpPr/>
          <p:nvPr/>
        </p:nvSpPr>
        <p:spPr>
          <a:xfrm>
            <a:off x="8299586" y="200025"/>
            <a:ext cx="474415" cy="164592"/>
          </a:xfrm>
          <a:prstGeom prst="rect">
            <a:avLst/>
          </a:prstGeom>
          <a:noFill/>
          <a:ln/>
        </p:spPr>
        <p:txBody>
          <a:bodyPr wrap="none" lIns="0" tIns="0" rIns="0" bIns="0" rtlCol="0" anchor="t"/>
          <a:lstStyle/>
          <a:p>
            <a:pPr algn="l" indent="0" marL="0">
              <a:lnSpc>
                <a:spcPts val="928"/>
              </a:lnSpc>
              <a:buNone/>
            </a:pPr>
            <a:r>
              <a:rPr lang="en-US" sz="800" spc="62" kern="0" dirty="0">
                <a:solidFill>
                  <a:srgbClr val="8A8576"/>
                </a:solidFill>
                <a:latin typeface="Liberation Sans Narrow" pitchFamily="34" charset="0"/>
                <a:ea typeface="Liberation Sans Narrow" pitchFamily="34" charset="-122"/>
                <a:cs typeface="Liberation Sans Narrow" pitchFamily="34" charset="-120"/>
              </a:rPr>
              <a:t>03 / 12</a:t>
            </a:r>
            <a:endParaRPr lang="en-US" sz="800" dirty="0"/>
          </a:p>
        </p:txBody>
      </p:sp>
      <p:sp>
        <p:nvSpPr>
          <p:cNvPr id="4" name="Text 2"/>
          <p:cNvSpPr/>
          <p:nvPr/>
        </p:nvSpPr>
        <p:spPr>
          <a:xfrm>
            <a:off x="517922" y="1251496"/>
            <a:ext cx="3567522" cy="3045470"/>
          </a:xfrm>
          <a:prstGeom prst="roundRect">
            <a:avLst>
              <a:gd name="adj" fmla="val 1251"/>
            </a:avLst>
          </a:prstGeom>
          <a:solidFill>
            <a:srgbClr val="1C2128"/>
          </a:solidFill>
          <a:ln w="7144">
            <a:solidFill>
              <a:srgbClr val="2A2F37"/>
            </a:solidFill>
            <a:prstDash val="solid"/>
          </a:ln>
        </p:spPr>
        <p:txBody>
          <a:bodyPr wrap="square" rtlCol="0" anchor="ctr"/>
          <a:lstStyle/>
          <a:p>
            <a:pPr indent="0" marL="0">
              <a:buNone/>
            </a:pPr>
            <a:endParaRPr lang="en-US" dirty="0"/>
          </a:p>
        </p:txBody>
      </p:sp>
      <p:sp>
        <p:nvSpPr>
          <p:cNvPr id="5" name="Text 3"/>
          <p:cNvSpPr/>
          <p:nvPr/>
        </p:nvSpPr>
        <p:spPr>
          <a:xfrm>
            <a:off x="655796" y="1386584"/>
            <a:ext cx="825282" cy="212027"/>
          </a:xfrm>
          <a:prstGeom prst="rect">
            <a:avLst/>
          </a:prstGeom>
          <a:solidFill>
            <a:srgbClr val="B23A1F">
              <a:alpha val="10000"/>
            </a:srgbClr>
          </a:solidFill>
          <a:ln/>
        </p:spPr>
        <p:txBody>
          <a:bodyPr wrap="square" rtlCol="0" anchor="ctr"/>
          <a:lstStyle/>
          <a:p>
            <a:pPr indent="0" marL="0">
              <a:buNone/>
            </a:pPr>
            <a:endParaRPr lang="en-US" dirty="0"/>
          </a:p>
        </p:txBody>
      </p:sp>
      <p:sp>
        <p:nvSpPr>
          <p:cNvPr id="6" name="Shape 4"/>
          <p:cNvSpPr/>
          <p:nvPr/>
        </p:nvSpPr>
        <p:spPr>
          <a:xfrm>
            <a:off x="685800" y="1397943"/>
            <a:ext cx="0" cy="189309"/>
          </a:xfrm>
          <a:prstGeom prst="line">
            <a:avLst/>
          </a:prstGeom>
          <a:noFill/>
          <a:ln w="14288">
            <a:solidFill>
              <a:srgbClr val="B23A1F"/>
            </a:solidFill>
            <a:prstDash val="solid"/>
          </a:ln>
        </p:spPr>
      </p:sp>
      <p:sp>
        <p:nvSpPr>
          <p:cNvPr id="7" name="Text 5"/>
          <p:cNvSpPr/>
          <p:nvPr/>
        </p:nvSpPr>
        <p:spPr>
          <a:xfrm>
            <a:off x="662220" y="1397943"/>
            <a:ext cx="812434" cy="261890"/>
          </a:xfrm>
          <a:prstGeom prst="rect">
            <a:avLst/>
          </a:prstGeom>
          <a:noFill/>
          <a:ln/>
        </p:spPr>
        <p:txBody>
          <a:bodyPr wrap="none" lIns="71438" tIns="35719" rIns="71438" bIns="35719" rtlCol="0" anchor="t">
            <a:normAutofit/>
          </a:bodyPr>
          <a:lstStyle/>
          <a:p>
            <a:pPr algn="l" indent="0" marL="0">
              <a:lnSpc>
                <a:spcPts val="928"/>
              </a:lnSpc>
              <a:buNone/>
            </a:pPr>
            <a:r>
              <a:rPr lang="en-US" sz="800" spc="136" kern="0" dirty="0">
                <a:solidFill>
                  <a:srgbClr val="B23A1F"/>
                </a:solidFill>
                <a:latin typeface="Courier New" pitchFamily="34" charset="0"/>
                <a:ea typeface="Courier New" pitchFamily="34" charset="-122"/>
                <a:cs typeface="Courier New" pitchFamily="34" charset="-120"/>
              </a:rPr>
              <a:t>THE PROBLEM</a:t>
            </a:r>
            <a:endParaRPr lang="en-US" sz="800" dirty="0"/>
          </a:p>
        </p:txBody>
      </p:sp>
      <p:sp>
        <p:nvSpPr>
          <p:cNvPr id="8" name="Text 6"/>
          <p:cNvSpPr/>
          <p:nvPr/>
        </p:nvSpPr>
        <p:spPr>
          <a:xfrm>
            <a:off x="678656" y="1687264"/>
            <a:ext cx="3355781" cy="206986"/>
          </a:xfrm>
          <a:prstGeom prst="rect">
            <a:avLst/>
          </a:prstGeom>
          <a:noFill/>
          <a:ln/>
        </p:spPr>
        <p:txBody>
          <a:bodyPr wrap="square" lIns="0" tIns="0" rIns="0" bIns="0" rtlCol="0" anchor="t"/>
          <a:lstStyle/>
          <a:p>
            <a:pPr algn="l" indent="0" marL="0">
              <a:lnSpc>
                <a:spcPts val="1510"/>
              </a:lnSpc>
              <a:buNone/>
            </a:pPr>
            <a:r>
              <a:rPr lang="en-US" sz="1238" spc="-6" kern="0" dirty="0">
                <a:solidFill>
                  <a:srgbClr val="F5F1E8"/>
                </a:solidFill>
                <a:latin typeface="Tinos" pitchFamily="34" charset="0"/>
                <a:ea typeface="Tinos" pitchFamily="34" charset="-122"/>
                <a:cs typeface="Tinos" pitchFamily="34" charset="-120"/>
              </a:rPr>
              <a:t>Weeks of GIS assembly before a single number.</a:t>
            </a:r>
            <a:endParaRPr lang="en-US" sz="1238" dirty="0"/>
          </a:p>
        </p:txBody>
      </p:sp>
      <p:sp>
        <p:nvSpPr>
          <p:cNvPr id="9" name="Text 7"/>
          <p:cNvSpPr/>
          <p:nvPr/>
        </p:nvSpPr>
        <p:spPr>
          <a:xfrm>
            <a:off x="678656" y="1964643"/>
            <a:ext cx="3246053" cy="843771"/>
          </a:xfrm>
          <a:prstGeom prst="rect">
            <a:avLst/>
          </a:prstGeom>
          <a:noFill/>
          <a:ln/>
        </p:spPr>
        <p:txBody>
          <a:bodyPr wrap="square" lIns="0" tIns="0" rIns="0" bIns="0" rtlCol="0" anchor="t">
            <a:normAutofit/>
          </a:bodyPr>
          <a:lstStyle/>
          <a:p>
            <a:pPr algn="l" indent="0" marL="0">
              <a:lnSpc>
                <a:spcPts val="1260"/>
              </a:lnSpc>
              <a:buNone/>
            </a:pPr>
            <a:r>
              <a:rPr lang="en-US" sz="800" dirty="0">
                <a:solidFill>
                  <a:srgbClr val="C9C3B5"/>
                </a:solidFill>
                <a:latin typeface="Carlito" pitchFamily="34" charset="0"/>
                <a:ea typeface="Carlito" pitchFamily="34" charset="-122"/>
                <a:cs typeface="Carlito" pitchFamily="34" charset="-120"/>
              </a:rPr>
              <a:t>On a typical Ashanti or Sefwi licence, getting magnetics, soil geochem, assay PDFs, imagery and the geological backdrop onto one grid is senior GIS work measured in weeks. It is not the analysis — it is the price of admission to the analysis. And it has to be redone every time a new dataset arrives.</a:t>
            </a:r>
            <a:endParaRPr lang="en-US" sz="800" dirty="0"/>
          </a:p>
        </p:txBody>
      </p:sp>
      <p:sp>
        <p:nvSpPr>
          <p:cNvPr id="10" name="Shape 8"/>
          <p:cNvSpPr/>
          <p:nvPr/>
        </p:nvSpPr>
        <p:spPr>
          <a:xfrm>
            <a:off x="678656" y="2839417"/>
            <a:ext cx="3246053" cy="0"/>
          </a:xfrm>
          <a:prstGeom prst="line">
            <a:avLst/>
          </a:prstGeom>
          <a:noFill/>
          <a:ln w="7144">
            <a:solidFill>
              <a:srgbClr val="2A2F37"/>
            </a:solidFill>
            <a:prstDash val="dash"/>
          </a:ln>
        </p:spPr>
      </p:sp>
      <p:sp>
        <p:nvSpPr>
          <p:cNvPr id="11" name="Text 9"/>
          <p:cNvSpPr/>
          <p:nvPr/>
        </p:nvSpPr>
        <p:spPr>
          <a:xfrm>
            <a:off x="678656" y="2835846"/>
            <a:ext cx="3246053" cy="285293"/>
          </a:xfrm>
          <a:prstGeom prst="rect">
            <a:avLst/>
          </a:prstGeom>
          <a:noFill/>
          <a:ln/>
        </p:spPr>
        <p:txBody>
          <a:bodyPr wrap="square" lIns="0" tIns="71438" rIns="0" bIns="0" rtlCol="0" anchor="t"/>
          <a:lstStyle/>
          <a:p>
            <a:pPr algn="l" indent="0" marL="0">
              <a:lnSpc>
                <a:spcPts val="844"/>
              </a:lnSpc>
              <a:buNone/>
            </a:pPr>
            <a:r>
              <a:rPr lang="en-US" sz="800" spc="101" kern="0" dirty="0">
                <a:solidFill>
                  <a:srgbClr val="8A8576"/>
                </a:solidFill>
                <a:latin typeface="Courier New" pitchFamily="34" charset="0"/>
                <a:ea typeface="Courier New" pitchFamily="34" charset="-122"/>
                <a:cs typeface="Courier New" pitchFamily="34" charset="-120"/>
              </a:rPr>
              <a:t>LATENCY: WEEKS · RE-RUN: MANUAL</a:t>
            </a:r>
            <a:endParaRPr lang="en-US" sz="800" dirty="0"/>
          </a:p>
        </p:txBody>
      </p:sp>
      <p:sp>
        <p:nvSpPr>
          <p:cNvPr id="12" name="Text 10"/>
          <p:cNvSpPr/>
          <p:nvPr/>
        </p:nvSpPr>
        <p:spPr>
          <a:xfrm>
            <a:off x="4264037" y="1251496"/>
            <a:ext cx="4362041" cy="3045470"/>
          </a:xfrm>
          <a:prstGeom prst="roundRect">
            <a:avLst>
              <a:gd name="adj" fmla="val 1251"/>
            </a:avLst>
          </a:prstGeom>
          <a:solidFill>
            <a:srgbClr val="1C2128"/>
          </a:solidFill>
          <a:ln w="7144">
            <a:solidFill>
              <a:srgbClr val="2A2F37"/>
            </a:solidFill>
            <a:prstDash val="solid"/>
          </a:ln>
        </p:spPr>
        <p:txBody>
          <a:bodyPr wrap="square" rtlCol="0" anchor="ctr"/>
          <a:lstStyle/>
          <a:p>
            <a:pPr indent="0" marL="0">
              <a:buNone/>
            </a:pPr>
            <a:endParaRPr lang="en-US" dirty="0"/>
          </a:p>
        </p:txBody>
      </p:sp>
      <p:sp>
        <p:nvSpPr>
          <p:cNvPr id="13" name="Text 11"/>
          <p:cNvSpPr/>
          <p:nvPr/>
        </p:nvSpPr>
        <p:spPr>
          <a:xfrm>
            <a:off x="4401912" y="1386584"/>
            <a:ext cx="712098" cy="212027"/>
          </a:xfrm>
          <a:prstGeom prst="rect">
            <a:avLst/>
          </a:prstGeom>
          <a:solidFill>
            <a:srgbClr val="D4A24A">
              <a:alpha val="10000"/>
            </a:srgbClr>
          </a:solidFill>
          <a:ln/>
        </p:spPr>
        <p:txBody>
          <a:bodyPr wrap="square" rtlCol="0" anchor="ctr"/>
          <a:lstStyle/>
          <a:p>
            <a:pPr indent="0" marL="0">
              <a:buNone/>
            </a:pPr>
            <a:endParaRPr lang="en-US" dirty="0"/>
          </a:p>
        </p:txBody>
      </p:sp>
      <p:sp>
        <p:nvSpPr>
          <p:cNvPr id="14" name="Shape 12"/>
          <p:cNvSpPr/>
          <p:nvPr/>
        </p:nvSpPr>
        <p:spPr>
          <a:xfrm>
            <a:off x="4431916" y="1397943"/>
            <a:ext cx="0" cy="189309"/>
          </a:xfrm>
          <a:prstGeom prst="line">
            <a:avLst/>
          </a:prstGeom>
          <a:noFill/>
          <a:ln w="14288">
            <a:solidFill>
              <a:srgbClr val="D4A24A"/>
            </a:solidFill>
            <a:prstDash val="solid"/>
          </a:ln>
        </p:spPr>
      </p:sp>
      <p:sp>
        <p:nvSpPr>
          <p:cNvPr id="15" name="Text 13"/>
          <p:cNvSpPr/>
          <p:nvPr/>
        </p:nvSpPr>
        <p:spPr>
          <a:xfrm>
            <a:off x="4424772" y="1397943"/>
            <a:ext cx="666378" cy="261890"/>
          </a:xfrm>
          <a:prstGeom prst="rect">
            <a:avLst/>
          </a:prstGeom>
          <a:noFill/>
          <a:ln/>
        </p:spPr>
        <p:txBody>
          <a:bodyPr wrap="none" lIns="71438" tIns="35719" rIns="71438" bIns="35719" rtlCol="0" anchor="t">
            <a:normAutofit/>
          </a:bodyPr>
          <a:lstStyle/>
          <a:p>
            <a:pPr algn="l" indent="0" marL="0">
              <a:lnSpc>
                <a:spcPts val="928"/>
              </a:lnSpc>
              <a:buNone/>
            </a:pPr>
            <a:r>
              <a:rPr lang="en-US" sz="800" spc="136" kern="0" dirty="0">
                <a:solidFill>
                  <a:srgbClr val="D4A24A"/>
                </a:solidFill>
                <a:latin typeface="Courier New" pitchFamily="34" charset="0"/>
                <a:ea typeface="Courier New" pitchFamily="34" charset="-122"/>
                <a:cs typeface="Courier New" pitchFamily="34" charset="-120"/>
              </a:rPr>
              <a:t>THE POINT</a:t>
            </a:r>
            <a:endParaRPr lang="en-US" sz="800" dirty="0"/>
          </a:p>
        </p:txBody>
      </p:sp>
      <p:sp>
        <p:nvSpPr>
          <p:cNvPr id="16" name="Text 14"/>
          <p:cNvSpPr/>
          <p:nvPr/>
        </p:nvSpPr>
        <p:spPr>
          <a:xfrm>
            <a:off x="4424772" y="1687264"/>
            <a:ext cx="4040572" cy="413971"/>
          </a:xfrm>
          <a:prstGeom prst="rect">
            <a:avLst/>
          </a:prstGeom>
          <a:noFill/>
          <a:ln/>
        </p:spPr>
        <p:txBody>
          <a:bodyPr wrap="square" lIns="0" tIns="0" rIns="0" bIns="0" rtlCol="0" anchor="t"/>
          <a:lstStyle/>
          <a:p>
            <a:pPr algn="l" indent="0" marL="0">
              <a:lnSpc>
                <a:spcPts val="1510"/>
              </a:lnSpc>
              <a:buNone/>
            </a:pPr>
            <a:r>
              <a:rPr lang="en-US" sz="1238" spc="-6" kern="0" dirty="0">
                <a:solidFill>
                  <a:srgbClr val="F5F1E8"/>
                </a:solidFill>
                <a:latin typeface="Tinos" pitchFamily="34" charset="0"/>
                <a:ea typeface="Tinos" pitchFamily="34" charset="-122"/>
                <a:cs typeface="Tinos" pitchFamily="34" charset="-120"/>
              </a:rPr>
              <a:t>Upload what you hold. The platform fetches the rest to your boundary.</a:t>
            </a:r>
            <a:endParaRPr lang="en-US" sz="1238" dirty="0"/>
          </a:p>
        </p:txBody>
      </p:sp>
      <p:sp>
        <p:nvSpPr>
          <p:cNvPr id="17" name="Shape 15"/>
          <p:cNvSpPr/>
          <p:nvPr/>
        </p:nvSpPr>
        <p:spPr>
          <a:xfrm>
            <a:off x="4424772" y="2188443"/>
            <a:ext cx="1970224" cy="0"/>
          </a:xfrm>
          <a:prstGeom prst="line">
            <a:avLst/>
          </a:prstGeom>
          <a:noFill/>
          <a:ln w="7144">
            <a:solidFill>
              <a:srgbClr val="2A2F37"/>
            </a:solidFill>
            <a:prstDash val="solid"/>
          </a:ln>
        </p:spPr>
      </p:sp>
      <p:sp>
        <p:nvSpPr>
          <p:cNvPr id="18" name="Text 16"/>
          <p:cNvSpPr/>
          <p:nvPr/>
        </p:nvSpPr>
        <p:spPr>
          <a:xfrm>
            <a:off x="4424772" y="2249165"/>
            <a:ext cx="1970224" cy="122587"/>
          </a:xfrm>
          <a:prstGeom prst="rect">
            <a:avLst/>
          </a:prstGeom>
          <a:noFill/>
          <a:ln/>
        </p:spPr>
        <p:txBody>
          <a:bodyPr wrap="none" lIns="0" tIns="0" rIns="0" bIns="0" rtlCol="0" anchor="t">
            <a:normAutofit/>
          </a:bodyPr>
          <a:lstStyle/>
          <a:p>
            <a:pPr algn="l" indent="0" marL="0">
              <a:lnSpc>
                <a:spcPts val="1013"/>
              </a:lnSpc>
              <a:buNone/>
            </a:pPr>
            <a:r>
              <a:rPr lang="en-US" sz="800" spc="27" kern="0" dirty="0">
                <a:solidFill>
                  <a:srgbClr val="D4A24A"/>
                </a:solidFill>
                <a:latin typeface="Liberation Sans Narrow" pitchFamily="34" charset="0"/>
                <a:ea typeface="Liberation Sans Narrow" pitchFamily="34" charset="-122"/>
                <a:cs typeface="Liberation Sans Narrow" pitchFamily="34" charset="-120"/>
              </a:rPr>
              <a:t>Sentinel-2</a:t>
            </a:r>
            <a:endParaRPr lang="en-US" sz="800" dirty="0"/>
          </a:p>
        </p:txBody>
      </p:sp>
      <p:sp>
        <p:nvSpPr>
          <p:cNvPr id="19" name="Text 17"/>
          <p:cNvSpPr/>
          <p:nvPr/>
        </p:nvSpPr>
        <p:spPr>
          <a:xfrm>
            <a:off x="4424772" y="2399184"/>
            <a:ext cx="2079952" cy="114970"/>
          </a:xfrm>
          <a:prstGeom prst="rect">
            <a:avLst/>
          </a:prstGeom>
          <a:noFill/>
          <a:ln/>
        </p:spPr>
        <p:txBody>
          <a:bodyPr wrap="square" lIns="0" tIns="0" rIns="0" bIns="0" rtlCol="0" anchor="t"/>
          <a:lstStyle/>
          <a:p>
            <a:pPr algn="l" indent="0" marL="0">
              <a:lnSpc>
                <a:spcPts val="906"/>
              </a:lnSpc>
              <a:buNone/>
            </a:pPr>
            <a:r>
              <a:rPr lang="en-US" sz="647" dirty="0">
                <a:solidFill>
                  <a:srgbClr val="C9C3B5"/>
                </a:solidFill>
                <a:latin typeface="Carlito" pitchFamily="34" charset="0"/>
                <a:ea typeface="Carlito" pitchFamily="34" charset="-122"/>
                <a:cs typeface="Carlito" pitchFamily="34" charset="-120"/>
              </a:rPr>
              <a:t>Iron oxide, clay/hydroxyl, vegetation indices</a:t>
            </a:r>
            <a:endParaRPr lang="en-US" sz="647" dirty="0"/>
          </a:p>
        </p:txBody>
      </p:sp>
      <p:sp>
        <p:nvSpPr>
          <p:cNvPr id="20" name="Shape 18"/>
          <p:cNvSpPr/>
          <p:nvPr/>
        </p:nvSpPr>
        <p:spPr>
          <a:xfrm>
            <a:off x="6495008" y="2188443"/>
            <a:ext cx="1970336" cy="0"/>
          </a:xfrm>
          <a:prstGeom prst="line">
            <a:avLst/>
          </a:prstGeom>
          <a:noFill/>
          <a:ln w="7144">
            <a:solidFill>
              <a:srgbClr val="2A2F37"/>
            </a:solidFill>
            <a:prstDash val="solid"/>
          </a:ln>
        </p:spPr>
      </p:sp>
      <p:sp>
        <p:nvSpPr>
          <p:cNvPr id="21" name="Text 19"/>
          <p:cNvSpPr/>
          <p:nvPr/>
        </p:nvSpPr>
        <p:spPr>
          <a:xfrm>
            <a:off x="6495008" y="2249165"/>
            <a:ext cx="1970336" cy="122587"/>
          </a:xfrm>
          <a:prstGeom prst="rect">
            <a:avLst/>
          </a:prstGeom>
          <a:noFill/>
          <a:ln/>
        </p:spPr>
        <p:txBody>
          <a:bodyPr wrap="none" lIns="0" tIns="0" rIns="0" bIns="0" rtlCol="0" anchor="t">
            <a:normAutofit/>
          </a:bodyPr>
          <a:lstStyle/>
          <a:p>
            <a:pPr algn="l" indent="0" marL="0">
              <a:lnSpc>
                <a:spcPts val="1013"/>
              </a:lnSpc>
              <a:buNone/>
            </a:pPr>
            <a:r>
              <a:rPr lang="en-US" sz="800" spc="27" kern="0" dirty="0">
                <a:solidFill>
                  <a:srgbClr val="D4A24A"/>
                </a:solidFill>
                <a:latin typeface="Courier New" pitchFamily="34" charset="0"/>
                <a:ea typeface="Courier New" pitchFamily="34" charset="-122"/>
                <a:cs typeface="Courier New" pitchFamily="34" charset="-120"/>
              </a:rPr>
              <a:t>Copernicus DEM</a:t>
            </a:r>
            <a:endParaRPr lang="en-US" sz="800" dirty="0"/>
          </a:p>
        </p:txBody>
      </p:sp>
      <p:sp>
        <p:nvSpPr>
          <p:cNvPr id="22" name="Text 20"/>
          <p:cNvSpPr/>
          <p:nvPr/>
        </p:nvSpPr>
        <p:spPr>
          <a:xfrm>
            <a:off x="6495008" y="2399184"/>
            <a:ext cx="2080064" cy="114970"/>
          </a:xfrm>
          <a:prstGeom prst="rect">
            <a:avLst/>
          </a:prstGeom>
          <a:noFill/>
          <a:ln/>
        </p:spPr>
        <p:txBody>
          <a:bodyPr wrap="square" lIns="0" tIns="0" rIns="0" bIns="0" rtlCol="0" anchor="t"/>
          <a:lstStyle/>
          <a:p>
            <a:pPr algn="l" indent="0" marL="0">
              <a:lnSpc>
                <a:spcPts val="906"/>
              </a:lnSpc>
              <a:buNone/>
            </a:pPr>
            <a:r>
              <a:rPr lang="en-US" sz="800" dirty="0">
                <a:solidFill>
                  <a:srgbClr val="C9C3B5"/>
                </a:solidFill>
                <a:latin typeface="Carlito" pitchFamily="34" charset="0"/>
                <a:ea typeface="Carlito" pitchFamily="34" charset="-122"/>
                <a:cs typeface="Carlito" pitchFamily="34" charset="-120"/>
              </a:rPr>
              <a:t>Terrain, slope, drainage, access</a:t>
            </a:r>
            <a:endParaRPr lang="en-US" sz="800" dirty="0"/>
          </a:p>
        </p:txBody>
      </p:sp>
      <p:sp>
        <p:nvSpPr>
          <p:cNvPr id="23" name="Shape 21"/>
          <p:cNvSpPr/>
          <p:nvPr/>
        </p:nvSpPr>
        <p:spPr>
          <a:xfrm>
            <a:off x="4424772" y="2589163"/>
            <a:ext cx="1970224" cy="0"/>
          </a:xfrm>
          <a:prstGeom prst="line">
            <a:avLst/>
          </a:prstGeom>
          <a:noFill/>
          <a:ln w="7144">
            <a:solidFill>
              <a:srgbClr val="2A2F37"/>
            </a:solidFill>
            <a:prstDash val="solid"/>
          </a:ln>
        </p:spPr>
      </p:sp>
      <p:sp>
        <p:nvSpPr>
          <p:cNvPr id="24" name="Text 22"/>
          <p:cNvSpPr/>
          <p:nvPr/>
        </p:nvSpPr>
        <p:spPr>
          <a:xfrm>
            <a:off x="4424772" y="2649885"/>
            <a:ext cx="1970224" cy="122587"/>
          </a:xfrm>
          <a:prstGeom prst="rect">
            <a:avLst/>
          </a:prstGeom>
          <a:noFill/>
          <a:ln/>
        </p:spPr>
        <p:txBody>
          <a:bodyPr wrap="none" lIns="0" tIns="0" rIns="0" bIns="0" rtlCol="0" anchor="t">
            <a:normAutofit/>
          </a:bodyPr>
          <a:lstStyle/>
          <a:p>
            <a:pPr algn="l" indent="0" marL="0">
              <a:lnSpc>
                <a:spcPts val="1013"/>
              </a:lnSpc>
              <a:buNone/>
            </a:pPr>
            <a:r>
              <a:rPr lang="en-US" sz="800" spc="27" kern="0" dirty="0">
                <a:solidFill>
                  <a:srgbClr val="D4A24A"/>
                </a:solidFill>
                <a:latin typeface="Liberation Sans Narrow" pitchFamily="34" charset="0"/>
                <a:ea typeface="Liberation Sans Narrow" pitchFamily="34" charset="-122"/>
                <a:cs typeface="Liberation Sans Narrow" pitchFamily="34" charset="-120"/>
              </a:rPr>
              <a:t>NOAA EMAG2</a:t>
            </a:r>
            <a:endParaRPr lang="en-US" sz="800" dirty="0"/>
          </a:p>
        </p:txBody>
      </p:sp>
      <p:sp>
        <p:nvSpPr>
          <p:cNvPr id="25" name="Text 23"/>
          <p:cNvSpPr/>
          <p:nvPr/>
        </p:nvSpPr>
        <p:spPr>
          <a:xfrm>
            <a:off x="4424772" y="2799904"/>
            <a:ext cx="2079952" cy="114970"/>
          </a:xfrm>
          <a:prstGeom prst="rect">
            <a:avLst/>
          </a:prstGeom>
          <a:noFill/>
          <a:ln/>
        </p:spPr>
        <p:txBody>
          <a:bodyPr wrap="square" lIns="0" tIns="0" rIns="0" bIns="0" rtlCol="0" anchor="t"/>
          <a:lstStyle/>
          <a:p>
            <a:pPr algn="l" indent="0" marL="0">
              <a:lnSpc>
                <a:spcPts val="906"/>
              </a:lnSpc>
              <a:buNone/>
            </a:pPr>
            <a:r>
              <a:rPr lang="en-US" sz="647" dirty="0">
                <a:solidFill>
                  <a:srgbClr val="C9C3B5"/>
                </a:solidFill>
                <a:latin typeface="Carlito" pitchFamily="34" charset="0"/>
                <a:ea typeface="Carlito" pitchFamily="34" charset="-122"/>
                <a:cs typeface="Carlito" pitchFamily="34" charset="-120"/>
              </a:rPr>
              <a:t>Regional magnetic anomaly, basement context</a:t>
            </a:r>
            <a:endParaRPr lang="en-US" sz="647" dirty="0"/>
          </a:p>
        </p:txBody>
      </p:sp>
      <p:sp>
        <p:nvSpPr>
          <p:cNvPr id="26" name="Shape 24"/>
          <p:cNvSpPr/>
          <p:nvPr/>
        </p:nvSpPr>
        <p:spPr>
          <a:xfrm>
            <a:off x="6495008" y="2589163"/>
            <a:ext cx="1970336" cy="0"/>
          </a:xfrm>
          <a:prstGeom prst="line">
            <a:avLst/>
          </a:prstGeom>
          <a:noFill/>
          <a:ln w="7144">
            <a:solidFill>
              <a:srgbClr val="2A2F37"/>
            </a:solidFill>
            <a:prstDash val="solid"/>
          </a:ln>
        </p:spPr>
      </p:sp>
      <p:sp>
        <p:nvSpPr>
          <p:cNvPr id="27" name="Text 25"/>
          <p:cNvSpPr/>
          <p:nvPr/>
        </p:nvSpPr>
        <p:spPr>
          <a:xfrm>
            <a:off x="6495008" y="2649885"/>
            <a:ext cx="1970336" cy="122587"/>
          </a:xfrm>
          <a:prstGeom prst="rect">
            <a:avLst/>
          </a:prstGeom>
          <a:noFill/>
          <a:ln/>
        </p:spPr>
        <p:txBody>
          <a:bodyPr wrap="none" lIns="0" tIns="0" rIns="0" bIns="0" rtlCol="0" anchor="t">
            <a:normAutofit/>
          </a:bodyPr>
          <a:lstStyle/>
          <a:p>
            <a:pPr algn="l" indent="0" marL="0">
              <a:lnSpc>
                <a:spcPts val="1013"/>
              </a:lnSpc>
              <a:buNone/>
            </a:pPr>
            <a:r>
              <a:rPr lang="en-US" sz="800" spc="27" kern="0" dirty="0">
                <a:solidFill>
                  <a:srgbClr val="D4A24A"/>
                </a:solidFill>
                <a:latin typeface="Courier New" pitchFamily="34" charset="0"/>
                <a:ea typeface="Courier New" pitchFamily="34" charset="-122"/>
                <a:cs typeface="Courier New" pitchFamily="34" charset="-120"/>
              </a:rPr>
              <a:t>Macrostrat</a:t>
            </a:r>
            <a:endParaRPr lang="en-US" sz="800" dirty="0"/>
          </a:p>
        </p:txBody>
      </p:sp>
      <p:sp>
        <p:nvSpPr>
          <p:cNvPr id="28" name="Text 26"/>
          <p:cNvSpPr/>
          <p:nvPr/>
        </p:nvSpPr>
        <p:spPr>
          <a:xfrm>
            <a:off x="6495008" y="2799904"/>
            <a:ext cx="2080064" cy="114970"/>
          </a:xfrm>
          <a:prstGeom prst="rect">
            <a:avLst/>
          </a:prstGeom>
          <a:noFill/>
          <a:ln/>
        </p:spPr>
        <p:txBody>
          <a:bodyPr wrap="square" lIns="0" tIns="0" rIns="0" bIns="0" rtlCol="0" anchor="t"/>
          <a:lstStyle/>
          <a:p>
            <a:pPr algn="l" indent="0" marL="0">
              <a:lnSpc>
                <a:spcPts val="906"/>
              </a:lnSpc>
              <a:buNone/>
            </a:pPr>
            <a:r>
              <a:rPr lang="en-US" sz="800" dirty="0">
                <a:solidFill>
                  <a:srgbClr val="C9C3B5"/>
                </a:solidFill>
                <a:latin typeface="Carlito" pitchFamily="34" charset="0"/>
                <a:ea typeface="Carlito" pitchFamily="34" charset="-122"/>
                <a:cs typeface="Carlito" pitchFamily="34" charset="-120"/>
              </a:rPr>
              <a:t>Lithology, age, structural units</a:t>
            </a:r>
            <a:endParaRPr lang="en-US" sz="800" dirty="0"/>
          </a:p>
        </p:txBody>
      </p:sp>
      <p:sp>
        <p:nvSpPr>
          <p:cNvPr id="29" name="Shape 27"/>
          <p:cNvSpPr/>
          <p:nvPr/>
        </p:nvSpPr>
        <p:spPr>
          <a:xfrm>
            <a:off x="4424772" y="2989883"/>
            <a:ext cx="1970224" cy="0"/>
          </a:xfrm>
          <a:prstGeom prst="line">
            <a:avLst/>
          </a:prstGeom>
          <a:noFill/>
          <a:ln w="7144">
            <a:solidFill>
              <a:srgbClr val="2A2F37"/>
            </a:solidFill>
            <a:prstDash val="solid"/>
          </a:ln>
        </p:spPr>
      </p:sp>
      <p:sp>
        <p:nvSpPr>
          <p:cNvPr id="30" name="Text 28"/>
          <p:cNvSpPr/>
          <p:nvPr/>
        </p:nvSpPr>
        <p:spPr>
          <a:xfrm>
            <a:off x="4424772" y="3050604"/>
            <a:ext cx="1970224" cy="122587"/>
          </a:xfrm>
          <a:prstGeom prst="rect">
            <a:avLst/>
          </a:prstGeom>
          <a:noFill/>
          <a:ln/>
        </p:spPr>
        <p:txBody>
          <a:bodyPr wrap="none" lIns="0" tIns="0" rIns="0" bIns="0" rtlCol="0" anchor="t">
            <a:normAutofit/>
          </a:bodyPr>
          <a:lstStyle/>
          <a:p>
            <a:pPr algn="l" indent="0" marL="0">
              <a:lnSpc>
                <a:spcPts val="1013"/>
              </a:lnSpc>
              <a:buNone/>
            </a:pPr>
            <a:r>
              <a:rPr lang="en-US" sz="800" spc="27" kern="0" dirty="0">
                <a:solidFill>
                  <a:srgbClr val="D4A24A"/>
                </a:solidFill>
                <a:latin typeface="Courier New" pitchFamily="34" charset="0"/>
                <a:ea typeface="Courier New" pitchFamily="34" charset="-122"/>
                <a:cs typeface="Courier New" pitchFamily="34" charset="-120"/>
              </a:rPr>
              <a:t>OneGeology / BRGM</a:t>
            </a:r>
            <a:endParaRPr lang="en-US" sz="800" dirty="0"/>
          </a:p>
        </p:txBody>
      </p:sp>
      <p:sp>
        <p:nvSpPr>
          <p:cNvPr id="31" name="Text 29"/>
          <p:cNvSpPr/>
          <p:nvPr/>
        </p:nvSpPr>
        <p:spPr>
          <a:xfrm>
            <a:off x="4424772" y="3200623"/>
            <a:ext cx="2079952" cy="114970"/>
          </a:xfrm>
          <a:prstGeom prst="rect">
            <a:avLst/>
          </a:prstGeom>
          <a:noFill/>
          <a:ln/>
        </p:spPr>
        <p:txBody>
          <a:bodyPr wrap="square" lIns="0" tIns="0" rIns="0" bIns="0" rtlCol="0" anchor="t"/>
          <a:lstStyle/>
          <a:p>
            <a:pPr algn="l" indent="0" marL="0">
              <a:lnSpc>
                <a:spcPts val="906"/>
              </a:lnSpc>
              <a:buNone/>
            </a:pPr>
            <a:r>
              <a:rPr lang="en-US" sz="647" dirty="0">
                <a:solidFill>
                  <a:srgbClr val="C9C3B5"/>
                </a:solidFill>
                <a:latin typeface="Carlito" pitchFamily="34" charset="0"/>
                <a:ea typeface="Carlito" pitchFamily="34" charset="-122"/>
                <a:cs typeface="Carlito" pitchFamily="34" charset="-120"/>
              </a:rPr>
              <a:t>Geological map interpretation backdrop</a:t>
            </a:r>
            <a:endParaRPr lang="en-US" sz="647" dirty="0"/>
          </a:p>
        </p:txBody>
      </p:sp>
      <p:sp>
        <p:nvSpPr>
          <p:cNvPr id="32" name="Shape 30"/>
          <p:cNvSpPr/>
          <p:nvPr/>
        </p:nvSpPr>
        <p:spPr>
          <a:xfrm>
            <a:off x="6495008" y="2989883"/>
            <a:ext cx="1970336" cy="0"/>
          </a:xfrm>
          <a:prstGeom prst="line">
            <a:avLst/>
          </a:prstGeom>
          <a:noFill/>
          <a:ln w="7144">
            <a:solidFill>
              <a:srgbClr val="2A2F37"/>
            </a:solidFill>
            <a:prstDash val="solid"/>
          </a:ln>
        </p:spPr>
      </p:sp>
      <p:sp>
        <p:nvSpPr>
          <p:cNvPr id="33" name="Text 31"/>
          <p:cNvSpPr/>
          <p:nvPr/>
        </p:nvSpPr>
        <p:spPr>
          <a:xfrm>
            <a:off x="6495008" y="3050604"/>
            <a:ext cx="1970336" cy="122587"/>
          </a:xfrm>
          <a:prstGeom prst="rect">
            <a:avLst/>
          </a:prstGeom>
          <a:noFill/>
          <a:ln/>
        </p:spPr>
        <p:txBody>
          <a:bodyPr wrap="none" lIns="0" tIns="0" rIns="0" bIns="0" rtlCol="0" anchor="t">
            <a:normAutofit/>
          </a:bodyPr>
          <a:lstStyle/>
          <a:p>
            <a:pPr algn="l" indent="0" marL="0">
              <a:lnSpc>
                <a:spcPts val="1013"/>
              </a:lnSpc>
              <a:buNone/>
            </a:pPr>
            <a:r>
              <a:rPr lang="en-US" sz="800" spc="27" kern="0" dirty="0">
                <a:solidFill>
                  <a:srgbClr val="D4A24A"/>
                </a:solidFill>
                <a:latin typeface="Courier New" pitchFamily="34" charset="0"/>
                <a:ea typeface="Courier New" pitchFamily="34" charset="-122"/>
                <a:cs typeface="Courier New" pitchFamily="34" charset="-120"/>
              </a:rPr>
              <a:t>USGS MRDS</a:t>
            </a:r>
            <a:endParaRPr lang="en-US" sz="800" dirty="0"/>
          </a:p>
        </p:txBody>
      </p:sp>
      <p:sp>
        <p:nvSpPr>
          <p:cNvPr id="34" name="Text 32"/>
          <p:cNvSpPr/>
          <p:nvPr/>
        </p:nvSpPr>
        <p:spPr>
          <a:xfrm>
            <a:off x="6495008" y="3200623"/>
            <a:ext cx="1970336" cy="114970"/>
          </a:xfrm>
          <a:prstGeom prst="rect">
            <a:avLst/>
          </a:prstGeom>
          <a:noFill/>
          <a:ln/>
        </p:spPr>
        <p:txBody>
          <a:bodyPr wrap="square" lIns="0" tIns="0" rIns="0" bIns="0" rtlCol="0" anchor="t"/>
          <a:lstStyle/>
          <a:p>
            <a:pPr algn="l" indent="0" marL="0">
              <a:lnSpc>
                <a:spcPts val="906"/>
              </a:lnSpc>
              <a:buNone/>
            </a:pPr>
            <a:r>
              <a:rPr lang="en-US" sz="647" dirty="0">
                <a:solidFill>
                  <a:srgbClr val="C9C3B5"/>
                </a:solidFill>
                <a:latin typeface="Carlito" pitchFamily="34" charset="0"/>
                <a:ea typeface="Carlito" pitchFamily="34" charset="-122"/>
                <a:cs typeface="Carlito" pitchFamily="34" charset="-120"/>
              </a:rPr>
              <a:t>Known deposits, occurrences, claim verification</a:t>
            </a:r>
            <a:endParaRPr lang="en-US" sz="647" dirty="0"/>
          </a:p>
        </p:txBody>
      </p:sp>
      <p:sp>
        <p:nvSpPr>
          <p:cNvPr id="35" name="Shape 33"/>
          <p:cNvSpPr/>
          <p:nvPr/>
        </p:nvSpPr>
        <p:spPr>
          <a:xfrm>
            <a:off x="4424772" y="3390602"/>
            <a:ext cx="1970224" cy="0"/>
          </a:xfrm>
          <a:prstGeom prst="line">
            <a:avLst/>
          </a:prstGeom>
          <a:noFill/>
          <a:ln w="7144">
            <a:solidFill>
              <a:srgbClr val="2A2F37"/>
            </a:solidFill>
            <a:prstDash val="solid"/>
          </a:ln>
        </p:spPr>
      </p:sp>
      <p:sp>
        <p:nvSpPr>
          <p:cNvPr id="36" name="Text 34"/>
          <p:cNvSpPr/>
          <p:nvPr/>
        </p:nvSpPr>
        <p:spPr>
          <a:xfrm>
            <a:off x="4424772" y="3451324"/>
            <a:ext cx="1970224" cy="122587"/>
          </a:xfrm>
          <a:prstGeom prst="rect">
            <a:avLst/>
          </a:prstGeom>
          <a:noFill/>
          <a:ln/>
        </p:spPr>
        <p:txBody>
          <a:bodyPr wrap="none" lIns="0" tIns="0" rIns="0" bIns="0" rtlCol="0" anchor="t">
            <a:normAutofit/>
          </a:bodyPr>
          <a:lstStyle/>
          <a:p>
            <a:pPr algn="l" indent="0" marL="0">
              <a:lnSpc>
                <a:spcPts val="1013"/>
              </a:lnSpc>
              <a:buNone/>
            </a:pPr>
            <a:r>
              <a:rPr lang="en-US" sz="800" spc="27" kern="0" dirty="0">
                <a:solidFill>
                  <a:srgbClr val="D4A24A"/>
                </a:solidFill>
                <a:latin typeface="Courier New" pitchFamily="34" charset="0"/>
                <a:ea typeface="Courier New" pitchFamily="34" charset="-122"/>
                <a:cs typeface="Courier New" pitchFamily="34" charset="-120"/>
              </a:rPr>
              <a:t>WDPA</a:t>
            </a:r>
            <a:endParaRPr lang="en-US" sz="800" dirty="0"/>
          </a:p>
        </p:txBody>
      </p:sp>
      <p:sp>
        <p:nvSpPr>
          <p:cNvPr id="37" name="Text 35"/>
          <p:cNvSpPr/>
          <p:nvPr/>
        </p:nvSpPr>
        <p:spPr>
          <a:xfrm>
            <a:off x="4424772" y="3601343"/>
            <a:ext cx="2079952" cy="114970"/>
          </a:xfrm>
          <a:prstGeom prst="rect">
            <a:avLst/>
          </a:prstGeom>
          <a:noFill/>
          <a:ln/>
        </p:spPr>
        <p:txBody>
          <a:bodyPr wrap="square" lIns="0" tIns="0" rIns="0" bIns="0" rtlCol="0" anchor="t"/>
          <a:lstStyle/>
          <a:p>
            <a:pPr algn="l" indent="0" marL="0">
              <a:lnSpc>
                <a:spcPts val="906"/>
              </a:lnSpc>
              <a:buNone/>
            </a:pPr>
            <a:r>
              <a:rPr lang="en-US" sz="800" dirty="0">
                <a:solidFill>
                  <a:srgbClr val="C9C3B5"/>
                </a:solidFill>
                <a:latin typeface="Carlito" pitchFamily="34" charset="0"/>
                <a:ea typeface="Carlito" pitchFamily="34" charset="-122"/>
                <a:cs typeface="Carlito" pitchFamily="34" charset="-120"/>
              </a:rPr>
              <a:t>Protected-area exclusion constraint</a:t>
            </a:r>
            <a:endParaRPr lang="en-US" sz="800" dirty="0"/>
          </a:p>
        </p:txBody>
      </p:sp>
      <p:sp>
        <p:nvSpPr>
          <p:cNvPr id="38" name="Shape 36"/>
          <p:cNvSpPr/>
          <p:nvPr/>
        </p:nvSpPr>
        <p:spPr>
          <a:xfrm>
            <a:off x="6495008" y="3390602"/>
            <a:ext cx="1970336" cy="0"/>
          </a:xfrm>
          <a:prstGeom prst="line">
            <a:avLst/>
          </a:prstGeom>
          <a:noFill/>
          <a:ln w="7144">
            <a:solidFill>
              <a:srgbClr val="2A2F37"/>
            </a:solidFill>
            <a:prstDash val="solid"/>
          </a:ln>
        </p:spPr>
      </p:sp>
      <p:sp>
        <p:nvSpPr>
          <p:cNvPr id="39" name="Text 37"/>
          <p:cNvSpPr/>
          <p:nvPr/>
        </p:nvSpPr>
        <p:spPr>
          <a:xfrm>
            <a:off x="6495008" y="3451324"/>
            <a:ext cx="1970336" cy="122587"/>
          </a:xfrm>
          <a:prstGeom prst="rect">
            <a:avLst/>
          </a:prstGeom>
          <a:noFill/>
          <a:ln/>
        </p:spPr>
        <p:txBody>
          <a:bodyPr wrap="none" lIns="0" tIns="0" rIns="0" bIns="0" rtlCol="0" anchor="t">
            <a:normAutofit/>
          </a:bodyPr>
          <a:lstStyle/>
          <a:p>
            <a:pPr algn="l" indent="0" marL="0">
              <a:lnSpc>
                <a:spcPts val="1013"/>
              </a:lnSpc>
              <a:buNone/>
            </a:pPr>
            <a:r>
              <a:rPr lang="en-US" sz="800" spc="27" kern="0" dirty="0">
                <a:solidFill>
                  <a:srgbClr val="D4A24A"/>
                </a:solidFill>
                <a:latin typeface="Courier New" pitchFamily="34" charset="0"/>
                <a:ea typeface="Courier New" pitchFamily="34" charset="-122"/>
                <a:cs typeface="Courier New" pitchFamily="34" charset="-120"/>
              </a:rPr>
              <a:t>OpenStreetMap</a:t>
            </a:r>
            <a:endParaRPr lang="en-US" sz="800" dirty="0"/>
          </a:p>
        </p:txBody>
      </p:sp>
      <p:sp>
        <p:nvSpPr>
          <p:cNvPr id="40" name="Text 38"/>
          <p:cNvSpPr/>
          <p:nvPr/>
        </p:nvSpPr>
        <p:spPr>
          <a:xfrm>
            <a:off x="6495008" y="3601343"/>
            <a:ext cx="2080064" cy="114970"/>
          </a:xfrm>
          <a:prstGeom prst="rect">
            <a:avLst/>
          </a:prstGeom>
          <a:noFill/>
          <a:ln/>
        </p:spPr>
        <p:txBody>
          <a:bodyPr wrap="square" lIns="0" tIns="0" rIns="0" bIns="0" rtlCol="0" anchor="t"/>
          <a:lstStyle/>
          <a:p>
            <a:pPr algn="l" indent="0" marL="0">
              <a:lnSpc>
                <a:spcPts val="906"/>
              </a:lnSpc>
              <a:buNone/>
            </a:pPr>
            <a:r>
              <a:rPr lang="en-US" sz="800" dirty="0">
                <a:solidFill>
                  <a:srgbClr val="C9C3B5"/>
                </a:solidFill>
                <a:latin typeface="Carlito" pitchFamily="34" charset="0"/>
                <a:ea typeface="Carlito" pitchFamily="34" charset="-122"/>
                <a:cs typeface="Carlito" pitchFamily="34" charset="-120"/>
              </a:rPr>
              <a:t>Road network, settlements, logistics</a:t>
            </a:r>
            <a:endParaRPr lang="en-US" sz="800" dirty="0"/>
          </a:p>
        </p:txBody>
      </p:sp>
      <p:sp>
        <p:nvSpPr>
          <p:cNvPr id="41" name="Text 39"/>
          <p:cNvSpPr/>
          <p:nvPr/>
        </p:nvSpPr>
        <p:spPr>
          <a:xfrm>
            <a:off x="4424772" y="3816325"/>
            <a:ext cx="4040572" cy="319906"/>
          </a:xfrm>
          <a:prstGeom prst="rect">
            <a:avLst/>
          </a:prstGeom>
          <a:noFill/>
          <a:ln/>
        </p:spPr>
        <p:txBody>
          <a:bodyPr wrap="square" lIns="0" tIns="0" rIns="0" bIns="0" rtlCol="0" anchor="t"/>
          <a:lstStyle/>
          <a:p>
            <a:pPr algn="l" indent="0" marL="0">
              <a:lnSpc>
                <a:spcPts val="1260"/>
              </a:lnSpc>
              <a:buNone/>
            </a:pPr>
            <a:r>
              <a:rPr lang="en-US" sz="800" dirty="0">
                <a:solidFill>
                  <a:srgbClr val="C9C3B5"/>
                </a:solidFill>
                <a:latin typeface="Carlito" pitchFamily="34" charset="0"/>
                <a:ea typeface="Carlito" pitchFamily="34" charset="-122"/>
                <a:cs typeface="Carlito" pitchFamily="34" charset="-120"/>
              </a:rPr>
              <a:t>Your boundary polygon scopes every fetch. What took weeks of GIS assembly is now a boundary and a wait — your survey data and the world's public record on the same grid.</a:t>
            </a:r>
            <a:endParaRPr lang="en-US" sz="800" dirty="0"/>
          </a:p>
        </p:txBody>
      </p:sp>
      <p:sp>
        <p:nvSpPr>
          <p:cNvPr id="42" name="Text 40"/>
          <p:cNvSpPr/>
          <p:nvPr/>
        </p:nvSpPr>
        <p:spPr>
          <a:xfrm>
            <a:off x="514350" y="4429125"/>
            <a:ext cx="8115300" cy="483543"/>
          </a:xfrm>
          <a:prstGeom prst="roundRect">
            <a:avLst>
              <a:gd name="adj" fmla="val 7879"/>
            </a:avLst>
          </a:prstGeom>
          <a:solidFill>
            <a:srgbClr val="1C2128"/>
          </a:solidFill>
          <a:ln/>
        </p:spPr>
        <p:txBody>
          <a:bodyPr wrap="square" rtlCol="0" anchor="ctr"/>
          <a:lstStyle/>
          <a:p>
            <a:pPr indent="0" marL="0">
              <a:buNone/>
            </a:pPr>
            <a:endParaRPr lang="en-US" dirty="0"/>
          </a:p>
        </p:txBody>
      </p:sp>
      <p:sp>
        <p:nvSpPr>
          <p:cNvPr id="43" name="Shape 41"/>
          <p:cNvSpPr/>
          <p:nvPr/>
        </p:nvSpPr>
        <p:spPr>
          <a:xfrm>
            <a:off x="514350" y="4432697"/>
            <a:ext cx="8115300" cy="0"/>
          </a:xfrm>
          <a:prstGeom prst="line">
            <a:avLst/>
          </a:prstGeom>
          <a:noFill/>
          <a:ln w="7144">
            <a:solidFill>
              <a:srgbClr val="2A2F37"/>
            </a:solidFill>
            <a:prstDash val="solid"/>
          </a:ln>
        </p:spPr>
      </p:sp>
      <p:sp>
        <p:nvSpPr>
          <p:cNvPr id="44" name="Shape 42"/>
          <p:cNvSpPr/>
          <p:nvPr/>
        </p:nvSpPr>
        <p:spPr>
          <a:xfrm>
            <a:off x="8626078" y="4429125"/>
            <a:ext cx="0" cy="483543"/>
          </a:xfrm>
          <a:prstGeom prst="line">
            <a:avLst/>
          </a:prstGeom>
          <a:noFill/>
          <a:ln w="7144">
            <a:solidFill>
              <a:srgbClr val="2A2F37"/>
            </a:solidFill>
            <a:prstDash val="solid"/>
          </a:ln>
        </p:spPr>
      </p:sp>
      <p:sp>
        <p:nvSpPr>
          <p:cNvPr id="45" name="Shape 43"/>
          <p:cNvSpPr/>
          <p:nvPr/>
        </p:nvSpPr>
        <p:spPr>
          <a:xfrm>
            <a:off x="514350" y="4909096"/>
            <a:ext cx="8115300" cy="0"/>
          </a:xfrm>
          <a:prstGeom prst="line">
            <a:avLst/>
          </a:prstGeom>
          <a:noFill/>
          <a:ln w="7144">
            <a:solidFill>
              <a:srgbClr val="2A2F37"/>
            </a:solidFill>
            <a:prstDash val="solid"/>
          </a:ln>
        </p:spPr>
      </p:sp>
      <p:sp>
        <p:nvSpPr>
          <p:cNvPr id="46" name="Shape 44"/>
          <p:cNvSpPr/>
          <p:nvPr/>
        </p:nvSpPr>
        <p:spPr>
          <a:xfrm>
            <a:off x="525066" y="4429125"/>
            <a:ext cx="0" cy="483543"/>
          </a:xfrm>
          <a:prstGeom prst="line">
            <a:avLst/>
          </a:prstGeom>
          <a:noFill/>
          <a:ln w="21431">
            <a:solidFill>
              <a:srgbClr val="4A8F6B"/>
            </a:solidFill>
            <a:prstDash val="solid"/>
          </a:ln>
        </p:spPr>
      </p:sp>
      <p:sp>
        <p:nvSpPr>
          <p:cNvPr id="47" name="Text 45"/>
          <p:cNvSpPr/>
          <p:nvPr/>
        </p:nvSpPr>
        <p:spPr>
          <a:xfrm>
            <a:off x="698659" y="4553498"/>
            <a:ext cx="768690" cy="212027"/>
          </a:xfrm>
          <a:prstGeom prst="rect">
            <a:avLst/>
          </a:prstGeom>
          <a:solidFill>
            <a:srgbClr val="4A8F6B">
              <a:alpha val="10000"/>
            </a:srgbClr>
          </a:solidFill>
          <a:ln/>
        </p:spPr>
        <p:txBody>
          <a:bodyPr wrap="square" rtlCol="0" anchor="ctr"/>
          <a:lstStyle/>
          <a:p>
            <a:pPr indent="0" marL="0">
              <a:buNone/>
            </a:pPr>
            <a:endParaRPr lang="en-US" dirty="0"/>
          </a:p>
        </p:txBody>
      </p:sp>
      <p:sp>
        <p:nvSpPr>
          <p:cNvPr id="48" name="Shape 46"/>
          <p:cNvSpPr/>
          <p:nvPr/>
        </p:nvSpPr>
        <p:spPr>
          <a:xfrm>
            <a:off x="728663" y="4564856"/>
            <a:ext cx="0" cy="189309"/>
          </a:xfrm>
          <a:prstGeom prst="line">
            <a:avLst/>
          </a:prstGeom>
          <a:noFill/>
          <a:ln w="14288">
            <a:solidFill>
              <a:srgbClr val="4A8F6B"/>
            </a:solidFill>
            <a:prstDash val="solid"/>
          </a:ln>
        </p:spPr>
      </p:sp>
      <p:sp>
        <p:nvSpPr>
          <p:cNvPr id="49" name="Text 47"/>
          <p:cNvSpPr/>
          <p:nvPr/>
        </p:nvSpPr>
        <p:spPr>
          <a:xfrm>
            <a:off x="721519" y="4564856"/>
            <a:ext cx="801551" cy="212080"/>
          </a:xfrm>
          <a:prstGeom prst="rect">
            <a:avLst/>
          </a:prstGeom>
          <a:noFill/>
          <a:ln/>
        </p:spPr>
        <p:txBody>
          <a:bodyPr wrap="none" lIns="71438" tIns="35719" rIns="71438" bIns="35719" rtlCol="0" anchor="t"/>
          <a:lstStyle/>
          <a:p>
            <a:pPr algn="l" indent="0" marL="0">
              <a:lnSpc>
                <a:spcPts val="928"/>
              </a:lnSpc>
              <a:buNone/>
            </a:pPr>
            <a:r>
              <a:rPr lang="en-US" sz="800" spc="136" kern="0" dirty="0">
                <a:solidFill>
                  <a:srgbClr val="4A8F6B"/>
                </a:solidFill>
                <a:latin typeface="Courier New" pitchFamily="34" charset="0"/>
                <a:ea typeface="Courier New" pitchFamily="34" charset="-122"/>
                <a:cs typeface="Courier New" pitchFamily="34" charset="-120"/>
              </a:rPr>
              <a:t>THE IMPACT</a:t>
            </a:r>
            <a:endParaRPr lang="en-US" sz="800" dirty="0"/>
          </a:p>
        </p:txBody>
      </p:sp>
      <p:sp>
        <p:nvSpPr>
          <p:cNvPr id="50" name="Text 48"/>
          <p:cNvSpPr/>
          <p:nvPr/>
        </p:nvSpPr>
        <p:spPr>
          <a:xfrm>
            <a:off x="1601651" y="4564856"/>
            <a:ext cx="6835118" cy="212080"/>
          </a:xfrm>
          <a:prstGeom prst="rect">
            <a:avLst/>
          </a:prstGeom>
          <a:noFill/>
          <a:ln/>
        </p:spPr>
        <p:txBody>
          <a:bodyPr wrap="square" lIns="0" tIns="0" rIns="0" bIns="0" rtlCol="0" anchor="t"/>
          <a:lstStyle/>
          <a:p>
            <a:pPr algn="l" indent="0" marL="0">
              <a:lnSpc>
                <a:spcPts val="1671"/>
              </a:lnSpc>
              <a:buNone/>
            </a:pPr>
            <a:r>
              <a:rPr lang="en-US" sz="1238" i="1" spc="-6" kern="0" dirty="0">
                <a:solidFill>
                  <a:srgbClr val="F5F1E8"/>
                </a:solidFill>
                <a:latin typeface="Tinos" pitchFamily="34" charset="0"/>
                <a:ea typeface="Tinos" pitchFamily="34" charset="-122"/>
                <a:cs typeface="Tinos" pitchFamily="34" charset="-120"/>
              </a:rPr>
              <a:t>What took weeks is a polygon and a wait. The geologist starts from the </a:t>
            </a:r>
            <a:pPr algn="l" indent="0" marL="0">
              <a:lnSpc>
                <a:spcPts val="1671"/>
              </a:lnSpc>
              <a:buNone/>
            </a:pPr>
            <a:r>
              <a:rPr lang="en-US" sz="1238" i="1" spc="-6" kern="0" dirty="0">
                <a:solidFill>
                  <a:srgbClr val="D4A24A"/>
                </a:solidFill>
                <a:latin typeface="Tinos" pitchFamily="34" charset="0"/>
                <a:ea typeface="Tinos" pitchFamily="34" charset="-122"/>
                <a:cs typeface="Tinos" pitchFamily="34" charset="-120"/>
              </a:rPr>
              <a:t>evidence grid</a:t>
            </a:r>
            <a:pPr algn="l" indent="0" marL="0">
              <a:lnSpc>
                <a:spcPts val="1671"/>
              </a:lnSpc>
              <a:buNone/>
            </a:pPr>
            <a:r>
              <a:rPr lang="en-US" sz="1238" i="1" spc="-6" kern="0" dirty="0">
                <a:solidFill>
                  <a:srgbClr val="F5F1E8"/>
                </a:solidFill>
                <a:latin typeface="Tinos" pitchFamily="34" charset="0"/>
                <a:ea typeface="Tinos" pitchFamily="34" charset="-122"/>
                <a:cs typeface="Tinos" pitchFamily="34" charset="-120"/>
              </a:rPr>
              <a:t>, not from the inbox.</a:t>
            </a:r>
            <a:endParaRPr lang="en-US" sz="1238" dirty="0"/>
          </a:p>
        </p:txBody>
      </p:sp>
      <p:sp>
        <p:nvSpPr>
          <p:cNvPr id="51" name="Shape 49"/>
          <p:cNvSpPr/>
          <p:nvPr/>
        </p:nvSpPr>
        <p:spPr>
          <a:xfrm>
            <a:off x="514350" y="4736306"/>
            <a:ext cx="8115300" cy="0"/>
          </a:xfrm>
          <a:prstGeom prst="line">
            <a:avLst/>
          </a:prstGeom>
          <a:noFill/>
          <a:ln w="7144">
            <a:solidFill>
              <a:srgbClr val="2A2F37"/>
            </a:solidFill>
            <a:prstDash val="solid"/>
          </a:ln>
        </p:spPr>
      </p:sp>
      <p:sp>
        <p:nvSpPr>
          <p:cNvPr id="52" name="Text 50"/>
          <p:cNvSpPr/>
          <p:nvPr/>
        </p:nvSpPr>
        <p:spPr>
          <a:xfrm>
            <a:off x="514350" y="4825603"/>
            <a:ext cx="7748960" cy="117872"/>
          </a:xfrm>
          <a:prstGeom prst="rect">
            <a:avLst/>
          </a:prstGeom>
          <a:noFill/>
          <a:ln/>
        </p:spPr>
        <p:txBody>
          <a:bodyPr wrap="square" lIns="0" tIns="0" rIns="0" bIns="0" rtlCol="0" anchor="t"/>
          <a:lstStyle/>
          <a:p>
            <a:pPr algn="l" indent="0" marL="0">
              <a:lnSpc>
                <a:spcPts val="928"/>
              </a:lnSpc>
              <a:buNone/>
            </a:pPr>
            <a:r>
              <a:rPr lang="en-US" sz="800" spc="87" kern="0" dirty="0">
                <a:solidFill>
                  <a:srgbClr val="8A8576"/>
                </a:solidFill>
                <a:latin typeface="Liberation Sans Narrow" pitchFamily="34" charset="0"/>
                <a:ea typeface="Liberation Sans Narrow" pitchFamily="34" charset="-122"/>
                <a:cs typeface="Liberation Sans Narrow" pitchFamily="34" charset="-120"/>
              </a:rPr>
              <a:t>CLAIM 01 — ASSEMBLY IS AUTOMATIC</a:t>
            </a:r>
            <a:endParaRPr lang="en-US" sz="800" dirty="0"/>
          </a:p>
        </p:txBody>
      </p:sp>
      <p:sp>
        <p:nvSpPr>
          <p:cNvPr id="53" name="Text 51"/>
          <p:cNvSpPr/>
          <p:nvPr/>
        </p:nvSpPr>
        <p:spPr>
          <a:xfrm>
            <a:off x="8277597" y="4825603"/>
            <a:ext cx="352053" cy="117872"/>
          </a:xfrm>
          <a:prstGeom prst="rect">
            <a:avLst/>
          </a:prstGeom>
          <a:noFill/>
          <a:ln/>
        </p:spPr>
        <p:txBody>
          <a:bodyPr wrap="none" lIns="0" tIns="0" rIns="0" bIns="0" rtlCol="0" anchor="t"/>
          <a:lstStyle/>
          <a:p>
            <a:pPr algn="l" indent="0" marL="0">
              <a:lnSpc>
                <a:spcPts val="928"/>
              </a:lnSpc>
              <a:buNone/>
            </a:pPr>
            <a:r>
              <a:rPr lang="en-US" sz="619" spc="87" kern="0" dirty="0">
                <a:solidFill>
                  <a:srgbClr val="8A8576"/>
                </a:solidFill>
                <a:latin typeface="Liberation Sans Narrow" pitchFamily="34" charset="0"/>
                <a:ea typeface="Liberation Sans Narrow" pitchFamily="34" charset="-122"/>
                <a:cs typeface="Liberation Sans Narrow" pitchFamily="34" charset="-120"/>
              </a:rPr>
              <a:t>03 / 12</a:t>
            </a:r>
            <a:endParaRPr lang="en-US" sz="619" dirty="0"/>
          </a:p>
        </p:txBody>
      </p:sp>
      <p:sp>
        <p:nvSpPr>
          <p:cNvPr id="54" name="Text 52"/>
          <p:cNvSpPr/>
          <p:nvPr/>
        </p:nvSpPr>
        <p:spPr>
          <a:xfrm>
            <a:off x="514350" y="453628"/>
            <a:ext cx="1664406" cy="164592"/>
          </a:xfrm>
          <a:prstGeom prst="rect">
            <a:avLst/>
          </a:prstGeom>
          <a:noFill/>
          <a:ln/>
        </p:spPr>
        <p:txBody>
          <a:bodyPr wrap="none" lIns="0" tIns="0" rIns="0" bIns="0" rtlCol="0" anchor="t"/>
          <a:lstStyle/>
          <a:p>
            <a:pPr algn="l" indent="0" marL="0">
              <a:lnSpc>
                <a:spcPts val="1013"/>
              </a:lnSpc>
              <a:buNone/>
            </a:pPr>
            <a:r>
              <a:rPr lang="en-US" sz="800" spc="176" kern="0" dirty="0">
                <a:solidFill>
                  <a:srgbClr val="D4A24A"/>
                </a:solidFill>
                <a:latin typeface="Liberation Sans Narrow" pitchFamily="34" charset="0"/>
                <a:ea typeface="Liberation Sans Narrow" pitchFamily="34" charset="-122"/>
                <a:cs typeface="Liberation Sans Narrow" pitchFamily="34" charset="-120"/>
              </a:rPr>
              <a:t>CLAIM 01 / 03</a:t>
            </a:r>
            <a:endParaRPr lang="en-US" sz="800" dirty="0"/>
          </a:p>
        </p:txBody>
      </p:sp>
      <p:sp>
        <p:nvSpPr>
          <p:cNvPr id="55" name="Text 53"/>
          <p:cNvSpPr/>
          <p:nvPr/>
        </p:nvSpPr>
        <p:spPr>
          <a:xfrm>
            <a:off x="514350" y="667941"/>
            <a:ext cx="8521065" cy="333202"/>
          </a:xfrm>
          <a:prstGeom prst="rect">
            <a:avLst/>
          </a:prstGeom>
          <a:noFill/>
          <a:ln/>
        </p:spPr>
        <p:txBody>
          <a:bodyPr wrap="none" lIns="0" tIns="0" rIns="0" bIns="0" rtlCol="0" anchor="t"/>
          <a:lstStyle/>
          <a:p>
            <a:pPr algn="l" indent="0" marL="0">
              <a:lnSpc>
                <a:spcPts val="2430"/>
              </a:lnSpc>
              <a:buNone/>
            </a:pPr>
            <a:r>
              <a:rPr lang="en-US" sz="2250" spc="-27" kern="0" dirty="0">
                <a:solidFill>
                  <a:srgbClr val="F5F1E8"/>
                </a:solidFill>
                <a:latin typeface="Tinos" pitchFamily="34" charset="0"/>
                <a:ea typeface="Tinos" pitchFamily="34" charset="-122"/>
                <a:cs typeface="Tinos" pitchFamily="34" charset="-120"/>
              </a:rPr>
              <a:t>Assembly is automatic.</a:t>
            </a:r>
            <a:endParaRPr lang="en-US" sz="2250" dirty="0"/>
          </a:p>
        </p:txBody>
      </p:sp>
      <p:sp>
        <p:nvSpPr>
          <p:cNvPr id="56" name="Text 54"/>
          <p:cNvSpPr/>
          <p:nvPr/>
        </p:nvSpPr>
        <p:spPr>
          <a:xfrm>
            <a:off x="514350" y="1076474"/>
            <a:ext cx="400050" cy="14288"/>
          </a:xfrm>
          <a:prstGeom prst="rect">
            <a:avLst/>
          </a:prstGeom>
          <a:solidFill>
            <a:srgbClr val="D4A24A"/>
          </a:solidFill>
          <a:ln/>
        </p:spPr>
        <p:txBody>
          <a:bodyPr wrap="square" rtlCol="0" anchor="ctr"/>
          <a:lstStyle/>
          <a:p>
            <a:pPr indent="0" marL="0">
              <a:buNone/>
            </a:pP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1115"/>
        </a:solidFill>
      </p:bgPr>
    </p:bg>
    <p:spTree>
      <p:nvGrpSpPr>
        <p:cNvPr id="1" name=""/>
        <p:cNvGrpSpPr/>
        <p:nvPr/>
      </p:nvGrpSpPr>
      <p:grpSpPr>
        <a:xfrm>
          <a:off x="0" y="0"/>
          <a:ext cx="0" cy="0"/>
          <a:chOff x="0" y="0"/>
          <a:chExt cx="0" cy="0"/>
        </a:xfrm>
      </p:grpSpPr>
      <p:sp>
        <p:nvSpPr>
          <p:cNvPr id="2" name="Text 0"/>
          <p:cNvSpPr/>
          <p:nvPr/>
        </p:nvSpPr>
        <p:spPr>
          <a:xfrm>
            <a:off x="514350" y="200025"/>
            <a:ext cx="2326933" cy="164592"/>
          </a:xfrm>
          <a:prstGeom prst="rect">
            <a:avLst/>
          </a:prstGeom>
          <a:noFill/>
          <a:ln/>
        </p:spPr>
        <p:txBody>
          <a:bodyPr wrap="square" lIns="0" tIns="0" rIns="0" bIns="0" rtlCol="0" anchor="t"/>
          <a:lstStyle/>
          <a:p>
            <a:pPr algn="l" indent="0" marL="0">
              <a:lnSpc>
                <a:spcPts val="928"/>
              </a:lnSpc>
              <a:buNone/>
            </a:pPr>
            <a:r>
              <a:rPr lang="en-US" sz="619" spc="111" kern="0" dirty="0">
                <a:solidFill>
                  <a:srgbClr val="8A8576"/>
                </a:solidFill>
                <a:latin typeface="Courier New" pitchFamily="34" charset="0"/>
                <a:ea typeface="Courier New" pitchFamily="34" charset="-122"/>
                <a:cs typeface="Courier New" pitchFamily="34" charset="-120"/>
              </a:rPr>
              <a:t>TERRAPULSE × GOLD FIELDS GHANA / 2026</a:t>
            </a:r>
            <a:endParaRPr lang="en-US" sz="619" dirty="0"/>
          </a:p>
        </p:txBody>
      </p:sp>
      <p:sp>
        <p:nvSpPr>
          <p:cNvPr id="3" name="Text 1"/>
          <p:cNvSpPr/>
          <p:nvPr/>
        </p:nvSpPr>
        <p:spPr>
          <a:xfrm>
            <a:off x="8299586" y="200025"/>
            <a:ext cx="474415" cy="164592"/>
          </a:xfrm>
          <a:prstGeom prst="rect">
            <a:avLst/>
          </a:prstGeom>
          <a:noFill/>
          <a:ln/>
        </p:spPr>
        <p:txBody>
          <a:bodyPr wrap="none" lIns="0" tIns="0" rIns="0" bIns="0" rtlCol="0" anchor="t"/>
          <a:lstStyle/>
          <a:p>
            <a:pPr algn="l" indent="0" marL="0">
              <a:lnSpc>
                <a:spcPts val="928"/>
              </a:lnSpc>
              <a:buNone/>
            </a:pPr>
            <a:r>
              <a:rPr lang="en-US" sz="800" spc="62" kern="0" dirty="0">
                <a:solidFill>
                  <a:srgbClr val="8A8576"/>
                </a:solidFill>
                <a:latin typeface="Liberation Sans Narrow" pitchFamily="34" charset="0"/>
                <a:ea typeface="Liberation Sans Narrow" pitchFamily="34" charset="-122"/>
                <a:cs typeface="Liberation Sans Narrow" pitchFamily="34" charset="-120"/>
              </a:rPr>
              <a:t>04 / 12</a:t>
            </a:r>
            <a:endParaRPr lang="en-US" sz="800" dirty="0"/>
          </a:p>
        </p:txBody>
      </p:sp>
      <p:sp>
        <p:nvSpPr>
          <p:cNvPr id="4" name="Text 2"/>
          <p:cNvSpPr/>
          <p:nvPr/>
        </p:nvSpPr>
        <p:spPr>
          <a:xfrm>
            <a:off x="517922" y="1251496"/>
            <a:ext cx="3567522" cy="3520194"/>
          </a:xfrm>
          <a:prstGeom prst="roundRect">
            <a:avLst>
              <a:gd name="adj" fmla="val 1082"/>
            </a:avLst>
          </a:prstGeom>
          <a:solidFill>
            <a:srgbClr val="1C2128"/>
          </a:solidFill>
          <a:ln w="7144">
            <a:solidFill>
              <a:srgbClr val="2A2F37"/>
            </a:solidFill>
            <a:prstDash val="solid"/>
          </a:ln>
        </p:spPr>
        <p:txBody>
          <a:bodyPr wrap="square" rtlCol="0" anchor="ctr"/>
          <a:lstStyle/>
          <a:p>
            <a:pPr indent="0" marL="0">
              <a:buNone/>
            </a:pPr>
            <a:endParaRPr lang="en-US" dirty="0"/>
          </a:p>
        </p:txBody>
      </p:sp>
      <p:sp>
        <p:nvSpPr>
          <p:cNvPr id="5" name="Text 3"/>
          <p:cNvSpPr/>
          <p:nvPr/>
        </p:nvSpPr>
        <p:spPr>
          <a:xfrm>
            <a:off x="655796" y="1386584"/>
            <a:ext cx="825282" cy="212027"/>
          </a:xfrm>
          <a:prstGeom prst="rect">
            <a:avLst/>
          </a:prstGeom>
          <a:solidFill>
            <a:srgbClr val="B23A1F">
              <a:alpha val="10000"/>
            </a:srgbClr>
          </a:solidFill>
          <a:ln/>
        </p:spPr>
        <p:txBody>
          <a:bodyPr wrap="square" rtlCol="0" anchor="ctr"/>
          <a:lstStyle/>
          <a:p>
            <a:pPr indent="0" marL="0">
              <a:buNone/>
            </a:pPr>
            <a:endParaRPr lang="en-US" dirty="0"/>
          </a:p>
        </p:txBody>
      </p:sp>
      <p:sp>
        <p:nvSpPr>
          <p:cNvPr id="6" name="Shape 4"/>
          <p:cNvSpPr/>
          <p:nvPr/>
        </p:nvSpPr>
        <p:spPr>
          <a:xfrm>
            <a:off x="685800" y="1397943"/>
            <a:ext cx="0" cy="189309"/>
          </a:xfrm>
          <a:prstGeom prst="line">
            <a:avLst/>
          </a:prstGeom>
          <a:noFill/>
          <a:ln w="14288">
            <a:solidFill>
              <a:srgbClr val="B23A1F"/>
            </a:solidFill>
            <a:prstDash val="solid"/>
          </a:ln>
        </p:spPr>
      </p:sp>
      <p:sp>
        <p:nvSpPr>
          <p:cNvPr id="7" name="Text 5"/>
          <p:cNvSpPr/>
          <p:nvPr/>
        </p:nvSpPr>
        <p:spPr>
          <a:xfrm>
            <a:off x="662220" y="1397943"/>
            <a:ext cx="812434" cy="261890"/>
          </a:xfrm>
          <a:prstGeom prst="rect">
            <a:avLst/>
          </a:prstGeom>
          <a:noFill/>
          <a:ln/>
        </p:spPr>
        <p:txBody>
          <a:bodyPr wrap="none" lIns="71438" tIns="35719" rIns="71438" bIns="35719" rtlCol="0" anchor="t">
            <a:normAutofit/>
          </a:bodyPr>
          <a:lstStyle/>
          <a:p>
            <a:pPr algn="l" indent="0" marL="0">
              <a:lnSpc>
                <a:spcPts val="928"/>
              </a:lnSpc>
              <a:buNone/>
            </a:pPr>
            <a:r>
              <a:rPr lang="en-US" sz="800" spc="136" kern="0" dirty="0">
                <a:solidFill>
                  <a:srgbClr val="B23A1F"/>
                </a:solidFill>
                <a:latin typeface="Courier New" pitchFamily="34" charset="0"/>
                <a:ea typeface="Courier New" pitchFamily="34" charset="-122"/>
                <a:cs typeface="Courier New" pitchFamily="34" charset="-120"/>
              </a:rPr>
              <a:t>THE PROBLEM</a:t>
            </a:r>
            <a:endParaRPr lang="en-US" sz="800" dirty="0"/>
          </a:p>
        </p:txBody>
      </p:sp>
      <p:sp>
        <p:nvSpPr>
          <p:cNvPr id="8" name="Text 6"/>
          <p:cNvSpPr/>
          <p:nvPr/>
        </p:nvSpPr>
        <p:spPr>
          <a:xfrm>
            <a:off x="678656" y="1687264"/>
            <a:ext cx="3355781" cy="206986"/>
          </a:xfrm>
          <a:prstGeom prst="rect">
            <a:avLst/>
          </a:prstGeom>
          <a:noFill/>
          <a:ln/>
        </p:spPr>
        <p:txBody>
          <a:bodyPr wrap="square" lIns="0" tIns="0" rIns="0" bIns="0" rtlCol="0" anchor="t"/>
          <a:lstStyle/>
          <a:p>
            <a:pPr algn="l" indent="0" marL="0">
              <a:lnSpc>
                <a:spcPts val="1510"/>
              </a:lnSpc>
              <a:buNone/>
            </a:pPr>
            <a:r>
              <a:rPr lang="en-US" sz="1238" spc="-6" kern="0" dirty="0">
                <a:solidFill>
                  <a:srgbClr val="F5F1E8"/>
                </a:solidFill>
                <a:latin typeface="Tinos" pitchFamily="34" charset="0"/>
                <a:ea typeface="Tinos" pitchFamily="34" charset="-122"/>
                <a:cs typeface="Tinos" pitchFamily="34" charset="-120"/>
              </a:rPr>
              <a:t>A heatmap is a judgement you have to interpret.</a:t>
            </a:r>
            <a:endParaRPr lang="en-US" sz="1238" dirty="0"/>
          </a:p>
        </p:txBody>
      </p:sp>
      <p:sp>
        <p:nvSpPr>
          <p:cNvPr id="9" name="Text 7"/>
          <p:cNvSpPr/>
          <p:nvPr/>
        </p:nvSpPr>
        <p:spPr>
          <a:xfrm>
            <a:off x="678656" y="1964643"/>
            <a:ext cx="3246053" cy="882392"/>
          </a:xfrm>
          <a:prstGeom prst="rect">
            <a:avLst/>
          </a:prstGeom>
          <a:noFill/>
          <a:ln/>
        </p:spPr>
        <p:txBody>
          <a:bodyPr wrap="square" lIns="0" tIns="0" rIns="0" bIns="0" rtlCol="0" anchor="t">
            <a:normAutofit/>
          </a:bodyPr>
          <a:lstStyle/>
          <a:p>
            <a:pPr algn="l" indent="0" marL="0">
              <a:lnSpc>
                <a:spcPts val="1276"/>
              </a:lnSpc>
              <a:buNone/>
            </a:pPr>
            <a:r>
              <a:rPr lang="en-US" sz="800" dirty="0">
                <a:solidFill>
                  <a:srgbClr val="C9C3B5"/>
                </a:solidFill>
                <a:latin typeface="Carlito" pitchFamily="34" charset="0"/>
                <a:ea typeface="Carlito" pitchFamily="34" charset="-122"/>
                <a:cs typeface="Carlito" pitchFamily="34" charset="-120"/>
              </a:rPr>
              <a:t>Conventional prospectivity output is a colour ramp over a grid. A senior geologist reads it with their own mental model of what drives the score — structural intersection, magnetic low, gold pathfinder — but the map cannot tell them which layer pushed any given cell up. When the board asks why a target is a target, the answer is "it looks red."</a:t>
            </a:r>
            <a:endParaRPr lang="en-US" sz="800" dirty="0"/>
          </a:p>
        </p:txBody>
      </p:sp>
      <p:sp>
        <p:nvSpPr>
          <p:cNvPr id="10" name="Shape 8"/>
          <p:cNvSpPr/>
          <p:nvPr/>
        </p:nvSpPr>
        <p:spPr>
          <a:xfrm>
            <a:off x="678656" y="2878038"/>
            <a:ext cx="3246053" cy="0"/>
          </a:xfrm>
          <a:prstGeom prst="line">
            <a:avLst/>
          </a:prstGeom>
          <a:noFill/>
          <a:ln w="7144">
            <a:solidFill>
              <a:srgbClr val="2A2F37"/>
            </a:solidFill>
            <a:prstDash val="dash"/>
          </a:ln>
        </p:spPr>
      </p:sp>
      <p:sp>
        <p:nvSpPr>
          <p:cNvPr id="11" name="Text 9"/>
          <p:cNvSpPr/>
          <p:nvPr/>
        </p:nvSpPr>
        <p:spPr>
          <a:xfrm>
            <a:off x="678656" y="2874466"/>
            <a:ext cx="3246053" cy="307238"/>
          </a:xfrm>
          <a:prstGeom prst="rect">
            <a:avLst/>
          </a:prstGeom>
          <a:noFill/>
          <a:ln/>
        </p:spPr>
        <p:txBody>
          <a:bodyPr wrap="square" lIns="0" tIns="85725" rIns="0" bIns="0" rtlCol="0" anchor="t"/>
          <a:lstStyle/>
          <a:p>
            <a:pPr algn="l" indent="0" marL="0">
              <a:lnSpc>
                <a:spcPts val="844"/>
              </a:lnSpc>
              <a:buNone/>
            </a:pPr>
            <a:r>
              <a:rPr lang="en-US" sz="800" spc="101" kern="0" dirty="0">
                <a:solidFill>
                  <a:srgbClr val="8A8576"/>
                </a:solidFill>
                <a:latin typeface="Courier New" pitchFamily="34" charset="0"/>
                <a:ea typeface="Courier New" pitchFamily="34" charset="-122"/>
                <a:cs typeface="Courier New" pitchFamily="34" charset="-120"/>
              </a:rPr>
              <a:t>OUTPUT: COLOUR RAMP · AUDITABILITY: NONE</a:t>
            </a:r>
            <a:endParaRPr lang="en-US" sz="800" dirty="0"/>
          </a:p>
        </p:txBody>
      </p:sp>
      <p:sp>
        <p:nvSpPr>
          <p:cNvPr id="12" name="Text 10"/>
          <p:cNvSpPr/>
          <p:nvPr/>
        </p:nvSpPr>
        <p:spPr>
          <a:xfrm>
            <a:off x="4264037" y="1251496"/>
            <a:ext cx="4362041" cy="3520194"/>
          </a:xfrm>
          <a:prstGeom prst="roundRect">
            <a:avLst>
              <a:gd name="adj" fmla="val 1082"/>
            </a:avLst>
          </a:prstGeom>
          <a:solidFill>
            <a:srgbClr val="1C2128"/>
          </a:solidFill>
          <a:ln w="7144">
            <a:solidFill>
              <a:srgbClr val="2A2F37"/>
            </a:solidFill>
            <a:prstDash val="solid"/>
          </a:ln>
        </p:spPr>
        <p:txBody>
          <a:bodyPr wrap="square" rtlCol="0" anchor="ctr"/>
          <a:lstStyle/>
          <a:p>
            <a:pPr indent="0" marL="0">
              <a:buNone/>
            </a:pPr>
            <a:endParaRPr lang="en-US" dirty="0"/>
          </a:p>
        </p:txBody>
      </p:sp>
      <p:sp>
        <p:nvSpPr>
          <p:cNvPr id="13" name="Text 11"/>
          <p:cNvSpPr/>
          <p:nvPr/>
        </p:nvSpPr>
        <p:spPr>
          <a:xfrm>
            <a:off x="4401912" y="1386584"/>
            <a:ext cx="712098" cy="212027"/>
          </a:xfrm>
          <a:prstGeom prst="rect">
            <a:avLst/>
          </a:prstGeom>
          <a:solidFill>
            <a:srgbClr val="D4A24A">
              <a:alpha val="10000"/>
            </a:srgbClr>
          </a:solidFill>
          <a:ln/>
        </p:spPr>
        <p:txBody>
          <a:bodyPr wrap="square" rtlCol="0" anchor="ctr"/>
          <a:lstStyle/>
          <a:p>
            <a:pPr indent="0" marL="0">
              <a:buNone/>
            </a:pPr>
            <a:endParaRPr lang="en-US" dirty="0"/>
          </a:p>
        </p:txBody>
      </p:sp>
      <p:sp>
        <p:nvSpPr>
          <p:cNvPr id="14" name="Shape 12"/>
          <p:cNvSpPr/>
          <p:nvPr/>
        </p:nvSpPr>
        <p:spPr>
          <a:xfrm>
            <a:off x="4431916" y="1397943"/>
            <a:ext cx="0" cy="189309"/>
          </a:xfrm>
          <a:prstGeom prst="line">
            <a:avLst/>
          </a:prstGeom>
          <a:noFill/>
          <a:ln w="14288">
            <a:solidFill>
              <a:srgbClr val="D4A24A"/>
            </a:solidFill>
            <a:prstDash val="solid"/>
          </a:ln>
        </p:spPr>
      </p:sp>
      <p:sp>
        <p:nvSpPr>
          <p:cNvPr id="15" name="Text 13"/>
          <p:cNvSpPr/>
          <p:nvPr/>
        </p:nvSpPr>
        <p:spPr>
          <a:xfrm>
            <a:off x="4424772" y="1397943"/>
            <a:ext cx="666378" cy="261890"/>
          </a:xfrm>
          <a:prstGeom prst="rect">
            <a:avLst/>
          </a:prstGeom>
          <a:noFill/>
          <a:ln/>
        </p:spPr>
        <p:txBody>
          <a:bodyPr wrap="none" lIns="71438" tIns="35719" rIns="71438" bIns="35719" rtlCol="0" anchor="t">
            <a:normAutofit/>
          </a:bodyPr>
          <a:lstStyle/>
          <a:p>
            <a:pPr algn="l" indent="0" marL="0">
              <a:lnSpc>
                <a:spcPts val="928"/>
              </a:lnSpc>
              <a:buNone/>
            </a:pPr>
            <a:r>
              <a:rPr lang="en-US" sz="800" spc="136" kern="0" dirty="0">
                <a:solidFill>
                  <a:srgbClr val="D4A24A"/>
                </a:solidFill>
                <a:latin typeface="Courier New" pitchFamily="34" charset="0"/>
                <a:ea typeface="Courier New" pitchFamily="34" charset="-122"/>
                <a:cs typeface="Courier New" pitchFamily="34" charset="-120"/>
              </a:rPr>
              <a:t>THE POINT</a:t>
            </a:r>
            <a:endParaRPr lang="en-US" sz="800" dirty="0"/>
          </a:p>
        </p:txBody>
      </p:sp>
      <p:sp>
        <p:nvSpPr>
          <p:cNvPr id="16" name="Text 14"/>
          <p:cNvSpPr/>
          <p:nvPr/>
        </p:nvSpPr>
        <p:spPr>
          <a:xfrm>
            <a:off x="4424772" y="1687264"/>
            <a:ext cx="4040572" cy="206986"/>
          </a:xfrm>
          <a:prstGeom prst="rect">
            <a:avLst/>
          </a:prstGeom>
          <a:noFill/>
          <a:ln/>
        </p:spPr>
        <p:txBody>
          <a:bodyPr wrap="square" lIns="0" tIns="0" rIns="0" bIns="0" rtlCol="0" anchor="t"/>
          <a:lstStyle/>
          <a:p>
            <a:pPr algn="l" indent="0" marL="0">
              <a:lnSpc>
                <a:spcPts val="1510"/>
              </a:lnSpc>
              <a:buNone/>
            </a:pPr>
            <a:r>
              <a:rPr lang="en-US" sz="1238" spc="-6" kern="0" dirty="0">
                <a:solidFill>
                  <a:srgbClr val="F5F1E8"/>
                </a:solidFill>
                <a:latin typeface="Tinos" pitchFamily="34" charset="0"/>
                <a:ea typeface="Tinos" pitchFamily="34" charset="-122"/>
                <a:cs typeface="Tinos" pitchFamily="34" charset="-120"/>
              </a:rPr>
              <a:t>Every target carries per-target evidence attribution.</a:t>
            </a:r>
            <a:endParaRPr lang="en-US" sz="1238" dirty="0"/>
          </a:p>
        </p:txBody>
      </p:sp>
      <p:sp>
        <p:nvSpPr>
          <p:cNvPr id="17" name="Text 15"/>
          <p:cNvSpPr/>
          <p:nvPr/>
        </p:nvSpPr>
        <p:spPr>
          <a:xfrm>
            <a:off x="4428344" y="1996790"/>
            <a:ext cx="4033428" cy="2215232"/>
          </a:xfrm>
          <a:prstGeom prst="roundRect">
            <a:avLst>
              <a:gd name="adj" fmla="val 1290"/>
            </a:avLst>
          </a:prstGeom>
          <a:solidFill>
            <a:srgbClr val="11141A"/>
          </a:solidFill>
          <a:ln w="7144">
            <a:solidFill>
              <a:srgbClr val="2A2F37"/>
            </a:solidFill>
            <a:prstDash val="solid"/>
          </a:ln>
        </p:spPr>
        <p:txBody>
          <a:bodyPr wrap="square" rtlCol="0" anchor="ctr"/>
          <a:lstStyle/>
          <a:p>
            <a:pPr indent="0" marL="0">
              <a:buNone/>
            </a:pPr>
            <a:endParaRPr lang="en-US" dirty="0"/>
          </a:p>
        </p:txBody>
      </p:sp>
      <p:sp>
        <p:nvSpPr>
          <p:cNvPr id="18" name="Shape 16"/>
          <p:cNvSpPr/>
          <p:nvPr/>
        </p:nvSpPr>
        <p:spPr>
          <a:xfrm>
            <a:off x="4531928" y="2291469"/>
            <a:ext cx="3826259" cy="0"/>
          </a:xfrm>
          <a:prstGeom prst="line">
            <a:avLst/>
          </a:prstGeom>
          <a:noFill/>
          <a:ln w="7144">
            <a:solidFill>
              <a:srgbClr val="2A2F37"/>
            </a:solidFill>
            <a:prstDash val="solid"/>
          </a:ln>
        </p:spPr>
      </p:sp>
      <p:sp>
        <p:nvSpPr>
          <p:cNvPr id="19" name="Text 17"/>
          <p:cNvSpPr/>
          <p:nvPr/>
        </p:nvSpPr>
        <p:spPr>
          <a:xfrm>
            <a:off x="4531928" y="2091444"/>
            <a:ext cx="2995575" cy="139303"/>
          </a:xfrm>
          <a:prstGeom prst="rect">
            <a:avLst/>
          </a:prstGeom>
          <a:noFill/>
          <a:ln/>
        </p:spPr>
        <p:txBody>
          <a:bodyPr wrap="square" lIns="0" tIns="0" rIns="0" bIns="0" rtlCol="0" anchor="t"/>
          <a:lstStyle/>
          <a:p>
            <a:pPr algn="l" indent="0" marL="0">
              <a:lnSpc>
                <a:spcPts val="1055"/>
              </a:lnSpc>
              <a:buNone/>
            </a:pPr>
            <a:r>
              <a:rPr lang="en-US" sz="800" spc="70" kern="0" dirty="0">
                <a:solidFill>
                  <a:srgbClr val="D4A24A"/>
                </a:solidFill>
                <a:latin typeface="Courier New" pitchFamily="34" charset="0"/>
                <a:ea typeface="Courier New" pitchFamily="34" charset="-122"/>
                <a:cs typeface="Courier New" pitchFamily="34" charset="-120"/>
              </a:rPr>
              <a:t>TARGET 03 · RANK 3 / 17 · SCORE 78.4 / 100</a:t>
            </a:r>
            <a:endParaRPr lang="en-US" sz="800" dirty="0"/>
          </a:p>
        </p:txBody>
      </p:sp>
      <p:sp>
        <p:nvSpPr>
          <p:cNvPr id="20" name="Text 18"/>
          <p:cNvSpPr/>
          <p:nvPr/>
        </p:nvSpPr>
        <p:spPr>
          <a:xfrm>
            <a:off x="7540362" y="2077407"/>
            <a:ext cx="840685" cy="162020"/>
          </a:xfrm>
          <a:prstGeom prst="roundRect">
            <a:avLst>
              <a:gd name="adj" fmla="val 11758"/>
            </a:avLst>
          </a:prstGeom>
          <a:noFill/>
          <a:ln w="7144">
            <a:solidFill>
              <a:srgbClr val="2A2F37"/>
            </a:solidFill>
            <a:prstDash val="solid"/>
          </a:ln>
        </p:spPr>
        <p:txBody>
          <a:bodyPr wrap="square" rtlCol="0" anchor="ctr"/>
          <a:lstStyle/>
          <a:p>
            <a:pPr indent="0" marL="0">
              <a:buNone/>
            </a:pPr>
            <a:endParaRPr lang="en-US" dirty="0"/>
          </a:p>
        </p:txBody>
      </p:sp>
      <p:sp>
        <p:nvSpPr>
          <p:cNvPr id="21" name="Text 19"/>
          <p:cNvSpPr/>
          <p:nvPr/>
        </p:nvSpPr>
        <p:spPr>
          <a:xfrm>
            <a:off x="7563222" y="2086087"/>
            <a:ext cx="794965" cy="144661"/>
          </a:xfrm>
          <a:prstGeom prst="rect">
            <a:avLst/>
          </a:prstGeom>
          <a:noFill/>
          <a:ln/>
        </p:spPr>
        <p:txBody>
          <a:bodyPr wrap="none" lIns="0" tIns="0" rIns="0" bIns="0" rtlCol="0" anchor="ctr"/>
          <a:lstStyle/>
          <a:p>
            <a:pPr algn="ctr" indent="0" marL="0">
              <a:lnSpc>
                <a:spcPts val="802"/>
              </a:lnSpc>
              <a:buNone/>
            </a:pPr>
            <a:r>
              <a:rPr lang="en-US" sz="800" spc="107" kern="0" dirty="0">
                <a:solidFill>
                  <a:srgbClr val="8A8576"/>
                </a:solidFill>
                <a:latin typeface="Courier New" pitchFamily="34" charset="0"/>
                <a:ea typeface="Courier New" pitchFamily="34" charset="-122"/>
                <a:cs typeface="Courier New" pitchFamily="34" charset="-120"/>
              </a:rPr>
              <a:t>PROVENANCE · ON</a:t>
            </a:r>
            <a:endParaRPr lang="en-US" sz="800" dirty="0"/>
          </a:p>
        </p:txBody>
      </p:sp>
      <p:sp>
        <p:nvSpPr>
          <p:cNvPr id="22" name="Text 20"/>
          <p:cNvSpPr/>
          <p:nvPr/>
        </p:nvSpPr>
        <p:spPr>
          <a:xfrm>
            <a:off x="4531928" y="2352191"/>
            <a:ext cx="3826259" cy="112206"/>
          </a:xfrm>
          <a:prstGeom prst="rect">
            <a:avLst/>
          </a:prstGeom>
          <a:noFill/>
          <a:ln/>
        </p:spPr>
        <p:txBody>
          <a:bodyPr wrap="square" lIns="0" tIns="0" rIns="0" bIns="0" rtlCol="0" anchor="t">
            <a:normAutofit/>
          </a:bodyPr>
          <a:lstStyle/>
          <a:p>
            <a:pPr algn="l" indent="0" marL="0">
              <a:lnSpc>
                <a:spcPts val="1100"/>
              </a:lnSpc>
              <a:buNone/>
            </a:pPr>
            <a:r>
              <a:rPr lang="en-US" sz="800" spc="13" kern="0" dirty="0">
                <a:solidFill>
                  <a:srgbClr val="8A8576"/>
                </a:solidFill>
                <a:latin typeface="Courier New" pitchFamily="34" charset="0"/>
                <a:ea typeface="Courier New" pitchFamily="34" charset="-122"/>
                <a:cs typeface="Courier New" pitchFamily="34" charset="-120"/>
              </a:rPr>
              <a:t>COORD</a:t>
            </a:r>
            <a:pPr algn="l" indent="0" marL="0">
              <a:lnSpc>
                <a:spcPts val="1100"/>
              </a:lnSpc>
              <a:buNone/>
            </a:pPr>
            <a:r>
              <a:rPr lang="en-US" sz="800" spc="13" kern="0" dirty="0">
                <a:solidFill>
                  <a:srgbClr val="C9C3B5"/>
                </a:solidFill>
                <a:latin typeface="Courier New" pitchFamily="34" charset="0"/>
                <a:ea typeface="Courier New" pitchFamily="34" charset="-122"/>
                <a:cs typeface="Courier New" pitchFamily="34" charset="-120"/>
              </a:rPr>
              <a:t> 6°24'12"N 1°58'40"W · UTM 30N 658420E 713280N</a:t>
            </a:r>
            <a:endParaRPr lang="en-US" sz="800" dirty="0"/>
          </a:p>
        </p:txBody>
      </p:sp>
      <p:sp>
        <p:nvSpPr>
          <p:cNvPr id="23" name="Text 21"/>
          <p:cNvSpPr/>
          <p:nvPr/>
        </p:nvSpPr>
        <p:spPr>
          <a:xfrm>
            <a:off x="4530873" y="2506117"/>
            <a:ext cx="407213" cy="133582"/>
          </a:xfrm>
          <a:prstGeom prst="rect">
            <a:avLst/>
          </a:prstGeom>
          <a:noFill/>
          <a:ln/>
        </p:spPr>
        <p:txBody>
          <a:bodyPr wrap="square" lIns="0" tIns="0" rIns="0" bIns="0" rtlCol="0" anchor="t"/>
          <a:lstStyle/>
          <a:p>
            <a:pPr algn="l" indent="0" marL="0">
              <a:lnSpc>
                <a:spcPts val="1100"/>
              </a:lnSpc>
              <a:buNone/>
            </a:pPr>
            <a:r>
              <a:rPr lang="en-US" sz="800" spc="13" kern="0" dirty="0">
                <a:solidFill>
                  <a:srgbClr val="8A8576"/>
                </a:solidFill>
                <a:latin typeface="Courier New" pitchFamily="34" charset="0"/>
                <a:ea typeface="Courier New" pitchFamily="34" charset="-122"/>
                <a:cs typeface="Courier New" pitchFamily="34" charset="-120"/>
              </a:rPr>
              <a:t>DEPTH</a:t>
            </a:r>
            <a:endParaRPr lang="en-US" sz="800" dirty="0"/>
          </a:p>
        </p:txBody>
      </p:sp>
      <p:sp>
        <p:nvSpPr>
          <p:cNvPr id="24" name="Text 22"/>
          <p:cNvSpPr/>
          <p:nvPr/>
        </p:nvSpPr>
        <p:spPr>
          <a:xfrm>
            <a:off x="4873823" y="2506117"/>
            <a:ext cx="1080861" cy="133582"/>
          </a:xfrm>
          <a:prstGeom prst="rect">
            <a:avLst/>
          </a:prstGeom>
          <a:noFill/>
          <a:ln/>
        </p:spPr>
        <p:txBody>
          <a:bodyPr wrap="none" lIns="0" tIns="0" rIns="0" bIns="0" rtlCol="0" anchor="t"/>
          <a:lstStyle/>
          <a:p>
            <a:pPr algn="l" indent="0" marL="0">
              <a:lnSpc>
                <a:spcPts val="1100"/>
              </a:lnSpc>
              <a:buNone/>
            </a:pPr>
            <a:r>
              <a:rPr lang="en-US" sz="647" spc="13" kern="0" dirty="0">
                <a:solidFill>
                  <a:srgbClr val="D4A24A"/>
                </a:solidFill>
                <a:latin typeface="Liberation Sans Narrow" pitchFamily="34" charset="0"/>
                <a:ea typeface="Liberation Sans Narrow" pitchFamily="34" charset="-122"/>
                <a:cs typeface="Liberation Sans Narrow" pitchFamily="34" charset="-120"/>
              </a:rPr>
              <a:t>Depth to source: ~120 m</a:t>
            </a:r>
            <a:endParaRPr lang="en-US" sz="647" dirty="0"/>
          </a:p>
        </p:txBody>
      </p:sp>
      <p:sp>
        <p:nvSpPr>
          <p:cNvPr id="25" name="Shape 23"/>
          <p:cNvSpPr/>
          <p:nvPr/>
        </p:nvSpPr>
        <p:spPr>
          <a:xfrm>
            <a:off x="4531928" y="2706477"/>
            <a:ext cx="3826259" cy="0"/>
          </a:xfrm>
          <a:prstGeom prst="line">
            <a:avLst/>
          </a:prstGeom>
          <a:noFill/>
          <a:ln w="7144">
            <a:solidFill>
              <a:srgbClr val="2A2F37"/>
            </a:solidFill>
            <a:prstDash val="solid"/>
          </a:ln>
        </p:spPr>
      </p:sp>
      <p:sp>
        <p:nvSpPr>
          <p:cNvPr id="26" name="Text 24"/>
          <p:cNvSpPr/>
          <p:nvPr/>
        </p:nvSpPr>
        <p:spPr>
          <a:xfrm>
            <a:off x="4531928" y="2767199"/>
            <a:ext cx="3464384" cy="164592"/>
          </a:xfrm>
          <a:prstGeom prst="rect">
            <a:avLst/>
          </a:prstGeom>
          <a:noFill/>
          <a:ln/>
        </p:spPr>
        <p:txBody>
          <a:bodyPr wrap="square" lIns="0" tIns="0" rIns="0" bIns="0" rtlCol="0" anchor="t"/>
          <a:lstStyle/>
          <a:p>
            <a:pPr algn="l" indent="0" marL="0">
              <a:lnSpc>
                <a:spcPts val="802"/>
              </a:lnSpc>
              <a:buNone/>
            </a:pPr>
            <a:r>
              <a:rPr lang="en-US" sz="800" spc="107" kern="0" dirty="0">
                <a:solidFill>
                  <a:srgbClr val="8A8576"/>
                </a:solidFill>
                <a:latin typeface="Courier New" pitchFamily="34" charset="0"/>
                <a:ea typeface="Courier New" pitchFamily="34" charset="-122"/>
                <a:cs typeface="Courier New" pitchFamily="34" charset="-120"/>
              </a:rPr>
              <a:t>EVIDENCE CONTRIBUTION</a:t>
            </a:r>
            <a:endParaRPr lang="en-US" sz="800" dirty="0"/>
          </a:p>
        </p:txBody>
      </p:sp>
      <p:sp>
        <p:nvSpPr>
          <p:cNvPr id="27" name="Text 25"/>
          <p:cNvSpPr/>
          <p:nvPr/>
        </p:nvSpPr>
        <p:spPr>
          <a:xfrm>
            <a:off x="7998869" y="2767199"/>
            <a:ext cx="371048" cy="164592"/>
          </a:xfrm>
          <a:prstGeom prst="rect">
            <a:avLst/>
          </a:prstGeom>
          <a:noFill/>
          <a:ln/>
        </p:spPr>
        <p:txBody>
          <a:bodyPr wrap="none" lIns="0" tIns="0" rIns="0" bIns="0" rtlCol="0" anchor="t"/>
          <a:lstStyle/>
          <a:p>
            <a:pPr algn="l" indent="0" marL="0">
              <a:lnSpc>
                <a:spcPts val="802"/>
              </a:lnSpc>
              <a:buNone/>
            </a:pPr>
            <a:r>
              <a:rPr lang="en-US" sz="600" spc="107" kern="0" dirty="0">
                <a:solidFill>
                  <a:srgbClr val="8A8576"/>
                </a:solidFill>
                <a:latin typeface="Courier New" pitchFamily="34" charset="0"/>
                <a:ea typeface="Courier New" pitchFamily="34" charset="-122"/>
                <a:cs typeface="Courier New" pitchFamily="34" charset="-120"/>
              </a:rPr>
              <a:t>Δ SCORE</a:t>
            </a:r>
            <a:endParaRPr lang="en-US" sz="600" dirty="0"/>
          </a:p>
        </p:txBody>
      </p:sp>
      <p:sp>
        <p:nvSpPr>
          <p:cNvPr id="28" name="Shape 26"/>
          <p:cNvSpPr/>
          <p:nvPr/>
        </p:nvSpPr>
        <p:spPr>
          <a:xfrm>
            <a:off x="4531928" y="3099383"/>
            <a:ext cx="3826259" cy="0"/>
          </a:xfrm>
          <a:prstGeom prst="line">
            <a:avLst/>
          </a:prstGeom>
          <a:noFill/>
          <a:ln w="7144">
            <a:solidFill>
              <a:srgbClr val="2A2F37"/>
            </a:solidFill>
            <a:prstDash val="dash"/>
          </a:ln>
        </p:spPr>
      </p:sp>
      <p:sp>
        <p:nvSpPr>
          <p:cNvPr id="29" name="Text 27"/>
          <p:cNvSpPr/>
          <p:nvPr/>
        </p:nvSpPr>
        <p:spPr>
          <a:xfrm>
            <a:off x="4531928" y="2944006"/>
            <a:ext cx="3809284" cy="119658"/>
          </a:xfrm>
          <a:prstGeom prst="rect">
            <a:avLst/>
          </a:prstGeom>
          <a:noFill/>
          <a:ln/>
        </p:spPr>
        <p:txBody>
          <a:bodyPr wrap="square" lIns="0" tIns="0" rIns="0" bIns="0" rtlCol="0" anchor="t"/>
          <a:lstStyle/>
          <a:p>
            <a:pPr algn="l" indent="0" marL="0">
              <a:lnSpc>
                <a:spcPts val="877"/>
              </a:lnSpc>
              <a:buNone/>
            </a:pPr>
            <a:r>
              <a:rPr lang="en-US" sz="800" dirty="0">
                <a:solidFill>
                  <a:srgbClr val="F5F1E8"/>
                </a:solidFill>
                <a:latin typeface="Liberation Sans Narrow" pitchFamily="34" charset="0"/>
                <a:ea typeface="Liberation Sans Narrow" pitchFamily="34" charset="-122"/>
                <a:cs typeface="Liberation Sans Narrow" pitchFamily="34" charset="-120"/>
              </a:rPr>
              <a:t>Gold geochemistry (95th pct)</a:t>
            </a:r>
            <a:endParaRPr lang="en-US" sz="800" dirty="0"/>
          </a:p>
        </p:txBody>
      </p:sp>
      <p:sp>
        <p:nvSpPr>
          <p:cNvPr id="30" name="Text 28"/>
          <p:cNvSpPr/>
          <p:nvPr/>
        </p:nvSpPr>
        <p:spPr>
          <a:xfrm>
            <a:off x="8083296" y="2929719"/>
            <a:ext cx="322076" cy="133945"/>
          </a:xfrm>
          <a:prstGeom prst="rect">
            <a:avLst/>
          </a:prstGeom>
          <a:noFill/>
          <a:ln/>
        </p:spPr>
        <p:txBody>
          <a:bodyPr wrap="none" lIns="0" tIns="0" rIns="0" bIns="0" rtlCol="0" anchor="t"/>
          <a:lstStyle/>
          <a:p>
            <a:pPr algn="l" indent="0" marL="0">
              <a:lnSpc>
                <a:spcPts val="1055"/>
              </a:lnSpc>
              <a:buNone/>
            </a:pPr>
            <a:r>
              <a:rPr lang="en-US" sz="703" spc="7" kern="0" dirty="0">
                <a:solidFill>
                  <a:srgbClr val="D4A24A"/>
                </a:solidFill>
                <a:latin typeface="Liberation Sans Narrow" pitchFamily="34" charset="0"/>
                <a:ea typeface="Liberation Sans Narrow" pitchFamily="34" charset="-122"/>
                <a:cs typeface="Liberation Sans Narrow" pitchFamily="34" charset="-120"/>
              </a:rPr>
              <a:t>+24.1</a:t>
            </a:r>
            <a:endParaRPr lang="en-US" sz="703" dirty="0"/>
          </a:p>
        </p:txBody>
      </p:sp>
      <p:sp>
        <p:nvSpPr>
          <p:cNvPr id="31" name="Shape 29"/>
          <p:cNvSpPr/>
          <p:nvPr/>
        </p:nvSpPr>
        <p:spPr>
          <a:xfrm>
            <a:off x="4531928" y="3304766"/>
            <a:ext cx="3826259" cy="0"/>
          </a:xfrm>
          <a:prstGeom prst="line">
            <a:avLst/>
          </a:prstGeom>
          <a:noFill/>
          <a:ln w="7144">
            <a:solidFill>
              <a:srgbClr val="2A2F37"/>
            </a:solidFill>
            <a:prstDash val="dash"/>
          </a:ln>
        </p:spPr>
      </p:sp>
      <p:sp>
        <p:nvSpPr>
          <p:cNvPr id="32" name="Text 30"/>
          <p:cNvSpPr/>
          <p:nvPr/>
        </p:nvSpPr>
        <p:spPr>
          <a:xfrm>
            <a:off x="4531928" y="3149389"/>
            <a:ext cx="3703471" cy="119658"/>
          </a:xfrm>
          <a:prstGeom prst="rect">
            <a:avLst/>
          </a:prstGeom>
          <a:noFill/>
          <a:ln/>
        </p:spPr>
        <p:txBody>
          <a:bodyPr wrap="none" lIns="0" tIns="0" rIns="0" bIns="0" rtlCol="0" anchor="t"/>
          <a:lstStyle/>
          <a:p>
            <a:pPr algn="l" indent="0" marL="0">
              <a:lnSpc>
                <a:spcPts val="877"/>
              </a:lnSpc>
              <a:buNone/>
            </a:pPr>
            <a:r>
              <a:rPr lang="en-US" sz="800" dirty="0">
                <a:solidFill>
                  <a:srgbClr val="F5F1E8"/>
                </a:solidFill>
                <a:latin typeface="Carlito" pitchFamily="34" charset="0"/>
                <a:ea typeface="Carlito" pitchFamily="34" charset="-122"/>
                <a:cs typeface="Carlito" pitchFamily="34" charset="-120"/>
              </a:rPr>
              <a:t>Magnetic low / gradient</a:t>
            </a:r>
            <a:endParaRPr lang="en-US" sz="800" dirty="0"/>
          </a:p>
        </p:txBody>
      </p:sp>
      <p:sp>
        <p:nvSpPr>
          <p:cNvPr id="33" name="Text 31"/>
          <p:cNvSpPr/>
          <p:nvPr/>
        </p:nvSpPr>
        <p:spPr>
          <a:xfrm>
            <a:off x="8083296" y="3135102"/>
            <a:ext cx="322076" cy="133945"/>
          </a:xfrm>
          <a:prstGeom prst="rect">
            <a:avLst/>
          </a:prstGeom>
          <a:noFill/>
          <a:ln/>
        </p:spPr>
        <p:txBody>
          <a:bodyPr wrap="none" lIns="0" tIns="0" rIns="0" bIns="0" rtlCol="0" anchor="t"/>
          <a:lstStyle/>
          <a:p>
            <a:pPr algn="l" indent="0" marL="0">
              <a:lnSpc>
                <a:spcPts val="1055"/>
              </a:lnSpc>
              <a:buNone/>
            </a:pPr>
            <a:r>
              <a:rPr lang="en-US" sz="703" spc="7" kern="0" dirty="0">
                <a:solidFill>
                  <a:srgbClr val="D4A24A"/>
                </a:solidFill>
                <a:latin typeface="Liberation Sans Narrow" pitchFamily="34" charset="0"/>
                <a:ea typeface="Liberation Sans Narrow" pitchFamily="34" charset="-122"/>
                <a:cs typeface="Liberation Sans Narrow" pitchFamily="34" charset="-120"/>
              </a:rPr>
              <a:t>+18.6</a:t>
            </a:r>
            <a:endParaRPr lang="en-US" sz="703" dirty="0"/>
          </a:p>
        </p:txBody>
      </p:sp>
      <p:sp>
        <p:nvSpPr>
          <p:cNvPr id="34" name="Shape 32"/>
          <p:cNvSpPr/>
          <p:nvPr/>
        </p:nvSpPr>
        <p:spPr>
          <a:xfrm>
            <a:off x="4531928" y="3510149"/>
            <a:ext cx="3826259" cy="0"/>
          </a:xfrm>
          <a:prstGeom prst="line">
            <a:avLst/>
          </a:prstGeom>
          <a:noFill/>
          <a:ln w="7144">
            <a:solidFill>
              <a:srgbClr val="2A2F37"/>
            </a:solidFill>
            <a:prstDash val="dash"/>
          </a:ln>
        </p:spPr>
      </p:sp>
      <p:sp>
        <p:nvSpPr>
          <p:cNvPr id="35" name="Text 33"/>
          <p:cNvSpPr/>
          <p:nvPr/>
        </p:nvSpPr>
        <p:spPr>
          <a:xfrm>
            <a:off x="4531928" y="3354772"/>
            <a:ext cx="3703471" cy="119658"/>
          </a:xfrm>
          <a:prstGeom prst="rect">
            <a:avLst/>
          </a:prstGeom>
          <a:noFill/>
          <a:ln/>
        </p:spPr>
        <p:txBody>
          <a:bodyPr wrap="none" lIns="0" tIns="0" rIns="0" bIns="0" rtlCol="0" anchor="t"/>
          <a:lstStyle/>
          <a:p>
            <a:pPr algn="l" indent="0" marL="0">
              <a:lnSpc>
                <a:spcPts val="877"/>
              </a:lnSpc>
              <a:buNone/>
            </a:pPr>
            <a:r>
              <a:rPr lang="en-US" sz="800" dirty="0">
                <a:solidFill>
                  <a:srgbClr val="F5F1E8"/>
                </a:solidFill>
                <a:latin typeface="Carlito" pitchFamily="34" charset="0"/>
                <a:ea typeface="Carlito" pitchFamily="34" charset="-122"/>
                <a:cs typeface="Carlito" pitchFamily="34" charset="-120"/>
              </a:rPr>
              <a:t>Iron-oxide alteration</a:t>
            </a:r>
            <a:endParaRPr lang="en-US" sz="800" dirty="0"/>
          </a:p>
        </p:txBody>
      </p:sp>
      <p:sp>
        <p:nvSpPr>
          <p:cNvPr id="36" name="Text 34"/>
          <p:cNvSpPr/>
          <p:nvPr/>
        </p:nvSpPr>
        <p:spPr>
          <a:xfrm>
            <a:off x="8083296" y="3340484"/>
            <a:ext cx="322076" cy="133945"/>
          </a:xfrm>
          <a:prstGeom prst="rect">
            <a:avLst/>
          </a:prstGeom>
          <a:noFill/>
          <a:ln/>
        </p:spPr>
        <p:txBody>
          <a:bodyPr wrap="none" lIns="0" tIns="0" rIns="0" bIns="0" rtlCol="0" anchor="t"/>
          <a:lstStyle/>
          <a:p>
            <a:pPr algn="l" indent="0" marL="0">
              <a:lnSpc>
                <a:spcPts val="1055"/>
              </a:lnSpc>
              <a:buNone/>
            </a:pPr>
            <a:r>
              <a:rPr lang="en-US" sz="703" spc="7" kern="0" dirty="0">
                <a:solidFill>
                  <a:srgbClr val="D4A24A"/>
                </a:solidFill>
                <a:latin typeface="Liberation Sans Narrow" pitchFamily="34" charset="0"/>
                <a:ea typeface="Liberation Sans Narrow" pitchFamily="34" charset="-122"/>
                <a:cs typeface="Liberation Sans Narrow" pitchFamily="34" charset="-120"/>
              </a:rPr>
              <a:t>+14.3</a:t>
            </a:r>
            <a:endParaRPr lang="en-US" sz="703" dirty="0"/>
          </a:p>
        </p:txBody>
      </p:sp>
      <p:sp>
        <p:nvSpPr>
          <p:cNvPr id="37" name="Shape 35"/>
          <p:cNvSpPr/>
          <p:nvPr/>
        </p:nvSpPr>
        <p:spPr>
          <a:xfrm>
            <a:off x="4531928" y="3715531"/>
            <a:ext cx="3826259" cy="0"/>
          </a:xfrm>
          <a:prstGeom prst="line">
            <a:avLst/>
          </a:prstGeom>
          <a:noFill/>
          <a:ln w="7144">
            <a:solidFill>
              <a:srgbClr val="2A2F37"/>
            </a:solidFill>
            <a:prstDash val="dash"/>
          </a:ln>
        </p:spPr>
      </p:sp>
      <p:sp>
        <p:nvSpPr>
          <p:cNvPr id="38" name="Text 36"/>
          <p:cNvSpPr/>
          <p:nvPr/>
        </p:nvSpPr>
        <p:spPr>
          <a:xfrm>
            <a:off x="4531928" y="3560155"/>
            <a:ext cx="3858469" cy="119658"/>
          </a:xfrm>
          <a:prstGeom prst="rect">
            <a:avLst/>
          </a:prstGeom>
          <a:noFill/>
          <a:ln/>
        </p:spPr>
        <p:txBody>
          <a:bodyPr wrap="square" lIns="0" tIns="0" rIns="0" bIns="0" rtlCol="0" anchor="t"/>
          <a:lstStyle/>
          <a:p>
            <a:pPr algn="l" indent="0" marL="0">
              <a:lnSpc>
                <a:spcPts val="877"/>
              </a:lnSpc>
              <a:buNone/>
            </a:pPr>
            <a:r>
              <a:rPr lang="en-US" sz="800" dirty="0">
                <a:solidFill>
                  <a:srgbClr val="F5F1E8"/>
                </a:solidFill>
                <a:latin typeface="Carlito" pitchFamily="34" charset="0"/>
                <a:ea typeface="Carlito" pitchFamily="34" charset="-122"/>
                <a:cs typeface="Carlito" pitchFamily="34" charset="-120"/>
              </a:rPr>
              <a:t>Clay/hydroxyl alteration</a:t>
            </a:r>
            <a:endParaRPr lang="en-US" sz="800" dirty="0"/>
          </a:p>
        </p:txBody>
      </p:sp>
      <p:sp>
        <p:nvSpPr>
          <p:cNvPr id="39" name="Text 37"/>
          <p:cNvSpPr/>
          <p:nvPr/>
        </p:nvSpPr>
        <p:spPr>
          <a:xfrm>
            <a:off x="8138732" y="3545867"/>
            <a:ext cx="256746" cy="133945"/>
          </a:xfrm>
          <a:prstGeom prst="rect">
            <a:avLst/>
          </a:prstGeom>
          <a:noFill/>
          <a:ln/>
        </p:spPr>
        <p:txBody>
          <a:bodyPr wrap="none" lIns="0" tIns="0" rIns="0" bIns="0" rtlCol="0" anchor="t"/>
          <a:lstStyle/>
          <a:p>
            <a:pPr algn="l" indent="0" marL="0">
              <a:lnSpc>
                <a:spcPts val="1055"/>
              </a:lnSpc>
              <a:buNone/>
            </a:pPr>
            <a:r>
              <a:rPr lang="en-US" sz="703" spc="7" kern="0" dirty="0">
                <a:solidFill>
                  <a:srgbClr val="D4A24A"/>
                </a:solidFill>
                <a:latin typeface="Liberation Sans Narrow" pitchFamily="34" charset="0"/>
                <a:ea typeface="Liberation Sans Narrow" pitchFamily="34" charset="-122"/>
                <a:cs typeface="Liberation Sans Narrow" pitchFamily="34" charset="-120"/>
              </a:rPr>
              <a:t>+9.8</a:t>
            </a:r>
            <a:endParaRPr lang="en-US" sz="703" dirty="0"/>
          </a:p>
        </p:txBody>
      </p:sp>
      <p:sp>
        <p:nvSpPr>
          <p:cNvPr id="40" name="Shape 38"/>
          <p:cNvSpPr/>
          <p:nvPr/>
        </p:nvSpPr>
        <p:spPr>
          <a:xfrm>
            <a:off x="4531928" y="3920914"/>
            <a:ext cx="3826259" cy="0"/>
          </a:xfrm>
          <a:prstGeom prst="line">
            <a:avLst/>
          </a:prstGeom>
          <a:noFill/>
          <a:ln w="7144">
            <a:solidFill>
              <a:srgbClr val="2A2F37"/>
            </a:solidFill>
            <a:prstDash val="dash"/>
          </a:ln>
        </p:spPr>
      </p:sp>
      <p:sp>
        <p:nvSpPr>
          <p:cNvPr id="41" name="Text 39"/>
          <p:cNvSpPr/>
          <p:nvPr/>
        </p:nvSpPr>
        <p:spPr>
          <a:xfrm>
            <a:off x="4531928" y="3765538"/>
            <a:ext cx="3751289" cy="119658"/>
          </a:xfrm>
          <a:prstGeom prst="rect">
            <a:avLst/>
          </a:prstGeom>
          <a:noFill/>
          <a:ln/>
        </p:spPr>
        <p:txBody>
          <a:bodyPr wrap="none" lIns="0" tIns="0" rIns="0" bIns="0" rtlCol="0" anchor="t"/>
          <a:lstStyle/>
          <a:p>
            <a:pPr algn="l" indent="0" marL="0">
              <a:lnSpc>
                <a:spcPts val="877"/>
              </a:lnSpc>
              <a:buNone/>
            </a:pPr>
            <a:r>
              <a:rPr lang="en-US" sz="800" dirty="0">
                <a:solidFill>
                  <a:srgbClr val="F5F1E8"/>
                </a:solidFill>
                <a:latin typeface="Carlito" pitchFamily="34" charset="0"/>
                <a:ea typeface="Carlito" pitchFamily="34" charset="-122"/>
                <a:cs typeface="Carlito" pitchFamily="34" charset="-120"/>
              </a:rPr>
              <a:t>Deposit proximity (USGS)</a:t>
            </a:r>
            <a:endParaRPr lang="en-US" sz="800" dirty="0"/>
          </a:p>
        </p:txBody>
      </p:sp>
      <p:sp>
        <p:nvSpPr>
          <p:cNvPr id="42" name="Text 40"/>
          <p:cNvSpPr/>
          <p:nvPr/>
        </p:nvSpPr>
        <p:spPr>
          <a:xfrm>
            <a:off x="8138732" y="3751250"/>
            <a:ext cx="256746" cy="133945"/>
          </a:xfrm>
          <a:prstGeom prst="rect">
            <a:avLst/>
          </a:prstGeom>
          <a:noFill/>
          <a:ln/>
        </p:spPr>
        <p:txBody>
          <a:bodyPr wrap="none" lIns="0" tIns="0" rIns="0" bIns="0" rtlCol="0" anchor="t"/>
          <a:lstStyle/>
          <a:p>
            <a:pPr algn="l" indent="0" marL="0">
              <a:lnSpc>
                <a:spcPts val="1055"/>
              </a:lnSpc>
              <a:buNone/>
            </a:pPr>
            <a:r>
              <a:rPr lang="en-US" sz="703" spc="7" kern="0" dirty="0">
                <a:solidFill>
                  <a:srgbClr val="D4A24A"/>
                </a:solidFill>
                <a:latin typeface="Liberation Sans Narrow" pitchFamily="34" charset="0"/>
                <a:ea typeface="Liberation Sans Narrow" pitchFamily="34" charset="-122"/>
                <a:cs typeface="Liberation Sans Narrow" pitchFamily="34" charset="-120"/>
              </a:rPr>
              <a:t>+7.4</a:t>
            </a:r>
            <a:endParaRPr lang="en-US" sz="703" dirty="0"/>
          </a:p>
        </p:txBody>
      </p:sp>
      <p:sp>
        <p:nvSpPr>
          <p:cNvPr id="43" name="Text 41"/>
          <p:cNvSpPr/>
          <p:nvPr/>
        </p:nvSpPr>
        <p:spPr>
          <a:xfrm>
            <a:off x="4531928" y="3970920"/>
            <a:ext cx="3751289" cy="142589"/>
          </a:xfrm>
          <a:prstGeom prst="rect">
            <a:avLst/>
          </a:prstGeom>
          <a:noFill/>
          <a:ln/>
        </p:spPr>
        <p:txBody>
          <a:bodyPr wrap="none" lIns="0" tIns="0" rIns="0" bIns="0" rtlCol="0" anchor="t"/>
          <a:lstStyle/>
          <a:p>
            <a:pPr algn="l" indent="0" marL="0">
              <a:lnSpc>
                <a:spcPts val="877"/>
              </a:lnSpc>
              <a:buNone/>
            </a:pPr>
            <a:r>
              <a:rPr lang="en-US" sz="800" dirty="0">
                <a:solidFill>
                  <a:srgbClr val="F5F1E8"/>
                </a:solidFill>
                <a:latin typeface="Carlito" pitchFamily="34" charset="0"/>
                <a:ea typeface="Carlito" pitchFamily="34" charset="-122"/>
                <a:cs typeface="Carlito" pitchFamily="34" charset="-120"/>
              </a:rPr>
              <a:t>Road distance (access)</a:t>
            </a:r>
            <a:endParaRPr lang="en-US" sz="800" dirty="0"/>
          </a:p>
        </p:txBody>
      </p:sp>
      <p:sp>
        <p:nvSpPr>
          <p:cNvPr id="44" name="Text 42"/>
          <p:cNvSpPr/>
          <p:nvPr/>
        </p:nvSpPr>
        <p:spPr>
          <a:xfrm>
            <a:off x="8138732" y="3956633"/>
            <a:ext cx="256746" cy="164592"/>
          </a:xfrm>
          <a:prstGeom prst="rect">
            <a:avLst/>
          </a:prstGeom>
          <a:noFill/>
          <a:ln/>
        </p:spPr>
        <p:txBody>
          <a:bodyPr wrap="none" lIns="0" tIns="0" rIns="0" bIns="0" rtlCol="0" anchor="t"/>
          <a:lstStyle/>
          <a:p>
            <a:pPr algn="l" indent="0" marL="0">
              <a:lnSpc>
                <a:spcPts val="1055"/>
              </a:lnSpc>
              <a:buNone/>
            </a:pPr>
            <a:r>
              <a:rPr lang="en-US" sz="703" spc="7" kern="0" dirty="0">
                <a:solidFill>
                  <a:srgbClr val="D4A24A"/>
                </a:solidFill>
                <a:latin typeface="Liberation Sans Narrow" pitchFamily="34" charset="0"/>
                <a:ea typeface="Liberation Sans Narrow" pitchFamily="34" charset="-122"/>
                <a:cs typeface="Liberation Sans Narrow" pitchFamily="34" charset="-120"/>
              </a:rPr>
              <a:t>+4.2</a:t>
            </a:r>
            <a:endParaRPr lang="en-US" sz="703" dirty="0"/>
          </a:p>
        </p:txBody>
      </p:sp>
      <p:sp>
        <p:nvSpPr>
          <p:cNvPr id="45" name="Text 43"/>
          <p:cNvSpPr/>
          <p:nvPr/>
        </p:nvSpPr>
        <p:spPr>
          <a:xfrm>
            <a:off x="4424772" y="4287031"/>
            <a:ext cx="4040572" cy="323924"/>
          </a:xfrm>
          <a:prstGeom prst="rect">
            <a:avLst/>
          </a:prstGeom>
          <a:noFill/>
          <a:ln/>
        </p:spPr>
        <p:txBody>
          <a:bodyPr wrap="square" lIns="0" tIns="0" rIns="0" bIns="0" rtlCol="0" anchor="t"/>
          <a:lstStyle/>
          <a:p>
            <a:pPr algn="l" indent="0" marL="0">
              <a:lnSpc>
                <a:spcPts val="1276"/>
              </a:lnSpc>
              <a:buNone/>
            </a:pPr>
            <a:r>
              <a:rPr lang="en-US" sz="800" dirty="0">
                <a:solidFill>
                  <a:srgbClr val="C9C3B5"/>
                </a:solidFill>
                <a:latin typeface="Carlito" pitchFamily="34" charset="0"/>
                <a:ea typeface="Carlito" pitchFamily="34" charset="-122"/>
                <a:cs typeface="Carlito" pitchFamily="34" charset="-120"/>
              </a:rPr>
              <a:t>Not a heat map you interpret — a ranked list that tells you what it was reasoning from, with a depth-to-source estimate attached.</a:t>
            </a:r>
            <a:endParaRPr lang="en-US" sz="800" dirty="0"/>
          </a:p>
        </p:txBody>
      </p:sp>
      <p:sp>
        <p:nvSpPr>
          <p:cNvPr id="46" name="Text 44"/>
          <p:cNvSpPr/>
          <p:nvPr/>
        </p:nvSpPr>
        <p:spPr>
          <a:xfrm>
            <a:off x="514350" y="4903850"/>
            <a:ext cx="8115300" cy="483543"/>
          </a:xfrm>
          <a:prstGeom prst="roundRect">
            <a:avLst>
              <a:gd name="adj" fmla="val 7879"/>
            </a:avLst>
          </a:prstGeom>
          <a:solidFill>
            <a:srgbClr val="1C2128"/>
          </a:solidFill>
          <a:ln/>
        </p:spPr>
        <p:txBody>
          <a:bodyPr wrap="square" rtlCol="0" anchor="ctr"/>
          <a:lstStyle/>
          <a:p>
            <a:pPr indent="0" marL="0">
              <a:buNone/>
            </a:pPr>
            <a:endParaRPr lang="en-US" dirty="0"/>
          </a:p>
        </p:txBody>
      </p:sp>
      <p:sp>
        <p:nvSpPr>
          <p:cNvPr id="47" name="Shape 45"/>
          <p:cNvSpPr/>
          <p:nvPr/>
        </p:nvSpPr>
        <p:spPr>
          <a:xfrm>
            <a:off x="514350" y="4907421"/>
            <a:ext cx="8115300" cy="0"/>
          </a:xfrm>
          <a:prstGeom prst="line">
            <a:avLst/>
          </a:prstGeom>
          <a:noFill/>
          <a:ln w="7144">
            <a:solidFill>
              <a:srgbClr val="2A2F37"/>
            </a:solidFill>
            <a:prstDash val="solid"/>
          </a:ln>
        </p:spPr>
      </p:sp>
      <p:sp>
        <p:nvSpPr>
          <p:cNvPr id="48" name="Shape 46"/>
          <p:cNvSpPr/>
          <p:nvPr/>
        </p:nvSpPr>
        <p:spPr>
          <a:xfrm>
            <a:off x="8626078" y="4903850"/>
            <a:ext cx="0" cy="483543"/>
          </a:xfrm>
          <a:prstGeom prst="line">
            <a:avLst/>
          </a:prstGeom>
          <a:noFill/>
          <a:ln w="7144">
            <a:solidFill>
              <a:srgbClr val="2A2F37"/>
            </a:solidFill>
            <a:prstDash val="solid"/>
          </a:ln>
        </p:spPr>
      </p:sp>
      <p:sp>
        <p:nvSpPr>
          <p:cNvPr id="49" name="Shape 47"/>
          <p:cNvSpPr/>
          <p:nvPr/>
        </p:nvSpPr>
        <p:spPr>
          <a:xfrm>
            <a:off x="514350" y="5383820"/>
            <a:ext cx="8115300" cy="0"/>
          </a:xfrm>
          <a:prstGeom prst="line">
            <a:avLst/>
          </a:prstGeom>
          <a:noFill/>
          <a:ln w="7144">
            <a:solidFill>
              <a:srgbClr val="2A2F37"/>
            </a:solidFill>
            <a:prstDash val="solid"/>
          </a:ln>
        </p:spPr>
      </p:sp>
      <p:sp>
        <p:nvSpPr>
          <p:cNvPr id="50" name="Shape 48"/>
          <p:cNvSpPr/>
          <p:nvPr/>
        </p:nvSpPr>
        <p:spPr>
          <a:xfrm>
            <a:off x="525066" y="4903850"/>
            <a:ext cx="0" cy="483543"/>
          </a:xfrm>
          <a:prstGeom prst="line">
            <a:avLst/>
          </a:prstGeom>
          <a:noFill/>
          <a:ln w="21431">
            <a:solidFill>
              <a:srgbClr val="4A8F6B"/>
            </a:solidFill>
            <a:prstDash val="solid"/>
          </a:ln>
        </p:spPr>
      </p:sp>
      <p:sp>
        <p:nvSpPr>
          <p:cNvPr id="51" name="Text 49"/>
          <p:cNvSpPr/>
          <p:nvPr/>
        </p:nvSpPr>
        <p:spPr>
          <a:xfrm>
            <a:off x="698659" y="5028222"/>
            <a:ext cx="768690" cy="212027"/>
          </a:xfrm>
          <a:prstGeom prst="rect">
            <a:avLst/>
          </a:prstGeom>
          <a:solidFill>
            <a:srgbClr val="4A8F6B">
              <a:alpha val="10000"/>
            </a:srgbClr>
          </a:solidFill>
          <a:ln/>
        </p:spPr>
        <p:txBody>
          <a:bodyPr wrap="square" rtlCol="0" anchor="ctr"/>
          <a:lstStyle/>
          <a:p>
            <a:pPr indent="0" marL="0">
              <a:buNone/>
            </a:pPr>
            <a:endParaRPr lang="en-US" dirty="0"/>
          </a:p>
        </p:txBody>
      </p:sp>
      <p:sp>
        <p:nvSpPr>
          <p:cNvPr id="52" name="Shape 50"/>
          <p:cNvSpPr/>
          <p:nvPr/>
        </p:nvSpPr>
        <p:spPr>
          <a:xfrm>
            <a:off x="728663" y="5039581"/>
            <a:ext cx="0" cy="189309"/>
          </a:xfrm>
          <a:prstGeom prst="line">
            <a:avLst/>
          </a:prstGeom>
          <a:noFill/>
          <a:ln w="14288">
            <a:solidFill>
              <a:srgbClr val="4A8F6B"/>
            </a:solidFill>
            <a:prstDash val="solid"/>
          </a:ln>
        </p:spPr>
      </p:sp>
      <p:sp>
        <p:nvSpPr>
          <p:cNvPr id="53" name="Text 51"/>
          <p:cNvSpPr/>
          <p:nvPr/>
        </p:nvSpPr>
        <p:spPr>
          <a:xfrm>
            <a:off x="721519" y="5039581"/>
            <a:ext cx="801551" cy="103919"/>
          </a:xfrm>
          <a:prstGeom prst="rect">
            <a:avLst/>
          </a:prstGeom>
          <a:noFill/>
          <a:ln/>
        </p:spPr>
        <p:txBody>
          <a:bodyPr wrap="none" lIns="71438" tIns="35719" rIns="71438" bIns="35719" rtlCol="0" anchor="t"/>
          <a:lstStyle/>
          <a:p>
            <a:pPr algn="l" indent="0" marL="0">
              <a:lnSpc>
                <a:spcPts val="928"/>
              </a:lnSpc>
              <a:buNone/>
            </a:pPr>
            <a:r>
              <a:rPr lang="en-US" sz="800" spc="136" kern="0" dirty="0">
                <a:solidFill>
                  <a:srgbClr val="4A8F6B"/>
                </a:solidFill>
                <a:latin typeface="Courier New" pitchFamily="34" charset="0"/>
                <a:ea typeface="Courier New" pitchFamily="34" charset="-122"/>
                <a:cs typeface="Courier New" pitchFamily="34" charset="-120"/>
              </a:rPr>
              <a:t>THE IMPACT</a:t>
            </a:r>
            <a:endParaRPr lang="en-US" sz="800" dirty="0"/>
          </a:p>
        </p:txBody>
      </p:sp>
      <p:sp>
        <p:nvSpPr>
          <p:cNvPr id="54" name="Text 52"/>
          <p:cNvSpPr/>
          <p:nvPr/>
        </p:nvSpPr>
        <p:spPr>
          <a:xfrm>
            <a:off x="1601651" y="5039581"/>
            <a:ext cx="6835118" cy="103919"/>
          </a:xfrm>
          <a:prstGeom prst="rect">
            <a:avLst/>
          </a:prstGeom>
          <a:noFill/>
          <a:ln/>
        </p:spPr>
        <p:txBody>
          <a:bodyPr wrap="square" lIns="0" tIns="0" rIns="0" bIns="0" rtlCol="0" anchor="t"/>
          <a:lstStyle/>
          <a:p>
            <a:pPr algn="l" indent="0" marL="0">
              <a:lnSpc>
                <a:spcPts val="1671"/>
              </a:lnSpc>
              <a:buNone/>
            </a:pPr>
            <a:r>
              <a:rPr lang="en-US" sz="1238" i="1" spc="-6" kern="0" dirty="0">
                <a:solidFill>
                  <a:srgbClr val="F5F1E8"/>
                </a:solidFill>
                <a:latin typeface="Tinos" pitchFamily="34" charset="0"/>
                <a:ea typeface="Tinos" pitchFamily="34" charset="-122"/>
                <a:cs typeface="Tinos" pitchFamily="34" charset="-120"/>
              </a:rPr>
              <a:t>A geologist can agree or disagree with a </a:t>
            </a:r>
            <a:pPr algn="l" indent="0" marL="0">
              <a:lnSpc>
                <a:spcPts val="1671"/>
              </a:lnSpc>
              <a:buNone/>
            </a:pPr>
            <a:r>
              <a:rPr lang="en-US" sz="1238" i="1" spc="-6" kern="0" dirty="0">
                <a:solidFill>
                  <a:srgbClr val="D4A24A"/>
                </a:solidFill>
                <a:latin typeface="Tinos" pitchFamily="34" charset="0"/>
                <a:ea typeface="Tinos" pitchFamily="34" charset="-122"/>
                <a:cs typeface="Tinos" pitchFamily="34" charset="-120"/>
              </a:rPr>
              <a:t>specific number</a:t>
            </a:r>
            <a:pPr algn="l" indent="0" marL="0">
              <a:lnSpc>
                <a:spcPts val="1671"/>
              </a:lnSpc>
              <a:buNone/>
            </a:pPr>
            <a:r>
              <a:rPr lang="en-US" sz="1238" i="1" spc="-6" kern="0" dirty="0">
                <a:solidFill>
                  <a:srgbClr val="F5F1E8"/>
                </a:solidFill>
                <a:latin typeface="Tinos" pitchFamily="34" charset="0"/>
                <a:ea typeface="Tinos" pitchFamily="34" charset="-122"/>
                <a:cs typeface="Tinos" pitchFamily="34" charset="-120"/>
              </a:rPr>
              <a:t> — not with a colour.</a:t>
            </a:r>
            <a:endParaRPr lang="en-US" sz="1238" dirty="0"/>
          </a:p>
        </p:txBody>
      </p:sp>
      <p:sp>
        <p:nvSpPr>
          <p:cNvPr id="55" name="Shape 53"/>
          <p:cNvSpPr/>
          <p:nvPr/>
        </p:nvSpPr>
        <p:spPr>
          <a:xfrm>
            <a:off x="514350" y="4736306"/>
            <a:ext cx="8115300" cy="0"/>
          </a:xfrm>
          <a:prstGeom prst="line">
            <a:avLst/>
          </a:prstGeom>
          <a:noFill/>
          <a:ln w="7144">
            <a:solidFill>
              <a:srgbClr val="2A2F37"/>
            </a:solidFill>
            <a:prstDash val="solid"/>
          </a:ln>
        </p:spPr>
      </p:sp>
      <p:sp>
        <p:nvSpPr>
          <p:cNvPr id="56" name="Text 54"/>
          <p:cNvSpPr/>
          <p:nvPr/>
        </p:nvSpPr>
        <p:spPr>
          <a:xfrm>
            <a:off x="514350" y="4825603"/>
            <a:ext cx="7748960" cy="117872"/>
          </a:xfrm>
          <a:prstGeom prst="rect">
            <a:avLst/>
          </a:prstGeom>
          <a:noFill/>
          <a:ln/>
        </p:spPr>
        <p:txBody>
          <a:bodyPr wrap="square" lIns="0" tIns="0" rIns="0" bIns="0" rtlCol="0" anchor="t"/>
          <a:lstStyle/>
          <a:p>
            <a:pPr algn="l" indent="0" marL="0">
              <a:lnSpc>
                <a:spcPts val="928"/>
              </a:lnSpc>
              <a:buNone/>
            </a:pPr>
            <a:r>
              <a:rPr lang="en-US" sz="800" spc="87" kern="0" dirty="0">
                <a:solidFill>
                  <a:srgbClr val="8A8576"/>
                </a:solidFill>
                <a:latin typeface="Courier New" pitchFamily="34" charset="0"/>
                <a:ea typeface="Courier New" pitchFamily="34" charset="-122"/>
                <a:cs typeface="Courier New" pitchFamily="34" charset="-120"/>
              </a:rPr>
              <a:t>CLAIM 02 — THE RANKING EXPLAINS ITSELF</a:t>
            </a:r>
            <a:endParaRPr lang="en-US" sz="800" dirty="0"/>
          </a:p>
        </p:txBody>
      </p:sp>
      <p:sp>
        <p:nvSpPr>
          <p:cNvPr id="57" name="Text 55"/>
          <p:cNvSpPr/>
          <p:nvPr/>
        </p:nvSpPr>
        <p:spPr>
          <a:xfrm>
            <a:off x="8277597" y="4825603"/>
            <a:ext cx="352053" cy="117872"/>
          </a:xfrm>
          <a:prstGeom prst="rect">
            <a:avLst/>
          </a:prstGeom>
          <a:noFill/>
          <a:ln/>
        </p:spPr>
        <p:txBody>
          <a:bodyPr wrap="none" lIns="0" tIns="0" rIns="0" bIns="0" rtlCol="0" anchor="t"/>
          <a:lstStyle/>
          <a:p>
            <a:pPr algn="l" indent="0" marL="0">
              <a:lnSpc>
                <a:spcPts val="928"/>
              </a:lnSpc>
              <a:buNone/>
            </a:pPr>
            <a:r>
              <a:rPr lang="en-US" sz="619" spc="87" kern="0" dirty="0">
                <a:solidFill>
                  <a:srgbClr val="8A8576"/>
                </a:solidFill>
                <a:latin typeface="Liberation Sans Narrow" pitchFamily="34" charset="0"/>
                <a:ea typeface="Liberation Sans Narrow" pitchFamily="34" charset="-122"/>
                <a:cs typeface="Liberation Sans Narrow" pitchFamily="34" charset="-120"/>
              </a:rPr>
              <a:t>04 / 12</a:t>
            </a:r>
            <a:endParaRPr lang="en-US" sz="619" dirty="0"/>
          </a:p>
        </p:txBody>
      </p:sp>
      <p:sp>
        <p:nvSpPr>
          <p:cNvPr id="58" name="Text 56"/>
          <p:cNvSpPr/>
          <p:nvPr/>
        </p:nvSpPr>
        <p:spPr>
          <a:xfrm>
            <a:off x="514350" y="453628"/>
            <a:ext cx="1664406" cy="164592"/>
          </a:xfrm>
          <a:prstGeom prst="rect">
            <a:avLst/>
          </a:prstGeom>
          <a:noFill/>
          <a:ln/>
        </p:spPr>
        <p:txBody>
          <a:bodyPr wrap="none" lIns="0" tIns="0" rIns="0" bIns="0" rtlCol="0" anchor="t"/>
          <a:lstStyle/>
          <a:p>
            <a:pPr algn="l" indent="0" marL="0">
              <a:lnSpc>
                <a:spcPts val="1013"/>
              </a:lnSpc>
              <a:buNone/>
            </a:pPr>
            <a:r>
              <a:rPr lang="en-US" sz="800" spc="176" kern="0" dirty="0">
                <a:solidFill>
                  <a:srgbClr val="D4A24A"/>
                </a:solidFill>
                <a:latin typeface="Liberation Sans Narrow" pitchFamily="34" charset="0"/>
                <a:ea typeface="Liberation Sans Narrow" pitchFamily="34" charset="-122"/>
                <a:cs typeface="Liberation Sans Narrow" pitchFamily="34" charset="-120"/>
              </a:rPr>
              <a:t>CLAIM 02 / 03</a:t>
            </a:r>
            <a:endParaRPr lang="en-US" sz="800" dirty="0"/>
          </a:p>
        </p:txBody>
      </p:sp>
      <p:sp>
        <p:nvSpPr>
          <p:cNvPr id="59" name="Text 57"/>
          <p:cNvSpPr/>
          <p:nvPr/>
        </p:nvSpPr>
        <p:spPr>
          <a:xfrm>
            <a:off x="514350" y="667941"/>
            <a:ext cx="8629650" cy="333202"/>
          </a:xfrm>
          <a:prstGeom prst="rect">
            <a:avLst/>
          </a:prstGeom>
          <a:noFill/>
          <a:ln/>
        </p:spPr>
        <p:txBody>
          <a:bodyPr wrap="square" lIns="0" tIns="0" rIns="0" bIns="0" rtlCol="0" anchor="t"/>
          <a:lstStyle/>
          <a:p>
            <a:pPr algn="l" indent="0" marL="0">
              <a:lnSpc>
                <a:spcPts val="2430"/>
              </a:lnSpc>
              <a:buNone/>
            </a:pPr>
            <a:r>
              <a:rPr lang="en-US" sz="2250" spc="-27" kern="0" dirty="0">
                <a:solidFill>
                  <a:srgbClr val="F5F1E8"/>
                </a:solidFill>
                <a:latin typeface="Tinos" pitchFamily="34" charset="0"/>
                <a:ea typeface="Tinos" pitchFamily="34" charset="-122"/>
                <a:cs typeface="Tinos" pitchFamily="34" charset="-120"/>
              </a:rPr>
              <a:t>The ranking explains itself.</a:t>
            </a:r>
            <a:endParaRPr lang="en-US" sz="2250" dirty="0"/>
          </a:p>
        </p:txBody>
      </p:sp>
      <p:sp>
        <p:nvSpPr>
          <p:cNvPr id="60" name="Text 58"/>
          <p:cNvSpPr/>
          <p:nvPr/>
        </p:nvSpPr>
        <p:spPr>
          <a:xfrm>
            <a:off x="514350" y="1076474"/>
            <a:ext cx="400050" cy="14288"/>
          </a:xfrm>
          <a:prstGeom prst="rect">
            <a:avLst/>
          </a:prstGeom>
          <a:solidFill>
            <a:srgbClr val="D4A24A"/>
          </a:solidFill>
          <a:ln/>
        </p:spPr>
        <p:txBody>
          <a:bodyPr wrap="square" rtlCol="0" anchor="ctr"/>
          <a:lstStyle/>
          <a:p>
            <a:pPr indent="0" marL="0">
              <a:buNone/>
            </a:pP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1115"/>
        </a:solidFill>
      </p:bgPr>
    </p:bg>
    <p:spTree>
      <p:nvGrpSpPr>
        <p:cNvPr id="1" name=""/>
        <p:cNvGrpSpPr/>
        <p:nvPr/>
      </p:nvGrpSpPr>
      <p:grpSpPr>
        <a:xfrm>
          <a:off x="0" y="0"/>
          <a:ext cx="0" cy="0"/>
          <a:chOff x="0" y="0"/>
          <a:chExt cx="0" cy="0"/>
        </a:xfrm>
      </p:grpSpPr>
      <p:sp>
        <p:nvSpPr>
          <p:cNvPr id="2" name="Text 0"/>
          <p:cNvSpPr/>
          <p:nvPr/>
        </p:nvSpPr>
        <p:spPr>
          <a:xfrm>
            <a:off x="514350" y="200025"/>
            <a:ext cx="2326933" cy="164592"/>
          </a:xfrm>
          <a:prstGeom prst="rect">
            <a:avLst/>
          </a:prstGeom>
          <a:noFill/>
          <a:ln/>
        </p:spPr>
        <p:txBody>
          <a:bodyPr wrap="square" lIns="0" tIns="0" rIns="0" bIns="0" rtlCol="0" anchor="t"/>
          <a:lstStyle/>
          <a:p>
            <a:pPr algn="l" indent="0" marL="0">
              <a:lnSpc>
                <a:spcPts val="928"/>
              </a:lnSpc>
              <a:buNone/>
            </a:pPr>
            <a:r>
              <a:rPr lang="en-US" sz="619" spc="111" kern="0" dirty="0">
                <a:solidFill>
                  <a:srgbClr val="8A8576"/>
                </a:solidFill>
                <a:latin typeface="Courier New" pitchFamily="34" charset="0"/>
                <a:ea typeface="Courier New" pitchFamily="34" charset="-122"/>
                <a:cs typeface="Courier New" pitchFamily="34" charset="-120"/>
              </a:rPr>
              <a:t>TERRAPULSE × GOLD FIELDS GHANA / 2026</a:t>
            </a:r>
            <a:endParaRPr lang="en-US" sz="619" dirty="0"/>
          </a:p>
        </p:txBody>
      </p:sp>
      <p:sp>
        <p:nvSpPr>
          <p:cNvPr id="3" name="Text 1"/>
          <p:cNvSpPr/>
          <p:nvPr/>
        </p:nvSpPr>
        <p:spPr>
          <a:xfrm>
            <a:off x="8299586" y="200025"/>
            <a:ext cx="474415" cy="164592"/>
          </a:xfrm>
          <a:prstGeom prst="rect">
            <a:avLst/>
          </a:prstGeom>
          <a:noFill/>
          <a:ln/>
        </p:spPr>
        <p:txBody>
          <a:bodyPr wrap="none" lIns="0" tIns="0" rIns="0" bIns="0" rtlCol="0" anchor="t"/>
          <a:lstStyle/>
          <a:p>
            <a:pPr algn="l" indent="0" marL="0">
              <a:lnSpc>
                <a:spcPts val="928"/>
              </a:lnSpc>
              <a:buNone/>
            </a:pPr>
            <a:r>
              <a:rPr lang="en-US" sz="800" spc="62" kern="0" dirty="0">
                <a:solidFill>
                  <a:srgbClr val="8A8576"/>
                </a:solidFill>
                <a:latin typeface="Liberation Sans Narrow" pitchFamily="34" charset="0"/>
                <a:ea typeface="Liberation Sans Narrow" pitchFamily="34" charset="-122"/>
                <a:cs typeface="Liberation Sans Narrow" pitchFamily="34" charset="-120"/>
              </a:rPr>
              <a:t>05 / 12</a:t>
            </a:r>
            <a:endParaRPr lang="en-US" sz="800" dirty="0"/>
          </a:p>
        </p:txBody>
      </p:sp>
      <p:sp>
        <p:nvSpPr>
          <p:cNvPr id="4" name="Text 2"/>
          <p:cNvSpPr/>
          <p:nvPr/>
        </p:nvSpPr>
        <p:spPr>
          <a:xfrm>
            <a:off x="514350" y="428625"/>
            <a:ext cx="8629650" cy="164592"/>
          </a:xfrm>
          <a:prstGeom prst="rect">
            <a:avLst/>
          </a:prstGeom>
          <a:noFill/>
          <a:ln/>
        </p:spPr>
        <p:txBody>
          <a:bodyPr wrap="none" lIns="0" tIns="0" rIns="0" bIns="0" rtlCol="0" anchor="t"/>
          <a:lstStyle/>
          <a:p>
            <a:pPr algn="l" indent="0" marL="0">
              <a:lnSpc>
                <a:spcPts val="928"/>
              </a:lnSpc>
              <a:buNone/>
            </a:pPr>
            <a:r>
              <a:rPr lang="en-US" sz="800" spc="136" kern="0" dirty="0">
                <a:solidFill>
                  <a:srgbClr val="D4A24A"/>
                </a:solidFill>
                <a:latin typeface="Liberation Sans Narrow" pitchFamily="34" charset="0"/>
                <a:ea typeface="Liberation Sans Narrow" pitchFamily="34" charset="-122"/>
                <a:cs typeface="Liberation Sans Narrow" pitchFamily="34" charset="-120"/>
              </a:rPr>
              <a:t>CLAIM 03 / 03</a:t>
            </a:r>
            <a:endParaRPr lang="en-US" sz="800" dirty="0"/>
          </a:p>
        </p:txBody>
      </p:sp>
      <p:sp>
        <p:nvSpPr>
          <p:cNvPr id="5" name="Text 3"/>
          <p:cNvSpPr/>
          <p:nvPr/>
        </p:nvSpPr>
        <p:spPr>
          <a:xfrm>
            <a:off x="514350" y="632222"/>
            <a:ext cx="8521065" cy="333202"/>
          </a:xfrm>
          <a:prstGeom prst="rect">
            <a:avLst/>
          </a:prstGeom>
          <a:noFill/>
          <a:ln/>
        </p:spPr>
        <p:txBody>
          <a:bodyPr wrap="none" lIns="0" tIns="0" rIns="0" bIns="0" rtlCol="0" anchor="t"/>
          <a:lstStyle/>
          <a:p>
            <a:pPr algn="l" indent="0" marL="0">
              <a:lnSpc>
                <a:spcPts val="2430"/>
              </a:lnSpc>
              <a:buNone/>
            </a:pPr>
            <a:r>
              <a:rPr lang="en-US" sz="2250" spc="-23" kern="0" dirty="0">
                <a:solidFill>
                  <a:srgbClr val="F5F1E8"/>
                </a:solidFill>
                <a:latin typeface="Tinos" pitchFamily="34" charset="0"/>
                <a:ea typeface="Tinos" pitchFamily="34" charset="-122"/>
                <a:cs typeface="Tinos" pitchFamily="34" charset="-120"/>
              </a:rPr>
              <a:t>The output is defensible.</a:t>
            </a:r>
            <a:endParaRPr lang="en-US" sz="2250" dirty="0"/>
          </a:p>
        </p:txBody>
      </p:sp>
      <p:sp>
        <p:nvSpPr>
          <p:cNvPr id="6" name="Text 4"/>
          <p:cNvSpPr/>
          <p:nvPr/>
        </p:nvSpPr>
        <p:spPr>
          <a:xfrm>
            <a:off x="514350" y="997893"/>
            <a:ext cx="342900" cy="12278"/>
          </a:xfrm>
          <a:prstGeom prst="rect">
            <a:avLst/>
          </a:prstGeom>
          <a:solidFill>
            <a:srgbClr val="D4A24A"/>
          </a:solidFill>
          <a:ln/>
        </p:spPr>
        <p:txBody>
          <a:bodyPr wrap="square" rtlCol="0" anchor="ctr"/>
          <a:lstStyle/>
          <a:p>
            <a:pPr indent="0" marL="0">
              <a:buNone/>
            </a:pPr>
            <a:endParaRPr lang="en-US" dirty="0"/>
          </a:p>
        </p:txBody>
      </p:sp>
      <p:sp>
        <p:nvSpPr>
          <p:cNvPr id="7" name="Text 5"/>
          <p:cNvSpPr/>
          <p:nvPr/>
        </p:nvSpPr>
        <p:spPr>
          <a:xfrm>
            <a:off x="514350" y="1324496"/>
            <a:ext cx="3651796" cy="175022"/>
          </a:xfrm>
          <a:prstGeom prst="roundRect">
            <a:avLst>
              <a:gd name="adj" fmla="val 10884"/>
            </a:avLst>
          </a:prstGeom>
          <a:solidFill>
            <a:srgbClr val="B23A1F">
              <a:alpha val="10000"/>
            </a:srgbClr>
          </a:solidFill>
          <a:ln/>
        </p:spPr>
        <p:txBody>
          <a:bodyPr wrap="square" rtlCol="0" anchor="ctr"/>
          <a:lstStyle/>
          <a:p>
            <a:pPr indent="0" marL="0">
              <a:buNone/>
            </a:pPr>
            <a:endParaRPr lang="en-US" dirty="0"/>
          </a:p>
        </p:txBody>
      </p:sp>
      <p:sp>
        <p:nvSpPr>
          <p:cNvPr id="8" name="Shape 6"/>
          <p:cNvSpPr/>
          <p:nvPr/>
        </p:nvSpPr>
        <p:spPr>
          <a:xfrm>
            <a:off x="521494" y="1324496"/>
            <a:ext cx="0" cy="175022"/>
          </a:xfrm>
          <a:prstGeom prst="line">
            <a:avLst/>
          </a:prstGeom>
          <a:noFill/>
          <a:ln w="14288">
            <a:solidFill>
              <a:srgbClr val="B23A1F"/>
            </a:solidFill>
            <a:prstDash val="solid"/>
          </a:ln>
        </p:spPr>
      </p:sp>
      <p:sp>
        <p:nvSpPr>
          <p:cNvPr id="9" name="Text 7"/>
          <p:cNvSpPr/>
          <p:nvPr/>
        </p:nvSpPr>
        <p:spPr>
          <a:xfrm>
            <a:off x="514350" y="1324496"/>
            <a:ext cx="3651796" cy="175022"/>
          </a:xfrm>
          <a:prstGeom prst="rect">
            <a:avLst/>
          </a:prstGeom>
          <a:noFill/>
          <a:ln/>
        </p:spPr>
        <p:txBody>
          <a:bodyPr wrap="none" lIns="0" tIns="0" rIns="0" bIns="0" rtlCol="0" anchor="ctr"/>
          <a:lstStyle/>
          <a:p>
            <a:pPr algn="ctr" indent="0" marL="0">
              <a:lnSpc>
                <a:spcPts val="928"/>
              </a:lnSpc>
              <a:buNone/>
            </a:pPr>
            <a:r>
              <a:rPr lang="en-US" sz="800" spc="124" kern="0" dirty="0">
                <a:solidFill>
                  <a:srgbClr val="B23A1F"/>
                </a:solidFill>
                <a:latin typeface="Courier New" pitchFamily="34" charset="0"/>
                <a:ea typeface="Courier New" pitchFamily="34" charset="-122"/>
                <a:cs typeface="Courier New" pitchFamily="34" charset="-120"/>
              </a:rPr>
              <a:t>THE PROBLEM</a:t>
            </a:r>
            <a:endParaRPr lang="en-US" sz="800" dirty="0"/>
          </a:p>
        </p:txBody>
      </p:sp>
      <p:sp>
        <p:nvSpPr>
          <p:cNvPr id="10" name="Text 8"/>
          <p:cNvSpPr/>
          <p:nvPr/>
        </p:nvSpPr>
        <p:spPr>
          <a:xfrm>
            <a:off x="514350" y="1585243"/>
            <a:ext cx="3651796" cy="400470"/>
          </a:xfrm>
          <a:prstGeom prst="rect">
            <a:avLst/>
          </a:prstGeom>
          <a:noFill/>
          <a:ln/>
        </p:spPr>
        <p:txBody>
          <a:bodyPr wrap="square" lIns="0" tIns="0" rIns="0" bIns="0" rtlCol="0" anchor="t"/>
          <a:lstStyle/>
          <a:p>
            <a:pPr algn="l" indent="0" marL="0">
              <a:lnSpc>
                <a:spcPts val="1460"/>
              </a:lnSpc>
              <a:buNone/>
            </a:pPr>
            <a:r>
              <a:rPr lang="en-US" sz="1238" dirty="0">
                <a:solidFill>
                  <a:srgbClr val="F5F1E8"/>
                </a:solidFill>
                <a:latin typeface="Tinos" pitchFamily="34" charset="0"/>
                <a:ea typeface="Tinos" pitchFamily="34" charset="-122"/>
                <a:cs typeface="Tinos" pitchFamily="34" charset="-120"/>
              </a:rPr>
              <a:t>The board, the regulator, the QP — they all ask the same question.</a:t>
            </a:r>
            <a:endParaRPr lang="en-US" sz="1238" dirty="0"/>
          </a:p>
        </p:txBody>
      </p:sp>
      <p:sp>
        <p:nvSpPr>
          <p:cNvPr id="11" name="Text 9"/>
          <p:cNvSpPr/>
          <p:nvPr/>
        </p:nvSpPr>
        <p:spPr>
          <a:xfrm>
            <a:off x="514350" y="2056061"/>
            <a:ext cx="3651796" cy="894487"/>
          </a:xfrm>
          <a:prstGeom prst="rect">
            <a:avLst/>
          </a:prstGeom>
          <a:noFill/>
          <a:ln/>
        </p:spPr>
        <p:txBody>
          <a:bodyPr wrap="square" lIns="0" tIns="0" rIns="0" bIns="0" rtlCol="0" anchor="t"/>
          <a:lstStyle/>
          <a:p>
            <a:pPr algn="l" indent="0" marL="0">
              <a:lnSpc>
                <a:spcPts val="1305"/>
              </a:lnSpc>
              <a:buNone/>
            </a:pPr>
            <a:r>
              <a:rPr lang="en-US" sz="816" dirty="0">
                <a:solidFill>
                  <a:srgbClr val="C9C3B5"/>
                </a:solidFill>
                <a:latin typeface="Carlito" pitchFamily="34" charset="0"/>
                <a:ea typeface="Carlito" pitchFamily="34" charset="-122"/>
                <a:cs typeface="Carlito" pitchFamily="34" charset="-120"/>
              </a:rPr>
              <a:t>NI 43-101, JORC, the Minerals Commission of Ghana — none of them accept a target on faith. “Show your working” is the request, and it arrives at the worst moment: months after the analysis was done, by a different geologist, on data that has since changed. Without lineage attached to the target, the answer is a reconstruction project.</a:t>
            </a:r>
            <a:endParaRPr lang="en-US" sz="816" dirty="0"/>
          </a:p>
        </p:txBody>
      </p:sp>
      <p:sp>
        <p:nvSpPr>
          <p:cNvPr id="12" name="Text 10"/>
          <p:cNvSpPr/>
          <p:nvPr/>
        </p:nvSpPr>
        <p:spPr>
          <a:xfrm>
            <a:off x="4394746" y="1324496"/>
            <a:ext cx="4463393" cy="175022"/>
          </a:xfrm>
          <a:prstGeom prst="roundRect">
            <a:avLst>
              <a:gd name="adj" fmla="val 10884"/>
            </a:avLst>
          </a:prstGeom>
          <a:solidFill>
            <a:srgbClr val="D4A24A">
              <a:alpha val="10000"/>
            </a:srgbClr>
          </a:solidFill>
          <a:ln/>
        </p:spPr>
        <p:txBody>
          <a:bodyPr wrap="square" rtlCol="0" anchor="ctr"/>
          <a:lstStyle/>
          <a:p>
            <a:pPr indent="0" marL="0">
              <a:buNone/>
            </a:pPr>
            <a:endParaRPr lang="en-US" dirty="0"/>
          </a:p>
        </p:txBody>
      </p:sp>
      <p:sp>
        <p:nvSpPr>
          <p:cNvPr id="13" name="Shape 11"/>
          <p:cNvSpPr/>
          <p:nvPr/>
        </p:nvSpPr>
        <p:spPr>
          <a:xfrm>
            <a:off x="4401889" y="1324496"/>
            <a:ext cx="0" cy="175022"/>
          </a:xfrm>
          <a:prstGeom prst="line">
            <a:avLst/>
          </a:prstGeom>
          <a:noFill/>
          <a:ln w="14288">
            <a:solidFill>
              <a:srgbClr val="D4A24A"/>
            </a:solidFill>
            <a:prstDash val="solid"/>
          </a:ln>
        </p:spPr>
      </p:sp>
      <p:sp>
        <p:nvSpPr>
          <p:cNvPr id="14" name="Text 12"/>
          <p:cNvSpPr/>
          <p:nvPr/>
        </p:nvSpPr>
        <p:spPr>
          <a:xfrm>
            <a:off x="4394746" y="1324496"/>
            <a:ext cx="4463393" cy="175022"/>
          </a:xfrm>
          <a:prstGeom prst="rect">
            <a:avLst/>
          </a:prstGeom>
          <a:noFill/>
          <a:ln/>
        </p:spPr>
        <p:txBody>
          <a:bodyPr wrap="none" lIns="0" tIns="0" rIns="0" bIns="0" rtlCol="0" anchor="ctr"/>
          <a:lstStyle/>
          <a:p>
            <a:pPr algn="ctr" indent="0" marL="0">
              <a:lnSpc>
                <a:spcPts val="928"/>
              </a:lnSpc>
              <a:buNone/>
            </a:pPr>
            <a:r>
              <a:rPr lang="en-US" sz="800" spc="124" kern="0" dirty="0">
                <a:solidFill>
                  <a:srgbClr val="D4A24A"/>
                </a:solidFill>
                <a:latin typeface="Courier New" pitchFamily="34" charset="0"/>
                <a:ea typeface="Courier New" pitchFamily="34" charset="-122"/>
                <a:cs typeface="Courier New" pitchFamily="34" charset="-120"/>
              </a:rPr>
              <a:t>THE POINT</a:t>
            </a:r>
            <a:endParaRPr lang="en-US" sz="800" dirty="0"/>
          </a:p>
        </p:txBody>
      </p:sp>
      <p:sp>
        <p:nvSpPr>
          <p:cNvPr id="15" name="Text 13"/>
          <p:cNvSpPr/>
          <p:nvPr/>
        </p:nvSpPr>
        <p:spPr>
          <a:xfrm>
            <a:off x="4394746" y="1585243"/>
            <a:ext cx="4749254" cy="200235"/>
          </a:xfrm>
          <a:prstGeom prst="rect">
            <a:avLst/>
          </a:prstGeom>
          <a:noFill/>
          <a:ln/>
        </p:spPr>
        <p:txBody>
          <a:bodyPr wrap="square" lIns="0" tIns="0" rIns="0" bIns="0" rtlCol="0" anchor="t"/>
          <a:lstStyle/>
          <a:p>
            <a:pPr algn="l" indent="0" marL="0">
              <a:lnSpc>
                <a:spcPts val="1460"/>
              </a:lnSpc>
              <a:buNone/>
            </a:pPr>
            <a:r>
              <a:rPr lang="en-US" sz="1238" dirty="0">
                <a:solidFill>
                  <a:srgbClr val="F5F1E8"/>
                </a:solidFill>
                <a:latin typeface="Tinos" pitchFamily="34" charset="0"/>
                <a:ea typeface="Tinos" pitchFamily="34" charset="-122"/>
                <a:cs typeface="Tinos" pitchFamily="34" charset="-120"/>
              </a:rPr>
              <a:t>Every layer records its source, processing and parameters.</a:t>
            </a:r>
            <a:endParaRPr lang="en-US" sz="1238" dirty="0"/>
          </a:p>
        </p:txBody>
      </p:sp>
      <p:sp>
        <p:nvSpPr>
          <p:cNvPr id="16" name="Text 14"/>
          <p:cNvSpPr/>
          <p:nvPr/>
        </p:nvSpPr>
        <p:spPr>
          <a:xfrm>
            <a:off x="4394746" y="1899233"/>
            <a:ext cx="4463393" cy="582216"/>
          </a:xfrm>
          <a:prstGeom prst="roundRect">
            <a:avLst>
              <a:gd name="adj" fmla="val 4908"/>
            </a:avLst>
          </a:prstGeom>
          <a:solidFill>
            <a:srgbClr val="1C2128"/>
          </a:solidFill>
          <a:ln/>
        </p:spPr>
        <p:txBody>
          <a:bodyPr wrap="square" rtlCol="0" anchor="ctr"/>
          <a:lstStyle/>
          <a:p>
            <a:pPr indent="0" marL="0">
              <a:buNone/>
            </a:pPr>
            <a:endParaRPr lang="en-US" dirty="0"/>
          </a:p>
        </p:txBody>
      </p:sp>
      <p:sp>
        <p:nvSpPr>
          <p:cNvPr id="17" name="Shape 15"/>
          <p:cNvSpPr/>
          <p:nvPr/>
        </p:nvSpPr>
        <p:spPr>
          <a:xfrm>
            <a:off x="4394746" y="1902805"/>
            <a:ext cx="4463393" cy="0"/>
          </a:xfrm>
          <a:prstGeom prst="line">
            <a:avLst/>
          </a:prstGeom>
          <a:noFill/>
          <a:ln w="7144">
            <a:solidFill>
              <a:srgbClr val="2A2F37"/>
            </a:solidFill>
            <a:prstDash val="solid"/>
          </a:ln>
        </p:spPr>
      </p:sp>
      <p:sp>
        <p:nvSpPr>
          <p:cNvPr id="18" name="Shape 16"/>
          <p:cNvSpPr/>
          <p:nvPr/>
        </p:nvSpPr>
        <p:spPr>
          <a:xfrm>
            <a:off x="8854567" y="1899233"/>
            <a:ext cx="0" cy="582216"/>
          </a:xfrm>
          <a:prstGeom prst="line">
            <a:avLst/>
          </a:prstGeom>
          <a:noFill/>
          <a:ln w="7144">
            <a:solidFill>
              <a:srgbClr val="2A2F37"/>
            </a:solidFill>
            <a:prstDash val="solid"/>
          </a:ln>
        </p:spPr>
      </p:sp>
      <p:sp>
        <p:nvSpPr>
          <p:cNvPr id="19" name="Shape 17"/>
          <p:cNvSpPr/>
          <p:nvPr/>
        </p:nvSpPr>
        <p:spPr>
          <a:xfrm>
            <a:off x="4394746" y="2477877"/>
            <a:ext cx="4463393" cy="0"/>
          </a:xfrm>
          <a:prstGeom prst="line">
            <a:avLst/>
          </a:prstGeom>
          <a:noFill/>
          <a:ln w="7144">
            <a:solidFill>
              <a:srgbClr val="2A2F37"/>
            </a:solidFill>
            <a:prstDash val="solid"/>
          </a:ln>
        </p:spPr>
      </p:sp>
      <p:sp>
        <p:nvSpPr>
          <p:cNvPr id="20" name="Shape 18"/>
          <p:cNvSpPr/>
          <p:nvPr/>
        </p:nvSpPr>
        <p:spPr>
          <a:xfrm>
            <a:off x="4401889" y="1899233"/>
            <a:ext cx="0" cy="582216"/>
          </a:xfrm>
          <a:prstGeom prst="line">
            <a:avLst/>
          </a:prstGeom>
          <a:noFill/>
          <a:ln w="14288">
            <a:solidFill>
              <a:srgbClr val="D4A24A"/>
            </a:solidFill>
            <a:prstDash val="solid"/>
          </a:ln>
        </p:spPr>
      </p:sp>
      <p:sp>
        <p:nvSpPr>
          <p:cNvPr id="21" name="Text 19"/>
          <p:cNvSpPr/>
          <p:nvPr/>
        </p:nvSpPr>
        <p:spPr>
          <a:xfrm>
            <a:off x="4509046" y="1977814"/>
            <a:ext cx="297180" cy="182880"/>
          </a:xfrm>
          <a:prstGeom prst="rect">
            <a:avLst/>
          </a:prstGeom>
          <a:noFill/>
          <a:ln/>
        </p:spPr>
        <p:txBody>
          <a:bodyPr wrap="none" lIns="0" tIns="14288" rIns="0" bIns="0" rtlCol="0" anchor="t"/>
          <a:lstStyle/>
          <a:p>
            <a:pPr algn="l" indent="0" marL="0">
              <a:lnSpc>
                <a:spcPts val="1013"/>
              </a:lnSpc>
              <a:buNone/>
            </a:pPr>
            <a:r>
              <a:rPr lang="en-US" sz="800" spc="54" kern="0" dirty="0">
                <a:solidFill>
                  <a:srgbClr val="D4A24A"/>
                </a:solidFill>
                <a:latin typeface="Liberation Sans Narrow" pitchFamily="34" charset="0"/>
                <a:ea typeface="Liberation Sans Narrow" pitchFamily="34" charset="-122"/>
                <a:cs typeface="Liberation Sans Narrow" pitchFamily="34" charset="-120"/>
              </a:rPr>
              <a:t>01</a:t>
            </a:r>
            <a:endParaRPr lang="en-US" sz="800" dirty="0"/>
          </a:p>
        </p:txBody>
      </p:sp>
      <p:sp>
        <p:nvSpPr>
          <p:cNvPr id="22" name="Text 20"/>
          <p:cNvSpPr/>
          <p:nvPr/>
        </p:nvSpPr>
        <p:spPr>
          <a:xfrm>
            <a:off x="4780508" y="1977814"/>
            <a:ext cx="3970474" cy="138660"/>
          </a:xfrm>
          <a:prstGeom prst="rect">
            <a:avLst/>
          </a:prstGeom>
          <a:noFill/>
          <a:ln/>
        </p:spPr>
        <p:txBody>
          <a:bodyPr wrap="none" lIns="0" tIns="0" rIns="0" bIns="0" rtlCol="0" anchor="t">
            <a:normAutofit/>
          </a:bodyPr>
          <a:lstStyle/>
          <a:p>
            <a:pPr algn="l" indent="0" marL="0">
              <a:lnSpc>
                <a:spcPts val="1139"/>
              </a:lnSpc>
              <a:buNone/>
            </a:pPr>
            <a:r>
              <a:rPr lang="en-US" sz="800" spc="8" kern="0" dirty="0">
                <a:solidFill>
                  <a:srgbClr val="F5F1E8"/>
                </a:solidFill>
                <a:latin typeface="Carlito" pitchFamily="34" charset="0"/>
                <a:ea typeface="Carlito" pitchFamily="34" charset="-122"/>
                <a:cs typeface="Carlito" pitchFamily="34" charset="-120"/>
              </a:rPr>
              <a:t>Source file + checksum</a:t>
            </a:r>
            <a:endParaRPr lang="en-US" sz="800" dirty="0"/>
          </a:p>
        </p:txBody>
      </p:sp>
      <p:sp>
        <p:nvSpPr>
          <p:cNvPr id="23" name="Text 21"/>
          <p:cNvSpPr/>
          <p:nvPr/>
        </p:nvSpPr>
        <p:spPr>
          <a:xfrm>
            <a:off x="4780508" y="2143906"/>
            <a:ext cx="3970474" cy="159106"/>
          </a:xfrm>
          <a:prstGeom prst="rect">
            <a:avLst/>
          </a:prstGeom>
          <a:noFill/>
          <a:ln/>
        </p:spPr>
        <p:txBody>
          <a:bodyPr wrap="square" lIns="0" tIns="0" rIns="0" bIns="0" rtlCol="0" anchor="t"/>
          <a:lstStyle/>
          <a:p>
            <a:pPr algn="l" indent="0" marL="0">
              <a:lnSpc>
                <a:spcPts val="1020"/>
              </a:lnSpc>
              <a:buNone/>
            </a:pPr>
            <a:r>
              <a:rPr lang="en-US" sz="703" dirty="0">
                <a:solidFill>
                  <a:srgbClr val="C9C3B5"/>
                </a:solidFill>
                <a:latin typeface="Carlito" pitchFamily="34" charset="0"/>
                <a:ea typeface="Carlito" pitchFamily="34" charset="-122"/>
                <a:cs typeface="Carlito" pitchFamily="34" charset="-120"/>
              </a:rPr>
              <a:t>SHA-256 checksum recorded on arrival, source URL or upload logged per layer.</a:t>
            </a:r>
            <a:endParaRPr lang="en-US" sz="703" dirty="0"/>
          </a:p>
        </p:txBody>
      </p:sp>
      <p:sp>
        <p:nvSpPr>
          <p:cNvPr id="24" name="Text 22"/>
          <p:cNvSpPr/>
          <p:nvPr/>
        </p:nvSpPr>
        <p:spPr>
          <a:xfrm>
            <a:off x="4394746" y="2552886"/>
            <a:ext cx="4463393" cy="582216"/>
          </a:xfrm>
          <a:prstGeom prst="roundRect">
            <a:avLst>
              <a:gd name="adj" fmla="val 4908"/>
            </a:avLst>
          </a:prstGeom>
          <a:solidFill>
            <a:srgbClr val="1C2128"/>
          </a:solidFill>
          <a:ln/>
        </p:spPr>
        <p:txBody>
          <a:bodyPr wrap="square" rtlCol="0" anchor="ctr"/>
          <a:lstStyle/>
          <a:p>
            <a:pPr indent="0" marL="0">
              <a:buNone/>
            </a:pPr>
            <a:endParaRPr lang="en-US" dirty="0"/>
          </a:p>
        </p:txBody>
      </p:sp>
      <p:sp>
        <p:nvSpPr>
          <p:cNvPr id="25" name="Shape 23"/>
          <p:cNvSpPr/>
          <p:nvPr/>
        </p:nvSpPr>
        <p:spPr>
          <a:xfrm>
            <a:off x="4394746" y="2556458"/>
            <a:ext cx="4463393" cy="0"/>
          </a:xfrm>
          <a:prstGeom prst="line">
            <a:avLst/>
          </a:prstGeom>
          <a:noFill/>
          <a:ln w="7144">
            <a:solidFill>
              <a:srgbClr val="2A2F37"/>
            </a:solidFill>
            <a:prstDash val="solid"/>
          </a:ln>
        </p:spPr>
      </p:sp>
      <p:sp>
        <p:nvSpPr>
          <p:cNvPr id="26" name="Shape 24"/>
          <p:cNvSpPr/>
          <p:nvPr/>
        </p:nvSpPr>
        <p:spPr>
          <a:xfrm>
            <a:off x="8854567" y="2552886"/>
            <a:ext cx="0" cy="582216"/>
          </a:xfrm>
          <a:prstGeom prst="line">
            <a:avLst/>
          </a:prstGeom>
          <a:noFill/>
          <a:ln w="7144">
            <a:solidFill>
              <a:srgbClr val="2A2F37"/>
            </a:solidFill>
            <a:prstDash val="solid"/>
          </a:ln>
        </p:spPr>
      </p:sp>
      <p:sp>
        <p:nvSpPr>
          <p:cNvPr id="27" name="Shape 25"/>
          <p:cNvSpPr/>
          <p:nvPr/>
        </p:nvSpPr>
        <p:spPr>
          <a:xfrm>
            <a:off x="4394746" y="3131530"/>
            <a:ext cx="4463393" cy="0"/>
          </a:xfrm>
          <a:prstGeom prst="line">
            <a:avLst/>
          </a:prstGeom>
          <a:noFill/>
          <a:ln w="7144">
            <a:solidFill>
              <a:srgbClr val="2A2F37"/>
            </a:solidFill>
            <a:prstDash val="solid"/>
          </a:ln>
        </p:spPr>
      </p:sp>
      <p:sp>
        <p:nvSpPr>
          <p:cNvPr id="28" name="Shape 26"/>
          <p:cNvSpPr/>
          <p:nvPr/>
        </p:nvSpPr>
        <p:spPr>
          <a:xfrm>
            <a:off x="4401889" y="2552886"/>
            <a:ext cx="0" cy="582216"/>
          </a:xfrm>
          <a:prstGeom prst="line">
            <a:avLst/>
          </a:prstGeom>
          <a:noFill/>
          <a:ln w="14288">
            <a:solidFill>
              <a:srgbClr val="D4A24A"/>
            </a:solidFill>
            <a:prstDash val="solid"/>
          </a:ln>
        </p:spPr>
      </p:sp>
      <p:sp>
        <p:nvSpPr>
          <p:cNvPr id="29" name="Text 27"/>
          <p:cNvSpPr/>
          <p:nvPr/>
        </p:nvSpPr>
        <p:spPr>
          <a:xfrm>
            <a:off x="4509046" y="2631467"/>
            <a:ext cx="297180" cy="182880"/>
          </a:xfrm>
          <a:prstGeom prst="rect">
            <a:avLst/>
          </a:prstGeom>
          <a:noFill/>
          <a:ln/>
        </p:spPr>
        <p:txBody>
          <a:bodyPr wrap="none" lIns="0" tIns="14288" rIns="0" bIns="0" rtlCol="0" anchor="t"/>
          <a:lstStyle/>
          <a:p>
            <a:pPr algn="l" indent="0" marL="0">
              <a:lnSpc>
                <a:spcPts val="1013"/>
              </a:lnSpc>
              <a:buNone/>
            </a:pPr>
            <a:r>
              <a:rPr lang="en-US" sz="800" spc="54" kern="0" dirty="0">
                <a:solidFill>
                  <a:srgbClr val="D4A24A"/>
                </a:solidFill>
                <a:latin typeface="Liberation Sans Narrow" pitchFamily="34" charset="0"/>
                <a:ea typeface="Liberation Sans Narrow" pitchFamily="34" charset="-122"/>
                <a:cs typeface="Liberation Sans Narrow" pitchFamily="34" charset="-120"/>
              </a:rPr>
              <a:t>02</a:t>
            </a:r>
            <a:endParaRPr lang="en-US" sz="800" dirty="0"/>
          </a:p>
        </p:txBody>
      </p:sp>
      <p:sp>
        <p:nvSpPr>
          <p:cNvPr id="30" name="Text 28"/>
          <p:cNvSpPr/>
          <p:nvPr/>
        </p:nvSpPr>
        <p:spPr>
          <a:xfrm>
            <a:off x="4780508" y="2631467"/>
            <a:ext cx="3970474" cy="138660"/>
          </a:xfrm>
          <a:prstGeom prst="rect">
            <a:avLst/>
          </a:prstGeom>
          <a:noFill/>
          <a:ln/>
        </p:spPr>
        <p:txBody>
          <a:bodyPr wrap="none" lIns="0" tIns="0" rIns="0" bIns="0" rtlCol="0" anchor="t">
            <a:normAutofit/>
          </a:bodyPr>
          <a:lstStyle/>
          <a:p>
            <a:pPr algn="l" indent="0" marL="0">
              <a:lnSpc>
                <a:spcPts val="1139"/>
              </a:lnSpc>
              <a:buNone/>
            </a:pPr>
            <a:r>
              <a:rPr lang="en-US" sz="800" spc="8" kern="0" dirty="0">
                <a:solidFill>
                  <a:srgbClr val="F5F1E8"/>
                </a:solidFill>
                <a:latin typeface="Carlito" pitchFamily="34" charset="0"/>
                <a:ea typeface="Carlito" pitchFamily="34" charset="-122"/>
                <a:cs typeface="Carlito" pitchFamily="34" charset="-120"/>
              </a:rPr>
              <a:t>Processing steps</a:t>
            </a:r>
            <a:endParaRPr lang="en-US" sz="800" dirty="0"/>
          </a:p>
        </p:txBody>
      </p:sp>
      <p:sp>
        <p:nvSpPr>
          <p:cNvPr id="31" name="Text 29"/>
          <p:cNvSpPr/>
          <p:nvPr/>
        </p:nvSpPr>
        <p:spPr>
          <a:xfrm>
            <a:off x="4780508" y="2797559"/>
            <a:ext cx="3970474" cy="159106"/>
          </a:xfrm>
          <a:prstGeom prst="rect">
            <a:avLst/>
          </a:prstGeom>
          <a:noFill/>
          <a:ln/>
        </p:spPr>
        <p:txBody>
          <a:bodyPr wrap="square" lIns="0" tIns="0" rIns="0" bIns="0" rtlCol="0" anchor="t"/>
          <a:lstStyle/>
          <a:p>
            <a:pPr algn="l" indent="0" marL="0">
              <a:lnSpc>
                <a:spcPts val="1020"/>
              </a:lnSpc>
              <a:buNone/>
            </a:pPr>
            <a:r>
              <a:rPr lang="en-US" sz="703" dirty="0">
                <a:solidFill>
                  <a:srgbClr val="C9C3B5"/>
                </a:solidFill>
                <a:latin typeface="Carlito" pitchFamily="34" charset="0"/>
                <a:ea typeface="Carlito" pitchFamily="34" charset="-122"/>
                <a:cs typeface="Carlito" pitchFamily="34" charset="-120"/>
              </a:rPr>
              <a:t>Parse → reproject → krige to 50 m → reduce to pole → depth estimation. Every parameter saved.</a:t>
            </a:r>
            <a:endParaRPr lang="en-US" sz="703" dirty="0"/>
          </a:p>
        </p:txBody>
      </p:sp>
      <p:sp>
        <p:nvSpPr>
          <p:cNvPr id="32" name="Text 30"/>
          <p:cNvSpPr/>
          <p:nvPr/>
        </p:nvSpPr>
        <p:spPr>
          <a:xfrm>
            <a:off x="4394746" y="3206539"/>
            <a:ext cx="4463393" cy="582216"/>
          </a:xfrm>
          <a:prstGeom prst="roundRect">
            <a:avLst>
              <a:gd name="adj" fmla="val 4908"/>
            </a:avLst>
          </a:prstGeom>
          <a:solidFill>
            <a:srgbClr val="1C2128"/>
          </a:solidFill>
          <a:ln/>
        </p:spPr>
        <p:txBody>
          <a:bodyPr wrap="square" rtlCol="0" anchor="ctr"/>
          <a:lstStyle/>
          <a:p>
            <a:pPr indent="0" marL="0">
              <a:buNone/>
            </a:pPr>
            <a:endParaRPr lang="en-US" dirty="0"/>
          </a:p>
        </p:txBody>
      </p:sp>
      <p:sp>
        <p:nvSpPr>
          <p:cNvPr id="33" name="Shape 31"/>
          <p:cNvSpPr/>
          <p:nvPr/>
        </p:nvSpPr>
        <p:spPr>
          <a:xfrm>
            <a:off x="4394746" y="3210111"/>
            <a:ext cx="4463393" cy="0"/>
          </a:xfrm>
          <a:prstGeom prst="line">
            <a:avLst/>
          </a:prstGeom>
          <a:noFill/>
          <a:ln w="7144">
            <a:solidFill>
              <a:srgbClr val="2A2F37"/>
            </a:solidFill>
            <a:prstDash val="solid"/>
          </a:ln>
        </p:spPr>
      </p:sp>
      <p:sp>
        <p:nvSpPr>
          <p:cNvPr id="34" name="Shape 32"/>
          <p:cNvSpPr/>
          <p:nvPr/>
        </p:nvSpPr>
        <p:spPr>
          <a:xfrm>
            <a:off x="8854567" y="3206539"/>
            <a:ext cx="0" cy="582216"/>
          </a:xfrm>
          <a:prstGeom prst="line">
            <a:avLst/>
          </a:prstGeom>
          <a:noFill/>
          <a:ln w="7144">
            <a:solidFill>
              <a:srgbClr val="2A2F37"/>
            </a:solidFill>
            <a:prstDash val="solid"/>
          </a:ln>
        </p:spPr>
      </p:sp>
      <p:sp>
        <p:nvSpPr>
          <p:cNvPr id="35" name="Shape 33"/>
          <p:cNvSpPr/>
          <p:nvPr/>
        </p:nvSpPr>
        <p:spPr>
          <a:xfrm>
            <a:off x="4394746" y="3785183"/>
            <a:ext cx="4463393" cy="0"/>
          </a:xfrm>
          <a:prstGeom prst="line">
            <a:avLst/>
          </a:prstGeom>
          <a:noFill/>
          <a:ln w="7144">
            <a:solidFill>
              <a:srgbClr val="2A2F37"/>
            </a:solidFill>
            <a:prstDash val="solid"/>
          </a:ln>
        </p:spPr>
      </p:sp>
      <p:sp>
        <p:nvSpPr>
          <p:cNvPr id="36" name="Shape 34"/>
          <p:cNvSpPr/>
          <p:nvPr/>
        </p:nvSpPr>
        <p:spPr>
          <a:xfrm>
            <a:off x="4401889" y="3206539"/>
            <a:ext cx="0" cy="582216"/>
          </a:xfrm>
          <a:prstGeom prst="line">
            <a:avLst/>
          </a:prstGeom>
          <a:noFill/>
          <a:ln w="14288">
            <a:solidFill>
              <a:srgbClr val="D4A24A"/>
            </a:solidFill>
            <a:prstDash val="solid"/>
          </a:ln>
        </p:spPr>
      </p:sp>
      <p:sp>
        <p:nvSpPr>
          <p:cNvPr id="37" name="Text 35"/>
          <p:cNvSpPr/>
          <p:nvPr/>
        </p:nvSpPr>
        <p:spPr>
          <a:xfrm>
            <a:off x="4509046" y="3285120"/>
            <a:ext cx="297180" cy="182880"/>
          </a:xfrm>
          <a:prstGeom prst="rect">
            <a:avLst/>
          </a:prstGeom>
          <a:noFill/>
          <a:ln/>
        </p:spPr>
        <p:txBody>
          <a:bodyPr wrap="none" lIns="0" tIns="14288" rIns="0" bIns="0" rtlCol="0" anchor="t"/>
          <a:lstStyle/>
          <a:p>
            <a:pPr algn="l" indent="0" marL="0">
              <a:lnSpc>
                <a:spcPts val="1013"/>
              </a:lnSpc>
              <a:buNone/>
            </a:pPr>
            <a:r>
              <a:rPr lang="en-US" sz="800" spc="54" kern="0" dirty="0">
                <a:solidFill>
                  <a:srgbClr val="D4A24A"/>
                </a:solidFill>
                <a:latin typeface="Liberation Sans Narrow" pitchFamily="34" charset="0"/>
                <a:ea typeface="Liberation Sans Narrow" pitchFamily="34" charset="-122"/>
                <a:cs typeface="Liberation Sans Narrow" pitchFamily="34" charset="-120"/>
              </a:rPr>
              <a:t>03</a:t>
            </a:r>
            <a:endParaRPr lang="en-US" sz="800" dirty="0"/>
          </a:p>
        </p:txBody>
      </p:sp>
      <p:sp>
        <p:nvSpPr>
          <p:cNvPr id="38" name="Text 36"/>
          <p:cNvSpPr/>
          <p:nvPr/>
        </p:nvSpPr>
        <p:spPr>
          <a:xfrm>
            <a:off x="4780508" y="3285120"/>
            <a:ext cx="3970474" cy="138660"/>
          </a:xfrm>
          <a:prstGeom prst="rect">
            <a:avLst/>
          </a:prstGeom>
          <a:noFill/>
          <a:ln/>
        </p:spPr>
        <p:txBody>
          <a:bodyPr wrap="none" lIns="0" tIns="0" rIns="0" bIns="0" rtlCol="0" anchor="t">
            <a:normAutofit/>
          </a:bodyPr>
          <a:lstStyle/>
          <a:p>
            <a:pPr algn="l" indent="0" marL="0">
              <a:lnSpc>
                <a:spcPts val="1139"/>
              </a:lnSpc>
              <a:buNone/>
            </a:pPr>
            <a:r>
              <a:rPr lang="en-US" sz="800" spc="8" kern="0" dirty="0">
                <a:solidFill>
                  <a:srgbClr val="F5F1E8"/>
                </a:solidFill>
                <a:latin typeface="Carlito" pitchFamily="34" charset="0"/>
                <a:ea typeface="Carlito" pitchFamily="34" charset="-122"/>
                <a:cs typeface="Carlito" pitchFamily="34" charset="-120"/>
              </a:rPr>
              <a:t>Algorithm version</a:t>
            </a:r>
            <a:endParaRPr lang="en-US" sz="800" dirty="0"/>
          </a:p>
        </p:txBody>
      </p:sp>
      <p:sp>
        <p:nvSpPr>
          <p:cNvPr id="39" name="Text 37"/>
          <p:cNvSpPr/>
          <p:nvPr/>
        </p:nvSpPr>
        <p:spPr>
          <a:xfrm>
            <a:off x="4780508" y="3451213"/>
            <a:ext cx="3970474" cy="258961"/>
          </a:xfrm>
          <a:prstGeom prst="rect">
            <a:avLst/>
          </a:prstGeom>
          <a:noFill/>
          <a:ln/>
        </p:spPr>
        <p:txBody>
          <a:bodyPr wrap="square" lIns="0" tIns="0" rIns="0" bIns="0" rtlCol="0" anchor="t"/>
          <a:lstStyle/>
          <a:p>
            <a:pPr algn="l" indent="0" marL="0">
              <a:lnSpc>
                <a:spcPts val="1020"/>
              </a:lnSpc>
              <a:buNone/>
            </a:pPr>
            <a:r>
              <a:rPr lang="en-US" sz="800" dirty="0">
                <a:solidFill>
                  <a:srgbClr val="C9C3B5"/>
                </a:solidFill>
                <a:latin typeface="Carlito" pitchFamily="34" charset="0"/>
                <a:ea typeface="Carlito" pitchFamily="34" charset="-122"/>
                <a:cs typeface="Carlito" pitchFamily="34" charset="-120"/>
              </a:rPr>
              <a:t>Deposit model version pinned to the target. Re-runs use the version that produced the original, not the latest.</a:t>
            </a:r>
            <a:endParaRPr lang="en-US" sz="800" dirty="0"/>
          </a:p>
        </p:txBody>
      </p:sp>
      <p:sp>
        <p:nvSpPr>
          <p:cNvPr id="40" name="Text 38"/>
          <p:cNvSpPr/>
          <p:nvPr/>
        </p:nvSpPr>
        <p:spPr>
          <a:xfrm>
            <a:off x="4394746" y="3860192"/>
            <a:ext cx="4463393" cy="582216"/>
          </a:xfrm>
          <a:prstGeom prst="roundRect">
            <a:avLst>
              <a:gd name="adj" fmla="val 4908"/>
            </a:avLst>
          </a:prstGeom>
          <a:solidFill>
            <a:srgbClr val="1C2128"/>
          </a:solidFill>
          <a:ln/>
        </p:spPr>
        <p:txBody>
          <a:bodyPr wrap="square" rtlCol="0" anchor="ctr"/>
          <a:lstStyle/>
          <a:p>
            <a:pPr indent="0" marL="0">
              <a:buNone/>
            </a:pPr>
            <a:endParaRPr lang="en-US" dirty="0"/>
          </a:p>
        </p:txBody>
      </p:sp>
      <p:sp>
        <p:nvSpPr>
          <p:cNvPr id="41" name="Shape 39"/>
          <p:cNvSpPr/>
          <p:nvPr/>
        </p:nvSpPr>
        <p:spPr>
          <a:xfrm>
            <a:off x="4394746" y="3863764"/>
            <a:ext cx="4463393" cy="0"/>
          </a:xfrm>
          <a:prstGeom prst="line">
            <a:avLst/>
          </a:prstGeom>
          <a:noFill/>
          <a:ln w="7144">
            <a:solidFill>
              <a:srgbClr val="2A2F37"/>
            </a:solidFill>
            <a:prstDash val="solid"/>
          </a:ln>
        </p:spPr>
      </p:sp>
      <p:sp>
        <p:nvSpPr>
          <p:cNvPr id="42" name="Shape 40"/>
          <p:cNvSpPr/>
          <p:nvPr/>
        </p:nvSpPr>
        <p:spPr>
          <a:xfrm>
            <a:off x="8854567" y="3860192"/>
            <a:ext cx="0" cy="582216"/>
          </a:xfrm>
          <a:prstGeom prst="line">
            <a:avLst/>
          </a:prstGeom>
          <a:noFill/>
          <a:ln w="7144">
            <a:solidFill>
              <a:srgbClr val="2A2F37"/>
            </a:solidFill>
            <a:prstDash val="solid"/>
          </a:ln>
        </p:spPr>
      </p:sp>
      <p:sp>
        <p:nvSpPr>
          <p:cNvPr id="43" name="Shape 41"/>
          <p:cNvSpPr/>
          <p:nvPr/>
        </p:nvSpPr>
        <p:spPr>
          <a:xfrm>
            <a:off x="4394746" y="4438836"/>
            <a:ext cx="4463393" cy="0"/>
          </a:xfrm>
          <a:prstGeom prst="line">
            <a:avLst/>
          </a:prstGeom>
          <a:noFill/>
          <a:ln w="7144">
            <a:solidFill>
              <a:srgbClr val="2A2F37"/>
            </a:solidFill>
            <a:prstDash val="solid"/>
          </a:ln>
        </p:spPr>
      </p:sp>
      <p:sp>
        <p:nvSpPr>
          <p:cNvPr id="44" name="Shape 42"/>
          <p:cNvSpPr/>
          <p:nvPr/>
        </p:nvSpPr>
        <p:spPr>
          <a:xfrm>
            <a:off x="4401889" y="3860192"/>
            <a:ext cx="0" cy="582216"/>
          </a:xfrm>
          <a:prstGeom prst="line">
            <a:avLst/>
          </a:prstGeom>
          <a:noFill/>
          <a:ln w="14288">
            <a:solidFill>
              <a:srgbClr val="D4A24A"/>
            </a:solidFill>
            <a:prstDash val="solid"/>
          </a:ln>
        </p:spPr>
      </p:sp>
      <p:sp>
        <p:nvSpPr>
          <p:cNvPr id="45" name="Text 43"/>
          <p:cNvSpPr/>
          <p:nvPr/>
        </p:nvSpPr>
        <p:spPr>
          <a:xfrm>
            <a:off x="4509046" y="3938774"/>
            <a:ext cx="297180" cy="182880"/>
          </a:xfrm>
          <a:prstGeom prst="rect">
            <a:avLst/>
          </a:prstGeom>
          <a:noFill/>
          <a:ln/>
        </p:spPr>
        <p:txBody>
          <a:bodyPr wrap="none" lIns="0" tIns="14288" rIns="0" bIns="0" rtlCol="0" anchor="t"/>
          <a:lstStyle/>
          <a:p>
            <a:pPr algn="l" indent="0" marL="0">
              <a:lnSpc>
                <a:spcPts val="1013"/>
              </a:lnSpc>
              <a:buNone/>
            </a:pPr>
            <a:r>
              <a:rPr lang="en-US" sz="800" spc="54" kern="0" dirty="0">
                <a:solidFill>
                  <a:srgbClr val="D4A24A"/>
                </a:solidFill>
                <a:latin typeface="Liberation Sans Narrow" pitchFamily="34" charset="0"/>
                <a:ea typeface="Liberation Sans Narrow" pitchFamily="34" charset="-122"/>
                <a:cs typeface="Liberation Sans Narrow" pitchFamily="34" charset="-120"/>
              </a:rPr>
              <a:t>04</a:t>
            </a:r>
            <a:endParaRPr lang="en-US" sz="800" dirty="0"/>
          </a:p>
        </p:txBody>
      </p:sp>
      <p:sp>
        <p:nvSpPr>
          <p:cNvPr id="46" name="Text 44"/>
          <p:cNvSpPr/>
          <p:nvPr/>
        </p:nvSpPr>
        <p:spPr>
          <a:xfrm>
            <a:off x="4780508" y="3938774"/>
            <a:ext cx="3970474" cy="138660"/>
          </a:xfrm>
          <a:prstGeom prst="rect">
            <a:avLst/>
          </a:prstGeom>
          <a:noFill/>
          <a:ln/>
        </p:spPr>
        <p:txBody>
          <a:bodyPr wrap="none" lIns="0" tIns="0" rIns="0" bIns="0" rtlCol="0" anchor="t">
            <a:normAutofit/>
          </a:bodyPr>
          <a:lstStyle/>
          <a:p>
            <a:pPr algn="l" indent="0" marL="0">
              <a:lnSpc>
                <a:spcPts val="1139"/>
              </a:lnSpc>
              <a:buNone/>
            </a:pPr>
            <a:r>
              <a:rPr lang="en-US" sz="800" spc="8" kern="0" dirty="0">
                <a:solidFill>
                  <a:srgbClr val="F5F1E8"/>
                </a:solidFill>
                <a:latin typeface="Carlito" pitchFamily="34" charset="0"/>
                <a:ea typeface="Carlito" pitchFamily="34" charset="-122"/>
                <a:cs typeface="Carlito" pitchFamily="34" charset="-120"/>
              </a:rPr>
              <a:t>QP annotation</a:t>
            </a:r>
            <a:endParaRPr lang="en-US" sz="800" dirty="0"/>
          </a:p>
        </p:txBody>
      </p:sp>
      <p:sp>
        <p:nvSpPr>
          <p:cNvPr id="47" name="Text 45"/>
          <p:cNvSpPr/>
          <p:nvPr/>
        </p:nvSpPr>
        <p:spPr>
          <a:xfrm>
            <a:off x="4780508" y="4104866"/>
            <a:ext cx="3970474" cy="258961"/>
          </a:xfrm>
          <a:prstGeom prst="rect">
            <a:avLst/>
          </a:prstGeom>
          <a:noFill/>
          <a:ln/>
        </p:spPr>
        <p:txBody>
          <a:bodyPr wrap="square" lIns="0" tIns="0" rIns="0" bIns="0" rtlCol="0" anchor="t"/>
          <a:lstStyle/>
          <a:p>
            <a:pPr algn="l" indent="0" marL="0">
              <a:lnSpc>
                <a:spcPts val="1020"/>
              </a:lnSpc>
              <a:buNone/>
            </a:pPr>
            <a:r>
              <a:rPr lang="en-US" sz="800" dirty="0">
                <a:solidFill>
                  <a:srgbClr val="C9C3B5"/>
                </a:solidFill>
                <a:latin typeface="Carlito" pitchFamily="34" charset="0"/>
                <a:ea typeface="Carlito" pitchFamily="34" charset="-122"/>
                <a:cs typeface="Carlito" pitchFamily="34" charset="-120"/>
              </a:rPr>
              <a:t>Notes, review status, reviewer name and date attached per target — and carried into every export (PDF, shapefile, KML, CSV).</a:t>
            </a:r>
            <a:endParaRPr lang="en-US" sz="800" dirty="0"/>
          </a:p>
        </p:txBody>
      </p:sp>
      <p:sp>
        <p:nvSpPr>
          <p:cNvPr id="48" name="Text 46"/>
          <p:cNvSpPr/>
          <p:nvPr/>
        </p:nvSpPr>
        <p:spPr>
          <a:xfrm>
            <a:off x="4394746" y="4542420"/>
            <a:ext cx="4463393" cy="329184"/>
          </a:xfrm>
          <a:prstGeom prst="rect">
            <a:avLst/>
          </a:prstGeom>
          <a:noFill/>
          <a:ln/>
        </p:spPr>
        <p:txBody>
          <a:bodyPr wrap="square" lIns="0" tIns="0" rIns="0" bIns="0" rtlCol="0" anchor="t"/>
          <a:lstStyle/>
          <a:p>
            <a:pPr algn="l" indent="0" marL="0">
              <a:lnSpc>
                <a:spcPts val="928"/>
              </a:lnSpc>
              <a:buNone/>
            </a:pPr>
            <a:r>
              <a:rPr lang="en-US" sz="800" spc="87" kern="0" dirty="0">
                <a:solidFill>
                  <a:srgbClr val="8A8576"/>
                </a:solidFill>
                <a:latin typeface="Courier New" pitchFamily="34" charset="0"/>
                <a:ea typeface="Courier New" pitchFamily="34" charset="-122"/>
                <a:cs typeface="Courier New" pitchFamily="34" charset="-120"/>
              </a:rPr>
              <a:t>REPORTS CITE WHAT THEY DREW ON, AND ARE VERSIONED RATHER THAN OVERWRITTEN. SECTIONS MOVE DRAFT → REVIEW → FINAL.</a:t>
            </a:r>
            <a:endParaRPr lang="en-US" sz="800" dirty="0"/>
          </a:p>
        </p:txBody>
      </p:sp>
      <p:sp>
        <p:nvSpPr>
          <p:cNvPr id="49" name="Shape 47"/>
          <p:cNvSpPr/>
          <p:nvPr/>
        </p:nvSpPr>
        <p:spPr>
          <a:xfrm>
            <a:off x="514350" y="4421312"/>
            <a:ext cx="8115300" cy="0"/>
          </a:xfrm>
          <a:prstGeom prst="line">
            <a:avLst/>
          </a:prstGeom>
          <a:noFill/>
          <a:ln w="7144">
            <a:solidFill>
              <a:srgbClr val="2A2F37"/>
            </a:solidFill>
            <a:prstDash val="solid"/>
          </a:ln>
        </p:spPr>
      </p:sp>
      <p:sp>
        <p:nvSpPr>
          <p:cNvPr id="50" name="Text 48"/>
          <p:cNvSpPr/>
          <p:nvPr/>
        </p:nvSpPr>
        <p:spPr>
          <a:xfrm>
            <a:off x="491490" y="4543304"/>
            <a:ext cx="1188720" cy="196025"/>
          </a:xfrm>
          <a:prstGeom prst="roundRect">
            <a:avLst>
              <a:gd name="adj" fmla="val 9718"/>
            </a:avLst>
          </a:prstGeom>
          <a:solidFill>
            <a:srgbClr val="4A8F6B">
              <a:alpha val="10000"/>
            </a:srgbClr>
          </a:solidFill>
          <a:ln/>
        </p:spPr>
        <p:txBody>
          <a:bodyPr wrap="square" rtlCol="0" anchor="ctr"/>
          <a:lstStyle/>
          <a:p>
            <a:pPr indent="0" marL="0">
              <a:buNone/>
            </a:pPr>
            <a:endParaRPr lang="en-US" dirty="0"/>
          </a:p>
        </p:txBody>
      </p:sp>
      <p:sp>
        <p:nvSpPr>
          <p:cNvPr id="51" name="Shape 49"/>
          <p:cNvSpPr/>
          <p:nvPr/>
        </p:nvSpPr>
        <p:spPr>
          <a:xfrm>
            <a:off x="521494" y="4553806"/>
            <a:ext cx="0" cy="175022"/>
          </a:xfrm>
          <a:prstGeom prst="line">
            <a:avLst/>
          </a:prstGeom>
          <a:noFill/>
          <a:ln w="14288">
            <a:solidFill>
              <a:srgbClr val="4A8F6B"/>
            </a:solidFill>
            <a:prstDash val="solid"/>
          </a:ln>
        </p:spPr>
      </p:sp>
      <p:sp>
        <p:nvSpPr>
          <p:cNvPr id="52" name="Text 50"/>
          <p:cNvSpPr/>
          <p:nvPr/>
        </p:nvSpPr>
        <p:spPr>
          <a:xfrm>
            <a:off x="514350" y="4553806"/>
            <a:ext cx="1143000" cy="175022"/>
          </a:xfrm>
          <a:prstGeom prst="rect">
            <a:avLst/>
          </a:prstGeom>
          <a:noFill/>
          <a:ln/>
        </p:spPr>
        <p:txBody>
          <a:bodyPr wrap="none" lIns="0" tIns="0" rIns="0" bIns="0" rtlCol="0" anchor="ctr"/>
          <a:lstStyle/>
          <a:p>
            <a:pPr algn="ctr" indent="0" marL="0">
              <a:lnSpc>
                <a:spcPts val="928"/>
              </a:lnSpc>
              <a:buNone/>
            </a:pPr>
            <a:r>
              <a:rPr lang="en-US" sz="800" spc="124" kern="0" dirty="0">
                <a:solidFill>
                  <a:srgbClr val="4A8F6B"/>
                </a:solidFill>
                <a:latin typeface="Courier New" pitchFamily="34" charset="0"/>
                <a:ea typeface="Courier New" pitchFamily="34" charset="-122"/>
                <a:cs typeface="Courier New" pitchFamily="34" charset="-120"/>
              </a:rPr>
              <a:t>THE IMPACT</a:t>
            </a:r>
            <a:endParaRPr lang="en-US" sz="800" dirty="0"/>
          </a:p>
        </p:txBody>
      </p:sp>
      <p:sp>
        <p:nvSpPr>
          <p:cNvPr id="53" name="Text 51"/>
          <p:cNvSpPr/>
          <p:nvPr/>
        </p:nvSpPr>
        <p:spPr>
          <a:xfrm>
            <a:off x="1828800" y="4539183"/>
            <a:ext cx="6800850" cy="204267"/>
          </a:xfrm>
          <a:prstGeom prst="rect">
            <a:avLst/>
          </a:prstGeom>
          <a:noFill/>
          <a:ln/>
        </p:spPr>
        <p:txBody>
          <a:bodyPr wrap="square" lIns="0" tIns="0" rIns="0" bIns="0" rtlCol="0" anchor="t"/>
          <a:lstStyle/>
          <a:p>
            <a:pPr algn="l" indent="0" marL="0">
              <a:lnSpc>
                <a:spcPts val="1609"/>
              </a:lnSpc>
              <a:buNone/>
            </a:pPr>
            <a:r>
              <a:rPr lang="en-US" sz="1238" i="1" dirty="0">
                <a:solidFill>
                  <a:srgbClr val="F5F1E8"/>
                </a:solidFill>
                <a:latin typeface="Tinos" pitchFamily="34" charset="0"/>
                <a:ea typeface="Tinos" pitchFamily="34" charset="-122"/>
                <a:cs typeface="Tinos" pitchFamily="34" charset="-120"/>
              </a:rPr>
              <a:t>Built for the moment someone asks you to show your working.</a:t>
            </a:r>
            <a:endParaRPr lang="en-US" sz="1238" dirty="0"/>
          </a:p>
        </p:txBody>
      </p:sp>
      <p:sp>
        <p:nvSpPr>
          <p:cNvPr id="54" name="Shape 52"/>
          <p:cNvSpPr/>
          <p:nvPr/>
        </p:nvSpPr>
        <p:spPr>
          <a:xfrm>
            <a:off x="514350" y="4736306"/>
            <a:ext cx="8115300" cy="0"/>
          </a:xfrm>
          <a:prstGeom prst="line">
            <a:avLst/>
          </a:prstGeom>
          <a:noFill/>
          <a:ln w="7144">
            <a:solidFill>
              <a:srgbClr val="2A2F37"/>
            </a:solidFill>
            <a:prstDash val="solid"/>
          </a:ln>
        </p:spPr>
      </p:sp>
      <p:sp>
        <p:nvSpPr>
          <p:cNvPr id="55" name="Text 53"/>
          <p:cNvSpPr/>
          <p:nvPr/>
        </p:nvSpPr>
        <p:spPr>
          <a:xfrm>
            <a:off x="514350" y="4825603"/>
            <a:ext cx="7748960" cy="117872"/>
          </a:xfrm>
          <a:prstGeom prst="rect">
            <a:avLst/>
          </a:prstGeom>
          <a:noFill/>
          <a:ln/>
        </p:spPr>
        <p:txBody>
          <a:bodyPr wrap="square" lIns="0" tIns="0" rIns="0" bIns="0" rtlCol="0" anchor="t"/>
          <a:lstStyle/>
          <a:p>
            <a:pPr algn="l" indent="0" marL="0">
              <a:lnSpc>
                <a:spcPts val="928"/>
              </a:lnSpc>
              <a:buNone/>
            </a:pPr>
            <a:r>
              <a:rPr lang="en-US" sz="800" spc="87" kern="0" dirty="0">
                <a:solidFill>
                  <a:srgbClr val="8A8576"/>
                </a:solidFill>
                <a:latin typeface="Liberation Sans Narrow" pitchFamily="34" charset="0"/>
                <a:ea typeface="Liberation Sans Narrow" pitchFamily="34" charset="-122"/>
                <a:cs typeface="Liberation Sans Narrow" pitchFamily="34" charset="-120"/>
              </a:rPr>
              <a:t>CLAIM 03 — THE OUTPUT IS DEFENSIBLE</a:t>
            </a:r>
            <a:endParaRPr lang="en-US" sz="800" dirty="0"/>
          </a:p>
        </p:txBody>
      </p:sp>
      <p:sp>
        <p:nvSpPr>
          <p:cNvPr id="56" name="Text 54"/>
          <p:cNvSpPr/>
          <p:nvPr/>
        </p:nvSpPr>
        <p:spPr>
          <a:xfrm>
            <a:off x="8277597" y="4825603"/>
            <a:ext cx="352053" cy="117872"/>
          </a:xfrm>
          <a:prstGeom prst="rect">
            <a:avLst/>
          </a:prstGeom>
          <a:noFill/>
          <a:ln/>
        </p:spPr>
        <p:txBody>
          <a:bodyPr wrap="none" lIns="0" tIns="0" rIns="0" bIns="0" rtlCol="0" anchor="t"/>
          <a:lstStyle/>
          <a:p>
            <a:pPr algn="l" indent="0" marL="0">
              <a:lnSpc>
                <a:spcPts val="928"/>
              </a:lnSpc>
              <a:buNone/>
            </a:pPr>
            <a:r>
              <a:rPr lang="en-US" sz="619" spc="87" kern="0" dirty="0">
                <a:solidFill>
                  <a:srgbClr val="8A8576"/>
                </a:solidFill>
                <a:latin typeface="Liberation Sans Narrow" pitchFamily="34" charset="0"/>
                <a:ea typeface="Liberation Sans Narrow" pitchFamily="34" charset="-122"/>
                <a:cs typeface="Liberation Sans Narrow" pitchFamily="34" charset="-120"/>
              </a:rPr>
              <a:t>05 / 12</a:t>
            </a:r>
            <a:endParaRPr lang="en-US" sz="619"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1115"/>
        </a:solidFill>
      </p:bgPr>
    </p:bg>
    <p:spTree>
      <p:nvGrpSpPr>
        <p:cNvPr id="1" name=""/>
        <p:cNvGrpSpPr/>
        <p:nvPr/>
      </p:nvGrpSpPr>
      <p:grpSpPr>
        <a:xfrm>
          <a:off x="0" y="0"/>
          <a:ext cx="0" cy="0"/>
          <a:chOff x="0" y="0"/>
          <a:chExt cx="0" cy="0"/>
        </a:xfrm>
      </p:grpSpPr>
      <p:sp>
        <p:nvSpPr>
          <p:cNvPr id="2" name="Text 0"/>
          <p:cNvSpPr/>
          <p:nvPr/>
        </p:nvSpPr>
        <p:spPr>
          <a:xfrm>
            <a:off x="514350" y="200025"/>
            <a:ext cx="2326933" cy="164592"/>
          </a:xfrm>
          <a:prstGeom prst="rect">
            <a:avLst/>
          </a:prstGeom>
          <a:noFill/>
          <a:ln/>
        </p:spPr>
        <p:txBody>
          <a:bodyPr wrap="square" lIns="0" tIns="0" rIns="0" bIns="0" rtlCol="0" anchor="t"/>
          <a:lstStyle/>
          <a:p>
            <a:pPr algn="l" indent="0" marL="0">
              <a:lnSpc>
                <a:spcPts val="928"/>
              </a:lnSpc>
              <a:buNone/>
            </a:pPr>
            <a:r>
              <a:rPr lang="en-US" sz="619" spc="111" kern="0" dirty="0">
                <a:solidFill>
                  <a:srgbClr val="8A8576"/>
                </a:solidFill>
                <a:latin typeface="Courier New" pitchFamily="34" charset="0"/>
                <a:ea typeface="Courier New" pitchFamily="34" charset="-122"/>
                <a:cs typeface="Courier New" pitchFamily="34" charset="-120"/>
              </a:rPr>
              <a:t>TERRAPULSE × GOLD FIELDS GHANA / 2026</a:t>
            </a:r>
            <a:endParaRPr lang="en-US" sz="619" dirty="0"/>
          </a:p>
        </p:txBody>
      </p:sp>
      <p:sp>
        <p:nvSpPr>
          <p:cNvPr id="3" name="Text 1"/>
          <p:cNvSpPr/>
          <p:nvPr/>
        </p:nvSpPr>
        <p:spPr>
          <a:xfrm>
            <a:off x="8299586" y="200025"/>
            <a:ext cx="474415" cy="164592"/>
          </a:xfrm>
          <a:prstGeom prst="rect">
            <a:avLst/>
          </a:prstGeom>
          <a:noFill/>
          <a:ln/>
        </p:spPr>
        <p:txBody>
          <a:bodyPr wrap="none" lIns="0" tIns="0" rIns="0" bIns="0" rtlCol="0" anchor="t"/>
          <a:lstStyle/>
          <a:p>
            <a:pPr algn="l" indent="0" marL="0">
              <a:lnSpc>
                <a:spcPts val="928"/>
              </a:lnSpc>
              <a:buNone/>
            </a:pPr>
            <a:r>
              <a:rPr lang="en-US" sz="800" spc="62" kern="0" dirty="0">
                <a:solidFill>
                  <a:srgbClr val="8A8576"/>
                </a:solidFill>
                <a:latin typeface="Liberation Sans Narrow" pitchFamily="34" charset="0"/>
                <a:ea typeface="Liberation Sans Narrow" pitchFamily="34" charset="-122"/>
                <a:cs typeface="Liberation Sans Narrow" pitchFamily="34" charset="-120"/>
              </a:rPr>
              <a:t>06 / 12</a:t>
            </a:r>
            <a:endParaRPr lang="en-US" sz="800" dirty="0"/>
          </a:p>
        </p:txBody>
      </p:sp>
      <p:sp>
        <p:nvSpPr>
          <p:cNvPr id="4" name="Text 2"/>
          <p:cNvSpPr/>
          <p:nvPr/>
        </p:nvSpPr>
        <p:spPr>
          <a:xfrm>
            <a:off x="514350" y="428625"/>
            <a:ext cx="8629650" cy="164592"/>
          </a:xfrm>
          <a:prstGeom prst="rect">
            <a:avLst/>
          </a:prstGeom>
          <a:noFill/>
          <a:ln/>
        </p:spPr>
        <p:txBody>
          <a:bodyPr wrap="none" lIns="0" tIns="0" rIns="0" bIns="0" rtlCol="0" anchor="t"/>
          <a:lstStyle/>
          <a:p>
            <a:pPr algn="l" indent="0" marL="0">
              <a:lnSpc>
                <a:spcPts val="928"/>
              </a:lnSpc>
              <a:buNone/>
            </a:pPr>
            <a:r>
              <a:rPr lang="en-US" sz="800" spc="136" kern="0" dirty="0">
                <a:solidFill>
                  <a:srgbClr val="D4A24A"/>
                </a:solidFill>
                <a:latin typeface="Courier New" pitchFamily="34" charset="0"/>
                <a:ea typeface="Courier New" pitchFamily="34" charset="-122"/>
                <a:cs typeface="Courier New" pitchFamily="34" charset="-120"/>
              </a:rPr>
              <a:t>HOW IT WORKS, END TO END</a:t>
            </a:r>
            <a:endParaRPr lang="en-US" sz="800" dirty="0"/>
          </a:p>
        </p:txBody>
      </p:sp>
      <p:sp>
        <p:nvSpPr>
          <p:cNvPr id="5" name="Text 3"/>
          <p:cNvSpPr/>
          <p:nvPr/>
        </p:nvSpPr>
        <p:spPr>
          <a:xfrm>
            <a:off x="514350" y="632222"/>
            <a:ext cx="7286625" cy="644223"/>
          </a:xfrm>
          <a:prstGeom prst="rect">
            <a:avLst/>
          </a:prstGeom>
          <a:noFill/>
          <a:ln/>
        </p:spPr>
        <p:txBody>
          <a:bodyPr wrap="square" lIns="0" tIns="0" rIns="0" bIns="0" rtlCol="0" anchor="t"/>
          <a:lstStyle/>
          <a:p>
            <a:pPr algn="l" indent="0" marL="0">
              <a:lnSpc>
                <a:spcPts val="2349"/>
              </a:lnSpc>
              <a:buNone/>
            </a:pPr>
            <a:r>
              <a:rPr lang="en-US" sz="2025" spc="-20" kern="0" dirty="0">
                <a:solidFill>
                  <a:srgbClr val="F5F1E8"/>
                </a:solidFill>
                <a:latin typeface="Tinos" pitchFamily="34" charset="0"/>
                <a:ea typeface="Tinos" pitchFamily="34" charset="-122"/>
                <a:cs typeface="Tinos" pitchFamily="34" charset="-120"/>
              </a:rPr>
              <a:t>One pipeline, five stages. Each stage writes provenance — so the last stage can always answer for the first.</a:t>
            </a:r>
            <a:endParaRPr lang="en-US" sz="2025" dirty="0"/>
          </a:p>
        </p:txBody>
      </p:sp>
      <p:sp>
        <p:nvSpPr>
          <p:cNvPr id="6" name="Text 4"/>
          <p:cNvSpPr/>
          <p:nvPr/>
        </p:nvSpPr>
        <p:spPr>
          <a:xfrm>
            <a:off x="514350" y="1285875"/>
            <a:ext cx="342900" cy="14288"/>
          </a:xfrm>
          <a:prstGeom prst="rect">
            <a:avLst/>
          </a:prstGeom>
          <a:solidFill>
            <a:srgbClr val="D4A24A"/>
          </a:solidFill>
          <a:ln/>
        </p:spPr>
        <p:txBody>
          <a:bodyPr wrap="square" rtlCol="0" anchor="ctr"/>
          <a:lstStyle/>
          <a:p>
            <a:pPr indent="0" marL="0">
              <a:buNone/>
            </a:pPr>
            <a:endParaRPr lang="en-US" dirty="0"/>
          </a:p>
        </p:txBody>
      </p:sp>
      <p:sp>
        <p:nvSpPr>
          <p:cNvPr id="7" name="Text 5"/>
          <p:cNvSpPr/>
          <p:nvPr/>
        </p:nvSpPr>
        <p:spPr>
          <a:xfrm>
            <a:off x="514350" y="1628775"/>
            <a:ext cx="1520168" cy="2200275"/>
          </a:xfrm>
          <a:prstGeom prst="roundRect">
            <a:avLst>
              <a:gd name="adj" fmla="val 1880"/>
            </a:avLst>
          </a:prstGeom>
          <a:solidFill>
            <a:srgbClr val="1C2128"/>
          </a:solidFill>
          <a:ln/>
        </p:spPr>
        <p:txBody>
          <a:bodyPr wrap="square" rtlCol="0" anchor="ctr"/>
          <a:lstStyle/>
          <a:p>
            <a:pPr indent="0" marL="0">
              <a:buNone/>
            </a:pPr>
            <a:endParaRPr lang="en-US" dirty="0"/>
          </a:p>
        </p:txBody>
      </p:sp>
      <p:sp>
        <p:nvSpPr>
          <p:cNvPr id="8" name="Shape 6"/>
          <p:cNvSpPr/>
          <p:nvPr/>
        </p:nvSpPr>
        <p:spPr>
          <a:xfrm>
            <a:off x="514350" y="1635919"/>
            <a:ext cx="1520168" cy="0"/>
          </a:xfrm>
          <a:prstGeom prst="line">
            <a:avLst/>
          </a:prstGeom>
          <a:noFill/>
          <a:ln w="14288">
            <a:solidFill>
              <a:srgbClr val="D4A24A"/>
            </a:solidFill>
            <a:prstDash val="solid"/>
          </a:ln>
        </p:spPr>
      </p:sp>
      <p:sp>
        <p:nvSpPr>
          <p:cNvPr id="9" name="Shape 7"/>
          <p:cNvSpPr/>
          <p:nvPr/>
        </p:nvSpPr>
        <p:spPr>
          <a:xfrm>
            <a:off x="2030946" y="1628775"/>
            <a:ext cx="0" cy="2200275"/>
          </a:xfrm>
          <a:prstGeom prst="line">
            <a:avLst/>
          </a:prstGeom>
          <a:noFill/>
          <a:ln w="7144">
            <a:solidFill>
              <a:srgbClr val="2A2F37"/>
            </a:solidFill>
            <a:prstDash val="solid"/>
          </a:ln>
        </p:spPr>
      </p:sp>
      <p:sp>
        <p:nvSpPr>
          <p:cNvPr id="10" name="Shape 8"/>
          <p:cNvSpPr/>
          <p:nvPr/>
        </p:nvSpPr>
        <p:spPr>
          <a:xfrm>
            <a:off x="514350" y="3825478"/>
            <a:ext cx="1520168" cy="0"/>
          </a:xfrm>
          <a:prstGeom prst="line">
            <a:avLst/>
          </a:prstGeom>
          <a:noFill/>
          <a:ln w="7144">
            <a:solidFill>
              <a:srgbClr val="2A2F37"/>
            </a:solidFill>
            <a:prstDash val="solid"/>
          </a:ln>
        </p:spPr>
      </p:sp>
      <p:sp>
        <p:nvSpPr>
          <p:cNvPr id="11" name="Shape 9"/>
          <p:cNvSpPr/>
          <p:nvPr/>
        </p:nvSpPr>
        <p:spPr>
          <a:xfrm>
            <a:off x="517922" y="1628775"/>
            <a:ext cx="0" cy="2200275"/>
          </a:xfrm>
          <a:prstGeom prst="line">
            <a:avLst/>
          </a:prstGeom>
          <a:noFill/>
          <a:ln w="7144">
            <a:solidFill>
              <a:srgbClr val="2A2F37"/>
            </a:solidFill>
            <a:prstDash val="solid"/>
          </a:ln>
        </p:spPr>
      </p:sp>
      <p:sp>
        <p:nvSpPr>
          <p:cNvPr id="12" name="Text 10"/>
          <p:cNvSpPr/>
          <p:nvPr/>
        </p:nvSpPr>
        <p:spPr>
          <a:xfrm>
            <a:off x="635794" y="1771650"/>
            <a:ext cx="1277280" cy="133302"/>
          </a:xfrm>
          <a:prstGeom prst="rect">
            <a:avLst/>
          </a:prstGeom>
          <a:noFill/>
          <a:ln/>
        </p:spPr>
        <p:txBody>
          <a:bodyPr wrap="none" lIns="0" tIns="0" rIns="0" bIns="0" rtlCol="0" anchor="t">
            <a:normAutofit/>
          </a:bodyPr>
          <a:lstStyle/>
          <a:p>
            <a:pPr algn="l" indent="0" marL="0">
              <a:lnSpc>
                <a:spcPts val="928"/>
              </a:lnSpc>
              <a:buNone/>
            </a:pPr>
            <a:r>
              <a:rPr lang="en-US" sz="800" spc="111" kern="0" dirty="0">
                <a:solidFill>
                  <a:srgbClr val="D4A24A"/>
                </a:solidFill>
                <a:latin typeface="Liberation Sans Narrow" pitchFamily="34" charset="0"/>
                <a:ea typeface="Liberation Sans Narrow" pitchFamily="34" charset="-122"/>
                <a:cs typeface="Liberation Sans Narrow" pitchFamily="34" charset="-120"/>
              </a:rPr>
              <a:t>STAGE 01</a:t>
            </a:r>
            <a:endParaRPr lang="en-US" sz="800" dirty="0"/>
          </a:p>
        </p:txBody>
      </p:sp>
      <p:sp>
        <p:nvSpPr>
          <p:cNvPr id="13" name="Text 11"/>
          <p:cNvSpPr/>
          <p:nvPr/>
        </p:nvSpPr>
        <p:spPr>
          <a:xfrm>
            <a:off x="635794" y="1932384"/>
            <a:ext cx="1277280" cy="186613"/>
          </a:xfrm>
          <a:prstGeom prst="rect">
            <a:avLst/>
          </a:prstGeom>
          <a:noFill/>
          <a:ln/>
        </p:spPr>
        <p:txBody>
          <a:bodyPr wrap="none" lIns="0" tIns="0" rIns="0" bIns="0" rtlCol="0" anchor="t"/>
          <a:lstStyle/>
          <a:p>
            <a:pPr algn="l" indent="0" marL="0">
              <a:lnSpc>
                <a:spcPts val="1361"/>
              </a:lnSpc>
              <a:buNone/>
            </a:pPr>
            <a:r>
              <a:rPr lang="en-US" sz="1238" spc="-6" kern="0" dirty="0">
                <a:solidFill>
                  <a:srgbClr val="F5F1E8"/>
                </a:solidFill>
                <a:latin typeface="Tinos" pitchFamily="34" charset="0"/>
                <a:ea typeface="Tinos" pitchFamily="34" charset="-122"/>
                <a:cs typeface="Tinos" pitchFamily="34" charset="-120"/>
              </a:rPr>
              <a:t>Ingest</a:t>
            </a:r>
            <a:endParaRPr lang="en-US" sz="1238" dirty="0"/>
          </a:p>
        </p:txBody>
      </p:sp>
      <p:sp>
        <p:nvSpPr>
          <p:cNvPr id="14" name="Text 12"/>
          <p:cNvSpPr/>
          <p:nvPr/>
        </p:nvSpPr>
        <p:spPr>
          <a:xfrm>
            <a:off x="635794" y="2176611"/>
            <a:ext cx="1353917" cy="318106"/>
          </a:xfrm>
          <a:prstGeom prst="rect">
            <a:avLst/>
          </a:prstGeom>
          <a:noFill/>
          <a:ln/>
        </p:spPr>
        <p:txBody>
          <a:bodyPr wrap="square" lIns="0" tIns="0" rIns="0" bIns="0" rtlCol="0" anchor="t"/>
          <a:lstStyle/>
          <a:p>
            <a:pPr algn="l" indent="0" marL="0">
              <a:lnSpc>
                <a:spcPts val="1060"/>
              </a:lnSpc>
              <a:buNone/>
            </a:pPr>
            <a:r>
              <a:rPr lang="en-US" sz="800" dirty="0">
                <a:solidFill>
                  <a:srgbClr val="C9C3B5"/>
                </a:solidFill>
                <a:latin typeface="Carlito" pitchFamily="34" charset="0"/>
                <a:ea typeface="Carlito" pitchFamily="34" charset="-122"/>
                <a:cs typeface="Carlito" pitchFamily="34" charset="-120"/>
              </a:rPr>
              <a:t>Your survey data, validated and checksummed.</a:t>
            </a:r>
            <a:endParaRPr lang="en-US" sz="800" dirty="0"/>
          </a:p>
        </p:txBody>
      </p:sp>
      <p:sp>
        <p:nvSpPr>
          <p:cNvPr id="15" name="Text 13"/>
          <p:cNvSpPr/>
          <p:nvPr/>
        </p:nvSpPr>
        <p:spPr>
          <a:xfrm>
            <a:off x="635794" y="2531566"/>
            <a:ext cx="1277280" cy="7144"/>
          </a:xfrm>
          <a:prstGeom prst="rect">
            <a:avLst/>
          </a:prstGeom>
          <a:solidFill>
            <a:srgbClr val="2A2F37"/>
          </a:solidFill>
          <a:ln/>
        </p:spPr>
        <p:txBody>
          <a:bodyPr wrap="square" rtlCol="0" anchor="ctr"/>
          <a:lstStyle/>
          <a:p>
            <a:pPr indent="0" marL="0">
              <a:buNone/>
            </a:pPr>
            <a:endParaRPr lang="en-US" dirty="0"/>
          </a:p>
        </p:txBody>
      </p:sp>
      <p:sp>
        <p:nvSpPr>
          <p:cNvPr id="16" name="Text 14"/>
          <p:cNvSpPr/>
          <p:nvPr/>
        </p:nvSpPr>
        <p:spPr>
          <a:xfrm>
            <a:off x="635794" y="2610148"/>
            <a:ext cx="1277280" cy="1206169"/>
          </a:xfrm>
          <a:prstGeom prst="rect">
            <a:avLst/>
          </a:prstGeom>
          <a:noFill/>
          <a:ln/>
        </p:spPr>
        <p:txBody>
          <a:bodyPr wrap="square" lIns="0" tIns="0" rIns="0" bIns="0" rtlCol="0" anchor="t"/>
          <a:lstStyle/>
          <a:p>
            <a:pPr algn="l" indent="0" marL="0">
              <a:lnSpc>
                <a:spcPts val="906"/>
              </a:lnSpc>
              <a:spcAft>
                <a:spcPts val="338"/>
              </a:spcAft>
              <a:buNone/>
            </a:pPr>
            <a:r>
              <a:rPr lang="en-US" sz="600" spc="6" kern="0" dirty="0">
                <a:solidFill>
                  <a:srgbClr val="D4A24A"/>
                </a:solidFill>
                <a:latin typeface="Courier New" pitchFamily="34" charset="0"/>
                <a:ea typeface="Courier New" pitchFamily="34" charset="-122"/>
                <a:cs typeface="Courier New" pitchFamily="34" charset="-120"/>
              </a:rPr>
              <a:t>●  </a:t>
            </a:r>
            <a:pPr algn="l" indent="0" marL="0">
              <a:lnSpc>
                <a:spcPts val="906"/>
              </a:lnSpc>
              <a:spcAft>
                <a:spcPts val="338"/>
              </a:spcAft>
              <a:buNone/>
            </a:pPr>
            <a:r>
              <a:rPr lang="en-US" sz="800" spc="6" kern="0" dirty="0">
                <a:solidFill>
                  <a:srgbClr val="C9C3B5"/>
                </a:solidFill>
                <a:latin typeface="Courier New" pitchFamily="34" charset="0"/>
                <a:ea typeface="Courier New" pitchFamily="34" charset="-122"/>
                <a:cs typeface="Courier New" pitchFamily="34" charset="-120"/>
              </a:rPr>
              <a:t>Geophysics: XYZ, GRD, DAT, TIF</a:t>
            </a:r>
            <a:endParaRPr lang="en-US" sz="800" dirty="0"/>
          </a:p>
          <a:p>
            <a:pPr algn="l" indent="0" marL="0">
              <a:lnSpc>
                <a:spcPts val="906"/>
              </a:lnSpc>
              <a:spcAft>
                <a:spcPts val="338"/>
              </a:spcAft>
              <a:buNone/>
            </a:pPr>
            <a:r>
              <a:rPr lang="en-US" sz="600" spc="6" kern="0" dirty="0">
                <a:solidFill>
                  <a:srgbClr val="D4A24A"/>
                </a:solidFill>
                <a:latin typeface="Courier New" pitchFamily="34" charset="0"/>
                <a:ea typeface="Courier New" pitchFamily="34" charset="-122"/>
                <a:cs typeface="Courier New" pitchFamily="34" charset="-120"/>
              </a:rPr>
              <a:t>●  </a:t>
            </a:r>
            <a:pPr algn="l" indent="0" marL="0">
              <a:lnSpc>
                <a:spcPts val="906"/>
              </a:lnSpc>
              <a:spcAft>
                <a:spcPts val="338"/>
              </a:spcAft>
              <a:buNone/>
            </a:pPr>
            <a:r>
              <a:rPr lang="en-US" sz="800" spc="6" kern="0" dirty="0">
                <a:solidFill>
                  <a:srgbClr val="C9C3B5"/>
                </a:solidFill>
                <a:latin typeface="Courier New" pitchFamily="34" charset="0"/>
                <a:ea typeface="Courier New" pitchFamily="34" charset="-122"/>
                <a:cs typeface="Courier New" pitchFamily="34" charset="-120"/>
              </a:rPr>
              <a:t>Geochemistry: CSV</a:t>
            </a:r>
            <a:endParaRPr lang="en-US" sz="800" dirty="0"/>
          </a:p>
          <a:p>
            <a:pPr algn="l" indent="0" marL="0">
              <a:lnSpc>
                <a:spcPts val="906"/>
              </a:lnSpc>
              <a:spcAft>
                <a:spcPts val="338"/>
              </a:spcAft>
              <a:buNone/>
            </a:pPr>
            <a:r>
              <a:rPr lang="en-US" sz="600" spc="6" kern="0" dirty="0">
                <a:solidFill>
                  <a:srgbClr val="D4A24A"/>
                </a:solidFill>
                <a:latin typeface="Courier New" pitchFamily="34" charset="0"/>
                <a:ea typeface="Courier New" pitchFamily="34" charset="-122"/>
                <a:cs typeface="Courier New" pitchFamily="34" charset="-120"/>
              </a:rPr>
              <a:t>●  </a:t>
            </a:r>
            <a:pPr algn="l" indent="0" marL="0">
              <a:lnSpc>
                <a:spcPts val="906"/>
              </a:lnSpc>
              <a:spcAft>
                <a:spcPts val="338"/>
              </a:spcAft>
              <a:buNone/>
            </a:pPr>
            <a:r>
              <a:rPr lang="en-US" sz="800" spc="6" kern="0" dirty="0">
                <a:solidFill>
                  <a:srgbClr val="C9C3B5"/>
                </a:solidFill>
                <a:latin typeface="Courier New" pitchFamily="34" charset="0"/>
                <a:ea typeface="Courier New" pitchFamily="34" charset="-122"/>
                <a:cs typeface="Courier New" pitchFamily="34" charset="-120"/>
              </a:rPr>
              <a:t>Assay certificates: PDF</a:t>
            </a:r>
            <a:endParaRPr lang="en-US" sz="800" dirty="0"/>
          </a:p>
        </p:txBody>
      </p:sp>
      <p:pic>
        <p:nvPicPr>
          <p:cNvPr id="17" name="Image 0" descr="/tmp/h2p-svg-1786579670414-l38s72.png">    </p:cNvPr>
          <p:cNvPicPr>
            <a:picLocks noChangeAspect="1"/>
          </p:cNvPicPr>
          <p:nvPr/>
        </p:nvPicPr>
        <p:blipFill>
          <a:blip r:embed="rId1"/>
          <a:stretch>
            <a:fillRect/>
          </a:stretch>
        </p:blipFill>
        <p:spPr>
          <a:xfrm>
            <a:off x="2034518" y="2664619"/>
            <a:ext cx="128588" cy="128588"/>
          </a:xfrm>
          <a:prstGeom prst="rect">
            <a:avLst/>
          </a:prstGeom>
        </p:spPr>
      </p:pic>
      <p:sp>
        <p:nvSpPr>
          <p:cNvPr id="18" name="Text 15"/>
          <p:cNvSpPr/>
          <p:nvPr/>
        </p:nvSpPr>
        <p:spPr>
          <a:xfrm>
            <a:off x="2163105" y="1628775"/>
            <a:ext cx="1520168" cy="2200275"/>
          </a:xfrm>
          <a:prstGeom prst="roundRect">
            <a:avLst>
              <a:gd name="adj" fmla="val 1880"/>
            </a:avLst>
          </a:prstGeom>
          <a:solidFill>
            <a:srgbClr val="1C2128"/>
          </a:solidFill>
          <a:ln/>
        </p:spPr>
        <p:txBody>
          <a:bodyPr wrap="square" rtlCol="0" anchor="ctr"/>
          <a:lstStyle/>
          <a:p>
            <a:pPr indent="0" marL="0">
              <a:buNone/>
            </a:pPr>
            <a:endParaRPr lang="en-US" dirty="0"/>
          </a:p>
        </p:txBody>
      </p:sp>
      <p:sp>
        <p:nvSpPr>
          <p:cNvPr id="19" name="Shape 16"/>
          <p:cNvSpPr/>
          <p:nvPr/>
        </p:nvSpPr>
        <p:spPr>
          <a:xfrm>
            <a:off x="2163105" y="1635919"/>
            <a:ext cx="1520168" cy="0"/>
          </a:xfrm>
          <a:prstGeom prst="line">
            <a:avLst/>
          </a:prstGeom>
          <a:noFill/>
          <a:ln w="14288">
            <a:solidFill>
              <a:srgbClr val="D4A24A"/>
            </a:solidFill>
            <a:prstDash val="solid"/>
          </a:ln>
        </p:spPr>
      </p:sp>
      <p:sp>
        <p:nvSpPr>
          <p:cNvPr id="20" name="Shape 17"/>
          <p:cNvSpPr/>
          <p:nvPr/>
        </p:nvSpPr>
        <p:spPr>
          <a:xfrm>
            <a:off x="3679701" y="1628775"/>
            <a:ext cx="0" cy="2200275"/>
          </a:xfrm>
          <a:prstGeom prst="line">
            <a:avLst/>
          </a:prstGeom>
          <a:noFill/>
          <a:ln w="7144">
            <a:solidFill>
              <a:srgbClr val="2A2F37"/>
            </a:solidFill>
            <a:prstDash val="solid"/>
          </a:ln>
        </p:spPr>
      </p:sp>
      <p:sp>
        <p:nvSpPr>
          <p:cNvPr id="21" name="Shape 18"/>
          <p:cNvSpPr/>
          <p:nvPr/>
        </p:nvSpPr>
        <p:spPr>
          <a:xfrm>
            <a:off x="2163105" y="3825478"/>
            <a:ext cx="1520168" cy="0"/>
          </a:xfrm>
          <a:prstGeom prst="line">
            <a:avLst/>
          </a:prstGeom>
          <a:noFill/>
          <a:ln w="7144">
            <a:solidFill>
              <a:srgbClr val="2A2F37"/>
            </a:solidFill>
            <a:prstDash val="solid"/>
          </a:ln>
        </p:spPr>
      </p:sp>
      <p:sp>
        <p:nvSpPr>
          <p:cNvPr id="22" name="Shape 19"/>
          <p:cNvSpPr/>
          <p:nvPr/>
        </p:nvSpPr>
        <p:spPr>
          <a:xfrm>
            <a:off x="2166677" y="1628775"/>
            <a:ext cx="0" cy="2200275"/>
          </a:xfrm>
          <a:prstGeom prst="line">
            <a:avLst/>
          </a:prstGeom>
          <a:noFill/>
          <a:ln w="7144">
            <a:solidFill>
              <a:srgbClr val="2A2F37"/>
            </a:solidFill>
            <a:prstDash val="solid"/>
          </a:ln>
        </p:spPr>
      </p:sp>
      <p:sp>
        <p:nvSpPr>
          <p:cNvPr id="23" name="Text 20"/>
          <p:cNvSpPr/>
          <p:nvPr/>
        </p:nvSpPr>
        <p:spPr>
          <a:xfrm>
            <a:off x="2284549" y="1771650"/>
            <a:ext cx="1277280" cy="133302"/>
          </a:xfrm>
          <a:prstGeom prst="rect">
            <a:avLst/>
          </a:prstGeom>
          <a:noFill/>
          <a:ln/>
        </p:spPr>
        <p:txBody>
          <a:bodyPr wrap="none" lIns="0" tIns="0" rIns="0" bIns="0" rtlCol="0" anchor="t">
            <a:normAutofit/>
          </a:bodyPr>
          <a:lstStyle/>
          <a:p>
            <a:pPr algn="l" indent="0" marL="0">
              <a:lnSpc>
                <a:spcPts val="928"/>
              </a:lnSpc>
              <a:buNone/>
            </a:pPr>
            <a:r>
              <a:rPr lang="en-US" sz="800" spc="111" kern="0" dirty="0">
                <a:solidFill>
                  <a:srgbClr val="D4A24A"/>
                </a:solidFill>
                <a:latin typeface="Liberation Sans Narrow" pitchFamily="34" charset="0"/>
                <a:ea typeface="Liberation Sans Narrow" pitchFamily="34" charset="-122"/>
                <a:cs typeface="Liberation Sans Narrow" pitchFamily="34" charset="-120"/>
              </a:rPr>
              <a:t>STAGE 02</a:t>
            </a:r>
            <a:endParaRPr lang="en-US" sz="800" dirty="0"/>
          </a:p>
        </p:txBody>
      </p:sp>
      <p:sp>
        <p:nvSpPr>
          <p:cNvPr id="24" name="Text 21"/>
          <p:cNvSpPr/>
          <p:nvPr/>
        </p:nvSpPr>
        <p:spPr>
          <a:xfrm>
            <a:off x="2284549" y="1932384"/>
            <a:ext cx="1277280" cy="186613"/>
          </a:xfrm>
          <a:prstGeom prst="rect">
            <a:avLst/>
          </a:prstGeom>
          <a:noFill/>
          <a:ln/>
        </p:spPr>
        <p:txBody>
          <a:bodyPr wrap="none" lIns="0" tIns="0" rIns="0" bIns="0" rtlCol="0" anchor="t"/>
          <a:lstStyle/>
          <a:p>
            <a:pPr algn="l" indent="0" marL="0">
              <a:lnSpc>
                <a:spcPts val="1361"/>
              </a:lnSpc>
              <a:buNone/>
            </a:pPr>
            <a:r>
              <a:rPr lang="en-US" sz="1238" spc="-6" kern="0" dirty="0">
                <a:solidFill>
                  <a:srgbClr val="F5F1E8"/>
                </a:solidFill>
                <a:latin typeface="Tinos" pitchFamily="34" charset="0"/>
                <a:ea typeface="Tinos" pitchFamily="34" charset="-122"/>
                <a:cs typeface="Tinos" pitchFamily="34" charset="-120"/>
              </a:rPr>
              <a:t>Augment</a:t>
            </a:r>
            <a:endParaRPr lang="en-US" sz="1238" dirty="0"/>
          </a:p>
        </p:txBody>
      </p:sp>
      <p:sp>
        <p:nvSpPr>
          <p:cNvPr id="25" name="Text 22"/>
          <p:cNvSpPr/>
          <p:nvPr/>
        </p:nvSpPr>
        <p:spPr>
          <a:xfrm>
            <a:off x="2284549" y="2176611"/>
            <a:ext cx="1353917" cy="318106"/>
          </a:xfrm>
          <a:prstGeom prst="rect">
            <a:avLst/>
          </a:prstGeom>
          <a:noFill/>
          <a:ln/>
        </p:spPr>
        <p:txBody>
          <a:bodyPr wrap="square" lIns="0" tIns="0" rIns="0" bIns="0" rtlCol="0" anchor="t"/>
          <a:lstStyle/>
          <a:p>
            <a:pPr algn="l" indent="0" marL="0">
              <a:lnSpc>
                <a:spcPts val="1060"/>
              </a:lnSpc>
              <a:buNone/>
            </a:pPr>
            <a:r>
              <a:rPr lang="en-US" sz="800" dirty="0">
                <a:solidFill>
                  <a:srgbClr val="C9C3B5"/>
                </a:solidFill>
                <a:latin typeface="Carlito" pitchFamily="34" charset="0"/>
                <a:ea typeface="Carlito" pitchFamily="34" charset="-122"/>
                <a:cs typeface="Carlito" pitchFamily="34" charset="-120"/>
              </a:rPr>
              <a:t>Public sources fetched to your boundary.</a:t>
            </a:r>
            <a:endParaRPr lang="en-US" sz="800" dirty="0"/>
          </a:p>
        </p:txBody>
      </p:sp>
      <p:sp>
        <p:nvSpPr>
          <p:cNvPr id="26" name="Text 23"/>
          <p:cNvSpPr/>
          <p:nvPr/>
        </p:nvSpPr>
        <p:spPr>
          <a:xfrm>
            <a:off x="2284549" y="2531566"/>
            <a:ext cx="1277280" cy="7144"/>
          </a:xfrm>
          <a:prstGeom prst="rect">
            <a:avLst/>
          </a:prstGeom>
          <a:solidFill>
            <a:srgbClr val="2A2F37"/>
          </a:solidFill>
          <a:ln/>
        </p:spPr>
        <p:txBody>
          <a:bodyPr wrap="square" rtlCol="0" anchor="ctr"/>
          <a:lstStyle/>
          <a:p>
            <a:pPr indent="0" marL="0">
              <a:buNone/>
            </a:pPr>
            <a:endParaRPr lang="en-US" dirty="0"/>
          </a:p>
        </p:txBody>
      </p:sp>
      <p:sp>
        <p:nvSpPr>
          <p:cNvPr id="27" name="Text 24"/>
          <p:cNvSpPr/>
          <p:nvPr/>
        </p:nvSpPr>
        <p:spPr>
          <a:xfrm>
            <a:off x="2284549" y="2610148"/>
            <a:ext cx="1277280" cy="1206169"/>
          </a:xfrm>
          <a:prstGeom prst="rect">
            <a:avLst/>
          </a:prstGeom>
          <a:noFill/>
          <a:ln/>
        </p:spPr>
        <p:txBody>
          <a:bodyPr wrap="square" lIns="0" tIns="0" rIns="0" bIns="0" rtlCol="0" anchor="t"/>
          <a:lstStyle/>
          <a:p>
            <a:pPr algn="l" indent="0" marL="0">
              <a:lnSpc>
                <a:spcPts val="906"/>
              </a:lnSpc>
              <a:spcAft>
                <a:spcPts val="338"/>
              </a:spcAft>
              <a:buNone/>
            </a:pPr>
            <a:r>
              <a:rPr lang="en-US" sz="600" spc="6" kern="0" dirty="0">
                <a:solidFill>
                  <a:srgbClr val="D4A24A"/>
                </a:solidFill>
                <a:latin typeface="Courier New" pitchFamily="34" charset="0"/>
                <a:ea typeface="Courier New" pitchFamily="34" charset="-122"/>
                <a:cs typeface="Courier New" pitchFamily="34" charset="-120"/>
              </a:rPr>
              <a:t>●  </a:t>
            </a:r>
            <a:pPr algn="l" indent="0" marL="0">
              <a:lnSpc>
                <a:spcPts val="906"/>
              </a:lnSpc>
              <a:spcAft>
                <a:spcPts val="338"/>
              </a:spcAft>
              <a:buNone/>
            </a:pPr>
            <a:r>
              <a:rPr lang="en-US" sz="800" spc="6" kern="0" dirty="0">
                <a:solidFill>
                  <a:srgbClr val="C9C3B5"/>
                </a:solidFill>
                <a:latin typeface="Liberation Sans Narrow" pitchFamily="34" charset="0"/>
                <a:ea typeface="Liberation Sans Narrow" pitchFamily="34" charset="-122"/>
                <a:cs typeface="Liberation Sans Narrow" pitchFamily="34" charset="-120"/>
              </a:rPr>
              <a:t>Sentinel-2 alteration indices</a:t>
            </a:r>
            <a:endParaRPr lang="en-US" sz="800" dirty="0"/>
          </a:p>
          <a:p>
            <a:pPr algn="l" indent="0" marL="0">
              <a:lnSpc>
                <a:spcPts val="906"/>
              </a:lnSpc>
              <a:spcAft>
                <a:spcPts val="338"/>
              </a:spcAft>
              <a:buNone/>
            </a:pPr>
            <a:r>
              <a:rPr lang="en-US" sz="600" spc="6" kern="0" dirty="0">
                <a:solidFill>
                  <a:srgbClr val="D4A24A"/>
                </a:solidFill>
                <a:latin typeface="Courier New" pitchFamily="34" charset="0"/>
                <a:ea typeface="Courier New" pitchFamily="34" charset="-122"/>
                <a:cs typeface="Courier New" pitchFamily="34" charset="-120"/>
              </a:rPr>
              <a:t>●  </a:t>
            </a:r>
            <a:pPr algn="l" indent="0" marL="0">
              <a:lnSpc>
                <a:spcPts val="906"/>
              </a:lnSpc>
              <a:spcAft>
                <a:spcPts val="338"/>
              </a:spcAft>
              <a:buNone/>
            </a:pPr>
            <a:r>
              <a:rPr lang="en-US" sz="800" spc="6" kern="0" dirty="0">
                <a:solidFill>
                  <a:srgbClr val="C9C3B5"/>
                </a:solidFill>
                <a:latin typeface="Courier New" pitchFamily="34" charset="0"/>
                <a:ea typeface="Courier New" pitchFamily="34" charset="-122"/>
                <a:cs typeface="Courier New" pitchFamily="34" charset="-120"/>
              </a:rPr>
              <a:t>Terrain, regional magnetics</a:t>
            </a:r>
            <a:endParaRPr lang="en-US" sz="800" dirty="0"/>
          </a:p>
          <a:p>
            <a:pPr algn="l" indent="0" marL="0">
              <a:lnSpc>
                <a:spcPts val="906"/>
              </a:lnSpc>
              <a:spcAft>
                <a:spcPts val="338"/>
              </a:spcAft>
              <a:buNone/>
            </a:pPr>
            <a:r>
              <a:rPr lang="en-US" sz="600" spc="6" kern="0" dirty="0">
                <a:solidFill>
                  <a:srgbClr val="D4A24A"/>
                </a:solidFill>
                <a:latin typeface="Courier New" pitchFamily="34" charset="0"/>
                <a:ea typeface="Courier New" pitchFamily="34" charset="-122"/>
                <a:cs typeface="Courier New" pitchFamily="34" charset="-120"/>
              </a:rPr>
              <a:t>●  </a:t>
            </a:r>
            <a:pPr algn="l" indent="0" marL="0">
              <a:lnSpc>
                <a:spcPts val="906"/>
              </a:lnSpc>
              <a:spcAft>
                <a:spcPts val="338"/>
              </a:spcAft>
              <a:buNone/>
            </a:pPr>
            <a:r>
              <a:rPr lang="en-US" sz="800" spc="6" kern="0" dirty="0">
                <a:solidFill>
                  <a:srgbClr val="C9C3B5"/>
                </a:solidFill>
                <a:latin typeface="Courier New" pitchFamily="34" charset="0"/>
                <a:ea typeface="Courier New" pitchFamily="34" charset="-122"/>
                <a:cs typeface="Courier New" pitchFamily="34" charset="-120"/>
              </a:rPr>
              <a:t>Geology, deposits, roads, reserves</a:t>
            </a:r>
            <a:endParaRPr lang="en-US" sz="800" dirty="0"/>
          </a:p>
        </p:txBody>
      </p:sp>
      <p:pic>
        <p:nvPicPr>
          <p:cNvPr id="28" name="Image 1" descr="/tmp/h2p-svg-1786579670415-k3cexb.png">    </p:cNvPr>
          <p:cNvPicPr>
            <a:picLocks noChangeAspect="1"/>
          </p:cNvPicPr>
          <p:nvPr/>
        </p:nvPicPr>
        <p:blipFill>
          <a:blip r:embed="rId2"/>
          <a:stretch>
            <a:fillRect/>
          </a:stretch>
        </p:blipFill>
        <p:spPr>
          <a:xfrm>
            <a:off x="3683273" y="2664619"/>
            <a:ext cx="128588" cy="128588"/>
          </a:xfrm>
          <a:prstGeom prst="rect">
            <a:avLst/>
          </a:prstGeom>
        </p:spPr>
      </p:pic>
      <p:sp>
        <p:nvSpPr>
          <p:cNvPr id="29" name="Text 25"/>
          <p:cNvSpPr/>
          <p:nvPr/>
        </p:nvSpPr>
        <p:spPr>
          <a:xfrm>
            <a:off x="3811860" y="1628775"/>
            <a:ext cx="1520168" cy="2200275"/>
          </a:xfrm>
          <a:prstGeom prst="roundRect">
            <a:avLst>
              <a:gd name="adj" fmla="val 1880"/>
            </a:avLst>
          </a:prstGeom>
          <a:solidFill>
            <a:srgbClr val="1C2128"/>
          </a:solidFill>
          <a:ln/>
        </p:spPr>
        <p:txBody>
          <a:bodyPr wrap="square" rtlCol="0" anchor="ctr"/>
          <a:lstStyle/>
          <a:p>
            <a:pPr indent="0" marL="0">
              <a:buNone/>
            </a:pPr>
            <a:endParaRPr lang="en-US" dirty="0"/>
          </a:p>
        </p:txBody>
      </p:sp>
      <p:sp>
        <p:nvSpPr>
          <p:cNvPr id="30" name="Shape 26"/>
          <p:cNvSpPr/>
          <p:nvPr/>
        </p:nvSpPr>
        <p:spPr>
          <a:xfrm>
            <a:off x="3811860" y="1635919"/>
            <a:ext cx="1520168" cy="0"/>
          </a:xfrm>
          <a:prstGeom prst="line">
            <a:avLst/>
          </a:prstGeom>
          <a:noFill/>
          <a:ln w="14288">
            <a:solidFill>
              <a:srgbClr val="D4A24A"/>
            </a:solidFill>
            <a:prstDash val="solid"/>
          </a:ln>
        </p:spPr>
      </p:sp>
      <p:sp>
        <p:nvSpPr>
          <p:cNvPr id="31" name="Shape 27"/>
          <p:cNvSpPr/>
          <p:nvPr/>
        </p:nvSpPr>
        <p:spPr>
          <a:xfrm>
            <a:off x="5328456" y="1628775"/>
            <a:ext cx="0" cy="2200275"/>
          </a:xfrm>
          <a:prstGeom prst="line">
            <a:avLst/>
          </a:prstGeom>
          <a:noFill/>
          <a:ln w="7144">
            <a:solidFill>
              <a:srgbClr val="2A2F37"/>
            </a:solidFill>
            <a:prstDash val="solid"/>
          </a:ln>
        </p:spPr>
      </p:sp>
      <p:sp>
        <p:nvSpPr>
          <p:cNvPr id="32" name="Shape 28"/>
          <p:cNvSpPr/>
          <p:nvPr/>
        </p:nvSpPr>
        <p:spPr>
          <a:xfrm>
            <a:off x="3811860" y="3825478"/>
            <a:ext cx="1520168" cy="0"/>
          </a:xfrm>
          <a:prstGeom prst="line">
            <a:avLst/>
          </a:prstGeom>
          <a:noFill/>
          <a:ln w="7144">
            <a:solidFill>
              <a:srgbClr val="2A2F37"/>
            </a:solidFill>
            <a:prstDash val="solid"/>
          </a:ln>
        </p:spPr>
      </p:sp>
      <p:sp>
        <p:nvSpPr>
          <p:cNvPr id="33" name="Shape 29"/>
          <p:cNvSpPr/>
          <p:nvPr/>
        </p:nvSpPr>
        <p:spPr>
          <a:xfrm>
            <a:off x="3815432" y="1628775"/>
            <a:ext cx="0" cy="2200275"/>
          </a:xfrm>
          <a:prstGeom prst="line">
            <a:avLst/>
          </a:prstGeom>
          <a:noFill/>
          <a:ln w="7144">
            <a:solidFill>
              <a:srgbClr val="2A2F37"/>
            </a:solidFill>
            <a:prstDash val="solid"/>
          </a:ln>
        </p:spPr>
      </p:sp>
      <p:sp>
        <p:nvSpPr>
          <p:cNvPr id="34" name="Text 30"/>
          <p:cNvSpPr/>
          <p:nvPr/>
        </p:nvSpPr>
        <p:spPr>
          <a:xfrm>
            <a:off x="3933304" y="1771650"/>
            <a:ext cx="1277280" cy="133302"/>
          </a:xfrm>
          <a:prstGeom prst="rect">
            <a:avLst/>
          </a:prstGeom>
          <a:noFill/>
          <a:ln/>
        </p:spPr>
        <p:txBody>
          <a:bodyPr wrap="none" lIns="0" tIns="0" rIns="0" bIns="0" rtlCol="0" anchor="t">
            <a:normAutofit/>
          </a:bodyPr>
          <a:lstStyle/>
          <a:p>
            <a:pPr algn="l" indent="0" marL="0">
              <a:lnSpc>
                <a:spcPts val="928"/>
              </a:lnSpc>
              <a:buNone/>
            </a:pPr>
            <a:r>
              <a:rPr lang="en-US" sz="800" spc="111" kern="0" dirty="0">
                <a:solidFill>
                  <a:srgbClr val="D4A24A"/>
                </a:solidFill>
                <a:latin typeface="Liberation Sans Narrow" pitchFamily="34" charset="0"/>
                <a:ea typeface="Liberation Sans Narrow" pitchFamily="34" charset="-122"/>
                <a:cs typeface="Liberation Sans Narrow" pitchFamily="34" charset="-120"/>
              </a:rPr>
              <a:t>STAGE 03</a:t>
            </a:r>
            <a:endParaRPr lang="en-US" sz="800" dirty="0"/>
          </a:p>
        </p:txBody>
      </p:sp>
      <p:sp>
        <p:nvSpPr>
          <p:cNvPr id="35" name="Text 31"/>
          <p:cNvSpPr/>
          <p:nvPr/>
        </p:nvSpPr>
        <p:spPr>
          <a:xfrm>
            <a:off x="3933304" y="1932384"/>
            <a:ext cx="1277280" cy="186613"/>
          </a:xfrm>
          <a:prstGeom prst="rect">
            <a:avLst/>
          </a:prstGeom>
          <a:noFill/>
          <a:ln/>
        </p:spPr>
        <p:txBody>
          <a:bodyPr wrap="none" lIns="0" tIns="0" rIns="0" bIns="0" rtlCol="0" anchor="t"/>
          <a:lstStyle/>
          <a:p>
            <a:pPr algn="l" indent="0" marL="0">
              <a:lnSpc>
                <a:spcPts val="1361"/>
              </a:lnSpc>
              <a:buNone/>
            </a:pPr>
            <a:r>
              <a:rPr lang="en-US" sz="1238" spc="-6" kern="0" dirty="0">
                <a:solidFill>
                  <a:srgbClr val="F5F1E8"/>
                </a:solidFill>
                <a:latin typeface="Tinos" pitchFamily="34" charset="0"/>
                <a:ea typeface="Tinos" pitchFamily="34" charset="-122"/>
                <a:cs typeface="Tinos" pitchFamily="34" charset="-120"/>
              </a:rPr>
              <a:t>Normalise</a:t>
            </a:r>
            <a:endParaRPr lang="en-US" sz="1238" dirty="0"/>
          </a:p>
        </p:txBody>
      </p:sp>
      <p:sp>
        <p:nvSpPr>
          <p:cNvPr id="36" name="Text 32"/>
          <p:cNvSpPr/>
          <p:nvPr/>
        </p:nvSpPr>
        <p:spPr>
          <a:xfrm>
            <a:off x="3933304" y="2176611"/>
            <a:ext cx="1353917" cy="318106"/>
          </a:xfrm>
          <a:prstGeom prst="rect">
            <a:avLst/>
          </a:prstGeom>
          <a:noFill/>
          <a:ln/>
        </p:spPr>
        <p:txBody>
          <a:bodyPr wrap="square" lIns="0" tIns="0" rIns="0" bIns="0" rtlCol="0" anchor="t"/>
          <a:lstStyle/>
          <a:p>
            <a:pPr algn="l" indent="0" marL="0">
              <a:lnSpc>
                <a:spcPts val="1060"/>
              </a:lnSpc>
              <a:buNone/>
            </a:pPr>
            <a:r>
              <a:rPr lang="en-US" sz="800" dirty="0">
                <a:solidFill>
                  <a:srgbClr val="C9C3B5"/>
                </a:solidFill>
                <a:latin typeface="Carlito" pitchFamily="34" charset="0"/>
                <a:ea typeface="Carlito" pitchFamily="34" charset="-122"/>
                <a:cs typeface="Carlito" pitchFamily="34" charset="-120"/>
              </a:rPr>
              <a:t>Everything onto one comparable grid.</a:t>
            </a:r>
            <a:endParaRPr lang="en-US" sz="800" dirty="0"/>
          </a:p>
        </p:txBody>
      </p:sp>
      <p:sp>
        <p:nvSpPr>
          <p:cNvPr id="37" name="Text 33"/>
          <p:cNvSpPr/>
          <p:nvPr/>
        </p:nvSpPr>
        <p:spPr>
          <a:xfrm>
            <a:off x="3933304" y="2531566"/>
            <a:ext cx="1277280" cy="7144"/>
          </a:xfrm>
          <a:prstGeom prst="rect">
            <a:avLst/>
          </a:prstGeom>
          <a:solidFill>
            <a:srgbClr val="2A2F37"/>
          </a:solidFill>
          <a:ln/>
        </p:spPr>
        <p:txBody>
          <a:bodyPr wrap="square" rtlCol="0" anchor="ctr"/>
          <a:lstStyle/>
          <a:p>
            <a:pPr indent="0" marL="0">
              <a:buNone/>
            </a:pPr>
            <a:endParaRPr lang="en-US" dirty="0"/>
          </a:p>
        </p:txBody>
      </p:sp>
      <p:sp>
        <p:nvSpPr>
          <p:cNvPr id="38" name="Text 34"/>
          <p:cNvSpPr/>
          <p:nvPr/>
        </p:nvSpPr>
        <p:spPr>
          <a:xfrm>
            <a:off x="3933304" y="2610148"/>
            <a:ext cx="1277280" cy="1206169"/>
          </a:xfrm>
          <a:prstGeom prst="rect">
            <a:avLst/>
          </a:prstGeom>
          <a:noFill/>
          <a:ln/>
        </p:spPr>
        <p:txBody>
          <a:bodyPr wrap="square" lIns="0" tIns="0" rIns="0" bIns="0" rtlCol="0" anchor="t"/>
          <a:lstStyle/>
          <a:p>
            <a:pPr algn="l" indent="0" marL="0">
              <a:lnSpc>
                <a:spcPts val="906"/>
              </a:lnSpc>
              <a:spcAft>
                <a:spcPts val="338"/>
              </a:spcAft>
              <a:buNone/>
            </a:pPr>
            <a:r>
              <a:rPr lang="en-US" sz="600" spc="6" kern="0" dirty="0">
                <a:solidFill>
                  <a:srgbClr val="D4A24A"/>
                </a:solidFill>
                <a:latin typeface="Courier New" pitchFamily="34" charset="0"/>
                <a:ea typeface="Courier New" pitchFamily="34" charset="-122"/>
                <a:cs typeface="Courier New" pitchFamily="34" charset="-120"/>
              </a:rPr>
              <a:t>●  </a:t>
            </a:r>
            <a:pPr algn="l" indent="0" marL="0">
              <a:lnSpc>
                <a:spcPts val="906"/>
              </a:lnSpc>
              <a:spcAft>
                <a:spcPts val="338"/>
              </a:spcAft>
              <a:buNone/>
            </a:pPr>
            <a:r>
              <a:rPr lang="en-US" sz="800" spc="6" kern="0" dirty="0">
                <a:solidFill>
                  <a:srgbClr val="C9C3B5"/>
                </a:solidFill>
                <a:latin typeface="Liberation Sans Narrow" pitchFamily="34" charset="0"/>
                <a:ea typeface="Liberation Sans Narrow" pitchFamily="34" charset="-122"/>
                <a:cs typeface="Liberation Sans Narrow" pitchFamily="34" charset="-120"/>
              </a:rPr>
              <a:t>Kriged interpolation to 50 m</a:t>
            </a:r>
            <a:endParaRPr lang="en-US" sz="800" dirty="0"/>
          </a:p>
          <a:p>
            <a:pPr algn="l" indent="0" marL="0">
              <a:lnSpc>
                <a:spcPts val="906"/>
              </a:lnSpc>
              <a:spcAft>
                <a:spcPts val="338"/>
              </a:spcAft>
              <a:buNone/>
            </a:pPr>
            <a:r>
              <a:rPr lang="en-US" sz="600" spc="6" kern="0" dirty="0">
                <a:solidFill>
                  <a:srgbClr val="D4A24A"/>
                </a:solidFill>
                <a:latin typeface="Courier New" pitchFamily="34" charset="0"/>
                <a:ea typeface="Courier New" pitchFamily="34" charset="-122"/>
                <a:cs typeface="Courier New" pitchFamily="34" charset="-120"/>
              </a:rPr>
              <a:t>●  </a:t>
            </a:r>
            <a:pPr algn="l" indent="0" marL="0">
              <a:lnSpc>
                <a:spcPts val="906"/>
              </a:lnSpc>
              <a:spcAft>
                <a:spcPts val="338"/>
              </a:spcAft>
              <a:buNone/>
            </a:pPr>
            <a:r>
              <a:rPr lang="en-US" sz="800" spc="6" kern="0" dirty="0">
                <a:solidFill>
                  <a:srgbClr val="C9C3B5"/>
                </a:solidFill>
                <a:latin typeface="Courier New" pitchFamily="34" charset="0"/>
                <a:ea typeface="Courier New" pitchFamily="34" charset="-122"/>
                <a:cs typeface="Courier New" pitchFamily="34" charset="-120"/>
              </a:rPr>
              <a:t>Per-element percentile classes</a:t>
            </a:r>
            <a:endParaRPr lang="en-US" sz="800" dirty="0"/>
          </a:p>
          <a:p>
            <a:pPr algn="l" indent="0" marL="0">
              <a:lnSpc>
                <a:spcPts val="906"/>
              </a:lnSpc>
              <a:spcAft>
                <a:spcPts val="338"/>
              </a:spcAft>
              <a:buNone/>
            </a:pPr>
            <a:r>
              <a:rPr lang="en-US" sz="600" spc="6" kern="0" dirty="0">
                <a:solidFill>
                  <a:srgbClr val="D4A24A"/>
                </a:solidFill>
                <a:latin typeface="Courier New" pitchFamily="34" charset="0"/>
                <a:ea typeface="Courier New" pitchFamily="34" charset="-122"/>
                <a:cs typeface="Courier New" pitchFamily="34" charset="-120"/>
              </a:rPr>
              <a:t>●  </a:t>
            </a:r>
            <a:pPr algn="l" indent="0" marL="0">
              <a:lnSpc>
                <a:spcPts val="906"/>
              </a:lnSpc>
              <a:spcAft>
                <a:spcPts val="338"/>
              </a:spcAft>
              <a:buNone/>
            </a:pPr>
            <a:r>
              <a:rPr lang="en-US" sz="800" spc="6" kern="0" dirty="0">
                <a:solidFill>
                  <a:srgbClr val="C9C3B5"/>
                </a:solidFill>
                <a:latin typeface="Courier New" pitchFamily="34" charset="0"/>
                <a:ea typeface="Courier New" pitchFamily="34" charset="-122"/>
                <a:cs typeface="Courier New" pitchFamily="34" charset="-120"/>
              </a:rPr>
              <a:t>Reduction to pole, depth estimation</a:t>
            </a:r>
            <a:endParaRPr lang="en-US" sz="800" dirty="0"/>
          </a:p>
        </p:txBody>
      </p:sp>
      <p:pic>
        <p:nvPicPr>
          <p:cNvPr id="39" name="Image 2" descr="/tmp/h2p-svg-1786579670415-fu92fr.png">    </p:cNvPr>
          <p:cNvPicPr>
            <a:picLocks noChangeAspect="1"/>
          </p:cNvPicPr>
          <p:nvPr/>
        </p:nvPicPr>
        <p:blipFill>
          <a:blip r:embed="rId3"/>
          <a:stretch>
            <a:fillRect/>
          </a:stretch>
        </p:blipFill>
        <p:spPr>
          <a:xfrm>
            <a:off x="5332028" y="2664619"/>
            <a:ext cx="128588" cy="128588"/>
          </a:xfrm>
          <a:prstGeom prst="rect">
            <a:avLst/>
          </a:prstGeom>
        </p:spPr>
      </p:pic>
      <p:sp>
        <p:nvSpPr>
          <p:cNvPr id="40" name="Text 35"/>
          <p:cNvSpPr/>
          <p:nvPr/>
        </p:nvSpPr>
        <p:spPr>
          <a:xfrm>
            <a:off x="5460616" y="1628775"/>
            <a:ext cx="1520168" cy="2200275"/>
          </a:xfrm>
          <a:prstGeom prst="roundRect">
            <a:avLst>
              <a:gd name="adj" fmla="val 1880"/>
            </a:avLst>
          </a:prstGeom>
          <a:solidFill>
            <a:srgbClr val="1C2128"/>
          </a:solidFill>
          <a:ln/>
        </p:spPr>
        <p:txBody>
          <a:bodyPr wrap="square" rtlCol="0" anchor="ctr"/>
          <a:lstStyle/>
          <a:p>
            <a:pPr indent="0" marL="0">
              <a:buNone/>
            </a:pPr>
            <a:endParaRPr lang="en-US" dirty="0"/>
          </a:p>
        </p:txBody>
      </p:sp>
      <p:sp>
        <p:nvSpPr>
          <p:cNvPr id="41" name="Shape 36"/>
          <p:cNvSpPr/>
          <p:nvPr/>
        </p:nvSpPr>
        <p:spPr>
          <a:xfrm>
            <a:off x="5460616" y="1635919"/>
            <a:ext cx="1520168" cy="0"/>
          </a:xfrm>
          <a:prstGeom prst="line">
            <a:avLst/>
          </a:prstGeom>
          <a:noFill/>
          <a:ln w="14288">
            <a:solidFill>
              <a:srgbClr val="D4A24A"/>
            </a:solidFill>
            <a:prstDash val="solid"/>
          </a:ln>
        </p:spPr>
      </p:sp>
      <p:sp>
        <p:nvSpPr>
          <p:cNvPr id="42" name="Shape 37"/>
          <p:cNvSpPr/>
          <p:nvPr/>
        </p:nvSpPr>
        <p:spPr>
          <a:xfrm>
            <a:off x="6977211" y="1628775"/>
            <a:ext cx="0" cy="2200275"/>
          </a:xfrm>
          <a:prstGeom prst="line">
            <a:avLst/>
          </a:prstGeom>
          <a:noFill/>
          <a:ln w="7144">
            <a:solidFill>
              <a:srgbClr val="2A2F37"/>
            </a:solidFill>
            <a:prstDash val="solid"/>
          </a:ln>
        </p:spPr>
      </p:sp>
      <p:sp>
        <p:nvSpPr>
          <p:cNvPr id="43" name="Shape 38"/>
          <p:cNvSpPr/>
          <p:nvPr/>
        </p:nvSpPr>
        <p:spPr>
          <a:xfrm>
            <a:off x="5460616" y="3825478"/>
            <a:ext cx="1520168" cy="0"/>
          </a:xfrm>
          <a:prstGeom prst="line">
            <a:avLst/>
          </a:prstGeom>
          <a:noFill/>
          <a:ln w="7144">
            <a:solidFill>
              <a:srgbClr val="2A2F37"/>
            </a:solidFill>
            <a:prstDash val="solid"/>
          </a:ln>
        </p:spPr>
      </p:sp>
      <p:sp>
        <p:nvSpPr>
          <p:cNvPr id="44" name="Shape 39"/>
          <p:cNvSpPr/>
          <p:nvPr/>
        </p:nvSpPr>
        <p:spPr>
          <a:xfrm>
            <a:off x="5464187" y="1628775"/>
            <a:ext cx="0" cy="2200275"/>
          </a:xfrm>
          <a:prstGeom prst="line">
            <a:avLst/>
          </a:prstGeom>
          <a:noFill/>
          <a:ln w="7144">
            <a:solidFill>
              <a:srgbClr val="2A2F37"/>
            </a:solidFill>
            <a:prstDash val="solid"/>
          </a:ln>
        </p:spPr>
      </p:sp>
      <p:sp>
        <p:nvSpPr>
          <p:cNvPr id="45" name="Text 40"/>
          <p:cNvSpPr/>
          <p:nvPr/>
        </p:nvSpPr>
        <p:spPr>
          <a:xfrm>
            <a:off x="5582059" y="1771650"/>
            <a:ext cx="1277280" cy="133302"/>
          </a:xfrm>
          <a:prstGeom prst="rect">
            <a:avLst/>
          </a:prstGeom>
          <a:noFill/>
          <a:ln/>
        </p:spPr>
        <p:txBody>
          <a:bodyPr wrap="none" lIns="0" tIns="0" rIns="0" bIns="0" rtlCol="0" anchor="t">
            <a:normAutofit/>
          </a:bodyPr>
          <a:lstStyle/>
          <a:p>
            <a:pPr algn="l" indent="0" marL="0">
              <a:lnSpc>
                <a:spcPts val="928"/>
              </a:lnSpc>
              <a:buNone/>
            </a:pPr>
            <a:r>
              <a:rPr lang="en-US" sz="800" spc="111" kern="0" dirty="0">
                <a:solidFill>
                  <a:srgbClr val="D4A24A"/>
                </a:solidFill>
                <a:latin typeface="Liberation Sans Narrow" pitchFamily="34" charset="0"/>
                <a:ea typeface="Liberation Sans Narrow" pitchFamily="34" charset="-122"/>
                <a:cs typeface="Liberation Sans Narrow" pitchFamily="34" charset="-120"/>
              </a:rPr>
              <a:t>STAGE 04</a:t>
            </a:r>
            <a:endParaRPr lang="en-US" sz="800" dirty="0"/>
          </a:p>
        </p:txBody>
      </p:sp>
      <p:sp>
        <p:nvSpPr>
          <p:cNvPr id="46" name="Text 41"/>
          <p:cNvSpPr/>
          <p:nvPr/>
        </p:nvSpPr>
        <p:spPr>
          <a:xfrm>
            <a:off x="5582059" y="1932384"/>
            <a:ext cx="1277280" cy="186613"/>
          </a:xfrm>
          <a:prstGeom prst="rect">
            <a:avLst/>
          </a:prstGeom>
          <a:noFill/>
          <a:ln/>
        </p:spPr>
        <p:txBody>
          <a:bodyPr wrap="none" lIns="0" tIns="0" rIns="0" bIns="0" rtlCol="0" anchor="t"/>
          <a:lstStyle/>
          <a:p>
            <a:pPr algn="l" indent="0" marL="0">
              <a:lnSpc>
                <a:spcPts val="1361"/>
              </a:lnSpc>
              <a:buNone/>
            </a:pPr>
            <a:r>
              <a:rPr lang="en-US" sz="1238" spc="-6" kern="0" dirty="0">
                <a:solidFill>
                  <a:srgbClr val="F5F1E8"/>
                </a:solidFill>
                <a:latin typeface="Tinos" pitchFamily="34" charset="0"/>
                <a:ea typeface="Tinos" pitchFamily="34" charset="-122"/>
                <a:cs typeface="Tinos" pitchFamily="34" charset="-120"/>
              </a:rPr>
              <a:t>Score &amp; Rank</a:t>
            </a:r>
            <a:endParaRPr lang="en-US" sz="1238" dirty="0"/>
          </a:p>
        </p:txBody>
      </p:sp>
      <p:sp>
        <p:nvSpPr>
          <p:cNvPr id="47" name="Text 42"/>
          <p:cNvSpPr/>
          <p:nvPr/>
        </p:nvSpPr>
        <p:spPr>
          <a:xfrm>
            <a:off x="5582059" y="2176611"/>
            <a:ext cx="1353917" cy="318106"/>
          </a:xfrm>
          <a:prstGeom prst="rect">
            <a:avLst/>
          </a:prstGeom>
          <a:noFill/>
          <a:ln/>
        </p:spPr>
        <p:txBody>
          <a:bodyPr wrap="square" lIns="0" tIns="0" rIns="0" bIns="0" rtlCol="0" anchor="t"/>
          <a:lstStyle/>
          <a:p>
            <a:pPr algn="l" indent="0" marL="0">
              <a:lnSpc>
                <a:spcPts val="1060"/>
              </a:lnSpc>
              <a:buNone/>
            </a:pPr>
            <a:r>
              <a:rPr lang="en-US" sz="800" dirty="0">
                <a:solidFill>
                  <a:srgbClr val="C9C3B5"/>
                </a:solidFill>
                <a:latin typeface="Carlito" pitchFamily="34" charset="0"/>
                <a:ea typeface="Carlito" pitchFamily="34" charset="-122"/>
                <a:cs typeface="Carlito" pitchFamily="34" charset="-120"/>
              </a:rPr>
              <a:t>Weighted deposit model over the evidence grid.</a:t>
            </a:r>
            <a:endParaRPr lang="en-US" sz="800" dirty="0"/>
          </a:p>
        </p:txBody>
      </p:sp>
      <p:sp>
        <p:nvSpPr>
          <p:cNvPr id="48" name="Text 43"/>
          <p:cNvSpPr/>
          <p:nvPr/>
        </p:nvSpPr>
        <p:spPr>
          <a:xfrm>
            <a:off x="5582059" y="2531566"/>
            <a:ext cx="1277280" cy="7144"/>
          </a:xfrm>
          <a:prstGeom prst="rect">
            <a:avLst/>
          </a:prstGeom>
          <a:solidFill>
            <a:srgbClr val="2A2F37"/>
          </a:solidFill>
          <a:ln/>
        </p:spPr>
        <p:txBody>
          <a:bodyPr wrap="square" rtlCol="0" anchor="ctr"/>
          <a:lstStyle/>
          <a:p>
            <a:pPr indent="0" marL="0">
              <a:buNone/>
            </a:pPr>
            <a:endParaRPr lang="en-US" dirty="0"/>
          </a:p>
        </p:txBody>
      </p:sp>
      <p:sp>
        <p:nvSpPr>
          <p:cNvPr id="49" name="Text 44"/>
          <p:cNvSpPr/>
          <p:nvPr/>
        </p:nvSpPr>
        <p:spPr>
          <a:xfrm>
            <a:off x="5582059" y="2610148"/>
            <a:ext cx="1277280" cy="1206169"/>
          </a:xfrm>
          <a:prstGeom prst="rect">
            <a:avLst/>
          </a:prstGeom>
          <a:noFill/>
          <a:ln/>
        </p:spPr>
        <p:txBody>
          <a:bodyPr wrap="square" lIns="0" tIns="0" rIns="0" bIns="0" rtlCol="0" anchor="t"/>
          <a:lstStyle/>
          <a:p>
            <a:pPr algn="l" indent="0" marL="0">
              <a:lnSpc>
                <a:spcPts val="906"/>
              </a:lnSpc>
              <a:spcAft>
                <a:spcPts val="338"/>
              </a:spcAft>
              <a:buNone/>
            </a:pPr>
            <a:r>
              <a:rPr lang="en-US" sz="600" spc="6" kern="0" dirty="0">
                <a:solidFill>
                  <a:srgbClr val="D4A24A"/>
                </a:solidFill>
                <a:latin typeface="Courier New" pitchFamily="34" charset="0"/>
                <a:ea typeface="Courier New" pitchFamily="34" charset="-122"/>
                <a:cs typeface="Courier New" pitchFamily="34" charset="-120"/>
              </a:rPr>
              <a:t>●  </a:t>
            </a:r>
            <a:pPr algn="l" indent="0" marL="0">
              <a:lnSpc>
                <a:spcPts val="906"/>
              </a:lnSpc>
              <a:spcAft>
                <a:spcPts val="338"/>
              </a:spcAft>
              <a:buNone/>
            </a:pPr>
            <a:r>
              <a:rPr lang="en-US" sz="800" spc="6" kern="0" dirty="0">
                <a:solidFill>
                  <a:srgbClr val="C9C3B5"/>
                </a:solidFill>
                <a:latin typeface="Liberation Sans Narrow" pitchFamily="34" charset="0"/>
                <a:ea typeface="Liberation Sans Narrow" pitchFamily="34" charset="-122"/>
                <a:cs typeface="Liberation Sans Narrow" pitchFamily="34" charset="-120"/>
              </a:rPr>
              <a:t>Score per cell, 0–100</a:t>
            </a:r>
            <a:endParaRPr lang="en-US" sz="800" dirty="0"/>
          </a:p>
          <a:p>
            <a:pPr algn="l" indent="0" marL="0">
              <a:lnSpc>
                <a:spcPts val="906"/>
              </a:lnSpc>
              <a:spcAft>
                <a:spcPts val="338"/>
              </a:spcAft>
              <a:buNone/>
            </a:pPr>
            <a:r>
              <a:rPr lang="en-US" sz="600" spc="6" kern="0" dirty="0">
                <a:solidFill>
                  <a:srgbClr val="D4A24A"/>
                </a:solidFill>
                <a:latin typeface="Courier New" pitchFamily="34" charset="0"/>
                <a:ea typeface="Courier New" pitchFamily="34" charset="-122"/>
                <a:cs typeface="Courier New" pitchFamily="34" charset="-120"/>
              </a:rPr>
              <a:t>●  </a:t>
            </a:r>
            <a:pPr algn="l" indent="0" marL="0">
              <a:lnSpc>
                <a:spcPts val="906"/>
              </a:lnSpc>
              <a:spcAft>
                <a:spcPts val="338"/>
              </a:spcAft>
              <a:buNone/>
            </a:pPr>
            <a:r>
              <a:rPr lang="en-US" sz="800" spc="6" kern="0" dirty="0">
                <a:solidFill>
                  <a:srgbClr val="C9C3B5"/>
                </a:solidFill>
                <a:latin typeface="Courier New" pitchFamily="34" charset="0"/>
                <a:ea typeface="Courier New" pitchFamily="34" charset="-122"/>
                <a:cs typeface="Courier New" pitchFamily="34" charset="-120"/>
              </a:rPr>
              <a:t>Clustered to distinct targets</a:t>
            </a:r>
            <a:endParaRPr lang="en-US" sz="800" dirty="0"/>
          </a:p>
          <a:p>
            <a:pPr algn="l" indent="0" marL="0">
              <a:lnSpc>
                <a:spcPts val="906"/>
              </a:lnSpc>
              <a:spcAft>
                <a:spcPts val="338"/>
              </a:spcAft>
              <a:buNone/>
            </a:pPr>
            <a:r>
              <a:rPr lang="en-US" sz="600" spc="6" kern="0" dirty="0">
                <a:solidFill>
                  <a:srgbClr val="D4A24A"/>
                </a:solidFill>
                <a:latin typeface="Courier New" pitchFamily="34" charset="0"/>
                <a:ea typeface="Courier New" pitchFamily="34" charset="-122"/>
                <a:cs typeface="Courier New" pitchFamily="34" charset="-120"/>
              </a:rPr>
              <a:t>●  </a:t>
            </a:r>
            <a:pPr algn="l" indent="0" marL="0">
              <a:lnSpc>
                <a:spcPts val="906"/>
              </a:lnSpc>
              <a:spcAft>
                <a:spcPts val="338"/>
              </a:spcAft>
              <a:buNone/>
            </a:pPr>
            <a:r>
              <a:rPr lang="en-US" sz="800" spc="6" kern="0" dirty="0">
                <a:solidFill>
                  <a:srgbClr val="C9C3B5"/>
                </a:solidFill>
                <a:latin typeface="Courier New" pitchFamily="34" charset="0"/>
                <a:ea typeface="Courier New" pitchFamily="34" charset="-122"/>
                <a:cs typeface="Courier New" pitchFamily="34" charset="-120"/>
              </a:rPr>
              <a:t>Evidence contribution per target</a:t>
            </a:r>
            <a:endParaRPr lang="en-US" sz="800" dirty="0"/>
          </a:p>
        </p:txBody>
      </p:sp>
      <p:pic>
        <p:nvPicPr>
          <p:cNvPr id="50" name="Image 3" descr="/tmp/h2p-svg-1786579670415-ocll0k.png">    </p:cNvPr>
          <p:cNvPicPr>
            <a:picLocks noChangeAspect="1"/>
          </p:cNvPicPr>
          <p:nvPr/>
        </p:nvPicPr>
        <p:blipFill>
          <a:blip r:embed="rId4"/>
          <a:stretch>
            <a:fillRect/>
          </a:stretch>
        </p:blipFill>
        <p:spPr>
          <a:xfrm>
            <a:off x="6980783" y="2664619"/>
            <a:ext cx="128588" cy="128588"/>
          </a:xfrm>
          <a:prstGeom prst="rect">
            <a:avLst/>
          </a:prstGeom>
        </p:spPr>
      </p:pic>
      <p:sp>
        <p:nvSpPr>
          <p:cNvPr id="51" name="Text 45"/>
          <p:cNvSpPr/>
          <p:nvPr/>
        </p:nvSpPr>
        <p:spPr>
          <a:xfrm>
            <a:off x="7109371" y="1628775"/>
            <a:ext cx="1520279" cy="2200275"/>
          </a:xfrm>
          <a:prstGeom prst="roundRect">
            <a:avLst>
              <a:gd name="adj" fmla="val 1880"/>
            </a:avLst>
          </a:prstGeom>
          <a:solidFill>
            <a:srgbClr val="1C2128"/>
          </a:solidFill>
          <a:ln/>
        </p:spPr>
        <p:txBody>
          <a:bodyPr wrap="square" rtlCol="0" anchor="ctr"/>
          <a:lstStyle/>
          <a:p>
            <a:pPr indent="0" marL="0">
              <a:buNone/>
            </a:pPr>
            <a:endParaRPr lang="en-US" dirty="0"/>
          </a:p>
        </p:txBody>
      </p:sp>
      <p:sp>
        <p:nvSpPr>
          <p:cNvPr id="52" name="Shape 46"/>
          <p:cNvSpPr/>
          <p:nvPr/>
        </p:nvSpPr>
        <p:spPr>
          <a:xfrm>
            <a:off x="7109371" y="1635919"/>
            <a:ext cx="1520279" cy="0"/>
          </a:xfrm>
          <a:prstGeom prst="line">
            <a:avLst/>
          </a:prstGeom>
          <a:noFill/>
          <a:ln w="14288">
            <a:solidFill>
              <a:srgbClr val="D4A24A"/>
            </a:solidFill>
            <a:prstDash val="solid"/>
          </a:ln>
        </p:spPr>
      </p:sp>
      <p:sp>
        <p:nvSpPr>
          <p:cNvPr id="53" name="Shape 47"/>
          <p:cNvSpPr/>
          <p:nvPr/>
        </p:nvSpPr>
        <p:spPr>
          <a:xfrm>
            <a:off x="8626078" y="1628775"/>
            <a:ext cx="0" cy="2200275"/>
          </a:xfrm>
          <a:prstGeom prst="line">
            <a:avLst/>
          </a:prstGeom>
          <a:noFill/>
          <a:ln w="7144">
            <a:solidFill>
              <a:srgbClr val="2A2F37"/>
            </a:solidFill>
            <a:prstDash val="solid"/>
          </a:ln>
        </p:spPr>
      </p:sp>
      <p:sp>
        <p:nvSpPr>
          <p:cNvPr id="54" name="Shape 48"/>
          <p:cNvSpPr/>
          <p:nvPr/>
        </p:nvSpPr>
        <p:spPr>
          <a:xfrm>
            <a:off x="7109371" y="3825478"/>
            <a:ext cx="1520279" cy="0"/>
          </a:xfrm>
          <a:prstGeom prst="line">
            <a:avLst/>
          </a:prstGeom>
          <a:noFill/>
          <a:ln w="7144">
            <a:solidFill>
              <a:srgbClr val="2A2F37"/>
            </a:solidFill>
            <a:prstDash val="solid"/>
          </a:ln>
        </p:spPr>
      </p:sp>
      <p:sp>
        <p:nvSpPr>
          <p:cNvPr id="55" name="Shape 49"/>
          <p:cNvSpPr/>
          <p:nvPr/>
        </p:nvSpPr>
        <p:spPr>
          <a:xfrm>
            <a:off x="7112943" y="1628775"/>
            <a:ext cx="0" cy="2200275"/>
          </a:xfrm>
          <a:prstGeom prst="line">
            <a:avLst/>
          </a:prstGeom>
          <a:noFill/>
          <a:ln w="7144">
            <a:solidFill>
              <a:srgbClr val="2A2F37"/>
            </a:solidFill>
            <a:prstDash val="solid"/>
          </a:ln>
        </p:spPr>
      </p:sp>
      <p:sp>
        <p:nvSpPr>
          <p:cNvPr id="56" name="Text 50"/>
          <p:cNvSpPr/>
          <p:nvPr/>
        </p:nvSpPr>
        <p:spPr>
          <a:xfrm>
            <a:off x="7230814" y="1771650"/>
            <a:ext cx="1277392" cy="133302"/>
          </a:xfrm>
          <a:prstGeom prst="rect">
            <a:avLst/>
          </a:prstGeom>
          <a:noFill/>
          <a:ln/>
        </p:spPr>
        <p:txBody>
          <a:bodyPr wrap="none" lIns="0" tIns="0" rIns="0" bIns="0" rtlCol="0" anchor="t">
            <a:normAutofit/>
          </a:bodyPr>
          <a:lstStyle/>
          <a:p>
            <a:pPr algn="l" indent="0" marL="0">
              <a:lnSpc>
                <a:spcPts val="928"/>
              </a:lnSpc>
              <a:buNone/>
            </a:pPr>
            <a:r>
              <a:rPr lang="en-US" sz="800" spc="111" kern="0" dirty="0">
                <a:solidFill>
                  <a:srgbClr val="D4A24A"/>
                </a:solidFill>
                <a:latin typeface="Liberation Sans Narrow" pitchFamily="34" charset="0"/>
                <a:ea typeface="Liberation Sans Narrow" pitchFamily="34" charset="-122"/>
                <a:cs typeface="Liberation Sans Narrow" pitchFamily="34" charset="-120"/>
              </a:rPr>
              <a:t>STAGE 05</a:t>
            </a:r>
            <a:endParaRPr lang="en-US" sz="800" dirty="0"/>
          </a:p>
        </p:txBody>
      </p:sp>
      <p:sp>
        <p:nvSpPr>
          <p:cNvPr id="57" name="Text 51"/>
          <p:cNvSpPr/>
          <p:nvPr/>
        </p:nvSpPr>
        <p:spPr>
          <a:xfrm>
            <a:off x="7230814" y="1932384"/>
            <a:ext cx="1277392" cy="186613"/>
          </a:xfrm>
          <a:prstGeom prst="rect">
            <a:avLst/>
          </a:prstGeom>
          <a:noFill/>
          <a:ln/>
        </p:spPr>
        <p:txBody>
          <a:bodyPr wrap="none" lIns="0" tIns="0" rIns="0" bIns="0" rtlCol="0" anchor="t"/>
          <a:lstStyle/>
          <a:p>
            <a:pPr algn="l" indent="0" marL="0">
              <a:lnSpc>
                <a:spcPts val="1361"/>
              </a:lnSpc>
              <a:buNone/>
            </a:pPr>
            <a:r>
              <a:rPr lang="en-US" sz="1238" spc="-6" kern="0" dirty="0">
                <a:solidFill>
                  <a:srgbClr val="F5F1E8"/>
                </a:solidFill>
                <a:latin typeface="Tinos" pitchFamily="34" charset="0"/>
                <a:ea typeface="Tinos" pitchFamily="34" charset="-122"/>
                <a:cs typeface="Tinos" pitchFamily="34" charset="-120"/>
              </a:rPr>
              <a:t>Explain &amp; Export</a:t>
            </a:r>
            <a:endParaRPr lang="en-US" sz="1238" dirty="0"/>
          </a:p>
        </p:txBody>
      </p:sp>
      <p:sp>
        <p:nvSpPr>
          <p:cNvPr id="58" name="Text 52"/>
          <p:cNvSpPr/>
          <p:nvPr/>
        </p:nvSpPr>
        <p:spPr>
          <a:xfrm>
            <a:off x="7230814" y="2176611"/>
            <a:ext cx="1354035" cy="318106"/>
          </a:xfrm>
          <a:prstGeom prst="rect">
            <a:avLst/>
          </a:prstGeom>
          <a:noFill/>
          <a:ln/>
        </p:spPr>
        <p:txBody>
          <a:bodyPr wrap="square" lIns="0" tIns="0" rIns="0" bIns="0" rtlCol="0" anchor="t"/>
          <a:lstStyle/>
          <a:p>
            <a:pPr algn="l" indent="0" marL="0">
              <a:lnSpc>
                <a:spcPts val="1060"/>
              </a:lnSpc>
              <a:buNone/>
            </a:pPr>
            <a:r>
              <a:rPr lang="en-US" sz="800" dirty="0">
                <a:solidFill>
                  <a:srgbClr val="C9C3B5"/>
                </a:solidFill>
                <a:latin typeface="Carlito" pitchFamily="34" charset="0"/>
                <a:ea typeface="Carlito" pitchFamily="34" charset="-122"/>
                <a:cs typeface="Carlito" pitchFamily="34" charset="-120"/>
              </a:rPr>
              <a:t>Something you can act on and defend.</a:t>
            </a:r>
            <a:endParaRPr lang="en-US" sz="800" dirty="0"/>
          </a:p>
        </p:txBody>
      </p:sp>
      <p:sp>
        <p:nvSpPr>
          <p:cNvPr id="59" name="Text 53"/>
          <p:cNvSpPr/>
          <p:nvPr/>
        </p:nvSpPr>
        <p:spPr>
          <a:xfrm>
            <a:off x="7230814" y="2531566"/>
            <a:ext cx="1277392" cy="7144"/>
          </a:xfrm>
          <a:prstGeom prst="rect">
            <a:avLst/>
          </a:prstGeom>
          <a:solidFill>
            <a:srgbClr val="2A2F37"/>
          </a:solidFill>
          <a:ln/>
        </p:spPr>
        <p:txBody>
          <a:bodyPr wrap="square" rtlCol="0" anchor="ctr"/>
          <a:lstStyle/>
          <a:p>
            <a:pPr indent="0" marL="0">
              <a:buNone/>
            </a:pPr>
            <a:endParaRPr lang="en-US" dirty="0"/>
          </a:p>
        </p:txBody>
      </p:sp>
      <p:sp>
        <p:nvSpPr>
          <p:cNvPr id="60" name="Text 54"/>
          <p:cNvSpPr/>
          <p:nvPr/>
        </p:nvSpPr>
        <p:spPr>
          <a:xfrm>
            <a:off x="7230814" y="2610148"/>
            <a:ext cx="1277392" cy="1206169"/>
          </a:xfrm>
          <a:prstGeom prst="rect">
            <a:avLst/>
          </a:prstGeom>
          <a:noFill/>
          <a:ln/>
        </p:spPr>
        <p:txBody>
          <a:bodyPr wrap="square" lIns="0" tIns="0" rIns="0" bIns="0" rtlCol="0" anchor="t"/>
          <a:lstStyle/>
          <a:p>
            <a:pPr algn="l" indent="0" marL="0">
              <a:lnSpc>
                <a:spcPts val="906"/>
              </a:lnSpc>
              <a:spcAft>
                <a:spcPts val="338"/>
              </a:spcAft>
              <a:buNone/>
            </a:pPr>
            <a:r>
              <a:rPr lang="en-US" sz="600" spc="6" kern="0" dirty="0">
                <a:solidFill>
                  <a:srgbClr val="D4A24A"/>
                </a:solidFill>
                <a:latin typeface="Courier New" pitchFamily="34" charset="0"/>
                <a:ea typeface="Courier New" pitchFamily="34" charset="-122"/>
                <a:cs typeface="Courier New" pitchFamily="34" charset="-120"/>
              </a:rPr>
              <a:t>●  </a:t>
            </a:r>
            <a:pPr algn="l" indent="0" marL="0">
              <a:lnSpc>
                <a:spcPts val="906"/>
              </a:lnSpc>
              <a:spcAft>
                <a:spcPts val="338"/>
              </a:spcAft>
              <a:buNone/>
            </a:pPr>
            <a:r>
              <a:rPr lang="en-US" sz="800" spc="6" kern="0" dirty="0">
                <a:solidFill>
                  <a:srgbClr val="C9C3B5"/>
                </a:solidFill>
                <a:latin typeface="Courier New" pitchFamily="34" charset="0"/>
                <a:ea typeface="Courier New" pitchFamily="34" charset="-122"/>
                <a:cs typeface="Courier New" pitchFamily="34" charset="-120"/>
              </a:rPr>
              <a:t>Reports by audience persona</a:t>
            </a:r>
            <a:endParaRPr lang="en-US" sz="800" dirty="0"/>
          </a:p>
          <a:p>
            <a:pPr algn="l" indent="0" marL="0">
              <a:lnSpc>
                <a:spcPts val="906"/>
              </a:lnSpc>
              <a:spcAft>
                <a:spcPts val="338"/>
              </a:spcAft>
              <a:buNone/>
            </a:pPr>
            <a:r>
              <a:rPr lang="en-US" sz="600" spc="6" kern="0" dirty="0">
                <a:solidFill>
                  <a:srgbClr val="D4A24A"/>
                </a:solidFill>
                <a:latin typeface="Courier New" pitchFamily="34" charset="0"/>
                <a:ea typeface="Courier New" pitchFamily="34" charset="-122"/>
                <a:cs typeface="Courier New" pitchFamily="34" charset="-120"/>
              </a:rPr>
              <a:t>●  </a:t>
            </a:r>
            <a:pPr algn="l" indent="0" marL="0">
              <a:lnSpc>
                <a:spcPts val="906"/>
              </a:lnSpc>
              <a:spcAft>
                <a:spcPts val="338"/>
              </a:spcAft>
              <a:buNone/>
            </a:pPr>
            <a:r>
              <a:rPr lang="en-US" sz="800" spc="6" kern="0" dirty="0">
                <a:solidFill>
                  <a:srgbClr val="C9C3B5"/>
                </a:solidFill>
                <a:latin typeface="Courier New" pitchFamily="34" charset="0"/>
                <a:ea typeface="Courier New" pitchFamily="34" charset="-122"/>
                <a:cs typeface="Courier New" pitchFamily="34" charset="-120"/>
              </a:rPr>
              <a:t>PDF, CSV, KML, shapefile</a:t>
            </a:r>
            <a:endParaRPr lang="en-US" sz="800" dirty="0"/>
          </a:p>
          <a:p>
            <a:pPr algn="l" indent="0" marL="0">
              <a:lnSpc>
                <a:spcPts val="906"/>
              </a:lnSpc>
              <a:spcAft>
                <a:spcPts val="338"/>
              </a:spcAft>
              <a:buNone/>
            </a:pPr>
            <a:r>
              <a:rPr lang="en-US" sz="600" spc="6" kern="0" dirty="0">
                <a:solidFill>
                  <a:srgbClr val="D4A24A"/>
                </a:solidFill>
                <a:latin typeface="Courier New" pitchFamily="34" charset="0"/>
                <a:ea typeface="Courier New" pitchFamily="34" charset="-122"/>
                <a:cs typeface="Courier New" pitchFamily="34" charset="-120"/>
              </a:rPr>
              <a:t>●  </a:t>
            </a:r>
            <a:pPr algn="l" indent="0" marL="0">
              <a:lnSpc>
                <a:spcPts val="906"/>
              </a:lnSpc>
              <a:spcAft>
                <a:spcPts val="338"/>
              </a:spcAft>
              <a:buNone/>
            </a:pPr>
            <a:r>
              <a:rPr lang="en-US" sz="800" spc="6" kern="0" dirty="0">
                <a:solidFill>
                  <a:srgbClr val="C9C3B5"/>
                </a:solidFill>
                <a:latin typeface="Courier New" pitchFamily="34" charset="0"/>
                <a:ea typeface="Courier New" pitchFamily="34" charset="-122"/>
                <a:cs typeface="Courier New" pitchFamily="34" charset="-120"/>
              </a:rPr>
              <a:t>Full lineage per layer and target</a:t>
            </a:r>
            <a:endParaRPr lang="en-US" sz="800" dirty="0"/>
          </a:p>
        </p:txBody>
      </p:sp>
      <p:sp>
        <p:nvSpPr>
          <p:cNvPr id="61" name="Text 55"/>
          <p:cNvSpPr/>
          <p:nvPr/>
        </p:nvSpPr>
        <p:spPr>
          <a:xfrm>
            <a:off x="517922" y="3989784"/>
            <a:ext cx="8108156" cy="307181"/>
          </a:xfrm>
          <a:prstGeom prst="roundRect">
            <a:avLst>
              <a:gd name="adj" fmla="val 9302"/>
            </a:avLst>
          </a:prstGeom>
          <a:solidFill>
            <a:srgbClr val="D4A24A">
              <a:alpha val="6000"/>
            </a:srgbClr>
          </a:solidFill>
          <a:ln w="7144">
            <a:solidFill>
              <a:srgbClr val="D4A24A"/>
            </a:solidFill>
            <a:prstDash val="solid"/>
          </a:ln>
        </p:spPr>
        <p:txBody>
          <a:bodyPr wrap="square" rtlCol="0" anchor="ctr"/>
          <a:lstStyle/>
          <a:p>
            <a:pPr indent="0" marL="0">
              <a:buNone/>
            </a:pPr>
            <a:endParaRPr lang="en-US" dirty="0"/>
          </a:p>
        </p:txBody>
      </p:sp>
      <p:sp>
        <p:nvSpPr>
          <p:cNvPr id="62" name="Text 56"/>
          <p:cNvSpPr/>
          <p:nvPr/>
        </p:nvSpPr>
        <p:spPr>
          <a:xfrm>
            <a:off x="664369" y="4079081"/>
            <a:ext cx="128588" cy="128588"/>
          </a:xfrm>
          <a:prstGeom prst="rect">
            <a:avLst/>
          </a:prstGeom>
          <a:noFill/>
          <a:ln/>
        </p:spPr>
        <p:txBody>
          <a:bodyPr wrap="none" lIns="0" tIns="0" rIns="0" bIns="0" rtlCol="0" anchor="ctr"/>
          <a:lstStyle/>
          <a:p>
            <a:pPr algn="ctr" indent="0" marL="0">
              <a:buNone/>
            </a:pPr>
            <a:r>
              <a:rPr lang="en-US" sz="1266" dirty="0">
                <a:solidFill>
                  <a:srgbClr val="D4A24A"/>
                </a:solidFill>
                <a:latin typeface="Segoe UI Symbol" pitchFamily="34" charset="0"/>
                <a:ea typeface="Segoe UI Symbol" pitchFamily="34" charset="-122"/>
                <a:cs typeface="Segoe UI Symbol" pitchFamily="34" charset="-120"/>
              </a:rPr>
              <a:t>⌘</a:t>
            </a:r>
            <a:endParaRPr lang="en-US" sz="1266" dirty="0"/>
          </a:p>
        </p:txBody>
      </p:sp>
      <p:sp>
        <p:nvSpPr>
          <p:cNvPr id="63" name="Text 57"/>
          <p:cNvSpPr/>
          <p:nvPr/>
        </p:nvSpPr>
        <p:spPr>
          <a:xfrm>
            <a:off x="892969" y="4079081"/>
            <a:ext cx="7586663" cy="128588"/>
          </a:xfrm>
          <a:prstGeom prst="rect">
            <a:avLst/>
          </a:prstGeom>
          <a:noFill/>
          <a:ln/>
        </p:spPr>
        <p:txBody>
          <a:bodyPr wrap="square" lIns="0" tIns="0" rIns="0" bIns="0" rtlCol="0" anchor="t"/>
          <a:lstStyle/>
          <a:p>
            <a:pPr algn="l" indent="0" marL="0">
              <a:lnSpc>
                <a:spcPts val="1013"/>
              </a:lnSpc>
              <a:buNone/>
            </a:pPr>
            <a:r>
              <a:rPr lang="en-US" sz="800" spc="122" kern="0" dirty="0">
                <a:solidFill>
                  <a:srgbClr val="F5F1E8"/>
                </a:solidFill>
                <a:latin typeface="Courier New" pitchFamily="34" charset="0"/>
                <a:ea typeface="Courier New" pitchFamily="34" charset="-122"/>
                <a:cs typeface="Courier New" pitchFamily="34" charset="-120"/>
              </a:rPr>
              <a:t>PROVENANCE WRITTEN AT EVERY STAGE</a:t>
            </a:r>
            <a:pPr algn="l" indent="0" marL="0">
              <a:lnSpc>
                <a:spcPts val="1013"/>
              </a:lnSpc>
              <a:buNone/>
            </a:pPr>
            <a:r>
              <a:rPr lang="en-US" sz="800" spc="122" kern="0" dirty="0">
                <a:solidFill>
                  <a:srgbClr val="D4A24A"/>
                </a:solidFill>
                <a:latin typeface="Courier New" pitchFamily="34" charset="0"/>
                <a:ea typeface="Courier New" pitchFamily="34" charset="-122"/>
                <a:cs typeface="Courier New" pitchFamily="34" charset="-120"/>
              </a:rPr>
              <a:t>→</a:t>
            </a:r>
            <a:pPr algn="l" indent="0" marL="0">
              <a:lnSpc>
                <a:spcPts val="1013"/>
              </a:lnSpc>
              <a:buNone/>
            </a:pPr>
            <a:r>
              <a:rPr lang="en-US" sz="800" spc="122" kern="0" dirty="0">
                <a:solidFill>
                  <a:srgbClr val="F5F1E8"/>
                </a:solidFill>
                <a:latin typeface="Courier New" pitchFamily="34" charset="0"/>
                <a:ea typeface="Courier New" pitchFamily="34" charset="-122"/>
                <a:cs typeface="Courier New" pitchFamily="34" charset="-120"/>
              </a:rPr>
              <a:t>LAST STAGE CAN ANSWER FOR THE FIRST</a:t>
            </a:r>
            <a:endParaRPr lang="en-US" sz="800" dirty="0"/>
          </a:p>
        </p:txBody>
      </p:sp>
      <p:sp>
        <p:nvSpPr>
          <p:cNvPr id="64" name="Shape 58"/>
          <p:cNvSpPr/>
          <p:nvPr/>
        </p:nvSpPr>
        <p:spPr>
          <a:xfrm>
            <a:off x="514350" y="4736306"/>
            <a:ext cx="8115300" cy="0"/>
          </a:xfrm>
          <a:prstGeom prst="line">
            <a:avLst/>
          </a:prstGeom>
          <a:noFill/>
          <a:ln w="7144">
            <a:solidFill>
              <a:srgbClr val="2A2F37"/>
            </a:solidFill>
            <a:prstDash val="solid"/>
          </a:ln>
        </p:spPr>
      </p:sp>
      <p:sp>
        <p:nvSpPr>
          <p:cNvPr id="65" name="Text 59"/>
          <p:cNvSpPr/>
          <p:nvPr/>
        </p:nvSpPr>
        <p:spPr>
          <a:xfrm>
            <a:off x="514350" y="4825603"/>
            <a:ext cx="7748960" cy="117872"/>
          </a:xfrm>
          <a:prstGeom prst="rect">
            <a:avLst/>
          </a:prstGeom>
          <a:noFill/>
          <a:ln/>
        </p:spPr>
        <p:txBody>
          <a:bodyPr wrap="square" lIns="0" tIns="0" rIns="0" bIns="0" rtlCol="0" anchor="t"/>
          <a:lstStyle/>
          <a:p>
            <a:pPr algn="l" indent="0" marL="0">
              <a:lnSpc>
                <a:spcPts val="928"/>
              </a:lnSpc>
              <a:buNone/>
            </a:pPr>
            <a:r>
              <a:rPr lang="en-US" sz="800" spc="87" kern="0" dirty="0">
                <a:solidFill>
                  <a:srgbClr val="8A8576"/>
                </a:solidFill>
                <a:latin typeface="Courier New" pitchFamily="34" charset="0"/>
                <a:ea typeface="Courier New" pitchFamily="34" charset="-122"/>
                <a:cs typeface="Courier New" pitchFamily="34" charset="-120"/>
              </a:rPr>
              <a:t>PIPELINE — 5 STAGES, ONE PROVENANCE CHAIN</a:t>
            </a:r>
            <a:endParaRPr lang="en-US" sz="800" dirty="0"/>
          </a:p>
        </p:txBody>
      </p:sp>
      <p:sp>
        <p:nvSpPr>
          <p:cNvPr id="66" name="Text 60"/>
          <p:cNvSpPr/>
          <p:nvPr/>
        </p:nvSpPr>
        <p:spPr>
          <a:xfrm>
            <a:off x="8277597" y="4825603"/>
            <a:ext cx="352053" cy="117872"/>
          </a:xfrm>
          <a:prstGeom prst="rect">
            <a:avLst/>
          </a:prstGeom>
          <a:noFill/>
          <a:ln/>
        </p:spPr>
        <p:txBody>
          <a:bodyPr wrap="none" lIns="0" tIns="0" rIns="0" bIns="0" rtlCol="0" anchor="t"/>
          <a:lstStyle/>
          <a:p>
            <a:pPr algn="l" indent="0" marL="0">
              <a:lnSpc>
                <a:spcPts val="928"/>
              </a:lnSpc>
              <a:buNone/>
            </a:pPr>
            <a:r>
              <a:rPr lang="en-US" sz="619" spc="87" kern="0" dirty="0">
                <a:solidFill>
                  <a:srgbClr val="8A8576"/>
                </a:solidFill>
                <a:latin typeface="Liberation Sans Narrow" pitchFamily="34" charset="0"/>
                <a:ea typeface="Liberation Sans Narrow" pitchFamily="34" charset="-122"/>
                <a:cs typeface="Liberation Sans Narrow" pitchFamily="34" charset="-120"/>
              </a:rPr>
              <a:t>06 / 12</a:t>
            </a:r>
            <a:endParaRPr lang="en-US" sz="619"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1115"/>
        </a:solidFill>
      </p:bgPr>
    </p:bg>
    <p:spTree>
      <p:nvGrpSpPr>
        <p:cNvPr id="1" name=""/>
        <p:cNvGrpSpPr/>
        <p:nvPr/>
      </p:nvGrpSpPr>
      <p:grpSpPr>
        <a:xfrm>
          <a:off x="0" y="0"/>
          <a:ext cx="0" cy="0"/>
          <a:chOff x="0" y="0"/>
          <a:chExt cx="0" cy="0"/>
        </a:xfrm>
      </p:grpSpPr>
      <p:sp>
        <p:nvSpPr>
          <p:cNvPr id="2" name="Text 0"/>
          <p:cNvSpPr/>
          <p:nvPr/>
        </p:nvSpPr>
        <p:spPr>
          <a:xfrm>
            <a:off x="514350" y="200025"/>
            <a:ext cx="2326933" cy="164592"/>
          </a:xfrm>
          <a:prstGeom prst="rect">
            <a:avLst/>
          </a:prstGeom>
          <a:noFill/>
          <a:ln/>
        </p:spPr>
        <p:txBody>
          <a:bodyPr wrap="square" lIns="0" tIns="0" rIns="0" bIns="0" rtlCol="0" anchor="t"/>
          <a:lstStyle/>
          <a:p>
            <a:pPr algn="l" indent="0" marL="0">
              <a:lnSpc>
                <a:spcPts val="928"/>
              </a:lnSpc>
              <a:buNone/>
            </a:pPr>
            <a:r>
              <a:rPr lang="en-US" sz="619" spc="111" kern="0" dirty="0">
                <a:solidFill>
                  <a:srgbClr val="8A8576"/>
                </a:solidFill>
                <a:latin typeface="Courier New" pitchFamily="34" charset="0"/>
                <a:ea typeface="Courier New" pitchFamily="34" charset="-122"/>
                <a:cs typeface="Courier New" pitchFamily="34" charset="-120"/>
              </a:rPr>
              <a:t>TERRAPULSE × GOLD FIELDS GHANA / 2026</a:t>
            </a:r>
            <a:endParaRPr lang="en-US" sz="619" dirty="0"/>
          </a:p>
        </p:txBody>
      </p:sp>
      <p:sp>
        <p:nvSpPr>
          <p:cNvPr id="3" name="Text 1"/>
          <p:cNvSpPr/>
          <p:nvPr/>
        </p:nvSpPr>
        <p:spPr>
          <a:xfrm>
            <a:off x="8299586" y="200025"/>
            <a:ext cx="474415" cy="164592"/>
          </a:xfrm>
          <a:prstGeom prst="rect">
            <a:avLst/>
          </a:prstGeom>
          <a:noFill/>
          <a:ln/>
        </p:spPr>
        <p:txBody>
          <a:bodyPr wrap="none" lIns="0" tIns="0" rIns="0" bIns="0" rtlCol="0" anchor="t"/>
          <a:lstStyle/>
          <a:p>
            <a:pPr algn="l" indent="0" marL="0">
              <a:lnSpc>
                <a:spcPts val="928"/>
              </a:lnSpc>
              <a:buNone/>
            </a:pPr>
            <a:r>
              <a:rPr lang="en-US" sz="800" spc="62" kern="0" dirty="0">
                <a:solidFill>
                  <a:srgbClr val="8A8576"/>
                </a:solidFill>
                <a:latin typeface="Liberation Sans Narrow" pitchFamily="34" charset="0"/>
                <a:ea typeface="Liberation Sans Narrow" pitchFamily="34" charset="-122"/>
                <a:cs typeface="Liberation Sans Narrow" pitchFamily="34" charset="-120"/>
              </a:rPr>
              <a:t>07 / 12</a:t>
            </a:r>
            <a:endParaRPr lang="en-US" sz="800" dirty="0"/>
          </a:p>
        </p:txBody>
      </p:sp>
      <p:sp>
        <p:nvSpPr>
          <p:cNvPr id="4" name="Text 2"/>
          <p:cNvSpPr/>
          <p:nvPr/>
        </p:nvSpPr>
        <p:spPr>
          <a:xfrm>
            <a:off x="514350" y="428625"/>
            <a:ext cx="8629650" cy="164592"/>
          </a:xfrm>
          <a:prstGeom prst="rect">
            <a:avLst/>
          </a:prstGeom>
          <a:noFill/>
          <a:ln/>
        </p:spPr>
        <p:txBody>
          <a:bodyPr wrap="none" lIns="0" tIns="0" rIns="0" bIns="0" rtlCol="0" anchor="t"/>
          <a:lstStyle/>
          <a:p>
            <a:pPr algn="l" indent="0" marL="0">
              <a:lnSpc>
                <a:spcPts val="928"/>
              </a:lnSpc>
              <a:buNone/>
            </a:pPr>
            <a:r>
              <a:rPr lang="en-US" sz="800" spc="136" kern="0" dirty="0">
                <a:solidFill>
                  <a:srgbClr val="D4A24A"/>
                </a:solidFill>
                <a:latin typeface="Liberation Sans Narrow" pitchFamily="34" charset="0"/>
                <a:ea typeface="Liberation Sans Narrow" pitchFamily="34" charset="-122"/>
                <a:cs typeface="Liberation Sans Narrow" pitchFamily="34" charset="-120"/>
              </a:rPr>
              <a:t>FEATURE GROUP 03 — THE MAP</a:t>
            </a:r>
            <a:endParaRPr lang="en-US" sz="800" dirty="0"/>
          </a:p>
        </p:txBody>
      </p:sp>
      <p:sp>
        <p:nvSpPr>
          <p:cNvPr id="5" name="Text 3"/>
          <p:cNvSpPr/>
          <p:nvPr/>
        </p:nvSpPr>
        <p:spPr>
          <a:xfrm>
            <a:off x="514350" y="632222"/>
            <a:ext cx="8629650" cy="333202"/>
          </a:xfrm>
          <a:prstGeom prst="rect">
            <a:avLst/>
          </a:prstGeom>
          <a:noFill/>
          <a:ln/>
        </p:spPr>
        <p:txBody>
          <a:bodyPr wrap="square" lIns="0" tIns="0" rIns="0" bIns="0" rtlCol="0" anchor="t"/>
          <a:lstStyle/>
          <a:p>
            <a:pPr algn="l" indent="0" marL="0">
              <a:lnSpc>
                <a:spcPts val="2430"/>
              </a:lnSpc>
              <a:buNone/>
            </a:pPr>
            <a:r>
              <a:rPr lang="en-US" sz="2250" spc="-23" kern="0" dirty="0">
                <a:solidFill>
                  <a:srgbClr val="F5F1E8"/>
                </a:solidFill>
                <a:latin typeface="Tinos" pitchFamily="34" charset="0"/>
                <a:ea typeface="Tinos" pitchFamily="34" charset="-122"/>
                <a:cs typeface="Tinos" pitchFamily="34" charset="-120"/>
              </a:rPr>
              <a:t>The map — where the evidence is read.</a:t>
            </a:r>
            <a:endParaRPr lang="en-US" sz="2250" dirty="0"/>
          </a:p>
        </p:txBody>
      </p:sp>
      <p:sp>
        <p:nvSpPr>
          <p:cNvPr id="6" name="Text 4"/>
          <p:cNvSpPr/>
          <p:nvPr/>
        </p:nvSpPr>
        <p:spPr>
          <a:xfrm>
            <a:off x="514350" y="997893"/>
            <a:ext cx="342900" cy="14288"/>
          </a:xfrm>
          <a:prstGeom prst="rect">
            <a:avLst/>
          </a:prstGeom>
          <a:solidFill>
            <a:srgbClr val="D4A24A"/>
          </a:solidFill>
          <a:ln/>
        </p:spPr>
        <p:txBody>
          <a:bodyPr wrap="square" rtlCol="0" anchor="ctr"/>
          <a:lstStyle/>
          <a:p>
            <a:pPr indent="0" marL="0">
              <a:buNone/>
            </a:pPr>
            <a:endParaRPr lang="en-US" dirty="0"/>
          </a:p>
        </p:txBody>
      </p:sp>
      <p:sp>
        <p:nvSpPr>
          <p:cNvPr id="7" name="Text 5"/>
          <p:cNvSpPr/>
          <p:nvPr/>
        </p:nvSpPr>
        <p:spPr>
          <a:xfrm>
            <a:off x="514350" y="1297930"/>
            <a:ext cx="3651796" cy="175022"/>
          </a:xfrm>
          <a:prstGeom prst="roundRect">
            <a:avLst>
              <a:gd name="adj" fmla="val 10884"/>
            </a:avLst>
          </a:prstGeom>
          <a:solidFill>
            <a:srgbClr val="B23A1F">
              <a:alpha val="10000"/>
            </a:srgbClr>
          </a:solidFill>
          <a:ln/>
        </p:spPr>
        <p:txBody>
          <a:bodyPr wrap="square" rtlCol="0" anchor="ctr"/>
          <a:lstStyle/>
          <a:p>
            <a:pPr indent="0" marL="0">
              <a:buNone/>
            </a:pPr>
            <a:endParaRPr lang="en-US" dirty="0"/>
          </a:p>
        </p:txBody>
      </p:sp>
      <p:sp>
        <p:nvSpPr>
          <p:cNvPr id="8" name="Shape 6"/>
          <p:cNvSpPr/>
          <p:nvPr/>
        </p:nvSpPr>
        <p:spPr>
          <a:xfrm>
            <a:off x="521494" y="1297930"/>
            <a:ext cx="0" cy="175022"/>
          </a:xfrm>
          <a:prstGeom prst="line">
            <a:avLst/>
          </a:prstGeom>
          <a:noFill/>
          <a:ln w="14288">
            <a:solidFill>
              <a:srgbClr val="B23A1F"/>
            </a:solidFill>
            <a:prstDash val="solid"/>
          </a:ln>
        </p:spPr>
      </p:sp>
      <p:sp>
        <p:nvSpPr>
          <p:cNvPr id="9" name="Text 7"/>
          <p:cNvSpPr/>
          <p:nvPr/>
        </p:nvSpPr>
        <p:spPr>
          <a:xfrm>
            <a:off x="514350" y="1297930"/>
            <a:ext cx="3651796" cy="175022"/>
          </a:xfrm>
          <a:prstGeom prst="rect">
            <a:avLst/>
          </a:prstGeom>
          <a:noFill/>
          <a:ln/>
        </p:spPr>
        <p:txBody>
          <a:bodyPr wrap="none" lIns="0" tIns="0" rIns="0" bIns="0" rtlCol="0" anchor="ctr"/>
          <a:lstStyle/>
          <a:p>
            <a:pPr algn="ctr" indent="0" marL="0">
              <a:lnSpc>
                <a:spcPts val="928"/>
              </a:lnSpc>
              <a:buNone/>
            </a:pPr>
            <a:r>
              <a:rPr lang="en-US" sz="800" spc="124" kern="0" dirty="0">
                <a:solidFill>
                  <a:srgbClr val="B23A1F"/>
                </a:solidFill>
                <a:latin typeface="Courier New" pitchFamily="34" charset="0"/>
                <a:ea typeface="Courier New" pitchFamily="34" charset="-122"/>
                <a:cs typeface="Courier New" pitchFamily="34" charset="-120"/>
              </a:rPr>
              <a:t>THE PROBLEM</a:t>
            </a:r>
            <a:endParaRPr lang="en-US" sz="800" dirty="0"/>
          </a:p>
        </p:txBody>
      </p:sp>
      <p:sp>
        <p:nvSpPr>
          <p:cNvPr id="10" name="Text 8"/>
          <p:cNvSpPr/>
          <p:nvPr/>
        </p:nvSpPr>
        <p:spPr>
          <a:xfrm>
            <a:off x="514350" y="1558677"/>
            <a:ext cx="3651796" cy="400470"/>
          </a:xfrm>
          <a:prstGeom prst="rect">
            <a:avLst/>
          </a:prstGeom>
          <a:noFill/>
          <a:ln/>
        </p:spPr>
        <p:txBody>
          <a:bodyPr wrap="square" lIns="0" tIns="0" rIns="0" bIns="0" rtlCol="0" anchor="t"/>
          <a:lstStyle/>
          <a:p>
            <a:pPr algn="l" indent="0" marL="0">
              <a:lnSpc>
                <a:spcPts val="1460"/>
              </a:lnSpc>
              <a:buNone/>
            </a:pPr>
            <a:r>
              <a:rPr lang="en-US" sz="1238" dirty="0">
                <a:solidFill>
                  <a:srgbClr val="F5F1E8"/>
                </a:solidFill>
                <a:latin typeface="Tinos" pitchFamily="34" charset="0"/>
                <a:ea typeface="Tinos" pitchFamily="34" charset="-122"/>
                <a:cs typeface="Tinos" pitchFamily="34" charset="-120"/>
              </a:rPr>
              <a:t>Layers in five different viewers, none of them speaking to each other.</a:t>
            </a:r>
            <a:endParaRPr lang="en-US" sz="1238" dirty="0"/>
          </a:p>
        </p:txBody>
      </p:sp>
      <p:sp>
        <p:nvSpPr>
          <p:cNvPr id="11" name="Text 9"/>
          <p:cNvSpPr/>
          <p:nvPr/>
        </p:nvSpPr>
        <p:spPr>
          <a:xfrm>
            <a:off x="514350" y="2029495"/>
            <a:ext cx="3651796" cy="715589"/>
          </a:xfrm>
          <a:prstGeom prst="rect">
            <a:avLst/>
          </a:prstGeom>
          <a:noFill/>
          <a:ln/>
        </p:spPr>
        <p:txBody>
          <a:bodyPr wrap="square" lIns="0" tIns="0" rIns="0" bIns="0" rtlCol="0" anchor="t"/>
          <a:lstStyle/>
          <a:p>
            <a:pPr algn="l" indent="0" marL="0">
              <a:lnSpc>
                <a:spcPts val="1305"/>
              </a:lnSpc>
              <a:buNone/>
            </a:pPr>
            <a:r>
              <a:rPr lang="en-US" sz="816" dirty="0">
                <a:solidFill>
                  <a:srgbClr val="C9C3B5"/>
                </a:solidFill>
                <a:latin typeface="Carlito" pitchFamily="34" charset="0"/>
                <a:ea typeface="Carlito" pitchFamily="34" charset="-122"/>
                <a:cs typeface="Carlito" pitchFamily="34" charset="-120"/>
              </a:rPr>
              <a:t>Magnetics in a geophysics package, geochem in a spreadsheet pivot, geology in a PDF, licence boundary in a GIS project file. The geologist keeps four windows open and a mental map of how they align. By the time the question is asked, the alignment was in someone’s head.</a:t>
            </a:r>
            <a:endParaRPr lang="en-US" sz="816" dirty="0"/>
          </a:p>
        </p:txBody>
      </p:sp>
      <p:sp>
        <p:nvSpPr>
          <p:cNvPr id="12" name="Text 10"/>
          <p:cNvSpPr/>
          <p:nvPr/>
        </p:nvSpPr>
        <p:spPr>
          <a:xfrm>
            <a:off x="4394746" y="1297930"/>
            <a:ext cx="4463393" cy="175022"/>
          </a:xfrm>
          <a:prstGeom prst="roundRect">
            <a:avLst>
              <a:gd name="adj" fmla="val 10884"/>
            </a:avLst>
          </a:prstGeom>
          <a:solidFill>
            <a:srgbClr val="D4A24A">
              <a:alpha val="10000"/>
            </a:srgbClr>
          </a:solidFill>
          <a:ln/>
        </p:spPr>
        <p:txBody>
          <a:bodyPr wrap="square" rtlCol="0" anchor="ctr"/>
          <a:lstStyle/>
          <a:p>
            <a:pPr indent="0" marL="0">
              <a:buNone/>
            </a:pPr>
            <a:endParaRPr lang="en-US" dirty="0"/>
          </a:p>
        </p:txBody>
      </p:sp>
      <p:sp>
        <p:nvSpPr>
          <p:cNvPr id="13" name="Shape 11"/>
          <p:cNvSpPr/>
          <p:nvPr/>
        </p:nvSpPr>
        <p:spPr>
          <a:xfrm>
            <a:off x="4401889" y="1297930"/>
            <a:ext cx="0" cy="175022"/>
          </a:xfrm>
          <a:prstGeom prst="line">
            <a:avLst/>
          </a:prstGeom>
          <a:noFill/>
          <a:ln w="14288">
            <a:solidFill>
              <a:srgbClr val="D4A24A"/>
            </a:solidFill>
            <a:prstDash val="solid"/>
          </a:ln>
        </p:spPr>
      </p:sp>
      <p:sp>
        <p:nvSpPr>
          <p:cNvPr id="14" name="Text 12"/>
          <p:cNvSpPr/>
          <p:nvPr/>
        </p:nvSpPr>
        <p:spPr>
          <a:xfrm>
            <a:off x="4394746" y="1297930"/>
            <a:ext cx="4463393" cy="175022"/>
          </a:xfrm>
          <a:prstGeom prst="rect">
            <a:avLst/>
          </a:prstGeom>
          <a:noFill/>
          <a:ln/>
        </p:spPr>
        <p:txBody>
          <a:bodyPr wrap="none" lIns="0" tIns="0" rIns="0" bIns="0" rtlCol="0" anchor="ctr"/>
          <a:lstStyle/>
          <a:p>
            <a:pPr algn="ctr" indent="0" marL="0">
              <a:lnSpc>
                <a:spcPts val="928"/>
              </a:lnSpc>
              <a:buNone/>
            </a:pPr>
            <a:r>
              <a:rPr lang="en-US" sz="800" spc="124" kern="0" dirty="0">
                <a:solidFill>
                  <a:srgbClr val="D4A24A"/>
                </a:solidFill>
                <a:latin typeface="Courier New" pitchFamily="34" charset="0"/>
                <a:ea typeface="Courier New" pitchFamily="34" charset="-122"/>
                <a:cs typeface="Courier New" pitchFamily="34" charset="-120"/>
              </a:rPr>
              <a:t>THE POINT</a:t>
            </a:r>
            <a:endParaRPr lang="en-US" sz="800" dirty="0"/>
          </a:p>
        </p:txBody>
      </p:sp>
      <p:sp>
        <p:nvSpPr>
          <p:cNvPr id="15" name="Text 13"/>
          <p:cNvSpPr/>
          <p:nvPr/>
        </p:nvSpPr>
        <p:spPr>
          <a:xfrm>
            <a:off x="4394746" y="1558677"/>
            <a:ext cx="4749254" cy="200235"/>
          </a:xfrm>
          <a:prstGeom prst="rect">
            <a:avLst/>
          </a:prstGeom>
          <a:noFill/>
          <a:ln/>
        </p:spPr>
        <p:txBody>
          <a:bodyPr wrap="square" lIns="0" tIns="0" rIns="0" bIns="0" rtlCol="0" anchor="t"/>
          <a:lstStyle/>
          <a:p>
            <a:pPr algn="l" indent="0" marL="0">
              <a:lnSpc>
                <a:spcPts val="1460"/>
              </a:lnSpc>
              <a:buNone/>
            </a:pPr>
            <a:r>
              <a:rPr lang="en-US" sz="1238" dirty="0">
                <a:solidFill>
                  <a:srgbClr val="F5F1E8"/>
                </a:solidFill>
                <a:latin typeface="Tinos" pitchFamily="34" charset="0"/>
                <a:ea typeface="Tinos" pitchFamily="34" charset="-122"/>
                <a:cs typeface="Tinos" pitchFamily="34" charset="-120"/>
              </a:rPr>
              <a:t>Every layer on one viewer — visible, faded, interrogated, traced.</a:t>
            </a:r>
            <a:endParaRPr lang="en-US" sz="1238" dirty="0"/>
          </a:p>
        </p:txBody>
      </p:sp>
      <p:sp>
        <p:nvSpPr>
          <p:cNvPr id="16" name="Text 14"/>
          <p:cNvSpPr/>
          <p:nvPr/>
        </p:nvSpPr>
        <p:spPr>
          <a:xfrm>
            <a:off x="4398318" y="1876239"/>
            <a:ext cx="4456249" cy="1689497"/>
          </a:xfrm>
          <a:prstGeom prst="roundRect">
            <a:avLst>
              <a:gd name="adj" fmla="val 2255"/>
            </a:avLst>
          </a:prstGeom>
          <a:solidFill>
            <a:srgbClr val="1C2128"/>
          </a:solidFill>
          <a:ln w="7144">
            <a:solidFill>
              <a:srgbClr val="2A2F37"/>
            </a:solidFill>
            <a:prstDash val="solid"/>
          </a:ln>
        </p:spPr>
        <p:txBody>
          <a:bodyPr wrap="square" rtlCol="0" anchor="ctr"/>
          <a:lstStyle/>
          <a:p>
            <a:pPr indent="0" marL="0">
              <a:buNone/>
            </a:pPr>
            <a:endParaRPr lang="en-US" dirty="0"/>
          </a:p>
        </p:txBody>
      </p:sp>
      <p:pic>
        <p:nvPicPr>
          <p:cNvPr id="17" name="Image 0" descr="/tmp/h2p-fit-1786579670578-tjrky6.png">    </p:cNvPr>
          <p:cNvPicPr>
            <a:picLocks noChangeAspect="1"/>
          </p:cNvPicPr>
          <p:nvPr/>
        </p:nvPicPr>
        <p:blipFill>
          <a:blip r:embed="rId1"/>
          <a:stretch>
            <a:fillRect/>
          </a:stretch>
        </p:blipFill>
        <p:spPr>
          <a:xfrm>
            <a:off x="4401889" y="1879811"/>
            <a:ext cx="4449105" cy="1428750"/>
          </a:xfrm>
          <a:prstGeom prst="rect">
            <a:avLst/>
          </a:prstGeom>
        </p:spPr>
      </p:pic>
      <p:sp>
        <p:nvSpPr>
          <p:cNvPr id="18" name="Text 15"/>
          <p:cNvSpPr/>
          <p:nvPr/>
        </p:nvSpPr>
        <p:spPr>
          <a:xfrm>
            <a:off x="4401889" y="3308561"/>
            <a:ext cx="4449105" cy="253603"/>
          </a:xfrm>
          <a:prstGeom prst="rect">
            <a:avLst/>
          </a:prstGeom>
          <a:solidFill>
            <a:srgbClr val="1C2128"/>
          </a:solidFill>
          <a:ln/>
        </p:spPr>
        <p:txBody>
          <a:bodyPr wrap="square" rtlCol="0" anchor="ctr"/>
          <a:lstStyle/>
          <a:p>
            <a:pPr indent="0" marL="0">
              <a:buNone/>
            </a:pPr>
            <a:endParaRPr lang="en-US" dirty="0"/>
          </a:p>
        </p:txBody>
      </p:sp>
      <p:sp>
        <p:nvSpPr>
          <p:cNvPr id="19" name="Shape 16"/>
          <p:cNvSpPr/>
          <p:nvPr/>
        </p:nvSpPr>
        <p:spPr>
          <a:xfrm>
            <a:off x="4401889" y="3312133"/>
            <a:ext cx="4449105" cy="0"/>
          </a:xfrm>
          <a:prstGeom prst="line">
            <a:avLst/>
          </a:prstGeom>
          <a:noFill/>
          <a:ln w="7144">
            <a:solidFill>
              <a:srgbClr val="2A2F37"/>
            </a:solidFill>
            <a:prstDash val="solid"/>
          </a:ln>
        </p:spPr>
      </p:sp>
      <p:sp>
        <p:nvSpPr>
          <p:cNvPr id="20" name="Text 17"/>
          <p:cNvSpPr/>
          <p:nvPr/>
        </p:nvSpPr>
        <p:spPr>
          <a:xfrm>
            <a:off x="4401889" y="3308561"/>
            <a:ext cx="4449105" cy="253603"/>
          </a:xfrm>
          <a:prstGeom prst="rect">
            <a:avLst/>
          </a:prstGeom>
          <a:noFill/>
          <a:ln/>
        </p:spPr>
        <p:txBody>
          <a:bodyPr wrap="square" lIns="100013" tIns="57150" rIns="100013" bIns="71438" rtlCol="0" anchor="t"/>
          <a:lstStyle/>
          <a:p>
            <a:pPr algn="l" indent="0" marL="0">
              <a:lnSpc>
                <a:spcPts val="928"/>
              </a:lnSpc>
              <a:buNone/>
            </a:pPr>
            <a:r>
              <a:rPr lang="en-US" sz="800" spc="99" kern="0" dirty="0">
                <a:solidFill>
                  <a:srgbClr val="8A8576"/>
                </a:solidFill>
                <a:latin typeface="Courier New" pitchFamily="34" charset="0"/>
                <a:ea typeface="Courier New" pitchFamily="34" charset="-122"/>
                <a:cs typeface="Courier New" pitchFamily="34" charset="-120"/>
              </a:rPr>
              <a:t>MULTI-LAYER VIEWER — 5 BASEMAPS, LICENCE BOUNDARY ALWAYS DRAWN</a:t>
            </a:r>
            <a:endParaRPr lang="en-US" sz="800" dirty="0"/>
          </a:p>
        </p:txBody>
      </p:sp>
      <p:sp>
        <p:nvSpPr>
          <p:cNvPr id="21" name="Text 18"/>
          <p:cNvSpPr/>
          <p:nvPr/>
        </p:nvSpPr>
        <p:spPr>
          <a:xfrm>
            <a:off x="4394746" y="3655033"/>
            <a:ext cx="251460" cy="174567"/>
          </a:xfrm>
          <a:prstGeom prst="rect">
            <a:avLst/>
          </a:prstGeom>
          <a:noFill/>
          <a:ln/>
        </p:spPr>
        <p:txBody>
          <a:bodyPr wrap="none" lIns="0" tIns="7144" rIns="0" bIns="0" rtlCol="0" anchor="t"/>
          <a:lstStyle/>
          <a:p>
            <a:pPr algn="l" indent="0" marL="0">
              <a:lnSpc>
                <a:spcPts val="928"/>
              </a:lnSpc>
              <a:buNone/>
            </a:pPr>
            <a:r>
              <a:rPr lang="en-US" sz="800" spc="37" kern="0" dirty="0">
                <a:solidFill>
                  <a:srgbClr val="D4A24A"/>
                </a:solidFill>
                <a:latin typeface="Liberation Sans Narrow" pitchFamily="34" charset="0"/>
                <a:ea typeface="Liberation Sans Narrow" pitchFamily="34" charset="-122"/>
                <a:cs typeface="Liberation Sans Narrow" pitchFamily="34" charset="-120"/>
              </a:rPr>
              <a:t>01</a:t>
            </a:r>
            <a:endParaRPr lang="en-US" sz="800" dirty="0"/>
          </a:p>
        </p:txBody>
      </p:sp>
      <p:sp>
        <p:nvSpPr>
          <p:cNvPr id="22" name="Text 19"/>
          <p:cNvSpPr/>
          <p:nvPr/>
        </p:nvSpPr>
        <p:spPr>
          <a:xfrm>
            <a:off x="4609058" y="3655033"/>
            <a:ext cx="1967322" cy="311468"/>
          </a:xfrm>
          <a:prstGeom prst="rect">
            <a:avLst/>
          </a:prstGeom>
          <a:noFill/>
          <a:ln/>
        </p:spPr>
        <p:txBody>
          <a:bodyPr wrap="square" lIns="0" tIns="0" rIns="0" bIns="0" rtlCol="0" anchor="t"/>
          <a:lstStyle/>
          <a:p>
            <a:pPr algn="l" indent="0" marL="0">
              <a:lnSpc>
                <a:spcPts val="958"/>
              </a:lnSpc>
              <a:buNone/>
            </a:pPr>
            <a:r>
              <a:rPr lang="en-US" sz="800" dirty="0">
                <a:solidFill>
                  <a:srgbClr val="F5F1E8"/>
                </a:solidFill>
                <a:latin typeface="Carlito" pitchFamily="34" charset="0"/>
                <a:ea typeface="Carlito" pitchFamily="34" charset="-122"/>
                <a:cs typeface="Carlito" pitchFamily="34" charset="-120"/>
              </a:rPr>
              <a:t>Multi-layer viewer</a:t>
            </a:r>
            <a:pPr algn="l" indent="0" marL="0">
              <a:lnSpc>
                <a:spcPts val="958"/>
              </a:lnSpc>
              <a:buNone/>
            </a:pPr>
            <a:r>
              <a:rPr lang="en-US" sz="800" dirty="0">
                <a:solidFill>
                  <a:srgbClr val="C9C3B5"/>
                </a:solidFill>
                <a:latin typeface="Carlito" pitchFamily="34" charset="0"/>
                <a:ea typeface="Carlito" pitchFamily="34" charset="-122"/>
                <a:cs typeface="Carlito" pitchFamily="34" charset="-120"/>
              </a:rPr>
              <a:t> — 5 basemaps incl. satellite &amp; 3D terrain; licence boundary always drawn.</a:t>
            </a:r>
            <a:endParaRPr lang="en-US" sz="800" dirty="0"/>
          </a:p>
        </p:txBody>
      </p:sp>
      <p:sp>
        <p:nvSpPr>
          <p:cNvPr id="23" name="Text 20"/>
          <p:cNvSpPr/>
          <p:nvPr/>
        </p:nvSpPr>
        <p:spPr>
          <a:xfrm>
            <a:off x="6676392" y="3655033"/>
            <a:ext cx="251460" cy="174567"/>
          </a:xfrm>
          <a:prstGeom prst="rect">
            <a:avLst/>
          </a:prstGeom>
          <a:noFill/>
          <a:ln/>
        </p:spPr>
        <p:txBody>
          <a:bodyPr wrap="none" lIns="0" tIns="7144" rIns="0" bIns="0" rtlCol="0" anchor="t"/>
          <a:lstStyle/>
          <a:p>
            <a:pPr algn="l" indent="0" marL="0">
              <a:lnSpc>
                <a:spcPts val="928"/>
              </a:lnSpc>
              <a:buNone/>
            </a:pPr>
            <a:r>
              <a:rPr lang="en-US" sz="800" spc="37" kern="0" dirty="0">
                <a:solidFill>
                  <a:srgbClr val="D4A24A"/>
                </a:solidFill>
                <a:latin typeface="Liberation Sans Narrow" pitchFamily="34" charset="0"/>
                <a:ea typeface="Liberation Sans Narrow" pitchFamily="34" charset="-122"/>
                <a:cs typeface="Liberation Sans Narrow" pitchFamily="34" charset="-120"/>
              </a:rPr>
              <a:t>02</a:t>
            </a:r>
            <a:endParaRPr lang="en-US" sz="800" dirty="0"/>
          </a:p>
        </p:txBody>
      </p:sp>
      <p:sp>
        <p:nvSpPr>
          <p:cNvPr id="24" name="Text 21"/>
          <p:cNvSpPr/>
          <p:nvPr/>
        </p:nvSpPr>
        <p:spPr>
          <a:xfrm>
            <a:off x="6890705" y="3655033"/>
            <a:ext cx="1967433" cy="311468"/>
          </a:xfrm>
          <a:prstGeom prst="rect">
            <a:avLst/>
          </a:prstGeom>
          <a:noFill/>
          <a:ln/>
        </p:spPr>
        <p:txBody>
          <a:bodyPr wrap="square" lIns="0" tIns="0" rIns="0" bIns="0" rtlCol="0" anchor="t"/>
          <a:lstStyle/>
          <a:p>
            <a:pPr algn="l" indent="0" marL="0">
              <a:lnSpc>
                <a:spcPts val="958"/>
              </a:lnSpc>
              <a:buNone/>
            </a:pPr>
            <a:r>
              <a:rPr lang="en-US" sz="800" dirty="0">
                <a:solidFill>
                  <a:srgbClr val="F5F1E8"/>
                </a:solidFill>
                <a:latin typeface="Carlito" pitchFamily="34" charset="0"/>
                <a:ea typeface="Carlito" pitchFamily="34" charset="-122"/>
                <a:cs typeface="Carlito" pitchFamily="34" charset="-120"/>
              </a:rPr>
              <a:t>Layer panel</a:t>
            </a:r>
            <a:pPr algn="l" indent="0" marL="0">
              <a:lnSpc>
                <a:spcPts val="958"/>
              </a:lnSpc>
              <a:buNone/>
            </a:pPr>
            <a:r>
              <a:rPr lang="en-US" sz="800" dirty="0">
                <a:solidFill>
                  <a:srgbClr val="C9C3B5"/>
                </a:solidFill>
                <a:latin typeface="Carlito" pitchFamily="34" charset="0"/>
                <a:ea typeface="Carlito" pitchFamily="34" charset="-122"/>
                <a:cs typeface="Carlito" pitchFamily="34" charset="-120"/>
              </a:rPr>
              <a:t> — visibility &amp; opacity per layer; hover explanation of why each layer matters.</a:t>
            </a:r>
            <a:endParaRPr lang="en-US" sz="800" dirty="0"/>
          </a:p>
        </p:txBody>
      </p:sp>
      <p:sp>
        <p:nvSpPr>
          <p:cNvPr id="25" name="Text 22"/>
          <p:cNvSpPr/>
          <p:nvPr/>
        </p:nvSpPr>
        <p:spPr>
          <a:xfrm>
            <a:off x="4394746" y="3955517"/>
            <a:ext cx="251460" cy="174567"/>
          </a:xfrm>
          <a:prstGeom prst="rect">
            <a:avLst/>
          </a:prstGeom>
          <a:noFill/>
          <a:ln/>
        </p:spPr>
        <p:txBody>
          <a:bodyPr wrap="none" lIns="0" tIns="7144" rIns="0" bIns="0" rtlCol="0" anchor="t"/>
          <a:lstStyle/>
          <a:p>
            <a:pPr algn="l" indent="0" marL="0">
              <a:lnSpc>
                <a:spcPts val="928"/>
              </a:lnSpc>
              <a:buNone/>
            </a:pPr>
            <a:r>
              <a:rPr lang="en-US" sz="800" spc="37" kern="0" dirty="0">
                <a:solidFill>
                  <a:srgbClr val="D4A24A"/>
                </a:solidFill>
                <a:latin typeface="Liberation Sans Narrow" pitchFamily="34" charset="0"/>
                <a:ea typeface="Liberation Sans Narrow" pitchFamily="34" charset="-122"/>
                <a:cs typeface="Liberation Sans Narrow" pitchFamily="34" charset="-120"/>
              </a:rPr>
              <a:t>03</a:t>
            </a:r>
            <a:endParaRPr lang="en-US" sz="800" dirty="0"/>
          </a:p>
        </p:txBody>
      </p:sp>
      <p:sp>
        <p:nvSpPr>
          <p:cNvPr id="26" name="Text 23"/>
          <p:cNvSpPr/>
          <p:nvPr/>
        </p:nvSpPr>
        <p:spPr>
          <a:xfrm>
            <a:off x="4609058" y="3955517"/>
            <a:ext cx="1967322" cy="311468"/>
          </a:xfrm>
          <a:prstGeom prst="rect">
            <a:avLst/>
          </a:prstGeom>
          <a:noFill/>
          <a:ln/>
        </p:spPr>
        <p:txBody>
          <a:bodyPr wrap="square" lIns="0" tIns="0" rIns="0" bIns="0" rtlCol="0" anchor="t"/>
          <a:lstStyle/>
          <a:p>
            <a:pPr algn="l" indent="0" marL="0">
              <a:lnSpc>
                <a:spcPts val="958"/>
              </a:lnSpc>
              <a:buNone/>
            </a:pPr>
            <a:r>
              <a:rPr lang="en-US" sz="800" dirty="0">
                <a:solidFill>
                  <a:srgbClr val="F5F1E8"/>
                </a:solidFill>
                <a:latin typeface="Carlito" pitchFamily="34" charset="0"/>
                <a:ea typeface="Carlito" pitchFamily="34" charset="-122"/>
                <a:cs typeface="Carlito" pitchFamily="34" charset="-120"/>
              </a:rPr>
              <a:t>Click-to-inspect</a:t>
            </a:r>
            <a:pPr algn="l" indent="0" marL="0">
              <a:lnSpc>
                <a:spcPts val="958"/>
              </a:lnSpc>
              <a:buNone/>
            </a:pPr>
            <a:r>
              <a:rPr lang="en-US" sz="800" dirty="0">
                <a:solidFill>
                  <a:srgbClr val="C9C3B5"/>
                </a:solidFill>
                <a:latin typeface="Carlito" pitchFamily="34" charset="0"/>
                <a:ea typeface="Carlito" pitchFamily="34" charset="-122"/>
                <a:cs typeface="Carlito" pitchFamily="34" charset="-120"/>
              </a:rPr>
              <a:t> — WGS84 + local UTM, raster values, nearest sample &amp; known deposit.</a:t>
            </a:r>
            <a:endParaRPr lang="en-US" sz="800" dirty="0"/>
          </a:p>
        </p:txBody>
      </p:sp>
      <p:sp>
        <p:nvSpPr>
          <p:cNvPr id="27" name="Text 24"/>
          <p:cNvSpPr/>
          <p:nvPr/>
        </p:nvSpPr>
        <p:spPr>
          <a:xfrm>
            <a:off x="6676392" y="3955517"/>
            <a:ext cx="251460" cy="174567"/>
          </a:xfrm>
          <a:prstGeom prst="rect">
            <a:avLst/>
          </a:prstGeom>
          <a:noFill/>
          <a:ln/>
        </p:spPr>
        <p:txBody>
          <a:bodyPr wrap="none" lIns="0" tIns="7144" rIns="0" bIns="0" rtlCol="0" anchor="t"/>
          <a:lstStyle/>
          <a:p>
            <a:pPr algn="l" indent="0" marL="0">
              <a:lnSpc>
                <a:spcPts val="928"/>
              </a:lnSpc>
              <a:buNone/>
            </a:pPr>
            <a:r>
              <a:rPr lang="en-US" sz="800" spc="37" kern="0" dirty="0">
                <a:solidFill>
                  <a:srgbClr val="D4A24A"/>
                </a:solidFill>
                <a:latin typeface="Liberation Sans Narrow" pitchFamily="34" charset="0"/>
                <a:ea typeface="Liberation Sans Narrow" pitchFamily="34" charset="-122"/>
                <a:cs typeface="Liberation Sans Narrow" pitchFamily="34" charset="-120"/>
              </a:rPr>
              <a:t>04</a:t>
            </a:r>
            <a:endParaRPr lang="en-US" sz="800" dirty="0"/>
          </a:p>
        </p:txBody>
      </p:sp>
      <p:sp>
        <p:nvSpPr>
          <p:cNvPr id="28" name="Text 25"/>
          <p:cNvSpPr/>
          <p:nvPr/>
        </p:nvSpPr>
        <p:spPr>
          <a:xfrm>
            <a:off x="6890705" y="3955517"/>
            <a:ext cx="1967433" cy="311468"/>
          </a:xfrm>
          <a:prstGeom prst="rect">
            <a:avLst/>
          </a:prstGeom>
          <a:noFill/>
          <a:ln/>
        </p:spPr>
        <p:txBody>
          <a:bodyPr wrap="square" lIns="0" tIns="0" rIns="0" bIns="0" rtlCol="0" anchor="t"/>
          <a:lstStyle/>
          <a:p>
            <a:pPr algn="l" indent="0" marL="0">
              <a:lnSpc>
                <a:spcPts val="958"/>
              </a:lnSpc>
              <a:buNone/>
            </a:pPr>
            <a:r>
              <a:rPr lang="en-US" sz="800" dirty="0">
                <a:solidFill>
                  <a:srgbClr val="F5F1E8"/>
                </a:solidFill>
                <a:latin typeface="Carlito" pitchFamily="34" charset="0"/>
                <a:ea typeface="Carlito" pitchFamily="34" charset="-122"/>
                <a:cs typeface="Carlito" pitchFamily="34" charset="-120"/>
              </a:rPr>
              <a:t>Anomaly display</a:t>
            </a:r>
            <a:pPr algn="l" indent="0" marL="0">
              <a:lnSpc>
                <a:spcPts val="958"/>
              </a:lnSpc>
              <a:buNone/>
            </a:pPr>
            <a:r>
              <a:rPr lang="en-US" sz="800" dirty="0">
                <a:solidFill>
                  <a:srgbClr val="C9C3B5"/>
                </a:solidFill>
                <a:latin typeface="Carlito" pitchFamily="34" charset="0"/>
                <a:ea typeface="Carlito" pitchFamily="34" charset="-122"/>
                <a:cs typeface="Carlito" pitchFamily="34" charset="-120"/>
              </a:rPr>
              <a:t> — geochem coloured by percentile class (background → weak → moderate → strong).</a:t>
            </a:r>
            <a:endParaRPr lang="en-US" sz="800" dirty="0"/>
          </a:p>
        </p:txBody>
      </p:sp>
      <p:sp>
        <p:nvSpPr>
          <p:cNvPr id="29" name="Shape 26"/>
          <p:cNvSpPr/>
          <p:nvPr/>
        </p:nvSpPr>
        <p:spPr>
          <a:xfrm>
            <a:off x="514350" y="4435599"/>
            <a:ext cx="8115300" cy="0"/>
          </a:xfrm>
          <a:prstGeom prst="line">
            <a:avLst/>
          </a:prstGeom>
          <a:noFill/>
          <a:ln w="7144">
            <a:solidFill>
              <a:srgbClr val="2A2F37"/>
            </a:solidFill>
            <a:prstDash val="solid"/>
          </a:ln>
        </p:spPr>
      </p:sp>
      <p:sp>
        <p:nvSpPr>
          <p:cNvPr id="30" name="Text 27"/>
          <p:cNvSpPr/>
          <p:nvPr/>
        </p:nvSpPr>
        <p:spPr>
          <a:xfrm>
            <a:off x="491490" y="4543304"/>
            <a:ext cx="1188720" cy="196025"/>
          </a:xfrm>
          <a:prstGeom prst="roundRect">
            <a:avLst>
              <a:gd name="adj" fmla="val 9718"/>
            </a:avLst>
          </a:prstGeom>
          <a:solidFill>
            <a:srgbClr val="4A8F6B">
              <a:alpha val="10000"/>
            </a:srgbClr>
          </a:solidFill>
          <a:ln/>
        </p:spPr>
        <p:txBody>
          <a:bodyPr wrap="square" rtlCol="0" anchor="ctr"/>
          <a:lstStyle/>
          <a:p>
            <a:pPr indent="0" marL="0">
              <a:buNone/>
            </a:pPr>
            <a:endParaRPr lang="en-US" dirty="0"/>
          </a:p>
        </p:txBody>
      </p:sp>
      <p:sp>
        <p:nvSpPr>
          <p:cNvPr id="31" name="Shape 28"/>
          <p:cNvSpPr/>
          <p:nvPr/>
        </p:nvSpPr>
        <p:spPr>
          <a:xfrm>
            <a:off x="521494" y="4553806"/>
            <a:ext cx="0" cy="175022"/>
          </a:xfrm>
          <a:prstGeom prst="line">
            <a:avLst/>
          </a:prstGeom>
          <a:noFill/>
          <a:ln w="14288">
            <a:solidFill>
              <a:srgbClr val="4A8F6B"/>
            </a:solidFill>
            <a:prstDash val="solid"/>
          </a:ln>
        </p:spPr>
      </p:sp>
      <p:sp>
        <p:nvSpPr>
          <p:cNvPr id="32" name="Text 29"/>
          <p:cNvSpPr/>
          <p:nvPr/>
        </p:nvSpPr>
        <p:spPr>
          <a:xfrm>
            <a:off x="514350" y="4553806"/>
            <a:ext cx="1143000" cy="175022"/>
          </a:xfrm>
          <a:prstGeom prst="rect">
            <a:avLst/>
          </a:prstGeom>
          <a:noFill/>
          <a:ln/>
        </p:spPr>
        <p:txBody>
          <a:bodyPr wrap="none" lIns="0" tIns="0" rIns="0" bIns="0" rtlCol="0" anchor="ctr"/>
          <a:lstStyle/>
          <a:p>
            <a:pPr algn="ctr" indent="0" marL="0">
              <a:lnSpc>
                <a:spcPts val="928"/>
              </a:lnSpc>
              <a:buNone/>
            </a:pPr>
            <a:r>
              <a:rPr lang="en-US" sz="800" spc="124" kern="0" dirty="0">
                <a:solidFill>
                  <a:srgbClr val="4A8F6B"/>
                </a:solidFill>
                <a:latin typeface="Courier New" pitchFamily="34" charset="0"/>
                <a:ea typeface="Courier New" pitchFamily="34" charset="-122"/>
                <a:cs typeface="Courier New" pitchFamily="34" charset="-120"/>
              </a:rPr>
              <a:t>THE IMPACT</a:t>
            </a:r>
            <a:endParaRPr lang="en-US" sz="800" dirty="0"/>
          </a:p>
        </p:txBody>
      </p:sp>
      <p:sp>
        <p:nvSpPr>
          <p:cNvPr id="33" name="Text 30"/>
          <p:cNvSpPr/>
          <p:nvPr/>
        </p:nvSpPr>
        <p:spPr>
          <a:xfrm>
            <a:off x="1828800" y="4539183"/>
            <a:ext cx="6800850" cy="204267"/>
          </a:xfrm>
          <a:prstGeom prst="rect">
            <a:avLst/>
          </a:prstGeom>
          <a:noFill/>
          <a:ln/>
        </p:spPr>
        <p:txBody>
          <a:bodyPr wrap="square" lIns="0" tIns="0" rIns="0" bIns="0" rtlCol="0" anchor="t"/>
          <a:lstStyle/>
          <a:p>
            <a:pPr algn="l" indent="0" marL="0">
              <a:lnSpc>
                <a:spcPts val="1609"/>
              </a:lnSpc>
              <a:buNone/>
            </a:pPr>
            <a:r>
              <a:rPr lang="en-US" sz="1238" i="1" dirty="0">
                <a:solidFill>
                  <a:srgbClr val="F5F1E8"/>
                </a:solidFill>
                <a:latin typeface="Tinos" pitchFamily="34" charset="0"/>
                <a:ea typeface="Tinos" pitchFamily="34" charset="-122"/>
                <a:cs typeface="Tinos" pitchFamily="34" charset="-120"/>
              </a:rPr>
              <a:t>The geologist reads the evidence spatially — and the viewer can be traced back to the file that produced it.</a:t>
            </a:r>
            <a:endParaRPr lang="en-US" sz="1238" dirty="0"/>
          </a:p>
        </p:txBody>
      </p:sp>
      <p:sp>
        <p:nvSpPr>
          <p:cNvPr id="34" name="Shape 31"/>
          <p:cNvSpPr/>
          <p:nvPr/>
        </p:nvSpPr>
        <p:spPr>
          <a:xfrm>
            <a:off x="514350" y="4736306"/>
            <a:ext cx="8115300" cy="0"/>
          </a:xfrm>
          <a:prstGeom prst="line">
            <a:avLst/>
          </a:prstGeom>
          <a:noFill/>
          <a:ln w="7144">
            <a:solidFill>
              <a:srgbClr val="2A2F37"/>
            </a:solidFill>
            <a:prstDash val="solid"/>
          </a:ln>
        </p:spPr>
      </p:sp>
      <p:sp>
        <p:nvSpPr>
          <p:cNvPr id="35" name="Text 32"/>
          <p:cNvSpPr/>
          <p:nvPr/>
        </p:nvSpPr>
        <p:spPr>
          <a:xfrm>
            <a:off x="514350" y="4825603"/>
            <a:ext cx="7748960" cy="117872"/>
          </a:xfrm>
          <a:prstGeom prst="rect">
            <a:avLst/>
          </a:prstGeom>
          <a:noFill/>
          <a:ln/>
        </p:spPr>
        <p:txBody>
          <a:bodyPr wrap="square" lIns="0" tIns="0" rIns="0" bIns="0" rtlCol="0" anchor="t"/>
          <a:lstStyle/>
          <a:p>
            <a:pPr algn="l" indent="0" marL="0">
              <a:lnSpc>
                <a:spcPts val="928"/>
              </a:lnSpc>
              <a:buNone/>
            </a:pPr>
            <a:r>
              <a:rPr lang="en-US" sz="800" spc="87" kern="0" dirty="0">
                <a:solidFill>
                  <a:srgbClr val="8A8576"/>
                </a:solidFill>
                <a:latin typeface="Liberation Sans Narrow" pitchFamily="34" charset="0"/>
                <a:ea typeface="Liberation Sans Narrow" pitchFamily="34" charset="-122"/>
                <a:cs typeface="Liberation Sans Narrow" pitchFamily="34" charset="-120"/>
              </a:rPr>
              <a:t>THE MAP — 4 FEATURES, 1 VIEWER</a:t>
            </a:r>
            <a:endParaRPr lang="en-US" sz="800" dirty="0"/>
          </a:p>
        </p:txBody>
      </p:sp>
      <p:sp>
        <p:nvSpPr>
          <p:cNvPr id="36" name="Text 33"/>
          <p:cNvSpPr/>
          <p:nvPr/>
        </p:nvSpPr>
        <p:spPr>
          <a:xfrm>
            <a:off x="8277597" y="4825603"/>
            <a:ext cx="352053" cy="117872"/>
          </a:xfrm>
          <a:prstGeom prst="rect">
            <a:avLst/>
          </a:prstGeom>
          <a:noFill/>
          <a:ln/>
        </p:spPr>
        <p:txBody>
          <a:bodyPr wrap="none" lIns="0" tIns="0" rIns="0" bIns="0" rtlCol="0" anchor="t"/>
          <a:lstStyle/>
          <a:p>
            <a:pPr algn="l" indent="0" marL="0">
              <a:lnSpc>
                <a:spcPts val="928"/>
              </a:lnSpc>
              <a:buNone/>
            </a:pPr>
            <a:r>
              <a:rPr lang="en-US" sz="619" spc="87" kern="0" dirty="0">
                <a:solidFill>
                  <a:srgbClr val="8A8576"/>
                </a:solidFill>
                <a:latin typeface="Liberation Sans Narrow" pitchFamily="34" charset="0"/>
                <a:ea typeface="Liberation Sans Narrow" pitchFamily="34" charset="-122"/>
                <a:cs typeface="Liberation Sans Narrow" pitchFamily="34" charset="-120"/>
              </a:rPr>
              <a:t>07 / 12</a:t>
            </a:r>
            <a:endParaRPr lang="en-US" sz="619"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1115"/>
        </a:solidFill>
      </p:bgPr>
    </p:bg>
    <p:spTree>
      <p:nvGrpSpPr>
        <p:cNvPr id="1" name=""/>
        <p:cNvGrpSpPr/>
        <p:nvPr/>
      </p:nvGrpSpPr>
      <p:grpSpPr>
        <a:xfrm>
          <a:off x="0" y="0"/>
          <a:ext cx="0" cy="0"/>
          <a:chOff x="0" y="0"/>
          <a:chExt cx="0" cy="0"/>
        </a:xfrm>
      </p:grpSpPr>
      <p:sp>
        <p:nvSpPr>
          <p:cNvPr id="2" name="Text 0"/>
          <p:cNvSpPr/>
          <p:nvPr/>
        </p:nvSpPr>
        <p:spPr>
          <a:xfrm>
            <a:off x="514350" y="200025"/>
            <a:ext cx="2326933" cy="164592"/>
          </a:xfrm>
          <a:prstGeom prst="rect">
            <a:avLst/>
          </a:prstGeom>
          <a:noFill/>
          <a:ln/>
        </p:spPr>
        <p:txBody>
          <a:bodyPr wrap="square" lIns="0" tIns="0" rIns="0" bIns="0" rtlCol="0" anchor="t"/>
          <a:lstStyle/>
          <a:p>
            <a:pPr algn="l" indent="0" marL="0">
              <a:lnSpc>
                <a:spcPts val="928"/>
              </a:lnSpc>
              <a:buNone/>
            </a:pPr>
            <a:r>
              <a:rPr lang="en-US" sz="619" spc="111" kern="0" dirty="0">
                <a:solidFill>
                  <a:srgbClr val="8A8576"/>
                </a:solidFill>
                <a:latin typeface="Courier New" pitchFamily="34" charset="0"/>
                <a:ea typeface="Courier New" pitchFamily="34" charset="-122"/>
                <a:cs typeface="Courier New" pitchFamily="34" charset="-120"/>
              </a:rPr>
              <a:t>TERRAPULSE × GOLD FIELDS GHANA / 2026</a:t>
            </a:r>
            <a:endParaRPr lang="en-US" sz="619" dirty="0"/>
          </a:p>
        </p:txBody>
      </p:sp>
      <p:sp>
        <p:nvSpPr>
          <p:cNvPr id="3" name="Text 1"/>
          <p:cNvSpPr/>
          <p:nvPr/>
        </p:nvSpPr>
        <p:spPr>
          <a:xfrm>
            <a:off x="8299586" y="200025"/>
            <a:ext cx="474415" cy="164592"/>
          </a:xfrm>
          <a:prstGeom prst="rect">
            <a:avLst/>
          </a:prstGeom>
          <a:noFill/>
          <a:ln/>
        </p:spPr>
        <p:txBody>
          <a:bodyPr wrap="none" lIns="0" tIns="0" rIns="0" bIns="0" rtlCol="0" anchor="t"/>
          <a:lstStyle/>
          <a:p>
            <a:pPr algn="l" indent="0" marL="0">
              <a:lnSpc>
                <a:spcPts val="928"/>
              </a:lnSpc>
              <a:buNone/>
            </a:pPr>
            <a:r>
              <a:rPr lang="en-US" sz="800" spc="62" kern="0" dirty="0">
                <a:solidFill>
                  <a:srgbClr val="8A8576"/>
                </a:solidFill>
                <a:latin typeface="Liberation Sans Narrow" pitchFamily="34" charset="0"/>
                <a:ea typeface="Liberation Sans Narrow" pitchFamily="34" charset="-122"/>
                <a:cs typeface="Liberation Sans Narrow" pitchFamily="34" charset="-120"/>
              </a:rPr>
              <a:t>08 / 12</a:t>
            </a:r>
            <a:endParaRPr lang="en-US" sz="800" dirty="0"/>
          </a:p>
        </p:txBody>
      </p:sp>
      <p:sp>
        <p:nvSpPr>
          <p:cNvPr id="4" name="Text 2"/>
          <p:cNvSpPr/>
          <p:nvPr/>
        </p:nvSpPr>
        <p:spPr>
          <a:xfrm>
            <a:off x="514350" y="428625"/>
            <a:ext cx="8629650" cy="161877"/>
          </a:xfrm>
          <a:prstGeom prst="rect">
            <a:avLst/>
          </a:prstGeom>
          <a:noFill/>
          <a:ln/>
        </p:spPr>
        <p:txBody>
          <a:bodyPr wrap="square" lIns="0" tIns="0" rIns="0" bIns="0" rtlCol="0" anchor="t">
            <a:normAutofit/>
          </a:bodyPr>
          <a:lstStyle/>
          <a:p>
            <a:pPr algn="l" indent="0" marL="0">
              <a:lnSpc>
                <a:spcPts val="928"/>
              </a:lnSpc>
              <a:buNone/>
            </a:pPr>
            <a:r>
              <a:rPr lang="en-US" sz="800" spc="136" kern="0" dirty="0">
                <a:solidFill>
                  <a:srgbClr val="D4A24A"/>
                </a:solidFill>
                <a:latin typeface="Courier New" pitchFamily="34" charset="0"/>
                <a:ea typeface="Courier New" pitchFamily="34" charset="-122"/>
                <a:cs typeface="Courier New" pitchFamily="34" charset="-120"/>
              </a:rPr>
              <a:t>FEATURE GROUP 04 — ANALYSIS &amp; RANKED TARGETS</a:t>
            </a:r>
            <a:endParaRPr lang="en-US" sz="800" dirty="0"/>
          </a:p>
        </p:txBody>
      </p:sp>
      <p:sp>
        <p:nvSpPr>
          <p:cNvPr id="5" name="Text 3"/>
          <p:cNvSpPr/>
          <p:nvPr/>
        </p:nvSpPr>
        <p:spPr>
          <a:xfrm>
            <a:off x="514350" y="617934"/>
            <a:ext cx="8629650" cy="333202"/>
          </a:xfrm>
          <a:prstGeom prst="rect">
            <a:avLst/>
          </a:prstGeom>
          <a:noFill/>
          <a:ln/>
        </p:spPr>
        <p:txBody>
          <a:bodyPr wrap="square" lIns="0" tIns="0" rIns="0" bIns="0" rtlCol="0" anchor="t"/>
          <a:lstStyle/>
          <a:p>
            <a:pPr algn="l" indent="0" marL="0">
              <a:lnSpc>
                <a:spcPts val="2430"/>
              </a:lnSpc>
              <a:buNone/>
            </a:pPr>
            <a:r>
              <a:rPr lang="en-US" sz="2250" spc="-23" kern="0" dirty="0">
                <a:solidFill>
                  <a:srgbClr val="F5F1E8"/>
                </a:solidFill>
                <a:latin typeface="Tinos" pitchFamily="34" charset="0"/>
                <a:ea typeface="Tinos" pitchFamily="34" charset="-122"/>
                <a:cs typeface="Tinos" pitchFamily="34" charset="-120"/>
              </a:rPr>
              <a:t>Ranked drill targets — the core of the platform.</a:t>
            </a:r>
            <a:endParaRPr lang="en-US" sz="2250" dirty="0"/>
          </a:p>
        </p:txBody>
      </p:sp>
      <p:sp>
        <p:nvSpPr>
          <p:cNvPr id="6" name="Text 4"/>
          <p:cNvSpPr/>
          <p:nvPr/>
        </p:nvSpPr>
        <p:spPr>
          <a:xfrm>
            <a:off x="514350" y="983605"/>
            <a:ext cx="342900" cy="12278"/>
          </a:xfrm>
          <a:prstGeom prst="rect">
            <a:avLst/>
          </a:prstGeom>
          <a:solidFill>
            <a:srgbClr val="D4A24A"/>
          </a:solidFill>
          <a:ln/>
        </p:spPr>
        <p:txBody>
          <a:bodyPr wrap="square" rtlCol="0" anchor="ctr"/>
          <a:lstStyle/>
          <a:p>
            <a:pPr indent="0" marL="0">
              <a:buNone/>
            </a:pPr>
            <a:endParaRPr lang="en-US" dirty="0"/>
          </a:p>
        </p:txBody>
      </p:sp>
      <p:sp>
        <p:nvSpPr>
          <p:cNvPr id="7" name="Text 5"/>
          <p:cNvSpPr/>
          <p:nvPr/>
        </p:nvSpPr>
        <p:spPr>
          <a:xfrm>
            <a:off x="514350" y="1253058"/>
            <a:ext cx="3651796" cy="175022"/>
          </a:xfrm>
          <a:prstGeom prst="roundRect">
            <a:avLst>
              <a:gd name="adj" fmla="val 10884"/>
            </a:avLst>
          </a:prstGeom>
          <a:solidFill>
            <a:srgbClr val="B23A1F">
              <a:alpha val="10000"/>
            </a:srgbClr>
          </a:solidFill>
          <a:ln/>
        </p:spPr>
        <p:txBody>
          <a:bodyPr wrap="square" rtlCol="0" anchor="ctr"/>
          <a:lstStyle/>
          <a:p>
            <a:pPr indent="0" marL="0">
              <a:buNone/>
            </a:pPr>
            <a:endParaRPr lang="en-US" dirty="0"/>
          </a:p>
        </p:txBody>
      </p:sp>
      <p:sp>
        <p:nvSpPr>
          <p:cNvPr id="8" name="Shape 6"/>
          <p:cNvSpPr/>
          <p:nvPr/>
        </p:nvSpPr>
        <p:spPr>
          <a:xfrm>
            <a:off x="521494" y="1253058"/>
            <a:ext cx="0" cy="175022"/>
          </a:xfrm>
          <a:prstGeom prst="line">
            <a:avLst/>
          </a:prstGeom>
          <a:noFill/>
          <a:ln w="14288">
            <a:solidFill>
              <a:srgbClr val="B23A1F"/>
            </a:solidFill>
            <a:prstDash val="solid"/>
          </a:ln>
        </p:spPr>
      </p:sp>
      <p:sp>
        <p:nvSpPr>
          <p:cNvPr id="9" name="Text 7"/>
          <p:cNvSpPr/>
          <p:nvPr/>
        </p:nvSpPr>
        <p:spPr>
          <a:xfrm>
            <a:off x="514350" y="1253058"/>
            <a:ext cx="3651796" cy="175022"/>
          </a:xfrm>
          <a:prstGeom prst="rect">
            <a:avLst/>
          </a:prstGeom>
          <a:noFill/>
          <a:ln/>
        </p:spPr>
        <p:txBody>
          <a:bodyPr wrap="none" lIns="0" tIns="0" rIns="0" bIns="0" rtlCol="0" anchor="ctr"/>
          <a:lstStyle/>
          <a:p>
            <a:pPr algn="ctr" indent="0" marL="0">
              <a:lnSpc>
                <a:spcPts val="928"/>
              </a:lnSpc>
              <a:buNone/>
            </a:pPr>
            <a:r>
              <a:rPr lang="en-US" sz="800" spc="124" kern="0" dirty="0">
                <a:solidFill>
                  <a:srgbClr val="B23A1F"/>
                </a:solidFill>
                <a:latin typeface="Courier New" pitchFamily="34" charset="0"/>
                <a:ea typeface="Courier New" pitchFamily="34" charset="-122"/>
                <a:cs typeface="Courier New" pitchFamily="34" charset="-120"/>
              </a:rPr>
              <a:t>THE PROBLEM</a:t>
            </a:r>
            <a:endParaRPr lang="en-US" sz="800" dirty="0"/>
          </a:p>
        </p:txBody>
      </p:sp>
      <p:sp>
        <p:nvSpPr>
          <p:cNvPr id="10" name="Text 8"/>
          <p:cNvSpPr/>
          <p:nvPr/>
        </p:nvSpPr>
        <p:spPr>
          <a:xfrm>
            <a:off x="514350" y="1499518"/>
            <a:ext cx="3651796" cy="400470"/>
          </a:xfrm>
          <a:prstGeom prst="rect">
            <a:avLst/>
          </a:prstGeom>
          <a:noFill/>
          <a:ln/>
        </p:spPr>
        <p:txBody>
          <a:bodyPr wrap="square" lIns="0" tIns="0" rIns="0" bIns="0" rtlCol="0" anchor="t"/>
          <a:lstStyle/>
          <a:p>
            <a:pPr algn="l" indent="0" marL="0">
              <a:lnSpc>
                <a:spcPts val="1460"/>
              </a:lnSpc>
              <a:buNone/>
            </a:pPr>
            <a:r>
              <a:rPr lang="en-US" sz="1238" dirty="0">
                <a:solidFill>
                  <a:srgbClr val="F5F1E8"/>
                </a:solidFill>
                <a:latin typeface="Tinos" pitchFamily="34" charset="0"/>
                <a:ea typeface="Tinos" pitchFamily="34" charset="-122"/>
                <a:cs typeface="Tinos" pitchFamily="34" charset="-120"/>
              </a:rPr>
              <a:t>A target is a judgement — and judgements don’t survive turnover.</a:t>
            </a:r>
            <a:endParaRPr lang="en-US" sz="1238" dirty="0"/>
          </a:p>
        </p:txBody>
      </p:sp>
      <p:sp>
        <p:nvSpPr>
          <p:cNvPr id="11" name="Text 9"/>
          <p:cNvSpPr/>
          <p:nvPr/>
        </p:nvSpPr>
        <p:spPr>
          <a:xfrm>
            <a:off x="514350" y="1956048"/>
            <a:ext cx="3651796" cy="715589"/>
          </a:xfrm>
          <a:prstGeom prst="rect">
            <a:avLst/>
          </a:prstGeom>
          <a:noFill/>
          <a:ln/>
        </p:spPr>
        <p:txBody>
          <a:bodyPr wrap="square" lIns="0" tIns="0" rIns="0" bIns="0" rtlCol="0" anchor="t"/>
          <a:lstStyle/>
          <a:p>
            <a:pPr algn="l" indent="0" marL="0">
              <a:lnSpc>
                <a:spcPts val="1305"/>
              </a:lnSpc>
              <a:buNone/>
            </a:pPr>
            <a:r>
              <a:rPr lang="en-US" sz="816" dirty="0">
                <a:solidFill>
                  <a:srgbClr val="C9C3B5"/>
                </a:solidFill>
                <a:latin typeface="Carlito" pitchFamily="34" charset="0"/>
                <a:ea typeface="Carlito" pitchFamily="34" charset="-122"/>
                <a:cs typeface="Carlito" pitchFamily="34" charset="-120"/>
              </a:rPr>
              <a:t>On a Ghana licence, a senior geologist picks a drill collar location from experience: this magnetic low, this soil anomaly, this structural intersection. When they move on, the new geologist inherits a polygon, not a reasoning. The next drilling decision starts from a conclusion with no chain behind it.</a:t>
            </a:r>
            <a:endParaRPr lang="en-US" sz="816" dirty="0"/>
          </a:p>
        </p:txBody>
      </p:sp>
      <p:sp>
        <p:nvSpPr>
          <p:cNvPr id="12" name="Text 10"/>
          <p:cNvSpPr/>
          <p:nvPr/>
        </p:nvSpPr>
        <p:spPr>
          <a:xfrm>
            <a:off x="4394746" y="1253058"/>
            <a:ext cx="4463393" cy="175022"/>
          </a:xfrm>
          <a:prstGeom prst="roundRect">
            <a:avLst>
              <a:gd name="adj" fmla="val 10884"/>
            </a:avLst>
          </a:prstGeom>
          <a:solidFill>
            <a:srgbClr val="D4A24A">
              <a:alpha val="10000"/>
            </a:srgbClr>
          </a:solidFill>
          <a:ln/>
        </p:spPr>
        <p:txBody>
          <a:bodyPr wrap="square" rtlCol="0" anchor="ctr"/>
          <a:lstStyle/>
          <a:p>
            <a:pPr indent="0" marL="0">
              <a:buNone/>
            </a:pPr>
            <a:endParaRPr lang="en-US" dirty="0"/>
          </a:p>
        </p:txBody>
      </p:sp>
      <p:sp>
        <p:nvSpPr>
          <p:cNvPr id="13" name="Shape 11"/>
          <p:cNvSpPr/>
          <p:nvPr/>
        </p:nvSpPr>
        <p:spPr>
          <a:xfrm>
            <a:off x="4401889" y="1253058"/>
            <a:ext cx="0" cy="175022"/>
          </a:xfrm>
          <a:prstGeom prst="line">
            <a:avLst/>
          </a:prstGeom>
          <a:noFill/>
          <a:ln w="14288">
            <a:solidFill>
              <a:srgbClr val="D4A24A"/>
            </a:solidFill>
            <a:prstDash val="solid"/>
          </a:ln>
        </p:spPr>
      </p:sp>
      <p:sp>
        <p:nvSpPr>
          <p:cNvPr id="14" name="Text 12"/>
          <p:cNvSpPr/>
          <p:nvPr/>
        </p:nvSpPr>
        <p:spPr>
          <a:xfrm>
            <a:off x="4394746" y="1253058"/>
            <a:ext cx="4463393" cy="175022"/>
          </a:xfrm>
          <a:prstGeom prst="rect">
            <a:avLst/>
          </a:prstGeom>
          <a:noFill/>
          <a:ln/>
        </p:spPr>
        <p:txBody>
          <a:bodyPr wrap="none" lIns="0" tIns="0" rIns="0" bIns="0" rtlCol="0" anchor="ctr"/>
          <a:lstStyle/>
          <a:p>
            <a:pPr algn="ctr" indent="0" marL="0">
              <a:lnSpc>
                <a:spcPts val="928"/>
              </a:lnSpc>
              <a:buNone/>
            </a:pPr>
            <a:r>
              <a:rPr lang="en-US" sz="800" spc="124" kern="0" dirty="0">
                <a:solidFill>
                  <a:srgbClr val="D4A24A"/>
                </a:solidFill>
                <a:latin typeface="Courier New" pitchFamily="34" charset="0"/>
                <a:ea typeface="Courier New" pitchFamily="34" charset="-122"/>
                <a:cs typeface="Courier New" pitchFamily="34" charset="-120"/>
              </a:rPr>
              <a:t>THE POINT</a:t>
            </a:r>
            <a:endParaRPr lang="en-US" sz="800" dirty="0"/>
          </a:p>
        </p:txBody>
      </p:sp>
      <p:sp>
        <p:nvSpPr>
          <p:cNvPr id="15" name="Text 13"/>
          <p:cNvSpPr/>
          <p:nvPr/>
        </p:nvSpPr>
        <p:spPr>
          <a:xfrm>
            <a:off x="4394746" y="1499518"/>
            <a:ext cx="4749254" cy="200235"/>
          </a:xfrm>
          <a:prstGeom prst="rect">
            <a:avLst/>
          </a:prstGeom>
          <a:noFill/>
          <a:ln/>
        </p:spPr>
        <p:txBody>
          <a:bodyPr wrap="square" lIns="0" tIns="0" rIns="0" bIns="0" rtlCol="0" anchor="t"/>
          <a:lstStyle/>
          <a:p>
            <a:pPr algn="l" indent="0" marL="0">
              <a:lnSpc>
                <a:spcPts val="1460"/>
              </a:lnSpc>
              <a:buNone/>
            </a:pPr>
            <a:r>
              <a:rPr lang="en-US" sz="1238" dirty="0">
                <a:solidFill>
                  <a:srgbClr val="F5F1E8"/>
                </a:solidFill>
                <a:latin typeface="Tinos" pitchFamily="34" charset="0"/>
                <a:ea typeface="Tinos" pitchFamily="34" charset="-122"/>
                <a:cs typeface="Tinos" pitchFamily="34" charset="-120"/>
              </a:rPr>
              <a:t>An expert-weighted deposit model over an assembled evidence grid.</a:t>
            </a:r>
            <a:endParaRPr lang="en-US" sz="1238" dirty="0"/>
          </a:p>
        </p:txBody>
      </p:sp>
      <p:sp>
        <p:nvSpPr>
          <p:cNvPr id="16" name="Text 14"/>
          <p:cNvSpPr/>
          <p:nvPr/>
        </p:nvSpPr>
        <p:spPr>
          <a:xfrm>
            <a:off x="4398318" y="1788505"/>
            <a:ext cx="4456249" cy="1576983"/>
          </a:xfrm>
          <a:prstGeom prst="roundRect">
            <a:avLst>
              <a:gd name="adj" fmla="val 2416"/>
            </a:avLst>
          </a:prstGeom>
          <a:solidFill>
            <a:srgbClr val="1C2128"/>
          </a:solidFill>
          <a:ln w="7144">
            <a:solidFill>
              <a:srgbClr val="2A2F37"/>
            </a:solidFill>
            <a:prstDash val="solid"/>
          </a:ln>
        </p:spPr>
        <p:txBody>
          <a:bodyPr wrap="square" rtlCol="0" anchor="ctr"/>
          <a:lstStyle/>
          <a:p>
            <a:pPr indent="0" marL="0">
              <a:buNone/>
            </a:pPr>
            <a:endParaRPr lang="en-US" dirty="0"/>
          </a:p>
        </p:txBody>
      </p:sp>
      <p:pic>
        <p:nvPicPr>
          <p:cNvPr id="17" name="Image 0" descr="/tmp/h2p-fit-1786579670820-y11266.png">    </p:cNvPr>
          <p:cNvPicPr>
            <a:picLocks noChangeAspect="1"/>
          </p:cNvPicPr>
          <p:nvPr/>
        </p:nvPicPr>
        <p:blipFill>
          <a:blip r:embed="rId1"/>
          <a:stretch>
            <a:fillRect/>
          </a:stretch>
        </p:blipFill>
        <p:spPr>
          <a:xfrm>
            <a:off x="4401889" y="1792077"/>
            <a:ext cx="4449105" cy="1343025"/>
          </a:xfrm>
          <a:prstGeom prst="rect">
            <a:avLst/>
          </a:prstGeom>
        </p:spPr>
      </p:pic>
      <p:sp>
        <p:nvSpPr>
          <p:cNvPr id="18" name="Text 15"/>
          <p:cNvSpPr/>
          <p:nvPr/>
        </p:nvSpPr>
        <p:spPr>
          <a:xfrm>
            <a:off x="4401889" y="3135102"/>
            <a:ext cx="4449105" cy="226814"/>
          </a:xfrm>
          <a:prstGeom prst="rect">
            <a:avLst/>
          </a:prstGeom>
          <a:solidFill>
            <a:srgbClr val="1C2128"/>
          </a:solidFill>
          <a:ln/>
        </p:spPr>
        <p:txBody>
          <a:bodyPr wrap="square" rtlCol="0" anchor="ctr"/>
          <a:lstStyle/>
          <a:p>
            <a:pPr indent="0" marL="0">
              <a:buNone/>
            </a:pPr>
            <a:endParaRPr lang="en-US" dirty="0"/>
          </a:p>
        </p:txBody>
      </p:sp>
      <p:sp>
        <p:nvSpPr>
          <p:cNvPr id="19" name="Shape 16"/>
          <p:cNvSpPr/>
          <p:nvPr/>
        </p:nvSpPr>
        <p:spPr>
          <a:xfrm>
            <a:off x="4401889" y="3138674"/>
            <a:ext cx="4449105" cy="0"/>
          </a:xfrm>
          <a:prstGeom prst="line">
            <a:avLst/>
          </a:prstGeom>
          <a:noFill/>
          <a:ln w="7144">
            <a:solidFill>
              <a:srgbClr val="2A2F37"/>
            </a:solidFill>
            <a:prstDash val="solid"/>
          </a:ln>
        </p:spPr>
      </p:sp>
      <p:sp>
        <p:nvSpPr>
          <p:cNvPr id="20" name="Text 17"/>
          <p:cNvSpPr/>
          <p:nvPr/>
        </p:nvSpPr>
        <p:spPr>
          <a:xfrm>
            <a:off x="4401889" y="3135102"/>
            <a:ext cx="4449105" cy="226814"/>
          </a:xfrm>
          <a:prstGeom prst="rect">
            <a:avLst/>
          </a:prstGeom>
          <a:noFill/>
          <a:ln/>
        </p:spPr>
        <p:txBody>
          <a:bodyPr wrap="square" lIns="100013" tIns="50006" rIns="100013" bIns="57150" rtlCol="0" anchor="t"/>
          <a:lstStyle/>
          <a:p>
            <a:pPr algn="l" indent="0" marL="0">
              <a:lnSpc>
                <a:spcPts val="886"/>
              </a:lnSpc>
              <a:buNone/>
            </a:pPr>
            <a:r>
              <a:rPr lang="en-US" sz="800" spc="83" kern="0" dirty="0">
                <a:solidFill>
                  <a:srgbClr val="8A8576"/>
                </a:solidFill>
                <a:latin typeface="Courier New" pitchFamily="34" charset="0"/>
                <a:ea typeface="Courier New" pitchFamily="34" charset="-122"/>
                <a:cs typeface="Courier New" pitchFamily="34" charset="-120"/>
              </a:rPr>
              <a:t>PROSPECTIVITY SURFACE — SCORED GRID AS A MAP LAYER, RANKED TARGETS CLUSTERED ON TOP</a:t>
            </a:r>
            <a:endParaRPr lang="en-US" sz="800" dirty="0"/>
          </a:p>
        </p:txBody>
      </p:sp>
      <p:sp>
        <p:nvSpPr>
          <p:cNvPr id="21" name="Shape 18"/>
          <p:cNvSpPr/>
          <p:nvPr/>
        </p:nvSpPr>
        <p:spPr>
          <a:xfrm>
            <a:off x="4394746" y="3633378"/>
            <a:ext cx="4463393" cy="0"/>
          </a:xfrm>
          <a:prstGeom prst="line">
            <a:avLst/>
          </a:prstGeom>
          <a:noFill/>
          <a:ln w="7144">
            <a:solidFill>
              <a:srgbClr val="2A2F37"/>
            </a:solidFill>
            <a:prstDash val="solid"/>
          </a:ln>
        </p:spPr>
      </p:sp>
      <p:sp>
        <p:nvSpPr>
          <p:cNvPr id="22" name="Text 19"/>
          <p:cNvSpPr/>
          <p:nvPr/>
        </p:nvSpPr>
        <p:spPr>
          <a:xfrm>
            <a:off x="4394746" y="3469072"/>
            <a:ext cx="251460" cy="132159"/>
          </a:xfrm>
          <a:prstGeom prst="rect">
            <a:avLst/>
          </a:prstGeom>
          <a:noFill/>
          <a:ln/>
        </p:spPr>
        <p:txBody>
          <a:bodyPr wrap="none" lIns="0" tIns="14288" rIns="0" bIns="0" rtlCol="0" anchor="t"/>
          <a:lstStyle/>
          <a:p>
            <a:pPr algn="l" indent="0" marL="0">
              <a:lnSpc>
                <a:spcPts val="928"/>
              </a:lnSpc>
              <a:buNone/>
            </a:pPr>
            <a:r>
              <a:rPr lang="en-US" sz="800" spc="37" kern="0" dirty="0">
                <a:solidFill>
                  <a:srgbClr val="D4A24A"/>
                </a:solidFill>
                <a:latin typeface="Liberation Sans Narrow" pitchFamily="34" charset="0"/>
                <a:ea typeface="Liberation Sans Narrow" pitchFamily="34" charset="-122"/>
                <a:cs typeface="Liberation Sans Narrow" pitchFamily="34" charset="-120"/>
              </a:rPr>
              <a:t>01</a:t>
            </a:r>
            <a:endParaRPr lang="en-US" sz="800" dirty="0"/>
          </a:p>
        </p:txBody>
      </p:sp>
      <p:sp>
        <p:nvSpPr>
          <p:cNvPr id="23" name="Text 20"/>
          <p:cNvSpPr/>
          <p:nvPr/>
        </p:nvSpPr>
        <p:spPr>
          <a:xfrm>
            <a:off x="4609058" y="3469072"/>
            <a:ext cx="4249080" cy="132159"/>
          </a:xfrm>
          <a:prstGeom prst="rect">
            <a:avLst/>
          </a:prstGeom>
          <a:noFill/>
          <a:ln/>
        </p:spPr>
        <p:txBody>
          <a:bodyPr wrap="square" lIns="0" tIns="0" rIns="0" bIns="0" rtlCol="0" anchor="t"/>
          <a:lstStyle/>
          <a:p>
            <a:pPr algn="l" indent="0" marL="0">
              <a:lnSpc>
                <a:spcPts val="919"/>
              </a:lnSpc>
              <a:buNone/>
            </a:pPr>
            <a:r>
              <a:rPr lang="en-US" sz="647" dirty="0">
                <a:solidFill>
                  <a:srgbClr val="F5F1E8"/>
                </a:solidFill>
                <a:latin typeface="Carlito" pitchFamily="34" charset="0"/>
                <a:ea typeface="Carlito" pitchFamily="34" charset="-122"/>
                <a:cs typeface="Carlito" pitchFamily="34" charset="-120"/>
              </a:rPr>
              <a:t>Run analysis</a:t>
            </a:r>
            <a:pPr algn="l" indent="0" marL="0">
              <a:lnSpc>
                <a:spcPts val="919"/>
              </a:lnSpc>
              <a:buNone/>
            </a:pPr>
            <a:r>
              <a:rPr lang="en-US" sz="647" dirty="0">
                <a:solidFill>
                  <a:srgbClr val="C9C3B5"/>
                </a:solidFill>
                <a:latin typeface="Carlito" pitchFamily="34" charset="0"/>
                <a:ea typeface="Carlito" pitchFamily="34" charset="-122"/>
                <a:cs typeface="Carlito" pitchFamily="34" charset="-120"/>
              </a:rPr>
              <a:t> — one action over whatever evidence the project holds; progress reported live.</a:t>
            </a:r>
            <a:endParaRPr lang="en-US" sz="647" dirty="0"/>
          </a:p>
        </p:txBody>
      </p:sp>
      <p:sp>
        <p:nvSpPr>
          <p:cNvPr id="24" name="Shape 21"/>
          <p:cNvSpPr/>
          <p:nvPr/>
        </p:nvSpPr>
        <p:spPr>
          <a:xfrm>
            <a:off x="4394746" y="3959535"/>
            <a:ext cx="4463393" cy="0"/>
          </a:xfrm>
          <a:prstGeom prst="line">
            <a:avLst/>
          </a:prstGeom>
          <a:noFill/>
          <a:ln w="7144">
            <a:solidFill>
              <a:srgbClr val="2A2F37"/>
            </a:solidFill>
            <a:prstDash val="solid"/>
          </a:ln>
        </p:spPr>
      </p:sp>
      <p:sp>
        <p:nvSpPr>
          <p:cNvPr id="25" name="Text 22"/>
          <p:cNvSpPr/>
          <p:nvPr/>
        </p:nvSpPr>
        <p:spPr>
          <a:xfrm>
            <a:off x="4394746" y="3694100"/>
            <a:ext cx="251460" cy="184543"/>
          </a:xfrm>
          <a:prstGeom prst="rect">
            <a:avLst/>
          </a:prstGeom>
          <a:noFill/>
          <a:ln/>
        </p:spPr>
        <p:txBody>
          <a:bodyPr wrap="none" lIns="0" tIns="14288" rIns="0" bIns="0" rtlCol="0" anchor="t"/>
          <a:lstStyle/>
          <a:p>
            <a:pPr algn="l" indent="0" marL="0">
              <a:lnSpc>
                <a:spcPts val="928"/>
              </a:lnSpc>
              <a:buNone/>
            </a:pPr>
            <a:r>
              <a:rPr lang="en-US" sz="800" spc="37" kern="0" dirty="0">
                <a:solidFill>
                  <a:srgbClr val="D4A24A"/>
                </a:solidFill>
                <a:latin typeface="Liberation Sans Narrow" pitchFamily="34" charset="0"/>
                <a:ea typeface="Liberation Sans Narrow" pitchFamily="34" charset="-122"/>
                <a:cs typeface="Liberation Sans Narrow" pitchFamily="34" charset="-120"/>
              </a:rPr>
              <a:t>02</a:t>
            </a:r>
            <a:endParaRPr lang="en-US" sz="800" dirty="0"/>
          </a:p>
        </p:txBody>
      </p:sp>
      <p:sp>
        <p:nvSpPr>
          <p:cNvPr id="26" name="Text 23"/>
          <p:cNvSpPr/>
          <p:nvPr/>
        </p:nvSpPr>
        <p:spPr>
          <a:xfrm>
            <a:off x="4609058" y="3694100"/>
            <a:ext cx="4249080" cy="233288"/>
          </a:xfrm>
          <a:prstGeom prst="rect">
            <a:avLst/>
          </a:prstGeom>
          <a:noFill/>
          <a:ln/>
        </p:spPr>
        <p:txBody>
          <a:bodyPr wrap="square" lIns="0" tIns="0" rIns="0" bIns="0" rtlCol="0" anchor="t"/>
          <a:lstStyle/>
          <a:p>
            <a:pPr algn="l" indent="0" marL="0">
              <a:lnSpc>
                <a:spcPts val="919"/>
              </a:lnSpc>
              <a:buNone/>
            </a:pPr>
            <a:r>
              <a:rPr lang="en-US" sz="800" dirty="0">
                <a:solidFill>
                  <a:srgbClr val="F5F1E8"/>
                </a:solidFill>
                <a:latin typeface="Carlito" pitchFamily="34" charset="0"/>
                <a:ea typeface="Carlito" pitchFamily="34" charset="-122"/>
                <a:cs typeface="Carlito" pitchFamily="34" charset="-120"/>
              </a:rPr>
              <a:t>Evidence grid</a:t>
            </a:r>
            <a:pPr algn="l" indent="0" marL="0">
              <a:lnSpc>
                <a:spcPts val="919"/>
              </a:lnSpc>
              <a:buNone/>
            </a:pPr>
            <a:r>
              <a:rPr lang="en-US" sz="800" dirty="0">
                <a:solidFill>
                  <a:srgbClr val="C9C3B5"/>
                </a:solidFill>
                <a:latin typeface="Carlito" pitchFamily="34" charset="0"/>
                <a:ea typeface="Carlito" pitchFamily="34" charset="-122"/>
                <a:cs typeface="Carlito" pitchFamily="34" charset="-120"/>
              </a:rPr>
              <a:t> — per cell: magnetics, alteration, geochem anomaly, lithology, slope, road distance, deposit proximity, protected-area status.</a:t>
            </a:r>
            <a:endParaRPr lang="en-US" sz="800" dirty="0"/>
          </a:p>
        </p:txBody>
      </p:sp>
      <p:sp>
        <p:nvSpPr>
          <p:cNvPr id="27" name="Shape 24"/>
          <p:cNvSpPr/>
          <p:nvPr/>
        </p:nvSpPr>
        <p:spPr>
          <a:xfrm>
            <a:off x="4394746" y="4184563"/>
            <a:ext cx="4463393" cy="0"/>
          </a:xfrm>
          <a:prstGeom prst="line">
            <a:avLst/>
          </a:prstGeom>
          <a:noFill/>
          <a:ln w="7144">
            <a:solidFill>
              <a:srgbClr val="2A2F37"/>
            </a:solidFill>
            <a:prstDash val="solid"/>
          </a:ln>
        </p:spPr>
      </p:sp>
      <p:sp>
        <p:nvSpPr>
          <p:cNvPr id="28" name="Text 25"/>
          <p:cNvSpPr/>
          <p:nvPr/>
        </p:nvSpPr>
        <p:spPr>
          <a:xfrm>
            <a:off x="4394746" y="4020257"/>
            <a:ext cx="251460" cy="132159"/>
          </a:xfrm>
          <a:prstGeom prst="rect">
            <a:avLst/>
          </a:prstGeom>
          <a:noFill/>
          <a:ln/>
        </p:spPr>
        <p:txBody>
          <a:bodyPr wrap="none" lIns="0" tIns="14288" rIns="0" bIns="0" rtlCol="0" anchor="t"/>
          <a:lstStyle/>
          <a:p>
            <a:pPr algn="l" indent="0" marL="0">
              <a:lnSpc>
                <a:spcPts val="928"/>
              </a:lnSpc>
              <a:buNone/>
            </a:pPr>
            <a:r>
              <a:rPr lang="en-US" sz="800" spc="37" kern="0" dirty="0">
                <a:solidFill>
                  <a:srgbClr val="D4A24A"/>
                </a:solidFill>
                <a:latin typeface="Liberation Sans Narrow" pitchFamily="34" charset="0"/>
                <a:ea typeface="Liberation Sans Narrow" pitchFamily="34" charset="-122"/>
                <a:cs typeface="Liberation Sans Narrow" pitchFamily="34" charset="-120"/>
              </a:rPr>
              <a:t>03</a:t>
            </a:r>
            <a:endParaRPr lang="en-US" sz="800" dirty="0"/>
          </a:p>
        </p:txBody>
      </p:sp>
      <p:sp>
        <p:nvSpPr>
          <p:cNvPr id="29" name="Text 26"/>
          <p:cNvSpPr/>
          <p:nvPr/>
        </p:nvSpPr>
        <p:spPr>
          <a:xfrm>
            <a:off x="4609058" y="4020257"/>
            <a:ext cx="4249080" cy="132159"/>
          </a:xfrm>
          <a:prstGeom prst="rect">
            <a:avLst/>
          </a:prstGeom>
          <a:noFill/>
          <a:ln/>
        </p:spPr>
        <p:txBody>
          <a:bodyPr wrap="square" lIns="0" tIns="0" rIns="0" bIns="0" rtlCol="0" anchor="t"/>
          <a:lstStyle/>
          <a:p>
            <a:pPr algn="l" indent="0" marL="0">
              <a:lnSpc>
                <a:spcPts val="919"/>
              </a:lnSpc>
              <a:buNone/>
            </a:pPr>
            <a:r>
              <a:rPr lang="en-US" sz="647" dirty="0">
                <a:solidFill>
                  <a:srgbClr val="F5F1E8"/>
                </a:solidFill>
                <a:latin typeface="Carlito" pitchFamily="34" charset="0"/>
                <a:ea typeface="Carlito" pitchFamily="34" charset="-122"/>
                <a:cs typeface="Carlito" pitchFamily="34" charset="-120"/>
              </a:rPr>
              <a:t>Prospectivity scoring</a:t>
            </a:r>
            <a:pPr algn="l" indent="0" marL="0">
              <a:lnSpc>
                <a:spcPts val="919"/>
              </a:lnSpc>
              <a:buNone/>
            </a:pPr>
            <a:r>
              <a:rPr lang="en-US" sz="647" dirty="0">
                <a:solidFill>
                  <a:srgbClr val="C9C3B5"/>
                </a:solidFill>
                <a:latin typeface="Carlito" pitchFamily="34" charset="0"/>
                <a:ea typeface="Carlito" pitchFamily="34" charset="-122"/>
                <a:cs typeface="Carlito" pitchFamily="34" charset="-120"/>
              </a:rPr>
              <a:t> — orogenic-gold model with published weights; 0–100 per cell.</a:t>
            </a:r>
            <a:endParaRPr lang="en-US" sz="647" dirty="0"/>
          </a:p>
        </p:txBody>
      </p:sp>
      <p:sp>
        <p:nvSpPr>
          <p:cNvPr id="30" name="Shape 27"/>
          <p:cNvSpPr/>
          <p:nvPr/>
        </p:nvSpPr>
        <p:spPr>
          <a:xfrm>
            <a:off x="4394746" y="4409591"/>
            <a:ext cx="4463393" cy="0"/>
          </a:xfrm>
          <a:prstGeom prst="line">
            <a:avLst/>
          </a:prstGeom>
          <a:noFill/>
          <a:ln w="7144">
            <a:solidFill>
              <a:srgbClr val="2A2F37"/>
            </a:solidFill>
            <a:prstDash val="solid"/>
          </a:ln>
        </p:spPr>
      </p:sp>
      <p:sp>
        <p:nvSpPr>
          <p:cNvPr id="31" name="Text 28"/>
          <p:cNvSpPr/>
          <p:nvPr/>
        </p:nvSpPr>
        <p:spPr>
          <a:xfrm>
            <a:off x="4394746" y="4245285"/>
            <a:ext cx="251460" cy="132159"/>
          </a:xfrm>
          <a:prstGeom prst="rect">
            <a:avLst/>
          </a:prstGeom>
          <a:noFill/>
          <a:ln/>
        </p:spPr>
        <p:txBody>
          <a:bodyPr wrap="none" lIns="0" tIns="14288" rIns="0" bIns="0" rtlCol="0" anchor="t"/>
          <a:lstStyle/>
          <a:p>
            <a:pPr algn="l" indent="0" marL="0">
              <a:lnSpc>
                <a:spcPts val="928"/>
              </a:lnSpc>
              <a:buNone/>
            </a:pPr>
            <a:r>
              <a:rPr lang="en-US" sz="800" spc="37" kern="0" dirty="0">
                <a:solidFill>
                  <a:srgbClr val="D4A24A"/>
                </a:solidFill>
                <a:latin typeface="Liberation Sans Narrow" pitchFamily="34" charset="0"/>
                <a:ea typeface="Liberation Sans Narrow" pitchFamily="34" charset="-122"/>
                <a:cs typeface="Liberation Sans Narrow" pitchFamily="34" charset="-120"/>
              </a:rPr>
              <a:t>04</a:t>
            </a:r>
            <a:endParaRPr lang="en-US" sz="800" dirty="0"/>
          </a:p>
        </p:txBody>
      </p:sp>
      <p:sp>
        <p:nvSpPr>
          <p:cNvPr id="32" name="Text 29"/>
          <p:cNvSpPr/>
          <p:nvPr/>
        </p:nvSpPr>
        <p:spPr>
          <a:xfrm>
            <a:off x="4609058" y="4245285"/>
            <a:ext cx="4249080" cy="132159"/>
          </a:xfrm>
          <a:prstGeom prst="rect">
            <a:avLst/>
          </a:prstGeom>
          <a:noFill/>
          <a:ln/>
        </p:spPr>
        <p:txBody>
          <a:bodyPr wrap="square" lIns="0" tIns="0" rIns="0" bIns="0" rtlCol="0" anchor="t"/>
          <a:lstStyle/>
          <a:p>
            <a:pPr algn="l" indent="0" marL="0">
              <a:lnSpc>
                <a:spcPts val="919"/>
              </a:lnSpc>
              <a:buNone/>
            </a:pPr>
            <a:r>
              <a:rPr lang="en-US" sz="647" dirty="0">
                <a:solidFill>
                  <a:srgbClr val="F5F1E8"/>
                </a:solidFill>
                <a:latin typeface="Carlito" pitchFamily="34" charset="0"/>
                <a:ea typeface="Carlito" pitchFamily="34" charset="-122"/>
                <a:cs typeface="Carlito" pitchFamily="34" charset="-120"/>
              </a:rPr>
              <a:t>Ranked drill targets</a:t>
            </a:r>
            <a:pPr algn="l" indent="0" marL="0">
              <a:lnSpc>
                <a:spcPts val="919"/>
              </a:lnSpc>
              <a:buNone/>
            </a:pPr>
            <a:r>
              <a:rPr lang="en-US" sz="647" dirty="0">
                <a:solidFill>
                  <a:srgbClr val="C9C3B5"/>
                </a:solidFill>
                <a:latin typeface="Carlito" pitchFamily="34" charset="0"/>
                <a:ea typeface="Carlito" pitchFamily="34" charset="-122"/>
                <a:cs typeface="Carlito" pitchFamily="34" charset="-120"/>
              </a:rPr>
              <a:t> — highest cells clustered into distinct targets; rank, score, dual coords, depth-to-source.</a:t>
            </a:r>
            <a:endParaRPr lang="en-US" sz="647" dirty="0"/>
          </a:p>
        </p:txBody>
      </p:sp>
      <p:sp>
        <p:nvSpPr>
          <p:cNvPr id="33" name="Text 30"/>
          <p:cNvSpPr/>
          <p:nvPr/>
        </p:nvSpPr>
        <p:spPr>
          <a:xfrm>
            <a:off x="4394746" y="4470313"/>
            <a:ext cx="251460" cy="184543"/>
          </a:xfrm>
          <a:prstGeom prst="rect">
            <a:avLst/>
          </a:prstGeom>
          <a:noFill/>
          <a:ln/>
        </p:spPr>
        <p:txBody>
          <a:bodyPr wrap="none" lIns="0" tIns="14288" rIns="0" bIns="0" rtlCol="0" anchor="t"/>
          <a:lstStyle/>
          <a:p>
            <a:pPr algn="l" indent="0" marL="0">
              <a:lnSpc>
                <a:spcPts val="928"/>
              </a:lnSpc>
              <a:buNone/>
            </a:pPr>
            <a:r>
              <a:rPr lang="en-US" sz="800" spc="37" kern="0" dirty="0">
                <a:solidFill>
                  <a:srgbClr val="D4A24A"/>
                </a:solidFill>
                <a:latin typeface="Liberation Sans Narrow" pitchFamily="34" charset="0"/>
                <a:ea typeface="Liberation Sans Narrow" pitchFamily="34" charset="-122"/>
                <a:cs typeface="Liberation Sans Narrow" pitchFamily="34" charset="-120"/>
              </a:rPr>
              <a:t>05</a:t>
            </a:r>
            <a:endParaRPr lang="en-US" sz="800" dirty="0"/>
          </a:p>
        </p:txBody>
      </p:sp>
      <p:sp>
        <p:nvSpPr>
          <p:cNvPr id="34" name="Text 31"/>
          <p:cNvSpPr/>
          <p:nvPr/>
        </p:nvSpPr>
        <p:spPr>
          <a:xfrm>
            <a:off x="4609058" y="4470313"/>
            <a:ext cx="4249080" cy="155796"/>
          </a:xfrm>
          <a:prstGeom prst="rect">
            <a:avLst/>
          </a:prstGeom>
          <a:noFill/>
          <a:ln/>
        </p:spPr>
        <p:txBody>
          <a:bodyPr wrap="square" lIns="0" tIns="0" rIns="0" bIns="0" rtlCol="0" anchor="t"/>
          <a:lstStyle/>
          <a:p>
            <a:pPr algn="l" indent="0" marL="0">
              <a:lnSpc>
                <a:spcPts val="919"/>
              </a:lnSpc>
              <a:buNone/>
            </a:pPr>
            <a:r>
              <a:rPr lang="en-US" sz="647" dirty="0">
                <a:solidFill>
                  <a:srgbClr val="F5F1E8"/>
                </a:solidFill>
                <a:latin typeface="Carlito" pitchFamily="34" charset="0"/>
                <a:ea typeface="Carlito" pitchFamily="34" charset="-122"/>
                <a:cs typeface="Carlito" pitchFamily="34" charset="-120"/>
              </a:rPr>
              <a:t>Provenance panel</a:t>
            </a:r>
            <a:pPr algn="l" indent="0" marL="0">
              <a:lnSpc>
                <a:spcPts val="919"/>
              </a:lnSpc>
              <a:buNone/>
            </a:pPr>
            <a:r>
              <a:rPr lang="en-US" sz="647" dirty="0">
                <a:solidFill>
                  <a:srgbClr val="C9C3B5"/>
                </a:solidFill>
                <a:latin typeface="Carlito" pitchFamily="34" charset="0"/>
                <a:ea typeface="Carlito" pitchFamily="34" charset="-122"/>
                <a:cs typeface="Carlito" pitchFamily="34" charset="-120"/>
              </a:rPr>
              <a:t> — per target: datasets, checksums, processing steps, evidence contributions, model version.</a:t>
            </a:r>
            <a:endParaRPr lang="en-US" sz="647" dirty="0"/>
          </a:p>
        </p:txBody>
      </p:sp>
      <p:sp>
        <p:nvSpPr>
          <p:cNvPr id="35" name="Text 32"/>
          <p:cNvSpPr/>
          <p:nvPr/>
        </p:nvSpPr>
        <p:spPr>
          <a:xfrm>
            <a:off x="4394746" y="4688198"/>
            <a:ext cx="4463393" cy="190649"/>
          </a:xfrm>
          <a:prstGeom prst="roundRect">
            <a:avLst>
              <a:gd name="adj" fmla="val 9992"/>
            </a:avLst>
          </a:prstGeom>
          <a:solidFill>
            <a:srgbClr val="D4A24A">
              <a:alpha val="8000"/>
            </a:srgbClr>
          </a:solidFill>
          <a:ln/>
        </p:spPr>
        <p:txBody>
          <a:bodyPr wrap="square" rtlCol="0" anchor="ctr"/>
          <a:lstStyle/>
          <a:p>
            <a:pPr indent="0" marL="0">
              <a:buNone/>
            </a:pPr>
            <a:endParaRPr lang="en-US" dirty="0"/>
          </a:p>
        </p:txBody>
      </p:sp>
      <p:sp>
        <p:nvSpPr>
          <p:cNvPr id="36" name="Shape 33"/>
          <p:cNvSpPr/>
          <p:nvPr/>
        </p:nvSpPr>
        <p:spPr>
          <a:xfrm>
            <a:off x="4401889" y="4688198"/>
            <a:ext cx="0" cy="190649"/>
          </a:xfrm>
          <a:prstGeom prst="line">
            <a:avLst/>
          </a:prstGeom>
          <a:noFill/>
          <a:ln w="14288">
            <a:solidFill>
              <a:srgbClr val="D4A24A"/>
            </a:solidFill>
            <a:prstDash val="solid"/>
          </a:ln>
        </p:spPr>
      </p:sp>
      <p:sp>
        <p:nvSpPr>
          <p:cNvPr id="37" name="Text 34"/>
          <p:cNvSpPr/>
          <p:nvPr/>
        </p:nvSpPr>
        <p:spPr>
          <a:xfrm>
            <a:off x="4394746" y="4688198"/>
            <a:ext cx="4463393" cy="278892"/>
          </a:xfrm>
          <a:prstGeom prst="rect">
            <a:avLst/>
          </a:prstGeom>
          <a:noFill/>
          <a:ln/>
        </p:spPr>
        <p:txBody>
          <a:bodyPr wrap="square" lIns="71438" tIns="42863" rIns="71438" bIns="42863" rtlCol="0" anchor="t"/>
          <a:lstStyle/>
          <a:p>
            <a:pPr algn="l" indent="0" marL="0">
              <a:lnSpc>
                <a:spcPts val="827"/>
              </a:lnSpc>
              <a:buNone/>
            </a:pPr>
            <a:r>
              <a:rPr lang="en-US" sz="800" spc="83" kern="0" dirty="0">
                <a:solidFill>
                  <a:srgbClr val="D4A24A"/>
                </a:solidFill>
                <a:latin typeface="Courier New" pitchFamily="34" charset="0"/>
                <a:ea typeface="Courier New" pitchFamily="34" charset="-122"/>
                <a:cs typeface="Courier New" pitchFamily="34" charset="-120"/>
              </a:rPr>
              <a:t>QP ANNOTATION — NOTES, REVIEW STATUS, REVIEWER NAME &amp; DATE — PERSISTED INTO EVERY EXPORT</a:t>
            </a:r>
            <a:endParaRPr lang="en-US" sz="800" dirty="0"/>
          </a:p>
        </p:txBody>
      </p:sp>
      <p:sp>
        <p:nvSpPr>
          <p:cNvPr id="38" name="Shape 35"/>
          <p:cNvSpPr/>
          <p:nvPr/>
        </p:nvSpPr>
        <p:spPr>
          <a:xfrm>
            <a:off x="514350" y="4449887"/>
            <a:ext cx="8115300" cy="0"/>
          </a:xfrm>
          <a:prstGeom prst="line">
            <a:avLst/>
          </a:prstGeom>
          <a:noFill/>
          <a:ln w="7144">
            <a:solidFill>
              <a:srgbClr val="2A2F37"/>
            </a:solidFill>
            <a:prstDash val="solid"/>
          </a:ln>
        </p:spPr>
      </p:sp>
      <p:sp>
        <p:nvSpPr>
          <p:cNvPr id="39" name="Text 36"/>
          <p:cNvSpPr/>
          <p:nvPr/>
        </p:nvSpPr>
        <p:spPr>
          <a:xfrm>
            <a:off x="491490" y="4543304"/>
            <a:ext cx="1188720" cy="196025"/>
          </a:xfrm>
          <a:prstGeom prst="roundRect">
            <a:avLst>
              <a:gd name="adj" fmla="val 9718"/>
            </a:avLst>
          </a:prstGeom>
          <a:solidFill>
            <a:srgbClr val="4A8F6B">
              <a:alpha val="10000"/>
            </a:srgbClr>
          </a:solidFill>
          <a:ln/>
        </p:spPr>
        <p:txBody>
          <a:bodyPr wrap="square" rtlCol="0" anchor="ctr"/>
          <a:lstStyle/>
          <a:p>
            <a:pPr indent="0" marL="0">
              <a:buNone/>
            </a:pPr>
            <a:endParaRPr lang="en-US" dirty="0"/>
          </a:p>
        </p:txBody>
      </p:sp>
      <p:sp>
        <p:nvSpPr>
          <p:cNvPr id="40" name="Shape 37"/>
          <p:cNvSpPr/>
          <p:nvPr/>
        </p:nvSpPr>
        <p:spPr>
          <a:xfrm>
            <a:off x="521494" y="4553806"/>
            <a:ext cx="0" cy="175022"/>
          </a:xfrm>
          <a:prstGeom prst="line">
            <a:avLst/>
          </a:prstGeom>
          <a:noFill/>
          <a:ln w="14288">
            <a:solidFill>
              <a:srgbClr val="4A8F6B"/>
            </a:solidFill>
            <a:prstDash val="solid"/>
          </a:ln>
        </p:spPr>
      </p:sp>
      <p:sp>
        <p:nvSpPr>
          <p:cNvPr id="41" name="Text 38"/>
          <p:cNvSpPr/>
          <p:nvPr/>
        </p:nvSpPr>
        <p:spPr>
          <a:xfrm>
            <a:off x="514350" y="4553806"/>
            <a:ext cx="1143000" cy="175022"/>
          </a:xfrm>
          <a:prstGeom prst="rect">
            <a:avLst/>
          </a:prstGeom>
          <a:noFill/>
          <a:ln/>
        </p:spPr>
        <p:txBody>
          <a:bodyPr wrap="none" lIns="0" tIns="0" rIns="0" bIns="0" rtlCol="0" anchor="ctr"/>
          <a:lstStyle/>
          <a:p>
            <a:pPr algn="ctr" indent="0" marL="0">
              <a:lnSpc>
                <a:spcPts val="928"/>
              </a:lnSpc>
              <a:buNone/>
            </a:pPr>
            <a:r>
              <a:rPr lang="en-US" sz="800" spc="124" kern="0" dirty="0">
                <a:solidFill>
                  <a:srgbClr val="4A8F6B"/>
                </a:solidFill>
                <a:latin typeface="Courier New" pitchFamily="34" charset="0"/>
                <a:ea typeface="Courier New" pitchFamily="34" charset="-122"/>
                <a:cs typeface="Courier New" pitchFamily="34" charset="-120"/>
              </a:rPr>
              <a:t>THE IMPACT</a:t>
            </a:r>
            <a:endParaRPr lang="en-US" sz="800" dirty="0"/>
          </a:p>
        </p:txBody>
      </p:sp>
      <p:sp>
        <p:nvSpPr>
          <p:cNvPr id="42" name="Text 39"/>
          <p:cNvSpPr/>
          <p:nvPr/>
        </p:nvSpPr>
        <p:spPr>
          <a:xfrm>
            <a:off x="1828800" y="4539183"/>
            <a:ext cx="6800850" cy="204267"/>
          </a:xfrm>
          <a:prstGeom prst="rect">
            <a:avLst/>
          </a:prstGeom>
          <a:noFill/>
          <a:ln/>
        </p:spPr>
        <p:txBody>
          <a:bodyPr wrap="square" lIns="0" tIns="0" rIns="0" bIns="0" rtlCol="0" anchor="t"/>
          <a:lstStyle/>
          <a:p>
            <a:pPr algn="l" indent="0" marL="0">
              <a:lnSpc>
                <a:spcPts val="1609"/>
              </a:lnSpc>
              <a:buNone/>
            </a:pPr>
            <a:r>
              <a:rPr lang="en-US" sz="1238" i="1" dirty="0">
                <a:solidFill>
                  <a:srgbClr val="F5F1E8"/>
                </a:solidFill>
                <a:latin typeface="Tinos" pitchFamily="34" charset="0"/>
                <a:ea typeface="Tinos" pitchFamily="34" charset="-122"/>
                <a:cs typeface="Tinos" pitchFamily="34" charset="-120"/>
              </a:rPr>
              <a:t>A defensible drill target list — not a polygon someone has to vouch for from memory.</a:t>
            </a:r>
            <a:endParaRPr lang="en-US" sz="1238" dirty="0"/>
          </a:p>
        </p:txBody>
      </p:sp>
      <p:sp>
        <p:nvSpPr>
          <p:cNvPr id="43" name="Shape 40"/>
          <p:cNvSpPr/>
          <p:nvPr/>
        </p:nvSpPr>
        <p:spPr>
          <a:xfrm>
            <a:off x="514350" y="4736306"/>
            <a:ext cx="8115300" cy="0"/>
          </a:xfrm>
          <a:prstGeom prst="line">
            <a:avLst/>
          </a:prstGeom>
          <a:noFill/>
          <a:ln w="7144">
            <a:solidFill>
              <a:srgbClr val="2A2F37"/>
            </a:solidFill>
            <a:prstDash val="solid"/>
          </a:ln>
        </p:spPr>
      </p:sp>
      <p:sp>
        <p:nvSpPr>
          <p:cNvPr id="44" name="Text 41"/>
          <p:cNvSpPr/>
          <p:nvPr/>
        </p:nvSpPr>
        <p:spPr>
          <a:xfrm>
            <a:off x="514350" y="4825603"/>
            <a:ext cx="7748960" cy="117872"/>
          </a:xfrm>
          <a:prstGeom prst="rect">
            <a:avLst/>
          </a:prstGeom>
          <a:noFill/>
          <a:ln/>
        </p:spPr>
        <p:txBody>
          <a:bodyPr wrap="square" lIns="0" tIns="0" rIns="0" bIns="0" rtlCol="0" anchor="t"/>
          <a:lstStyle/>
          <a:p>
            <a:pPr algn="l" indent="0" marL="0">
              <a:lnSpc>
                <a:spcPts val="928"/>
              </a:lnSpc>
              <a:buNone/>
            </a:pPr>
            <a:r>
              <a:rPr lang="en-US" sz="800" spc="87" kern="0" dirty="0">
                <a:solidFill>
                  <a:srgbClr val="8A8576"/>
                </a:solidFill>
                <a:latin typeface="Liberation Sans Narrow" pitchFamily="34" charset="0"/>
                <a:ea typeface="Liberation Sans Narrow" pitchFamily="34" charset="-122"/>
                <a:cs typeface="Liberation Sans Narrow" pitchFamily="34" charset="-120"/>
              </a:rPr>
              <a:t>RANKED DRILL TARGETS — 7 FEATURES</a:t>
            </a:r>
            <a:endParaRPr lang="en-US" sz="800" dirty="0"/>
          </a:p>
        </p:txBody>
      </p:sp>
      <p:sp>
        <p:nvSpPr>
          <p:cNvPr id="45" name="Text 42"/>
          <p:cNvSpPr/>
          <p:nvPr/>
        </p:nvSpPr>
        <p:spPr>
          <a:xfrm>
            <a:off x="8277597" y="4825603"/>
            <a:ext cx="352053" cy="117872"/>
          </a:xfrm>
          <a:prstGeom prst="rect">
            <a:avLst/>
          </a:prstGeom>
          <a:noFill/>
          <a:ln/>
        </p:spPr>
        <p:txBody>
          <a:bodyPr wrap="none" lIns="0" tIns="0" rIns="0" bIns="0" rtlCol="0" anchor="t"/>
          <a:lstStyle/>
          <a:p>
            <a:pPr algn="l" indent="0" marL="0">
              <a:lnSpc>
                <a:spcPts val="928"/>
              </a:lnSpc>
              <a:buNone/>
            </a:pPr>
            <a:r>
              <a:rPr lang="en-US" sz="619" spc="87" kern="0" dirty="0">
                <a:solidFill>
                  <a:srgbClr val="8A8576"/>
                </a:solidFill>
                <a:latin typeface="Liberation Sans Narrow" pitchFamily="34" charset="0"/>
                <a:ea typeface="Liberation Sans Narrow" pitchFamily="34" charset="-122"/>
                <a:cs typeface="Liberation Sans Narrow" pitchFamily="34" charset="-120"/>
              </a:rPr>
              <a:t>08 / 12</a:t>
            </a:r>
            <a:endParaRPr lang="en-US" sz="619"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F1115"/>
        </a:solidFill>
      </p:bgPr>
    </p:bg>
    <p:spTree>
      <p:nvGrpSpPr>
        <p:cNvPr id="1" name=""/>
        <p:cNvGrpSpPr/>
        <p:nvPr/>
      </p:nvGrpSpPr>
      <p:grpSpPr>
        <a:xfrm>
          <a:off x="0" y="0"/>
          <a:ext cx="0" cy="0"/>
          <a:chOff x="0" y="0"/>
          <a:chExt cx="0" cy="0"/>
        </a:xfrm>
      </p:grpSpPr>
      <p:sp>
        <p:nvSpPr>
          <p:cNvPr id="2" name="Text 0"/>
          <p:cNvSpPr/>
          <p:nvPr/>
        </p:nvSpPr>
        <p:spPr>
          <a:xfrm>
            <a:off x="514350" y="200025"/>
            <a:ext cx="2326933" cy="164592"/>
          </a:xfrm>
          <a:prstGeom prst="rect">
            <a:avLst/>
          </a:prstGeom>
          <a:noFill/>
          <a:ln/>
        </p:spPr>
        <p:txBody>
          <a:bodyPr wrap="square" lIns="0" tIns="0" rIns="0" bIns="0" rtlCol="0" anchor="t"/>
          <a:lstStyle/>
          <a:p>
            <a:pPr algn="l" indent="0" marL="0">
              <a:lnSpc>
                <a:spcPts val="928"/>
              </a:lnSpc>
              <a:buNone/>
            </a:pPr>
            <a:r>
              <a:rPr lang="en-US" sz="619" spc="111" kern="0" dirty="0">
                <a:solidFill>
                  <a:srgbClr val="8A8576"/>
                </a:solidFill>
                <a:latin typeface="Courier New" pitchFamily="34" charset="0"/>
                <a:ea typeface="Courier New" pitchFamily="34" charset="-122"/>
                <a:cs typeface="Courier New" pitchFamily="34" charset="-120"/>
              </a:rPr>
              <a:t>TERRAPULSE × GOLD FIELDS GHANA / 2026</a:t>
            </a:r>
            <a:endParaRPr lang="en-US" sz="619" dirty="0"/>
          </a:p>
        </p:txBody>
      </p:sp>
      <p:sp>
        <p:nvSpPr>
          <p:cNvPr id="3" name="Text 1"/>
          <p:cNvSpPr/>
          <p:nvPr/>
        </p:nvSpPr>
        <p:spPr>
          <a:xfrm>
            <a:off x="8299586" y="200025"/>
            <a:ext cx="474415" cy="164592"/>
          </a:xfrm>
          <a:prstGeom prst="rect">
            <a:avLst/>
          </a:prstGeom>
          <a:noFill/>
          <a:ln/>
        </p:spPr>
        <p:txBody>
          <a:bodyPr wrap="none" lIns="0" tIns="0" rIns="0" bIns="0" rtlCol="0" anchor="t"/>
          <a:lstStyle/>
          <a:p>
            <a:pPr algn="l" indent="0" marL="0">
              <a:lnSpc>
                <a:spcPts val="928"/>
              </a:lnSpc>
              <a:buNone/>
            </a:pPr>
            <a:r>
              <a:rPr lang="en-US" sz="800" spc="62" kern="0" dirty="0">
                <a:solidFill>
                  <a:srgbClr val="8A8576"/>
                </a:solidFill>
                <a:latin typeface="Liberation Sans Narrow" pitchFamily="34" charset="0"/>
                <a:ea typeface="Liberation Sans Narrow" pitchFamily="34" charset="-122"/>
                <a:cs typeface="Liberation Sans Narrow" pitchFamily="34" charset="-120"/>
              </a:rPr>
              <a:t>09 / 12</a:t>
            </a:r>
            <a:endParaRPr lang="en-US" sz="800" dirty="0"/>
          </a:p>
        </p:txBody>
      </p:sp>
      <p:sp>
        <p:nvSpPr>
          <p:cNvPr id="4" name="Text 2"/>
          <p:cNvSpPr/>
          <p:nvPr/>
        </p:nvSpPr>
        <p:spPr>
          <a:xfrm>
            <a:off x="514350" y="500063"/>
            <a:ext cx="8629650" cy="164592"/>
          </a:xfrm>
          <a:prstGeom prst="rect">
            <a:avLst/>
          </a:prstGeom>
          <a:noFill/>
          <a:ln/>
        </p:spPr>
        <p:txBody>
          <a:bodyPr wrap="square" lIns="0" tIns="0" rIns="0" bIns="0" rtlCol="0" anchor="t"/>
          <a:lstStyle/>
          <a:p>
            <a:pPr algn="l" indent="0" marL="0">
              <a:lnSpc>
                <a:spcPts val="1013"/>
              </a:lnSpc>
              <a:buNone/>
            </a:pPr>
            <a:r>
              <a:rPr lang="en-US" sz="800" spc="149" kern="0" dirty="0">
                <a:solidFill>
                  <a:srgbClr val="D4A24A"/>
                </a:solidFill>
                <a:latin typeface="Courier New" pitchFamily="34" charset="0"/>
                <a:ea typeface="Courier New" pitchFamily="34" charset="-122"/>
                <a:cs typeface="Courier New" pitchFamily="34" charset="-120"/>
              </a:rPr>
              <a:t>FEATURE GROUP 05 — EXPLORATION COPILOT (V2, 14 TOOLS)</a:t>
            </a:r>
            <a:endParaRPr lang="en-US" sz="800" dirty="0"/>
          </a:p>
        </p:txBody>
      </p:sp>
      <p:sp>
        <p:nvSpPr>
          <p:cNvPr id="5" name="Text 3"/>
          <p:cNvSpPr/>
          <p:nvPr/>
        </p:nvSpPr>
        <p:spPr>
          <a:xfrm>
            <a:off x="514350" y="700088"/>
            <a:ext cx="7715250" cy="703534"/>
          </a:xfrm>
          <a:prstGeom prst="rect">
            <a:avLst/>
          </a:prstGeom>
          <a:noFill/>
          <a:ln/>
        </p:spPr>
        <p:txBody>
          <a:bodyPr wrap="square" lIns="0" tIns="0" rIns="0" bIns="0" rtlCol="0" anchor="t"/>
          <a:lstStyle/>
          <a:p>
            <a:pPr algn="l" indent="0" marL="0">
              <a:lnSpc>
                <a:spcPts val="2565"/>
              </a:lnSpc>
              <a:buNone/>
            </a:pPr>
            <a:r>
              <a:rPr lang="en-US" sz="2250" spc="-23" kern="0" dirty="0">
                <a:solidFill>
                  <a:srgbClr val="F5F1E8"/>
                </a:solidFill>
                <a:latin typeface="Tinos" pitchFamily="34" charset="0"/>
                <a:ea typeface="Tinos" pitchFamily="34" charset="-122"/>
                <a:cs typeface="Tinos" pitchFamily="34" charset="-120"/>
              </a:rPr>
              <a:t>An assistant that can only read your project — and has to cite what it used.</a:t>
            </a:r>
            <a:endParaRPr lang="en-US" sz="2250" dirty="0"/>
          </a:p>
        </p:txBody>
      </p:sp>
      <p:sp>
        <p:nvSpPr>
          <p:cNvPr id="6" name="Text 4"/>
          <p:cNvSpPr/>
          <p:nvPr/>
        </p:nvSpPr>
        <p:spPr>
          <a:xfrm>
            <a:off x="514350" y="1408658"/>
            <a:ext cx="342900" cy="14288"/>
          </a:xfrm>
          <a:prstGeom prst="rect">
            <a:avLst/>
          </a:prstGeom>
          <a:solidFill>
            <a:srgbClr val="D4A24A"/>
          </a:solidFill>
          <a:ln/>
        </p:spPr>
        <p:txBody>
          <a:bodyPr wrap="square" rtlCol="0" anchor="ctr"/>
          <a:lstStyle/>
          <a:p>
            <a:pPr indent="0" marL="0">
              <a:buNone/>
            </a:pPr>
            <a:endParaRPr lang="en-US" dirty="0"/>
          </a:p>
        </p:txBody>
      </p:sp>
      <p:sp>
        <p:nvSpPr>
          <p:cNvPr id="7" name="Text 5"/>
          <p:cNvSpPr/>
          <p:nvPr/>
        </p:nvSpPr>
        <p:spPr>
          <a:xfrm>
            <a:off x="491490" y="1548176"/>
            <a:ext cx="807980" cy="196025"/>
          </a:xfrm>
          <a:prstGeom prst="roundRect">
            <a:avLst>
              <a:gd name="adj" fmla="val 9718"/>
            </a:avLst>
          </a:prstGeom>
          <a:solidFill>
            <a:srgbClr val="B23A1F">
              <a:alpha val="10000"/>
            </a:srgbClr>
          </a:solidFill>
          <a:ln/>
        </p:spPr>
        <p:txBody>
          <a:bodyPr wrap="square" rtlCol="0" anchor="ctr"/>
          <a:lstStyle/>
          <a:p>
            <a:pPr indent="0" marL="0">
              <a:buNone/>
            </a:pPr>
            <a:endParaRPr lang="en-US" dirty="0"/>
          </a:p>
        </p:txBody>
      </p:sp>
      <p:sp>
        <p:nvSpPr>
          <p:cNvPr id="8" name="Shape 6"/>
          <p:cNvSpPr/>
          <p:nvPr/>
        </p:nvSpPr>
        <p:spPr>
          <a:xfrm>
            <a:off x="521494" y="1558677"/>
            <a:ext cx="0" cy="175022"/>
          </a:xfrm>
          <a:prstGeom prst="line">
            <a:avLst/>
          </a:prstGeom>
          <a:noFill/>
          <a:ln w="14288">
            <a:solidFill>
              <a:srgbClr val="B23A1F"/>
            </a:solidFill>
            <a:prstDash val="solid"/>
          </a:ln>
        </p:spPr>
      </p:sp>
      <p:sp>
        <p:nvSpPr>
          <p:cNvPr id="9" name="Text 7"/>
          <p:cNvSpPr/>
          <p:nvPr/>
        </p:nvSpPr>
        <p:spPr>
          <a:xfrm>
            <a:off x="489263" y="1558677"/>
            <a:ext cx="812434" cy="175022"/>
          </a:xfrm>
          <a:prstGeom prst="rect">
            <a:avLst/>
          </a:prstGeom>
          <a:noFill/>
          <a:ln/>
        </p:spPr>
        <p:txBody>
          <a:bodyPr wrap="none" lIns="0" tIns="0" rIns="0" bIns="0" rtlCol="0" anchor="ctr"/>
          <a:lstStyle/>
          <a:p>
            <a:pPr algn="ctr" indent="0" marL="0">
              <a:lnSpc>
                <a:spcPts val="928"/>
              </a:lnSpc>
              <a:buNone/>
            </a:pPr>
            <a:r>
              <a:rPr lang="en-US" sz="800" spc="124" kern="0" dirty="0">
                <a:solidFill>
                  <a:srgbClr val="B23A1F"/>
                </a:solidFill>
                <a:latin typeface="Courier New" pitchFamily="34" charset="0"/>
                <a:ea typeface="Courier New" pitchFamily="34" charset="-122"/>
                <a:cs typeface="Courier New" pitchFamily="34" charset="-120"/>
              </a:rPr>
              <a:t>THE PROBLEM</a:t>
            </a:r>
            <a:endParaRPr lang="en-US" sz="800" dirty="0"/>
          </a:p>
        </p:txBody>
      </p:sp>
      <p:sp>
        <p:nvSpPr>
          <p:cNvPr id="10" name="Text 8"/>
          <p:cNvSpPr/>
          <p:nvPr/>
        </p:nvSpPr>
        <p:spPr>
          <a:xfrm>
            <a:off x="514350" y="1790849"/>
            <a:ext cx="3536156" cy="405051"/>
          </a:xfrm>
          <a:prstGeom prst="rect">
            <a:avLst/>
          </a:prstGeom>
          <a:noFill/>
          <a:ln/>
        </p:spPr>
        <p:txBody>
          <a:bodyPr wrap="square" lIns="0" tIns="0" rIns="0" bIns="0" rtlCol="0" anchor="t"/>
          <a:lstStyle/>
          <a:p>
            <a:pPr algn="l" indent="0" marL="0">
              <a:lnSpc>
                <a:spcPts val="1477"/>
              </a:lnSpc>
              <a:buNone/>
            </a:pPr>
            <a:r>
              <a:rPr lang="en-US" sz="1181" dirty="0">
                <a:solidFill>
                  <a:srgbClr val="F5F1E8"/>
                </a:solidFill>
                <a:latin typeface="Tinos" pitchFamily="34" charset="0"/>
                <a:ea typeface="Tinos" pitchFamily="34" charset="-122"/>
                <a:cs typeface="Tinos" pitchFamily="34" charset="-120"/>
              </a:rPr>
              <a:t>A geologist's questions take days to answer — and the answers don't persist.</a:t>
            </a:r>
            <a:endParaRPr lang="en-US" sz="1181" dirty="0"/>
          </a:p>
        </p:txBody>
      </p:sp>
      <p:sp>
        <p:nvSpPr>
          <p:cNvPr id="11" name="Text 9"/>
          <p:cNvSpPr/>
          <p:nvPr/>
        </p:nvSpPr>
        <p:spPr>
          <a:xfrm>
            <a:off x="514350" y="2265908"/>
            <a:ext cx="3536156" cy="937282"/>
          </a:xfrm>
          <a:prstGeom prst="rect">
            <a:avLst/>
          </a:prstGeom>
          <a:noFill/>
          <a:ln/>
        </p:spPr>
        <p:txBody>
          <a:bodyPr wrap="square" lIns="0" tIns="0" rIns="0" bIns="0" rtlCol="0" anchor="t"/>
          <a:lstStyle/>
          <a:p>
            <a:pPr algn="l" indent="0" marL="0">
              <a:lnSpc>
                <a:spcPts val="1367"/>
              </a:lnSpc>
              <a:buNone/>
            </a:pPr>
            <a:r>
              <a:rPr lang="en-US" sz="844" dirty="0">
                <a:solidFill>
                  <a:srgbClr val="C9C3B5"/>
                </a:solidFill>
                <a:latin typeface="Carlito" pitchFamily="34" charset="0"/>
                <a:ea typeface="Carlito" pitchFamily="34" charset="-122"/>
                <a:cs typeface="Carlito" pitchFamily="34" charset="-120"/>
              </a:rPr>
              <a:t>"Why is target 03 ranked above target 05?" "What's the As anomaly threshold we used?" "Show me where the alteration signature is strongest." Today each of those is a half-day of re-opening projects, re-running queries, re-plotting. The answer lives in someone's head, then a slide, then nowhere.</a:t>
            </a:r>
            <a:endParaRPr lang="en-US" sz="844" dirty="0"/>
          </a:p>
        </p:txBody>
      </p:sp>
      <p:sp>
        <p:nvSpPr>
          <p:cNvPr id="12" name="Text 10"/>
          <p:cNvSpPr/>
          <p:nvPr/>
        </p:nvSpPr>
        <p:spPr>
          <a:xfrm>
            <a:off x="4284821" y="1548176"/>
            <a:ext cx="698034" cy="196025"/>
          </a:xfrm>
          <a:prstGeom prst="roundRect">
            <a:avLst>
              <a:gd name="adj" fmla="val 9718"/>
            </a:avLst>
          </a:prstGeom>
          <a:solidFill>
            <a:srgbClr val="D4A24A">
              <a:alpha val="10000"/>
            </a:srgbClr>
          </a:solidFill>
          <a:ln/>
        </p:spPr>
        <p:txBody>
          <a:bodyPr wrap="square" rtlCol="0" anchor="ctr"/>
          <a:lstStyle/>
          <a:p>
            <a:pPr indent="0" marL="0">
              <a:buNone/>
            </a:pPr>
            <a:endParaRPr lang="en-US" dirty="0"/>
          </a:p>
        </p:txBody>
      </p:sp>
      <p:sp>
        <p:nvSpPr>
          <p:cNvPr id="13" name="Shape 11"/>
          <p:cNvSpPr/>
          <p:nvPr/>
        </p:nvSpPr>
        <p:spPr>
          <a:xfrm>
            <a:off x="4314825" y="1558677"/>
            <a:ext cx="0" cy="175022"/>
          </a:xfrm>
          <a:prstGeom prst="line">
            <a:avLst/>
          </a:prstGeom>
          <a:noFill/>
          <a:ln w="14288">
            <a:solidFill>
              <a:srgbClr val="D4A24A"/>
            </a:solidFill>
            <a:prstDash val="solid"/>
          </a:ln>
        </p:spPr>
      </p:sp>
      <p:sp>
        <p:nvSpPr>
          <p:cNvPr id="14" name="Text 12"/>
          <p:cNvSpPr/>
          <p:nvPr/>
        </p:nvSpPr>
        <p:spPr>
          <a:xfrm>
            <a:off x="4301952" y="1558677"/>
            <a:ext cx="663773" cy="175022"/>
          </a:xfrm>
          <a:prstGeom prst="rect">
            <a:avLst/>
          </a:prstGeom>
          <a:noFill/>
          <a:ln/>
        </p:spPr>
        <p:txBody>
          <a:bodyPr wrap="none" lIns="0" tIns="0" rIns="0" bIns="0" rtlCol="0" anchor="ctr"/>
          <a:lstStyle/>
          <a:p>
            <a:pPr algn="ctr" indent="0" marL="0">
              <a:lnSpc>
                <a:spcPts val="928"/>
              </a:lnSpc>
              <a:buNone/>
            </a:pPr>
            <a:r>
              <a:rPr lang="en-US" sz="800" spc="124" kern="0" dirty="0">
                <a:solidFill>
                  <a:srgbClr val="D4A24A"/>
                </a:solidFill>
                <a:latin typeface="Courier New" pitchFamily="34" charset="0"/>
                <a:ea typeface="Courier New" pitchFamily="34" charset="-122"/>
                <a:cs typeface="Courier New" pitchFamily="34" charset="-120"/>
              </a:rPr>
              <a:t>THE POINT</a:t>
            </a:r>
            <a:endParaRPr lang="en-US" sz="800" dirty="0"/>
          </a:p>
        </p:txBody>
      </p:sp>
      <p:sp>
        <p:nvSpPr>
          <p:cNvPr id="15" name="Text 13"/>
          <p:cNvSpPr/>
          <p:nvPr/>
        </p:nvSpPr>
        <p:spPr>
          <a:xfrm>
            <a:off x="4307681" y="1790849"/>
            <a:ext cx="4754166" cy="202525"/>
          </a:xfrm>
          <a:prstGeom prst="rect">
            <a:avLst/>
          </a:prstGeom>
          <a:noFill/>
          <a:ln/>
        </p:spPr>
        <p:txBody>
          <a:bodyPr wrap="square" lIns="0" tIns="0" rIns="0" bIns="0" rtlCol="0" anchor="t"/>
          <a:lstStyle/>
          <a:p>
            <a:pPr algn="l" indent="0" marL="0">
              <a:lnSpc>
                <a:spcPts val="1477"/>
              </a:lnSpc>
              <a:buNone/>
            </a:pPr>
            <a:r>
              <a:rPr lang="en-US" sz="1181" dirty="0">
                <a:solidFill>
                  <a:srgbClr val="F5F1E8"/>
                </a:solidFill>
                <a:latin typeface="Tinos" pitchFamily="34" charset="0"/>
                <a:ea typeface="Tinos" pitchFamily="34" charset="-122"/>
                <a:cs typeface="Tinos" pitchFamily="34" charset="-120"/>
              </a:rPr>
              <a:t>14 named tools. Every value resolved server-side. Every claim cited.</a:t>
            </a:r>
            <a:endParaRPr lang="en-US" sz="1181" dirty="0"/>
          </a:p>
        </p:txBody>
      </p:sp>
      <p:sp>
        <p:nvSpPr>
          <p:cNvPr id="16" name="Shape 14"/>
          <p:cNvSpPr/>
          <p:nvPr/>
        </p:nvSpPr>
        <p:spPr>
          <a:xfrm>
            <a:off x="4307681" y="2053382"/>
            <a:ext cx="4321969" cy="0"/>
          </a:xfrm>
          <a:prstGeom prst="line">
            <a:avLst/>
          </a:prstGeom>
          <a:noFill/>
          <a:ln w="7144">
            <a:solidFill>
              <a:srgbClr val="2A2F37"/>
            </a:solidFill>
            <a:prstDash val="solid"/>
          </a:ln>
        </p:spPr>
      </p:sp>
      <p:sp>
        <p:nvSpPr>
          <p:cNvPr id="17" name="Text 15"/>
          <p:cNvSpPr/>
          <p:nvPr/>
        </p:nvSpPr>
        <p:spPr>
          <a:xfrm>
            <a:off x="4379119" y="2085529"/>
            <a:ext cx="2365224" cy="120801"/>
          </a:xfrm>
          <a:prstGeom prst="rect">
            <a:avLst/>
          </a:prstGeom>
          <a:noFill/>
          <a:ln/>
        </p:spPr>
        <p:txBody>
          <a:bodyPr wrap="none" lIns="0" tIns="0" rIns="0" bIns="0" rtlCol="0" anchor="t">
            <a:normAutofit/>
          </a:bodyPr>
          <a:lstStyle/>
          <a:p>
            <a:pPr algn="l" indent="0" marL="0">
              <a:lnSpc>
                <a:spcPts val="1055"/>
              </a:lnSpc>
              <a:buNone/>
            </a:pPr>
            <a:r>
              <a:rPr lang="en-US" sz="800" spc="-4" kern="0" dirty="0">
                <a:solidFill>
                  <a:srgbClr val="F5F1E8"/>
                </a:solidFill>
                <a:latin typeface="Carlito" pitchFamily="34" charset="0"/>
                <a:ea typeface="Carlito" pitchFamily="34" charset="-122"/>
                <a:cs typeface="Carlito" pitchFamily="34" charset="-120"/>
              </a:rPr>
              <a:t>Grounded Q&amp;A</a:t>
            </a:r>
            <a:endParaRPr lang="en-US" sz="800" dirty="0"/>
          </a:p>
        </p:txBody>
      </p:sp>
      <p:sp>
        <p:nvSpPr>
          <p:cNvPr id="18" name="Text 16"/>
          <p:cNvSpPr/>
          <p:nvPr/>
        </p:nvSpPr>
        <p:spPr>
          <a:xfrm>
            <a:off x="4379119" y="2233761"/>
            <a:ext cx="2018109" cy="311592"/>
          </a:xfrm>
          <a:prstGeom prst="rect">
            <a:avLst/>
          </a:prstGeom>
          <a:noFill/>
          <a:ln/>
        </p:spPr>
        <p:txBody>
          <a:bodyPr wrap="square" lIns="0" tIns="0" rIns="0" bIns="0" rtlCol="0" anchor="t"/>
          <a:lstStyle/>
          <a:p>
            <a:pPr algn="l" indent="0" marL="0">
              <a:lnSpc>
                <a:spcPts val="919"/>
              </a:lnSpc>
              <a:buNone/>
            </a:pPr>
            <a:r>
              <a:rPr lang="en-US" sz="800" dirty="0">
                <a:solidFill>
                  <a:srgbClr val="8A8576"/>
                </a:solidFill>
                <a:latin typeface="Carlito" pitchFamily="34" charset="0"/>
                <a:ea typeface="Carlito" pitchFamily="34" charset="-122"/>
                <a:cs typeface="Carlito" pitchFamily="34" charset="-120"/>
              </a:rPr>
              <a:t>Answers assembled from your project data, with citations.</a:t>
            </a:r>
            <a:endParaRPr lang="en-US" sz="800" dirty="0"/>
          </a:p>
        </p:txBody>
      </p:sp>
      <p:sp>
        <p:nvSpPr>
          <p:cNvPr id="19" name="Shape 17"/>
          <p:cNvSpPr/>
          <p:nvPr/>
        </p:nvSpPr>
        <p:spPr>
          <a:xfrm>
            <a:off x="6468666" y="2060525"/>
            <a:ext cx="2160984" cy="0"/>
          </a:xfrm>
          <a:prstGeom prst="line">
            <a:avLst/>
          </a:prstGeom>
          <a:noFill/>
          <a:ln w="7144">
            <a:solidFill>
              <a:srgbClr val="2A2F37"/>
            </a:solidFill>
            <a:prstDash val="solid"/>
          </a:ln>
        </p:spPr>
      </p:sp>
      <p:sp>
        <p:nvSpPr>
          <p:cNvPr id="20" name="Shape 18"/>
          <p:cNvSpPr/>
          <p:nvPr/>
        </p:nvSpPr>
        <p:spPr>
          <a:xfrm>
            <a:off x="6472238" y="2056954"/>
            <a:ext cx="0" cy="438671"/>
          </a:xfrm>
          <a:prstGeom prst="line">
            <a:avLst/>
          </a:prstGeom>
          <a:noFill/>
          <a:ln w="7144">
            <a:solidFill>
              <a:srgbClr val="2A2F37"/>
            </a:solidFill>
            <a:prstDash val="solid"/>
          </a:ln>
        </p:spPr>
      </p:sp>
      <p:sp>
        <p:nvSpPr>
          <p:cNvPr id="21" name="Text 19"/>
          <p:cNvSpPr/>
          <p:nvPr/>
        </p:nvSpPr>
        <p:spPr>
          <a:xfrm>
            <a:off x="6547247" y="2092672"/>
            <a:ext cx="2120694" cy="120801"/>
          </a:xfrm>
          <a:prstGeom prst="rect">
            <a:avLst/>
          </a:prstGeom>
          <a:noFill/>
          <a:ln/>
        </p:spPr>
        <p:txBody>
          <a:bodyPr wrap="square" lIns="0" tIns="0" rIns="0" bIns="0" rtlCol="0" anchor="t">
            <a:normAutofit/>
          </a:bodyPr>
          <a:lstStyle/>
          <a:p>
            <a:pPr algn="l" indent="0" marL="0">
              <a:lnSpc>
                <a:spcPts val="1055"/>
              </a:lnSpc>
              <a:buNone/>
            </a:pPr>
            <a:r>
              <a:rPr lang="en-US" sz="800" spc="-4" kern="0" dirty="0">
                <a:solidFill>
                  <a:srgbClr val="F5F1E8"/>
                </a:solidFill>
                <a:latin typeface="Carlito" pitchFamily="34" charset="0"/>
                <a:ea typeface="Carlito" pitchFamily="34" charset="-122"/>
                <a:cs typeface="Carlito" pitchFamily="34" charset="-120"/>
              </a:rPr>
              <a:t>Interpretation on request</a:t>
            </a:r>
            <a:endParaRPr lang="en-US" sz="800" dirty="0"/>
          </a:p>
        </p:txBody>
      </p:sp>
      <p:sp>
        <p:nvSpPr>
          <p:cNvPr id="22" name="Text 20"/>
          <p:cNvSpPr/>
          <p:nvPr/>
        </p:nvSpPr>
        <p:spPr>
          <a:xfrm>
            <a:off x="6547247" y="2240905"/>
            <a:ext cx="2010966" cy="155796"/>
          </a:xfrm>
          <a:prstGeom prst="rect">
            <a:avLst/>
          </a:prstGeom>
          <a:noFill/>
          <a:ln/>
        </p:spPr>
        <p:txBody>
          <a:bodyPr wrap="square" lIns="0" tIns="0" rIns="0" bIns="0" rtlCol="0" anchor="t"/>
          <a:lstStyle/>
          <a:p>
            <a:pPr algn="l" indent="0" marL="0">
              <a:lnSpc>
                <a:spcPts val="919"/>
              </a:lnSpc>
              <a:buNone/>
            </a:pPr>
            <a:r>
              <a:rPr lang="en-US" sz="647" dirty="0">
                <a:solidFill>
                  <a:srgbClr val="8A8576"/>
                </a:solidFill>
                <a:latin typeface="Carlito" pitchFamily="34" charset="0"/>
                <a:ea typeface="Carlito" pitchFamily="34" charset="-122"/>
                <a:cs typeface="Carlito" pitchFamily="34" charset="-120"/>
              </a:rPr>
              <a:t>Top-target reasoning, structural setting, data gaps.</a:t>
            </a:r>
            <a:endParaRPr lang="en-US" sz="647" dirty="0"/>
          </a:p>
        </p:txBody>
      </p:sp>
      <p:sp>
        <p:nvSpPr>
          <p:cNvPr id="23" name="Shape 21"/>
          <p:cNvSpPr/>
          <p:nvPr/>
        </p:nvSpPr>
        <p:spPr>
          <a:xfrm>
            <a:off x="4307681" y="2499196"/>
            <a:ext cx="2160984" cy="0"/>
          </a:xfrm>
          <a:prstGeom prst="line">
            <a:avLst/>
          </a:prstGeom>
          <a:noFill/>
          <a:ln w="7144">
            <a:solidFill>
              <a:srgbClr val="2A2F37"/>
            </a:solidFill>
            <a:prstDash val="solid"/>
          </a:ln>
        </p:spPr>
      </p:sp>
      <p:sp>
        <p:nvSpPr>
          <p:cNvPr id="24" name="Text 22"/>
          <p:cNvSpPr/>
          <p:nvPr/>
        </p:nvSpPr>
        <p:spPr>
          <a:xfrm>
            <a:off x="4379119" y="2531343"/>
            <a:ext cx="2018109" cy="120801"/>
          </a:xfrm>
          <a:prstGeom prst="rect">
            <a:avLst/>
          </a:prstGeom>
          <a:noFill/>
          <a:ln/>
        </p:spPr>
        <p:txBody>
          <a:bodyPr wrap="none" lIns="0" tIns="0" rIns="0" bIns="0" rtlCol="0" anchor="t">
            <a:normAutofit/>
          </a:bodyPr>
          <a:lstStyle/>
          <a:p>
            <a:pPr algn="l" indent="0" marL="0">
              <a:lnSpc>
                <a:spcPts val="1055"/>
              </a:lnSpc>
              <a:buNone/>
            </a:pPr>
            <a:r>
              <a:rPr lang="en-US" sz="800" spc="-4" kern="0" dirty="0">
                <a:solidFill>
                  <a:srgbClr val="F5F1E8"/>
                </a:solidFill>
                <a:latin typeface="Carlito" pitchFamily="34" charset="0"/>
                <a:ea typeface="Carlito" pitchFamily="34" charset="-122"/>
                <a:cs typeface="Carlito" pitchFamily="34" charset="-120"/>
              </a:rPr>
              <a:t>Charts from live data</a:t>
            </a:r>
            <a:endParaRPr lang="en-US" sz="800" dirty="0"/>
          </a:p>
        </p:txBody>
      </p:sp>
      <p:sp>
        <p:nvSpPr>
          <p:cNvPr id="25" name="Text 23"/>
          <p:cNvSpPr/>
          <p:nvPr/>
        </p:nvSpPr>
        <p:spPr>
          <a:xfrm>
            <a:off x="4379119" y="2679576"/>
            <a:ext cx="2018109" cy="116644"/>
          </a:xfrm>
          <a:prstGeom prst="rect">
            <a:avLst/>
          </a:prstGeom>
          <a:noFill/>
          <a:ln/>
        </p:spPr>
        <p:txBody>
          <a:bodyPr wrap="square" lIns="0" tIns="0" rIns="0" bIns="0" rtlCol="0" anchor="t"/>
          <a:lstStyle/>
          <a:p>
            <a:pPr algn="l" indent="0" marL="0">
              <a:lnSpc>
                <a:spcPts val="919"/>
              </a:lnSpc>
              <a:buNone/>
            </a:pPr>
            <a:r>
              <a:rPr lang="en-US" sz="647" dirty="0">
                <a:solidFill>
                  <a:srgbClr val="8A8576"/>
                </a:solidFill>
                <a:latin typeface="Carlito" pitchFamily="34" charset="0"/>
                <a:ea typeface="Carlito" pitchFamily="34" charset="-122"/>
                <a:cs typeface="Carlito" pitchFamily="34" charset="-120"/>
              </a:rPr>
              <a:t>Server-resolved values, never written by the model.</a:t>
            </a:r>
            <a:endParaRPr lang="en-US" sz="647" dirty="0"/>
          </a:p>
        </p:txBody>
      </p:sp>
      <p:sp>
        <p:nvSpPr>
          <p:cNvPr id="26" name="Shape 24"/>
          <p:cNvSpPr/>
          <p:nvPr/>
        </p:nvSpPr>
        <p:spPr>
          <a:xfrm>
            <a:off x="6468666" y="2499196"/>
            <a:ext cx="2160984" cy="0"/>
          </a:xfrm>
          <a:prstGeom prst="line">
            <a:avLst/>
          </a:prstGeom>
          <a:noFill/>
          <a:ln w="7144">
            <a:solidFill>
              <a:srgbClr val="2A2F37"/>
            </a:solidFill>
            <a:prstDash val="solid"/>
          </a:ln>
        </p:spPr>
      </p:sp>
      <p:sp>
        <p:nvSpPr>
          <p:cNvPr id="27" name="Shape 25"/>
          <p:cNvSpPr/>
          <p:nvPr/>
        </p:nvSpPr>
        <p:spPr>
          <a:xfrm>
            <a:off x="6472238" y="2495624"/>
            <a:ext cx="0" cy="329171"/>
          </a:xfrm>
          <a:prstGeom prst="line">
            <a:avLst/>
          </a:prstGeom>
          <a:noFill/>
          <a:ln w="7144">
            <a:solidFill>
              <a:srgbClr val="2A2F37"/>
            </a:solidFill>
            <a:prstDash val="solid"/>
          </a:ln>
        </p:spPr>
      </p:sp>
      <p:sp>
        <p:nvSpPr>
          <p:cNvPr id="28" name="Text 26"/>
          <p:cNvSpPr/>
          <p:nvPr/>
        </p:nvSpPr>
        <p:spPr>
          <a:xfrm>
            <a:off x="6547247" y="2531343"/>
            <a:ext cx="2010966" cy="120801"/>
          </a:xfrm>
          <a:prstGeom prst="rect">
            <a:avLst/>
          </a:prstGeom>
          <a:noFill/>
          <a:ln/>
        </p:spPr>
        <p:txBody>
          <a:bodyPr wrap="none" lIns="0" tIns="0" rIns="0" bIns="0" rtlCol="0" anchor="t">
            <a:normAutofit/>
          </a:bodyPr>
          <a:lstStyle/>
          <a:p>
            <a:pPr algn="l" indent="0" marL="0">
              <a:lnSpc>
                <a:spcPts val="1055"/>
              </a:lnSpc>
              <a:buNone/>
            </a:pPr>
            <a:r>
              <a:rPr lang="en-US" sz="800" spc="-4" kern="0" dirty="0">
                <a:solidFill>
                  <a:srgbClr val="F5F1E8"/>
                </a:solidFill>
                <a:latin typeface="Carlito" pitchFamily="34" charset="0"/>
                <a:ea typeface="Carlito" pitchFamily="34" charset="-122"/>
                <a:cs typeface="Carlito" pitchFamily="34" charset="-120"/>
              </a:rPr>
              <a:t>Map control from chat</a:t>
            </a:r>
            <a:endParaRPr lang="en-US" sz="800" dirty="0"/>
          </a:p>
        </p:txBody>
      </p:sp>
      <p:sp>
        <p:nvSpPr>
          <p:cNvPr id="29" name="Text 27"/>
          <p:cNvSpPr/>
          <p:nvPr/>
        </p:nvSpPr>
        <p:spPr>
          <a:xfrm>
            <a:off x="6547247" y="2679576"/>
            <a:ext cx="2120694" cy="116644"/>
          </a:xfrm>
          <a:prstGeom prst="rect">
            <a:avLst/>
          </a:prstGeom>
          <a:noFill/>
          <a:ln/>
        </p:spPr>
        <p:txBody>
          <a:bodyPr wrap="square" lIns="0" tIns="0" rIns="0" bIns="0" rtlCol="0" anchor="t"/>
          <a:lstStyle/>
          <a:p>
            <a:pPr algn="l" indent="0" marL="0">
              <a:lnSpc>
                <a:spcPts val="919"/>
              </a:lnSpc>
              <a:buNone/>
            </a:pPr>
            <a:r>
              <a:rPr lang="en-US" sz="647" dirty="0">
                <a:solidFill>
                  <a:srgbClr val="8A8576"/>
                </a:solidFill>
                <a:latin typeface="Carlito" pitchFamily="34" charset="0"/>
                <a:ea typeface="Carlito" pitchFamily="34" charset="-122"/>
                <a:cs typeface="Carlito" pitchFamily="34" charset="-120"/>
              </a:rPr>
              <a:t>Show / hide a layer, the map view changes.</a:t>
            </a:r>
            <a:endParaRPr lang="en-US" sz="647" dirty="0"/>
          </a:p>
        </p:txBody>
      </p:sp>
      <p:sp>
        <p:nvSpPr>
          <p:cNvPr id="30" name="Shape 28"/>
          <p:cNvSpPr/>
          <p:nvPr/>
        </p:nvSpPr>
        <p:spPr>
          <a:xfrm>
            <a:off x="4307681" y="2828367"/>
            <a:ext cx="2160984" cy="0"/>
          </a:xfrm>
          <a:prstGeom prst="line">
            <a:avLst/>
          </a:prstGeom>
          <a:noFill/>
          <a:ln w="7144">
            <a:solidFill>
              <a:srgbClr val="2A2F37"/>
            </a:solidFill>
            <a:prstDash val="solid"/>
          </a:ln>
        </p:spPr>
      </p:sp>
      <p:sp>
        <p:nvSpPr>
          <p:cNvPr id="31" name="Text 29"/>
          <p:cNvSpPr/>
          <p:nvPr/>
        </p:nvSpPr>
        <p:spPr>
          <a:xfrm>
            <a:off x="4379119" y="2860514"/>
            <a:ext cx="2018109" cy="120801"/>
          </a:xfrm>
          <a:prstGeom prst="rect">
            <a:avLst/>
          </a:prstGeom>
          <a:noFill/>
          <a:ln/>
        </p:spPr>
        <p:txBody>
          <a:bodyPr wrap="none" lIns="0" tIns="0" rIns="0" bIns="0" rtlCol="0" anchor="t">
            <a:normAutofit/>
          </a:bodyPr>
          <a:lstStyle/>
          <a:p>
            <a:pPr algn="l" indent="0" marL="0">
              <a:lnSpc>
                <a:spcPts val="1055"/>
              </a:lnSpc>
              <a:buNone/>
            </a:pPr>
            <a:r>
              <a:rPr lang="en-US" sz="800" spc="-4" kern="0" dirty="0">
                <a:solidFill>
                  <a:srgbClr val="F5F1E8"/>
                </a:solidFill>
                <a:latin typeface="Carlito" pitchFamily="34" charset="0"/>
                <a:ea typeface="Carlito" pitchFamily="34" charset="-122"/>
                <a:cs typeface="Carlito" pitchFamily="34" charset="-120"/>
              </a:rPr>
              <a:t>Reads your reports</a:t>
            </a:r>
            <a:endParaRPr lang="en-US" sz="800" dirty="0"/>
          </a:p>
        </p:txBody>
      </p:sp>
      <p:sp>
        <p:nvSpPr>
          <p:cNvPr id="32" name="Text 30"/>
          <p:cNvSpPr/>
          <p:nvPr/>
        </p:nvSpPr>
        <p:spPr>
          <a:xfrm>
            <a:off x="4379119" y="3008747"/>
            <a:ext cx="2018109" cy="233288"/>
          </a:xfrm>
          <a:prstGeom prst="rect">
            <a:avLst/>
          </a:prstGeom>
          <a:noFill/>
          <a:ln/>
        </p:spPr>
        <p:txBody>
          <a:bodyPr wrap="square" lIns="0" tIns="0" rIns="0" bIns="0" rtlCol="0" anchor="t"/>
          <a:lstStyle/>
          <a:p>
            <a:pPr algn="l" indent="0" marL="0">
              <a:lnSpc>
                <a:spcPts val="919"/>
              </a:lnSpc>
              <a:buNone/>
            </a:pPr>
            <a:r>
              <a:rPr lang="en-US" sz="800" dirty="0">
                <a:solidFill>
                  <a:srgbClr val="8A8576"/>
                </a:solidFill>
                <a:latin typeface="Carlito" pitchFamily="34" charset="0"/>
                <a:ea typeface="Carlito" pitchFamily="34" charset="-122"/>
                <a:cs typeface="Carlito" pitchFamily="34" charset="-120"/>
              </a:rPr>
              <a:t>Past conclusions answered from the document, not memory.</a:t>
            </a:r>
            <a:endParaRPr lang="en-US" sz="800" dirty="0"/>
          </a:p>
        </p:txBody>
      </p:sp>
      <p:sp>
        <p:nvSpPr>
          <p:cNvPr id="33" name="Shape 31"/>
          <p:cNvSpPr/>
          <p:nvPr/>
        </p:nvSpPr>
        <p:spPr>
          <a:xfrm>
            <a:off x="6468666" y="2828367"/>
            <a:ext cx="2160984" cy="0"/>
          </a:xfrm>
          <a:prstGeom prst="line">
            <a:avLst/>
          </a:prstGeom>
          <a:noFill/>
          <a:ln w="7144">
            <a:solidFill>
              <a:srgbClr val="2A2F37"/>
            </a:solidFill>
            <a:prstDash val="solid"/>
          </a:ln>
        </p:spPr>
      </p:sp>
      <p:sp>
        <p:nvSpPr>
          <p:cNvPr id="34" name="Shape 32"/>
          <p:cNvSpPr/>
          <p:nvPr/>
        </p:nvSpPr>
        <p:spPr>
          <a:xfrm>
            <a:off x="6472238" y="2824795"/>
            <a:ext cx="0" cy="445815"/>
          </a:xfrm>
          <a:prstGeom prst="line">
            <a:avLst/>
          </a:prstGeom>
          <a:noFill/>
          <a:ln w="7144">
            <a:solidFill>
              <a:srgbClr val="2A2F37"/>
            </a:solidFill>
            <a:prstDash val="solid"/>
          </a:ln>
        </p:spPr>
      </p:sp>
      <p:sp>
        <p:nvSpPr>
          <p:cNvPr id="35" name="Text 33"/>
          <p:cNvSpPr/>
          <p:nvPr/>
        </p:nvSpPr>
        <p:spPr>
          <a:xfrm>
            <a:off x="6547247" y="2860514"/>
            <a:ext cx="2010966" cy="120801"/>
          </a:xfrm>
          <a:prstGeom prst="rect">
            <a:avLst/>
          </a:prstGeom>
          <a:noFill/>
          <a:ln/>
        </p:spPr>
        <p:txBody>
          <a:bodyPr wrap="none" lIns="0" tIns="0" rIns="0" bIns="0" rtlCol="0" anchor="t">
            <a:normAutofit/>
          </a:bodyPr>
          <a:lstStyle/>
          <a:p>
            <a:pPr algn="l" indent="0" marL="0">
              <a:lnSpc>
                <a:spcPts val="1055"/>
              </a:lnSpc>
              <a:buNone/>
            </a:pPr>
            <a:r>
              <a:rPr lang="en-US" sz="800" spc="-4" kern="0" dirty="0">
                <a:solidFill>
                  <a:srgbClr val="F5F1E8"/>
                </a:solidFill>
                <a:latin typeface="Carlito" pitchFamily="34" charset="0"/>
                <a:ea typeface="Carlito" pitchFamily="34" charset="-122"/>
                <a:cs typeface="Carlito" pitchFamily="34" charset="-120"/>
              </a:rPr>
              <a:t>Verified claims</a:t>
            </a:r>
            <a:endParaRPr lang="en-US" sz="800" dirty="0"/>
          </a:p>
        </p:txBody>
      </p:sp>
      <p:sp>
        <p:nvSpPr>
          <p:cNvPr id="36" name="Text 34"/>
          <p:cNvSpPr/>
          <p:nvPr/>
        </p:nvSpPr>
        <p:spPr>
          <a:xfrm>
            <a:off x="6547247" y="3008747"/>
            <a:ext cx="2010966" cy="233288"/>
          </a:xfrm>
          <a:prstGeom prst="rect">
            <a:avLst/>
          </a:prstGeom>
          <a:noFill/>
          <a:ln/>
        </p:spPr>
        <p:txBody>
          <a:bodyPr wrap="square" lIns="0" tIns="0" rIns="0" bIns="0" rtlCol="0" anchor="t"/>
          <a:lstStyle/>
          <a:p>
            <a:pPr algn="l" indent="0" marL="0">
              <a:lnSpc>
                <a:spcPts val="919"/>
              </a:lnSpc>
              <a:buNone/>
            </a:pPr>
            <a:r>
              <a:rPr lang="en-US" sz="800" dirty="0">
                <a:solidFill>
                  <a:srgbClr val="8A8576"/>
                </a:solidFill>
                <a:latin typeface="Carlito" pitchFamily="34" charset="0"/>
                <a:ea typeface="Carlito" pitchFamily="34" charset="-122"/>
                <a:cs typeface="Carlito" pitchFamily="34" charset="-120"/>
              </a:rPr>
              <a:t>Deposit names checked against a known-deposits register before display.</a:t>
            </a:r>
            <a:endParaRPr lang="en-US" sz="800" dirty="0"/>
          </a:p>
        </p:txBody>
      </p:sp>
      <p:sp>
        <p:nvSpPr>
          <p:cNvPr id="37" name="Shape 35"/>
          <p:cNvSpPr/>
          <p:nvPr/>
        </p:nvSpPr>
        <p:spPr>
          <a:xfrm>
            <a:off x="4307681" y="3274182"/>
            <a:ext cx="2160984" cy="0"/>
          </a:xfrm>
          <a:prstGeom prst="line">
            <a:avLst/>
          </a:prstGeom>
          <a:noFill/>
          <a:ln w="7144">
            <a:solidFill>
              <a:srgbClr val="2A2F37"/>
            </a:solidFill>
            <a:prstDash val="solid"/>
          </a:ln>
        </p:spPr>
      </p:sp>
      <p:sp>
        <p:nvSpPr>
          <p:cNvPr id="38" name="Text 36"/>
          <p:cNvSpPr/>
          <p:nvPr/>
        </p:nvSpPr>
        <p:spPr>
          <a:xfrm>
            <a:off x="4379119" y="3306328"/>
            <a:ext cx="2018109" cy="120801"/>
          </a:xfrm>
          <a:prstGeom prst="rect">
            <a:avLst/>
          </a:prstGeom>
          <a:noFill/>
          <a:ln/>
        </p:spPr>
        <p:txBody>
          <a:bodyPr wrap="none" lIns="0" tIns="0" rIns="0" bIns="0" rtlCol="0" anchor="t">
            <a:normAutofit/>
          </a:bodyPr>
          <a:lstStyle/>
          <a:p>
            <a:pPr algn="l" indent="0" marL="0">
              <a:lnSpc>
                <a:spcPts val="1055"/>
              </a:lnSpc>
              <a:buNone/>
            </a:pPr>
            <a:r>
              <a:rPr lang="en-US" sz="800" spc="-4" kern="0" dirty="0">
                <a:solidFill>
                  <a:srgbClr val="F5F1E8"/>
                </a:solidFill>
                <a:latin typeface="Carlito" pitchFamily="34" charset="0"/>
                <a:ea typeface="Carlito" pitchFamily="34" charset="-122"/>
                <a:cs typeface="Carlito" pitchFamily="34" charset="-120"/>
              </a:rPr>
              <a:t>Sessions &amp; history</a:t>
            </a:r>
            <a:endParaRPr lang="en-US" sz="800" dirty="0"/>
          </a:p>
        </p:txBody>
      </p:sp>
      <p:sp>
        <p:nvSpPr>
          <p:cNvPr id="39" name="Text 37"/>
          <p:cNvSpPr/>
          <p:nvPr/>
        </p:nvSpPr>
        <p:spPr>
          <a:xfrm>
            <a:off x="4379119" y="3454561"/>
            <a:ext cx="2018109" cy="233288"/>
          </a:xfrm>
          <a:prstGeom prst="rect">
            <a:avLst/>
          </a:prstGeom>
          <a:noFill/>
          <a:ln/>
        </p:spPr>
        <p:txBody>
          <a:bodyPr wrap="square" lIns="0" tIns="0" rIns="0" bIns="0" rtlCol="0" anchor="t"/>
          <a:lstStyle/>
          <a:p>
            <a:pPr algn="l" indent="0" marL="0">
              <a:lnSpc>
                <a:spcPts val="919"/>
              </a:lnSpc>
              <a:buNone/>
            </a:pPr>
            <a:r>
              <a:rPr lang="en-US" sz="800" dirty="0">
                <a:solidFill>
                  <a:srgbClr val="8A8576"/>
                </a:solidFill>
                <a:latin typeface="Carlito" pitchFamily="34" charset="0"/>
                <a:ea typeface="Carlito" pitchFamily="34" charset="-122"/>
                <a:cs typeface="Carlito" pitchFamily="34" charset="-120"/>
              </a:rPr>
              <a:t>Named conversations per project; earlier exchanges as context.</a:t>
            </a:r>
            <a:endParaRPr lang="en-US" sz="800" dirty="0"/>
          </a:p>
        </p:txBody>
      </p:sp>
      <p:sp>
        <p:nvSpPr>
          <p:cNvPr id="40" name="Text 38"/>
          <p:cNvSpPr/>
          <p:nvPr/>
        </p:nvSpPr>
        <p:spPr>
          <a:xfrm>
            <a:off x="6468666" y="3270610"/>
            <a:ext cx="2160984" cy="445815"/>
          </a:xfrm>
          <a:prstGeom prst="rect">
            <a:avLst/>
          </a:prstGeom>
          <a:solidFill>
            <a:srgbClr val="D4A24A">
              <a:alpha val="6000"/>
            </a:srgbClr>
          </a:solidFill>
          <a:ln/>
        </p:spPr>
        <p:txBody>
          <a:bodyPr wrap="square" rtlCol="0" anchor="ctr"/>
          <a:lstStyle/>
          <a:p>
            <a:pPr indent="0" marL="0">
              <a:buNone/>
            </a:pPr>
            <a:endParaRPr lang="en-US" dirty="0"/>
          </a:p>
        </p:txBody>
      </p:sp>
      <p:sp>
        <p:nvSpPr>
          <p:cNvPr id="41" name="Shape 39"/>
          <p:cNvSpPr/>
          <p:nvPr/>
        </p:nvSpPr>
        <p:spPr>
          <a:xfrm>
            <a:off x="6468666" y="3274182"/>
            <a:ext cx="2160984" cy="0"/>
          </a:xfrm>
          <a:prstGeom prst="line">
            <a:avLst/>
          </a:prstGeom>
          <a:noFill/>
          <a:ln w="7144">
            <a:solidFill>
              <a:srgbClr val="2A2F37"/>
            </a:solidFill>
            <a:prstDash val="solid"/>
          </a:ln>
        </p:spPr>
      </p:sp>
      <p:sp>
        <p:nvSpPr>
          <p:cNvPr id="42" name="Shape 40"/>
          <p:cNvSpPr/>
          <p:nvPr/>
        </p:nvSpPr>
        <p:spPr>
          <a:xfrm>
            <a:off x="6472238" y="3270610"/>
            <a:ext cx="0" cy="445815"/>
          </a:xfrm>
          <a:prstGeom prst="line">
            <a:avLst/>
          </a:prstGeom>
          <a:noFill/>
          <a:ln w="7144">
            <a:solidFill>
              <a:srgbClr val="D4A24A"/>
            </a:solidFill>
            <a:prstDash val="solid"/>
          </a:ln>
        </p:spPr>
      </p:sp>
      <p:sp>
        <p:nvSpPr>
          <p:cNvPr id="43" name="Text 41"/>
          <p:cNvSpPr/>
          <p:nvPr/>
        </p:nvSpPr>
        <p:spPr>
          <a:xfrm>
            <a:off x="6547247" y="3306328"/>
            <a:ext cx="2010966" cy="110085"/>
          </a:xfrm>
          <a:prstGeom prst="rect">
            <a:avLst/>
          </a:prstGeom>
          <a:noFill/>
          <a:ln/>
        </p:spPr>
        <p:txBody>
          <a:bodyPr wrap="none" lIns="0" tIns="0" rIns="0" bIns="0" rtlCol="0" anchor="t">
            <a:normAutofit/>
          </a:bodyPr>
          <a:lstStyle/>
          <a:p>
            <a:pPr algn="l" indent="0" marL="0">
              <a:lnSpc>
                <a:spcPts val="970"/>
              </a:lnSpc>
              <a:buNone/>
            </a:pPr>
            <a:r>
              <a:rPr lang="en-US" sz="800" spc="52" kern="0" dirty="0">
                <a:solidFill>
                  <a:srgbClr val="D4A24A"/>
                </a:solidFill>
                <a:latin typeface="Liberation Sans Narrow" pitchFamily="34" charset="0"/>
                <a:ea typeface="Liberation Sans Narrow" pitchFamily="34" charset="-122"/>
                <a:cs typeface="Liberation Sans Narrow" pitchFamily="34" charset="-120"/>
              </a:rPr>
              <a:t>+ 7 MORE</a:t>
            </a:r>
            <a:endParaRPr lang="en-US" sz="800" dirty="0"/>
          </a:p>
        </p:txBody>
      </p:sp>
      <p:sp>
        <p:nvSpPr>
          <p:cNvPr id="44" name="Text 42"/>
          <p:cNvSpPr/>
          <p:nvPr/>
        </p:nvSpPr>
        <p:spPr>
          <a:xfrm>
            <a:off x="6547247" y="3443846"/>
            <a:ext cx="2120694" cy="155796"/>
          </a:xfrm>
          <a:prstGeom prst="rect">
            <a:avLst/>
          </a:prstGeom>
          <a:noFill/>
          <a:ln/>
        </p:spPr>
        <p:txBody>
          <a:bodyPr wrap="square" lIns="0" tIns="0" rIns="0" bIns="0" rtlCol="0" anchor="t"/>
          <a:lstStyle/>
          <a:p>
            <a:pPr algn="l" indent="0" marL="0">
              <a:lnSpc>
                <a:spcPts val="919"/>
              </a:lnSpc>
              <a:buNone/>
            </a:pPr>
            <a:r>
              <a:rPr lang="en-US" sz="647" dirty="0">
                <a:solidFill>
                  <a:srgbClr val="8A8576"/>
                </a:solidFill>
                <a:latin typeface="Carlito" pitchFamily="34" charset="0"/>
                <a:ea typeface="Carlito" pitchFamily="34" charset="-122"/>
                <a:cs typeface="Carlito" pitchFamily="34" charset="-120"/>
              </a:rPr>
              <a:t>14 named tools total in the Copilot v2 spec.</a:t>
            </a:r>
            <a:endParaRPr lang="en-US" sz="647" dirty="0"/>
          </a:p>
        </p:txBody>
      </p:sp>
      <p:sp>
        <p:nvSpPr>
          <p:cNvPr id="45" name="Text 43"/>
          <p:cNvSpPr/>
          <p:nvPr/>
        </p:nvSpPr>
        <p:spPr>
          <a:xfrm>
            <a:off x="4307681" y="3759287"/>
            <a:ext cx="4321969" cy="307166"/>
          </a:xfrm>
          <a:prstGeom prst="rect">
            <a:avLst/>
          </a:prstGeom>
          <a:noFill/>
          <a:ln/>
        </p:spPr>
        <p:txBody>
          <a:bodyPr wrap="square" lIns="0" tIns="0" rIns="0" bIns="0" rtlCol="0" anchor="t"/>
          <a:lstStyle/>
          <a:p>
            <a:pPr algn="l" indent="0" marL="0">
              <a:lnSpc>
                <a:spcPts val="748"/>
              </a:lnSpc>
              <a:buNone/>
            </a:pPr>
            <a:r>
              <a:rPr lang="en-US" sz="800" spc="75" kern="0" dirty="0">
                <a:solidFill>
                  <a:srgbClr val="8A8576"/>
                </a:solidFill>
                <a:latin typeface="Courier New" pitchFamily="34" charset="0"/>
                <a:ea typeface="Courier New" pitchFamily="34" charset="-122"/>
                <a:cs typeface="Courier New" pitchFamily="34" charset="-120"/>
              </a:rPr>
              <a:t>THE MODEL SELECTS AND INTERPRETS. IT NEVER SUPPLIES VALUES. ANY UNVERIFIED DEPOSIT NAME IS STRIPPED BEFORE DISPLAY.</a:t>
            </a:r>
            <a:endParaRPr lang="en-US" sz="800" dirty="0"/>
          </a:p>
        </p:txBody>
      </p:sp>
      <p:pic>
        <p:nvPicPr>
          <p:cNvPr id="46" name="Image 0" descr="preencoded.png">    </p:cNvPr>
          <p:cNvPicPr>
            <a:picLocks noChangeAspect="1"/>
          </p:cNvPicPr>
          <p:nvPr/>
        </p:nvPicPr>
        <p:blipFill>
          <a:blip r:embed="rId1"/>
          <a:stretch>
            <a:fillRect/>
          </a:stretch>
        </p:blipFill>
        <p:spPr>
          <a:xfrm>
            <a:off x="514350" y="4414838"/>
            <a:ext cx="8115300" cy="300038"/>
          </a:xfrm>
          <a:prstGeom prst="rect">
            <a:avLst/>
          </a:prstGeom>
        </p:spPr>
      </p:pic>
      <p:sp>
        <p:nvSpPr>
          <p:cNvPr id="47" name="Shape 44"/>
          <p:cNvSpPr/>
          <p:nvPr/>
        </p:nvSpPr>
        <p:spPr>
          <a:xfrm>
            <a:off x="521494" y="4414838"/>
            <a:ext cx="0" cy="300038"/>
          </a:xfrm>
          <a:prstGeom prst="line">
            <a:avLst/>
          </a:prstGeom>
          <a:noFill/>
          <a:ln w="14288">
            <a:solidFill>
              <a:srgbClr val="4A8F6B"/>
            </a:solidFill>
            <a:prstDash val="solid"/>
          </a:ln>
        </p:spPr>
      </p:sp>
      <p:sp>
        <p:nvSpPr>
          <p:cNvPr id="48" name="Text 45"/>
          <p:cNvSpPr/>
          <p:nvPr/>
        </p:nvSpPr>
        <p:spPr>
          <a:xfrm>
            <a:off x="662940" y="4466844"/>
            <a:ext cx="752951" cy="196025"/>
          </a:xfrm>
          <a:prstGeom prst="roundRect">
            <a:avLst>
              <a:gd name="adj" fmla="val 9718"/>
            </a:avLst>
          </a:prstGeom>
          <a:solidFill>
            <a:srgbClr val="4A8F6B">
              <a:alpha val="10000"/>
            </a:srgbClr>
          </a:solidFill>
          <a:ln/>
        </p:spPr>
        <p:txBody>
          <a:bodyPr wrap="square" rtlCol="0" anchor="ctr"/>
          <a:lstStyle/>
          <a:p>
            <a:pPr indent="0" marL="0">
              <a:buNone/>
            </a:pPr>
            <a:endParaRPr lang="en-US" dirty="0"/>
          </a:p>
        </p:txBody>
      </p:sp>
      <p:sp>
        <p:nvSpPr>
          <p:cNvPr id="49" name="Shape 46"/>
          <p:cNvSpPr/>
          <p:nvPr/>
        </p:nvSpPr>
        <p:spPr>
          <a:xfrm>
            <a:off x="692944" y="4477345"/>
            <a:ext cx="0" cy="175022"/>
          </a:xfrm>
          <a:prstGeom prst="line">
            <a:avLst/>
          </a:prstGeom>
          <a:noFill/>
          <a:ln w="14288">
            <a:solidFill>
              <a:srgbClr val="4A8F6B"/>
            </a:solidFill>
            <a:prstDash val="solid"/>
          </a:ln>
        </p:spPr>
      </p:sp>
      <p:sp>
        <p:nvSpPr>
          <p:cNvPr id="50" name="Text 47"/>
          <p:cNvSpPr/>
          <p:nvPr/>
        </p:nvSpPr>
        <p:spPr>
          <a:xfrm>
            <a:off x="670364" y="4477345"/>
            <a:ext cx="738104" cy="175022"/>
          </a:xfrm>
          <a:prstGeom prst="rect">
            <a:avLst/>
          </a:prstGeom>
          <a:noFill/>
          <a:ln/>
        </p:spPr>
        <p:txBody>
          <a:bodyPr wrap="none" lIns="0" tIns="0" rIns="0" bIns="0" rtlCol="0" anchor="ctr"/>
          <a:lstStyle/>
          <a:p>
            <a:pPr algn="ctr" indent="0" marL="0">
              <a:lnSpc>
                <a:spcPts val="928"/>
              </a:lnSpc>
              <a:buNone/>
            </a:pPr>
            <a:r>
              <a:rPr lang="en-US" sz="800" spc="124" kern="0" dirty="0">
                <a:solidFill>
                  <a:srgbClr val="4A8F6B"/>
                </a:solidFill>
                <a:latin typeface="Courier New" pitchFamily="34" charset="0"/>
                <a:ea typeface="Courier New" pitchFamily="34" charset="-122"/>
                <a:cs typeface="Courier New" pitchFamily="34" charset="-120"/>
              </a:rPr>
              <a:t>THE IMPACT</a:t>
            </a:r>
            <a:endParaRPr lang="en-US" sz="800" dirty="0"/>
          </a:p>
        </p:txBody>
      </p:sp>
      <p:sp>
        <p:nvSpPr>
          <p:cNvPr id="51" name="Text 48"/>
          <p:cNvSpPr/>
          <p:nvPr/>
        </p:nvSpPr>
        <p:spPr>
          <a:xfrm>
            <a:off x="1550194" y="4471988"/>
            <a:ext cx="6922294" cy="185738"/>
          </a:xfrm>
          <a:prstGeom prst="rect">
            <a:avLst/>
          </a:prstGeom>
          <a:noFill/>
          <a:ln/>
        </p:spPr>
        <p:txBody>
          <a:bodyPr wrap="square" lIns="0" tIns="0" rIns="0" bIns="0" rtlCol="0" anchor="t"/>
          <a:lstStyle/>
          <a:p>
            <a:pPr algn="l" indent="0" marL="0">
              <a:lnSpc>
                <a:spcPts val="1463"/>
              </a:lnSpc>
              <a:buNone/>
            </a:pPr>
            <a:r>
              <a:rPr lang="en-US" sz="1125" i="1" dirty="0">
                <a:solidFill>
                  <a:srgbClr val="F5F1E8"/>
                </a:solidFill>
                <a:latin typeface="Tinos" pitchFamily="34" charset="0"/>
                <a:ea typeface="Tinos" pitchFamily="34" charset="-122"/>
                <a:cs typeface="Tinos" pitchFamily="34" charset="-120"/>
              </a:rPr>
              <a:t>Designed so that it cannot invent a number — the geologist's question gets a defensible answer in seconds.</a:t>
            </a:r>
            <a:endParaRPr lang="en-US" sz="1125" dirty="0"/>
          </a:p>
        </p:txBody>
      </p:sp>
      <p:sp>
        <p:nvSpPr>
          <p:cNvPr id="52" name="Shape 49"/>
          <p:cNvSpPr/>
          <p:nvPr/>
        </p:nvSpPr>
        <p:spPr>
          <a:xfrm>
            <a:off x="514350" y="4736306"/>
            <a:ext cx="8115300" cy="0"/>
          </a:xfrm>
          <a:prstGeom prst="line">
            <a:avLst/>
          </a:prstGeom>
          <a:noFill/>
          <a:ln w="7144">
            <a:solidFill>
              <a:srgbClr val="2A2F37"/>
            </a:solidFill>
            <a:prstDash val="solid"/>
          </a:ln>
        </p:spPr>
      </p:sp>
      <p:sp>
        <p:nvSpPr>
          <p:cNvPr id="53" name="Text 50"/>
          <p:cNvSpPr/>
          <p:nvPr/>
        </p:nvSpPr>
        <p:spPr>
          <a:xfrm>
            <a:off x="514350" y="4825603"/>
            <a:ext cx="7748960" cy="117872"/>
          </a:xfrm>
          <a:prstGeom prst="rect">
            <a:avLst/>
          </a:prstGeom>
          <a:noFill/>
          <a:ln/>
        </p:spPr>
        <p:txBody>
          <a:bodyPr wrap="square" lIns="0" tIns="0" rIns="0" bIns="0" rtlCol="0" anchor="t"/>
          <a:lstStyle/>
          <a:p>
            <a:pPr algn="l" indent="0" marL="0">
              <a:lnSpc>
                <a:spcPts val="928"/>
              </a:lnSpc>
              <a:buNone/>
            </a:pPr>
            <a:r>
              <a:rPr lang="en-US" sz="800" spc="87" kern="0" dirty="0">
                <a:solidFill>
                  <a:srgbClr val="8A8576"/>
                </a:solidFill>
                <a:latin typeface="Courier New" pitchFamily="34" charset="0"/>
                <a:ea typeface="Courier New" pitchFamily="34" charset="-122"/>
                <a:cs typeface="Courier New" pitchFamily="34" charset="-120"/>
              </a:rPr>
              <a:t>EXPLORATION COPILOT — 14 NAMED TOOLS, ZERO FABRICATION</a:t>
            </a:r>
            <a:endParaRPr lang="en-US" sz="800" dirty="0"/>
          </a:p>
        </p:txBody>
      </p:sp>
      <p:sp>
        <p:nvSpPr>
          <p:cNvPr id="54" name="Text 51"/>
          <p:cNvSpPr/>
          <p:nvPr/>
        </p:nvSpPr>
        <p:spPr>
          <a:xfrm>
            <a:off x="8277597" y="4825603"/>
            <a:ext cx="352053" cy="117872"/>
          </a:xfrm>
          <a:prstGeom prst="rect">
            <a:avLst/>
          </a:prstGeom>
          <a:noFill/>
          <a:ln/>
        </p:spPr>
        <p:txBody>
          <a:bodyPr wrap="none" lIns="0" tIns="0" rIns="0" bIns="0" rtlCol="0" anchor="t"/>
          <a:lstStyle/>
          <a:p>
            <a:pPr algn="l" indent="0" marL="0">
              <a:lnSpc>
                <a:spcPts val="928"/>
              </a:lnSpc>
              <a:buNone/>
            </a:pPr>
            <a:r>
              <a:rPr lang="en-US" sz="619" spc="87" kern="0" dirty="0">
                <a:solidFill>
                  <a:srgbClr val="8A8576"/>
                </a:solidFill>
                <a:latin typeface="Liberation Sans Narrow" pitchFamily="34" charset="0"/>
                <a:ea typeface="Liberation Sans Narrow" pitchFamily="34" charset="-122"/>
                <a:cs typeface="Liberation Sans Narrow" pitchFamily="34" charset="-120"/>
              </a:rPr>
              <a:t>09 / 12</a:t>
            </a:r>
            <a:endParaRPr lang="en-US" sz="619"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1115"/>
        </a:solidFill>
      </p:bgPr>
    </p:bg>
    <p:spTree>
      <p:nvGrpSpPr>
        <p:cNvPr id="1" name=""/>
        <p:cNvGrpSpPr/>
        <p:nvPr/>
      </p:nvGrpSpPr>
      <p:grpSpPr>
        <a:xfrm>
          <a:off x="0" y="0"/>
          <a:ext cx="0" cy="0"/>
          <a:chOff x="0" y="0"/>
          <a:chExt cx="0" cy="0"/>
        </a:xfrm>
      </p:grpSpPr>
      <p:sp>
        <p:nvSpPr>
          <p:cNvPr id="2" name="Text 0"/>
          <p:cNvSpPr/>
          <p:nvPr/>
        </p:nvSpPr>
        <p:spPr>
          <a:xfrm>
            <a:off x="514350" y="200025"/>
            <a:ext cx="2326933" cy="164592"/>
          </a:xfrm>
          <a:prstGeom prst="rect">
            <a:avLst/>
          </a:prstGeom>
          <a:noFill/>
          <a:ln/>
        </p:spPr>
        <p:txBody>
          <a:bodyPr wrap="square" lIns="0" tIns="0" rIns="0" bIns="0" rtlCol="0" anchor="t"/>
          <a:lstStyle/>
          <a:p>
            <a:pPr algn="l" indent="0" marL="0">
              <a:lnSpc>
                <a:spcPts val="928"/>
              </a:lnSpc>
              <a:buNone/>
            </a:pPr>
            <a:r>
              <a:rPr lang="en-US" sz="619" spc="111" kern="0" dirty="0">
                <a:solidFill>
                  <a:srgbClr val="8A8576"/>
                </a:solidFill>
                <a:latin typeface="Courier New" pitchFamily="34" charset="0"/>
                <a:ea typeface="Courier New" pitchFamily="34" charset="-122"/>
                <a:cs typeface="Courier New" pitchFamily="34" charset="-120"/>
              </a:rPr>
              <a:t>TERRAPULSE × GOLD FIELDS GHANA / 2026</a:t>
            </a:r>
            <a:endParaRPr lang="en-US" sz="619" dirty="0"/>
          </a:p>
        </p:txBody>
      </p:sp>
      <p:sp>
        <p:nvSpPr>
          <p:cNvPr id="3" name="Text 1"/>
          <p:cNvSpPr/>
          <p:nvPr/>
        </p:nvSpPr>
        <p:spPr>
          <a:xfrm>
            <a:off x="8299586" y="200025"/>
            <a:ext cx="474415" cy="164592"/>
          </a:xfrm>
          <a:prstGeom prst="rect">
            <a:avLst/>
          </a:prstGeom>
          <a:noFill/>
          <a:ln/>
        </p:spPr>
        <p:txBody>
          <a:bodyPr wrap="none" lIns="0" tIns="0" rIns="0" bIns="0" rtlCol="0" anchor="t"/>
          <a:lstStyle/>
          <a:p>
            <a:pPr algn="l" indent="0" marL="0">
              <a:lnSpc>
                <a:spcPts val="928"/>
              </a:lnSpc>
              <a:buNone/>
            </a:pPr>
            <a:r>
              <a:rPr lang="en-US" sz="800" spc="62" kern="0" dirty="0">
                <a:solidFill>
                  <a:srgbClr val="8A8576"/>
                </a:solidFill>
                <a:latin typeface="Liberation Sans Narrow" pitchFamily="34" charset="0"/>
                <a:ea typeface="Liberation Sans Narrow" pitchFamily="34" charset="-122"/>
                <a:cs typeface="Liberation Sans Narrow" pitchFamily="34" charset="-120"/>
              </a:rPr>
              <a:t>10 / 12</a:t>
            </a:r>
            <a:endParaRPr lang="en-US" sz="800" dirty="0"/>
          </a:p>
        </p:txBody>
      </p:sp>
      <p:sp>
        <p:nvSpPr>
          <p:cNvPr id="4" name="Text 2"/>
          <p:cNvSpPr/>
          <p:nvPr/>
        </p:nvSpPr>
        <p:spPr>
          <a:xfrm>
            <a:off x="514350" y="500063"/>
            <a:ext cx="8629650" cy="164592"/>
          </a:xfrm>
          <a:prstGeom prst="rect">
            <a:avLst/>
          </a:prstGeom>
          <a:noFill/>
          <a:ln/>
        </p:spPr>
        <p:txBody>
          <a:bodyPr wrap="square" lIns="0" tIns="0" rIns="0" bIns="0" rtlCol="0" anchor="t"/>
          <a:lstStyle/>
          <a:p>
            <a:pPr algn="l" indent="0" marL="0">
              <a:lnSpc>
                <a:spcPts val="1013"/>
              </a:lnSpc>
              <a:buNone/>
            </a:pPr>
            <a:r>
              <a:rPr lang="en-US" sz="800" spc="149" kern="0" dirty="0">
                <a:solidFill>
                  <a:srgbClr val="D4A24A"/>
                </a:solidFill>
                <a:latin typeface="Courier New" pitchFamily="34" charset="0"/>
                <a:ea typeface="Courier New" pitchFamily="34" charset="-122"/>
                <a:cs typeface="Courier New" pitchFamily="34" charset="-120"/>
              </a:rPr>
              <a:t>FEATURE GROUP 06 — REPORTING &amp; EXPORT (V2)</a:t>
            </a:r>
            <a:endParaRPr lang="en-US" sz="800" dirty="0"/>
          </a:p>
        </p:txBody>
      </p:sp>
      <p:sp>
        <p:nvSpPr>
          <p:cNvPr id="5" name="Text 3"/>
          <p:cNvSpPr/>
          <p:nvPr/>
        </p:nvSpPr>
        <p:spPr>
          <a:xfrm>
            <a:off x="514350" y="700088"/>
            <a:ext cx="8486775" cy="351767"/>
          </a:xfrm>
          <a:prstGeom prst="rect">
            <a:avLst/>
          </a:prstGeom>
          <a:noFill/>
          <a:ln/>
        </p:spPr>
        <p:txBody>
          <a:bodyPr wrap="square" lIns="0" tIns="0" rIns="0" bIns="0" rtlCol="0" anchor="t"/>
          <a:lstStyle/>
          <a:p>
            <a:pPr algn="l" indent="0" marL="0">
              <a:lnSpc>
                <a:spcPts val="2565"/>
              </a:lnSpc>
              <a:buNone/>
            </a:pPr>
            <a:r>
              <a:rPr lang="en-US" sz="2250" spc="-23" kern="0" dirty="0">
                <a:solidFill>
                  <a:srgbClr val="F5F1E8"/>
                </a:solidFill>
                <a:latin typeface="Tinos" pitchFamily="34" charset="0"/>
                <a:ea typeface="Tinos" pitchFamily="34" charset="-122"/>
                <a:cs typeface="Tinos" pitchFamily="34" charset="-120"/>
              </a:rPr>
              <a:t>The deliverable — composed from the same data the map uses.</a:t>
            </a:r>
            <a:endParaRPr lang="en-US" sz="2250" dirty="0"/>
          </a:p>
        </p:txBody>
      </p:sp>
      <p:sp>
        <p:nvSpPr>
          <p:cNvPr id="6" name="Text 4"/>
          <p:cNvSpPr/>
          <p:nvPr/>
        </p:nvSpPr>
        <p:spPr>
          <a:xfrm>
            <a:off x="514350" y="1082948"/>
            <a:ext cx="342900" cy="14288"/>
          </a:xfrm>
          <a:prstGeom prst="rect">
            <a:avLst/>
          </a:prstGeom>
          <a:solidFill>
            <a:srgbClr val="D4A24A"/>
          </a:solidFill>
          <a:ln/>
        </p:spPr>
        <p:txBody>
          <a:bodyPr wrap="square" rtlCol="0" anchor="ctr"/>
          <a:lstStyle/>
          <a:p>
            <a:pPr indent="0" marL="0">
              <a:buNone/>
            </a:pPr>
            <a:endParaRPr lang="en-US" dirty="0"/>
          </a:p>
        </p:txBody>
      </p:sp>
      <p:sp>
        <p:nvSpPr>
          <p:cNvPr id="7" name="Text 5"/>
          <p:cNvSpPr/>
          <p:nvPr/>
        </p:nvSpPr>
        <p:spPr>
          <a:xfrm>
            <a:off x="491490" y="1222465"/>
            <a:ext cx="807980" cy="196025"/>
          </a:xfrm>
          <a:prstGeom prst="roundRect">
            <a:avLst>
              <a:gd name="adj" fmla="val 9718"/>
            </a:avLst>
          </a:prstGeom>
          <a:solidFill>
            <a:srgbClr val="B23A1F">
              <a:alpha val="10000"/>
            </a:srgbClr>
          </a:solidFill>
          <a:ln/>
        </p:spPr>
        <p:txBody>
          <a:bodyPr wrap="square" rtlCol="0" anchor="ctr"/>
          <a:lstStyle/>
          <a:p>
            <a:pPr indent="0" marL="0">
              <a:buNone/>
            </a:pPr>
            <a:endParaRPr lang="en-US" dirty="0"/>
          </a:p>
        </p:txBody>
      </p:sp>
      <p:sp>
        <p:nvSpPr>
          <p:cNvPr id="8" name="Shape 6"/>
          <p:cNvSpPr/>
          <p:nvPr/>
        </p:nvSpPr>
        <p:spPr>
          <a:xfrm>
            <a:off x="521494" y="1232967"/>
            <a:ext cx="0" cy="175022"/>
          </a:xfrm>
          <a:prstGeom prst="line">
            <a:avLst/>
          </a:prstGeom>
          <a:noFill/>
          <a:ln w="14288">
            <a:solidFill>
              <a:srgbClr val="B23A1F"/>
            </a:solidFill>
            <a:prstDash val="solid"/>
          </a:ln>
        </p:spPr>
      </p:sp>
      <p:sp>
        <p:nvSpPr>
          <p:cNvPr id="9" name="Text 7"/>
          <p:cNvSpPr/>
          <p:nvPr/>
        </p:nvSpPr>
        <p:spPr>
          <a:xfrm>
            <a:off x="489263" y="1232967"/>
            <a:ext cx="812434" cy="175022"/>
          </a:xfrm>
          <a:prstGeom prst="rect">
            <a:avLst/>
          </a:prstGeom>
          <a:noFill/>
          <a:ln/>
        </p:spPr>
        <p:txBody>
          <a:bodyPr wrap="none" lIns="0" tIns="0" rIns="0" bIns="0" rtlCol="0" anchor="ctr"/>
          <a:lstStyle/>
          <a:p>
            <a:pPr algn="ctr" indent="0" marL="0">
              <a:lnSpc>
                <a:spcPts val="928"/>
              </a:lnSpc>
              <a:buNone/>
            </a:pPr>
            <a:r>
              <a:rPr lang="en-US" sz="800" spc="124" kern="0" dirty="0">
                <a:solidFill>
                  <a:srgbClr val="B23A1F"/>
                </a:solidFill>
                <a:latin typeface="Courier New" pitchFamily="34" charset="0"/>
                <a:ea typeface="Courier New" pitchFamily="34" charset="-122"/>
                <a:cs typeface="Courier New" pitchFamily="34" charset="-120"/>
              </a:rPr>
              <a:t>THE PROBLEM</a:t>
            </a:r>
            <a:endParaRPr lang="en-US" sz="800" dirty="0"/>
          </a:p>
        </p:txBody>
      </p:sp>
      <p:sp>
        <p:nvSpPr>
          <p:cNvPr id="10" name="Text 8"/>
          <p:cNvSpPr/>
          <p:nvPr/>
        </p:nvSpPr>
        <p:spPr>
          <a:xfrm>
            <a:off x="514350" y="1479426"/>
            <a:ext cx="3875529" cy="202525"/>
          </a:xfrm>
          <a:prstGeom prst="rect">
            <a:avLst/>
          </a:prstGeom>
          <a:noFill/>
          <a:ln/>
        </p:spPr>
        <p:txBody>
          <a:bodyPr wrap="square" lIns="0" tIns="0" rIns="0" bIns="0" rtlCol="0" anchor="t"/>
          <a:lstStyle/>
          <a:p>
            <a:pPr algn="l" indent="0" marL="0">
              <a:lnSpc>
                <a:spcPts val="1477"/>
              </a:lnSpc>
              <a:buNone/>
            </a:pPr>
            <a:r>
              <a:rPr lang="en-US" sz="1181" dirty="0">
                <a:solidFill>
                  <a:srgbClr val="F5F1E8"/>
                </a:solidFill>
                <a:latin typeface="Tinos" pitchFamily="34" charset="0"/>
                <a:ea typeface="Tinos" pitchFamily="34" charset="-122"/>
                <a:cs typeface="Tinos" pitchFamily="34" charset="-120"/>
              </a:rPr>
              <a:t>The report and the screen never agree.</a:t>
            </a:r>
            <a:endParaRPr lang="en-US" sz="1181" dirty="0"/>
          </a:p>
        </p:txBody>
      </p:sp>
      <p:sp>
        <p:nvSpPr>
          <p:cNvPr id="11" name="Text 9"/>
          <p:cNvSpPr/>
          <p:nvPr/>
        </p:nvSpPr>
        <p:spPr>
          <a:xfrm>
            <a:off x="514350" y="1752674"/>
            <a:ext cx="3523208" cy="706910"/>
          </a:xfrm>
          <a:prstGeom prst="rect">
            <a:avLst/>
          </a:prstGeom>
          <a:noFill/>
          <a:ln/>
        </p:spPr>
        <p:txBody>
          <a:bodyPr wrap="square" lIns="0" tIns="0" rIns="0" bIns="0" rtlCol="0" anchor="t"/>
          <a:lstStyle/>
          <a:p>
            <a:pPr algn="l" indent="0" marL="0">
              <a:lnSpc>
                <a:spcPts val="1289"/>
              </a:lnSpc>
              <a:buNone/>
            </a:pPr>
            <a:r>
              <a:rPr lang="en-US" sz="816" dirty="0">
                <a:solidFill>
                  <a:srgbClr val="C9C3B5"/>
                </a:solidFill>
                <a:latin typeface="Carlito" pitchFamily="34" charset="0"/>
                <a:ea typeface="Carlito" pitchFamily="34" charset="-122"/>
                <a:cs typeface="Carlito" pitchFamily="34" charset="-120"/>
              </a:rPr>
              <a:t>A report is written once, exported to PDF, circulated — and is out of date the moment a new assay lands. The map says one thing, the PDF on the regional VP's desk says another. Re-running the analysis doesn't update the report; it just creates another version that nobody reconciles.</a:t>
            </a:r>
            <a:endParaRPr lang="en-US" sz="816" dirty="0"/>
          </a:p>
        </p:txBody>
      </p:sp>
      <p:sp>
        <p:nvSpPr>
          <p:cNvPr id="12" name="Text 10"/>
          <p:cNvSpPr/>
          <p:nvPr/>
        </p:nvSpPr>
        <p:spPr>
          <a:xfrm>
            <a:off x="4300448" y="1222465"/>
            <a:ext cx="698034" cy="196025"/>
          </a:xfrm>
          <a:prstGeom prst="roundRect">
            <a:avLst>
              <a:gd name="adj" fmla="val 9718"/>
            </a:avLst>
          </a:prstGeom>
          <a:solidFill>
            <a:srgbClr val="D4A24A">
              <a:alpha val="10000"/>
            </a:srgbClr>
          </a:solidFill>
          <a:ln/>
        </p:spPr>
        <p:txBody>
          <a:bodyPr wrap="square" rtlCol="0" anchor="ctr"/>
          <a:lstStyle/>
          <a:p>
            <a:pPr indent="0" marL="0">
              <a:buNone/>
            </a:pPr>
            <a:endParaRPr lang="en-US" dirty="0"/>
          </a:p>
        </p:txBody>
      </p:sp>
      <p:sp>
        <p:nvSpPr>
          <p:cNvPr id="13" name="Shape 11"/>
          <p:cNvSpPr/>
          <p:nvPr/>
        </p:nvSpPr>
        <p:spPr>
          <a:xfrm>
            <a:off x="4330452" y="1232967"/>
            <a:ext cx="0" cy="175022"/>
          </a:xfrm>
          <a:prstGeom prst="line">
            <a:avLst/>
          </a:prstGeom>
          <a:noFill/>
          <a:ln w="14288">
            <a:solidFill>
              <a:srgbClr val="D4A24A"/>
            </a:solidFill>
            <a:prstDash val="solid"/>
          </a:ln>
        </p:spPr>
      </p:sp>
      <p:sp>
        <p:nvSpPr>
          <p:cNvPr id="14" name="Text 12"/>
          <p:cNvSpPr/>
          <p:nvPr/>
        </p:nvSpPr>
        <p:spPr>
          <a:xfrm>
            <a:off x="4317578" y="1232967"/>
            <a:ext cx="663773" cy="175022"/>
          </a:xfrm>
          <a:prstGeom prst="rect">
            <a:avLst/>
          </a:prstGeom>
          <a:noFill/>
          <a:ln/>
        </p:spPr>
        <p:txBody>
          <a:bodyPr wrap="none" lIns="0" tIns="0" rIns="0" bIns="0" rtlCol="0" anchor="ctr"/>
          <a:lstStyle/>
          <a:p>
            <a:pPr algn="ctr" indent="0" marL="0">
              <a:lnSpc>
                <a:spcPts val="928"/>
              </a:lnSpc>
              <a:buNone/>
            </a:pPr>
            <a:r>
              <a:rPr lang="en-US" sz="800" spc="124" kern="0" dirty="0">
                <a:solidFill>
                  <a:srgbClr val="D4A24A"/>
                </a:solidFill>
                <a:latin typeface="Courier New" pitchFamily="34" charset="0"/>
                <a:ea typeface="Courier New" pitchFamily="34" charset="-122"/>
                <a:cs typeface="Courier New" pitchFamily="34" charset="-120"/>
              </a:rPr>
              <a:t>THE POINT</a:t>
            </a:r>
            <a:endParaRPr lang="en-US" sz="800" dirty="0"/>
          </a:p>
        </p:txBody>
      </p:sp>
      <p:sp>
        <p:nvSpPr>
          <p:cNvPr id="15" name="Text 13"/>
          <p:cNvSpPr/>
          <p:nvPr/>
        </p:nvSpPr>
        <p:spPr>
          <a:xfrm>
            <a:off x="4323308" y="1479426"/>
            <a:ext cx="4736976" cy="202525"/>
          </a:xfrm>
          <a:prstGeom prst="rect">
            <a:avLst/>
          </a:prstGeom>
          <a:noFill/>
          <a:ln/>
        </p:spPr>
        <p:txBody>
          <a:bodyPr wrap="square" lIns="0" tIns="0" rIns="0" bIns="0" rtlCol="0" anchor="t"/>
          <a:lstStyle/>
          <a:p>
            <a:pPr algn="l" indent="0" marL="0">
              <a:lnSpc>
                <a:spcPts val="1477"/>
              </a:lnSpc>
              <a:buNone/>
            </a:pPr>
            <a:r>
              <a:rPr lang="en-US" sz="1181" dirty="0">
                <a:solidFill>
                  <a:srgbClr val="F5F1E8"/>
                </a:solidFill>
                <a:latin typeface="Tinos" pitchFamily="34" charset="0"/>
                <a:ea typeface="Tinos" pitchFamily="34" charset="-122"/>
                <a:cs typeface="Tinos" pitchFamily="34" charset="-120"/>
              </a:rPr>
              <a:t>5 report types × 5 audience personas — versioned, not overwritten.</a:t>
            </a:r>
            <a:endParaRPr lang="en-US" sz="1181" dirty="0"/>
          </a:p>
        </p:txBody>
      </p:sp>
      <p:sp>
        <p:nvSpPr>
          <p:cNvPr id="16" name="Text 14"/>
          <p:cNvSpPr/>
          <p:nvPr/>
        </p:nvSpPr>
        <p:spPr>
          <a:xfrm>
            <a:off x="4326880" y="1727671"/>
            <a:ext cx="4299198" cy="793179"/>
          </a:xfrm>
          <a:prstGeom prst="roundRect">
            <a:avLst>
              <a:gd name="adj" fmla="val 4803"/>
            </a:avLst>
          </a:prstGeom>
          <a:solidFill>
            <a:srgbClr val="1C2128"/>
          </a:solidFill>
          <a:ln w="7144">
            <a:solidFill>
              <a:srgbClr val="2A2F37"/>
            </a:solidFill>
            <a:prstDash val="solid"/>
          </a:ln>
        </p:spPr>
        <p:txBody>
          <a:bodyPr wrap="square" rtlCol="0" anchor="ctr"/>
          <a:lstStyle/>
          <a:p>
            <a:pPr indent="0" marL="0">
              <a:buNone/>
            </a:pPr>
            <a:endParaRPr lang="en-US" dirty="0"/>
          </a:p>
        </p:txBody>
      </p:sp>
      <p:sp>
        <p:nvSpPr>
          <p:cNvPr id="17" name="Text 15"/>
          <p:cNvSpPr/>
          <p:nvPr/>
        </p:nvSpPr>
        <p:spPr>
          <a:xfrm>
            <a:off x="4401889" y="1788393"/>
            <a:ext cx="4149179" cy="109728"/>
          </a:xfrm>
          <a:prstGeom prst="rect">
            <a:avLst/>
          </a:prstGeom>
          <a:noFill/>
          <a:ln/>
        </p:spPr>
        <p:txBody>
          <a:bodyPr wrap="none" lIns="0" tIns="0" rIns="0" bIns="0" rtlCol="0" anchor="t"/>
          <a:lstStyle/>
          <a:p>
            <a:pPr algn="l" indent="0" marL="0">
              <a:lnSpc>
                <a:spcPts val="506"/>
              </a:lnSpc>
              <a:buNone/>
            </a:pPr>
            <a:r>
              <a:rPr lang="en-US" sz="800" spc="91" kern="0" dirty="0">
                <a:solidFill>
                  <a:srgbClr val="8A8576"/>
                </a:solidFill>
                <a:latin typeface="Courier New" pitchFamily="34" charset="0"/>
                <a:ea typeface="Courier New" pitchFamily="34" charset="-122"/>
                <a:cs typeface="Courier New" pitchFamily="34" charset="-120"/>
              </a:rPr>
              <a:t>REPORT TYPES</a:t>
            </a:r>
            <a:endParaRPr lang="en-US" sz="800" dirty="0"/>
          </a:p>
        </p:txBody>
      </p:sp>
      <p:sp>
        <p:nvSpPr>
          <p:cNvPr id="18" name="Text 16"/>
          <p:cNvSpPr/>
          <p:nvPr/>
        </p:nvSpPr>
        <p:spPr>
          <a:xfrm>
            <a:off x="4401889" y="1878829"/>
            <a:ext cx="801216" cy="178772"/>
          </a:xfrm>
          <a:prstGeom prst="roundRect">
            <a:avLst>
              <a:gd name="adj" fmla="val 10656"/>
            </a:avLst>
          </a:prstGeom>
          <a:solidFill>
            <a:srgbClr val="D4A24A">
              <a:alpha val="6000"/>
            </a:srgbClr>
          </a:solidFill>
          <a:ln w="7144">
            <a:solidFill>
              <a:srgbClr val="D4A24A"/>
            </a:solidFill>
            <a:prstDash val="solid"/>
          </a:ln>
        </p:spPr>
        <p:txBody>
          <a:bodyPr wrap="square" rtlCol="0" anchor="ctr"/>
          <a:lstStyle/>
          <a:p>
            <a:pPr indent="0" marL="0">
              <a:buNone/>
            </a:pPr>
            <a:endParaRPr lang="en-US" dirty="0"/>
          </a:p>
        </p:txBody>
      </p:sp>
      <p:sp>
        <p:nvSpPr>
          <p:cNvPr id="19" name="Text 17"/>
          <p:cNvSpPr/>
          <p:nvPr/>
        </p:nvSpPr>
        <p:spPr>
          <a:xfrm>
            <a:off x="4401889" y="1888406"/>
            <a:ext cx="801216" cy="159618"/>
          </a:xfrm>
          <a:prstGeom prst="rect">
            <a:avLst/>
          </a:prstGeom>
          <a:noFill/>
          <a:ln/>
        </p:spPr>
        <p:txBody>
          <a:bodyPr wrap="none" lIns="0" tIns="0" rIns="0" bIns="0" rtlCol="0" anchor="ctr"/>
          <a:lstStyle/>
          <a:p>
            <a:pPr algn="ctr" indent="0" marL="0">
              <a:lnSpc>
                <a:spcPts val="582"/>
              </a:lnSpc>
              <a:buNone/>
            </a:pPr>
            <a:r>
              <a:rPr lang="en-US" sz="800" spc="10" kern="0" dirty="0">
                <a:solidFill>
                  <a:srgbClr val="D4A24A"/>
                </a:solidFill>
                <a:latin typeface="Courier New" pitchFamily="34" charset="0"/>
                <a:ea typeface="Courier New" pitchFamily="34" charset="-122"/>
                <a:cs typeface="Courier New" pitchFamily="34" charset="-120"/>
              </a:rPr>
              <a:t>Technical Exploration</a:t>
            </a:r>
            <a:endParaRPr lang="en-US" sz="800" dirty="0"/>
          </a:p>
        </p:txBody>
      </p:sp>
      <p:sp>
        <p:nvSpPr>
          <p:cNvPr id="20" name="Text 18"/>
          <p:cNvSpPr/>
          <p:nvPr/>
        </p:nvSpPr>
        <p:spPr>
          <a:xfrm>
            <a:off x="5238824" y="1878829"/>
            <a:ext cx="801216" cy="178772"/>
          </a:xfrm>
          <a:prstGeom prst="roundRect">
            <a:avLst>
              <a:gd name="adj" fmla="val 10656"/>
            </a:avLst>
          </a:prstGeom>
          <a:solidFill>
            <a:srgbClr val="D4A24A">
              <a:alpha val="6000"/>
            </a:srgbClr>
          </a:solidFill>
          <a:ln w="7144">
            <a:solidFill>
              <a:srgbClr val="D4A24A"/>
            </a:solidFill>
            <a:prstDash val="solid"/>
          </a:ln>
        </p:spPr>
        <p:txBody>
          <a:bodyPr wrap="square" rtlCol="0" anchor="ctr"/>
          <a:lstStyle/>
          <a:p>
            <a:pPr indent="0" marL="0">
              <a:buNone/>
            </a:pPr>
            <a:endParaRPr lang="en-US" dirty="0"/>
          </a:p>
        </p:txBody>
      </p:sp>
      <p:sp>
        <p:nvSpPr>
          <p:cNvPr id="21" name="Text 19"/>
          <p:cNvSpPr/>
          <p:nvPr/>
        </p:nvSpPr>
        <p:spPr>
          <a:xfrm>
            <a:off x="5238824" y="1888406"/>
            <a:ext cx="801216" cy="159618"/>
          </a:xfrm>
          <a:prstGeom prst="rect">
            <a:avLst/>
          </a:prstGeom>
          <a:noFill/>
          <a:ln/>
        </p:spPr>
        <p:txBody>
          <a:bodyPr wrap="none" lIns="0" tIns="0" rIns="0" bIns="0" rtlCol="0" anchor="ctr"/>
          <a:lstStyle/>
          <a:p>
            <a:pPr algn="ctr" indent="0" marL="0">
              <a:lnSpc>
                <a:spcPts val="582"/>
              </a:lnSpc>
              <a:buNone/>
            </a:pPr>
            <a:r>
              <a:rPr lang="en-US" sz="800" spc="10" kern="0" dirty="0">
                <a:solidFill>
                  <a:srgbClr val="D4A24A"/>
                </a:solidFill>
                <a:latin typeface="Courier New" pitchFamily="34" charset="0"/>
                <a:ea typeface="Courier New" pitchFamily="34" charset="-122"/>
                <a:cs typeface="Courier New" pitchFamily="34" charset="-120"/>
              </a:rPr>
              <a:t>Executive Summary</a:t>
            </a:r>
            <a:endParaRPr lang="en-US" sz="800" dirty="0"/>
          </a:p>
        </p:txBody>
      </p:sp>
      <p:sp>
        <p:nvSpPr>
          <p:cNvPr id="22" name="Text 20"/>
          <p:cNvSpPr/>
          <p:nvPr/>
        </p:nvSpPr>
        <p:spPr>
          <a:xfrm>
            <a:off x="6075759" y="1878829"/>
            <a:ext cx="801328" cy="178772"/>
          </a:xfrm>
          <a:prstGeom prst="roundRect">
            <a:avLst>
              <a:gd name="adj" fmla="val 10656"/>
            </a:avLst>
          </a:prstGeom>
          <a:solidFill>
            <a:srgbClr val="D4A24A">
              <a:alpha val="6000"/>
            </a:srgbClr>
          </a:solidFill>
          <a:ln w="7144">
            <a:solidFill>
              <a:srgbClr val="D4A24A"/>
            </a:solidFill>
            <a:prstDash val="solid"/>
          </a:ln>
        </p:spPr>
        <p:txBody>
          <a:bodyPr wrap="square" rtlCol="0" anchor="ctr"/>
          <a:lstStyle/>
          <a:p>
            <a:pPr indent="0" marL="0">
              <a:buNone/>
            </a:pPr>
            <a:endParaRPr lang="en-US" dirty="0"/>
          </a:p>
        </p:txBody>
      </p:sp>
      <p:sp>
        <p:nvSpPr>
          <p:cNvPr id="23" name="Text 21"/>
          <p:cNvSpPr/>
          <p:nvPr/>
        </p:nvSpPr>
        <p:spPr>
          <a:xfrm>
            <a:off x="6075759" y="1888406"/>
            <a:ext cx="801328" cy="159618"/>
          </a:xfrm>
          <a:prstGeom prst="rect">
            <a:avLst/>
          </a:prstGeom>
          <a:noFill/>
          <a:ln/>
        </p:spPr>
        <p:txBody>
          <a:bodyPr wrap="none" lIns="0" tIns="0" rIns="0" bIns="0" rtlCol="0" anchor="ctr"/>
          <a:lstStyle/>
          <a:p>
            <a:pPr algn="ctr" indent="0" marL="0">
              <a:lnSpc>
                <a:spcPts val="582"/>
              </a:lnSpc>
              <a:buNone/>
            </a:pPr>
            <a:r>
              <a:rPr lang="en-US" sz="800" spc="10" kern="0" dirty="0">
                <a:solidFill>
                  <a:srgbClr val="D4A24A"/>
                </a:solidFill>
                <a:latin typeface="Courier New" pitchFamily="34" charset="0"/>
                <a:ea typeface="Courier New" pitchFamily="34" charset="-122"/>
                <a:cs typeface="Courier New" pitchFamily="34" charset="-120"/>
              </a:rPr>
              <a:t>Drill Program</a:t>
            </a:r>
            <a:endParaRPr lang="en-US" sz="800" dirty="0"/>
          </a:p>
        </p:txBody>
      </p:sp>
      <p:sp>
        <p:nvSpPr>
          <p:cNvPr id="24" name="Text 22"/>
          <p:cNvSpPr/>
          <p:nvPr/>
        </p:nvSpPr>
        <p:spPr>
          <a:xfrm>
            <a:off x="6912806" y="1878829"/>
            <a:ext cx="801216" cy="178772"/>
          </a:xfrm>
          <a:prstGeom prst="roundRect">
            <a:avLst>
              <a:gd name="adj" fmla="val 10656"/>
            </a:avLst>
          </a:prstGeom>
          <a:solidFill>
            <a:srgbClr val="D4A24A">
              <a:alpha val="6000"/>
            </a:srgbClr>
          </a:solidFill>
          <a:ln w="7144">
            <a:solidFill>
              <a:srgbClr val="D4A24A"/>
            </a:solidFill>
            <a:prstDash val="solid"/>
          </a:ln>
        </p:spPr>
        <p:txBody>
          <a:bodyPr wrap="square" rtlCol="0" anchor="ctr"/>
          <a:lstStyle/>
          <a:p>
            <a:pPr indent="0" marL="0">
              <a:buNone/>
            </a:pPr>
            <a:endParaRPr lang="en-US" dirty="0"/>
          </a:p>
        </p:txBody>
      </p:sp>
      <p:sp>
        <p:nvSpPr>
          <p:cNvPr id="25" name="Text 23"/>
          <p:cNvSpPr/>
          <p:nvPr/>
        </p:nvSpPr>
        <p:spPr>
          <a:xfrm>
            <a:off x="6912806" y="1888406"/>
            <a:ext cx="801216" cy="159618"/>
          </a:xfrm>
          <a:prstGeom prst="rect">
            <a:avLst/>
          </a:prstGeom>
          <a:noFill/>
          <a:ln/>
        </p:spPr>
        <p:txBody>
          <a:bodyPr wrap="none" lIns="0" tIns="0" rIns="0" bIns="0" rtlCol="0" anchor="ctr"/>
          <a:lstStyle/>
          <a:p>
            <a:pPr algn="ctr" indent="0" marL="0">
              <a:lnSpc>
                <a:spcPts val="582"/>
              </a:lnSpc>
              <a:buNone/>
            </a:pPr>
            <a:r>
              <a:rPr lang="en-US" sz="800" spc="10" kern="0" dirty="0">
                <a:solidFill>
                  <a:srgbClr val="D4A24A"/>
                </a:solidFill>
                <a:latin typeface="Courier New" pitchFamily="34" charset="0"/>
                <a:ea typeface="Courier New" pitchFamily="34" charset="-122"/>
                <a:cs typeface="Courier New" pitchFamily="34" charset="-120"/>
              </a:rPr>
              <a:t>Data QA</a:t>
            </a:r>
            <a:endParaRPr lang="en-US" sz="800" dirty="0"/>
          </a:p>
        </p:txBody>
      </p:sp>
      <p:sp>
        <p:nvSpPr>
          <p:cNvPr id="26" name="Text 24"/>
          <p:cNvSpPr/>
          <p:nvPr/>
        </p:nvSpPr>
        <p:spPr>
          <a:xfrm>
            <a:off x="7749741" y="1878829"/>
            <a:ext cx="801216" cy="178772"/>
          </a:xfrm>
          <a:prstGeom prst="roundRect">
            <a:avLst>
              <a:gd name="adj" fmla="val 10656"/>
            </a:avLst>
          </a:prstGeom>
          <a:solidFill>
            <a:srgbClr val="D4A24A">
              <a:alpha val="6000"/>
            </a:srgbClr>
          </a:solidFill>
          <a:ln w="7144">
            <a:solidFill>
              <a:srgbClr val="D4A24A"/>
            </a:solidFill>
            <a:prstDash val="solid"/>
          </a:ln>
        </p:spPr>
        <p:txBody>
          <a:bodyPr wrap="square" rtlCol="0" anchor="ctr"/>
          <a:lstStyle/>
          <a:p>
            <a:pPr indent="0" marL="0">
              <a:buNone/>
            </a:pPr>
            <a:endParaRPr lang="en-US" dirty="0"/>
          </a:p>
        </p:txBody>
      </p:sp>
      <p:sp>
        <p:nvSpPr>
          <p:cNvPr id="27" name="Text 25"/>
          <p:cNvSpPr/>
          <p:nvPr/>
        </p:nvSpPr>
        <p:spPr>
          <a:xfrm>
            <a:off x="7749741" y="1888406"/>
            <a:ext cx="801216" cy="159618"/>
          </a:xfrm>
          <a:prstGeom prst="rect">
            <a:avLst/>
          </a:prstGeom>
          <a:noFill/>
          <a:ln/>
        </p:spPr>
        <p:txBody>
          <a:bodyPr wrap="none" lIns="0" tIns="0" rIns="0" bIns="0" rtlCol="0" anchor="ctr"/>
          <a:lstStyle/>
          <a:p>
            <a:pPr algn="ctr" indent="0" marL="0">
              <a:lnSpc>
                <a:spcPts val="582"/>
              </a:lnSpc>
              <a:buNone/>
            </a:pPr>
            <a:r>
              <a:rPr lang="en-US" sz="800" spc="10" kern="0" dirty="0">
                <a:solidFill>
                  <a:srgbClr val="D4A24A"/>
                </a:solidFill>
                <a:latin typeface="Courier New" pitchFamily="34" charset="0"/>
                <a:ea typeface="Courier New" pitchFamily="34" charset="-122"/>
                <a:cs typeface="Courier New" pitchFamily="34" charset="-120"/>
              </a:rPr>
              <a:t>Comprehensive</a:t>
            </a:r>
            <a:endParaRPr lang="en-US" sz="800" dirty="0"/>
          </a:p>
        </p:txBody>
      </p:sp>
      <p:sp>
        <p:nvSpPr>
          <p:cNvPr id="28" name="Text 26"/>
          <p:cNvSpPr/>
          <p:nvPr/>
        </p:nvSpPr>
        <p:spPr>
          <a:xfrm>
            <a:off x="4401889" y="2083743"/>
            <a:ext cx="4149179" cy="7144"/>
          </a:xfrm>
          <a:prstGeom prst="rect">
            <a:avLst/>
          </a:prstGeom>
          <a:solidFill>
            <a:srgbClr val="2A2F37"/>
          </a:solidFill>
          <a:ln/>
        </p:spPr>
        <p:txBody>
          <a:bodyPr wrap="square" rtlCol="0" anchor="ctr"/>
          <a:lstStyle/>
          <a:p>
            <a:pPr indent="0" marL="0">
              <a:buNone/>
            </a:pPr>
            <a:endParaRPr lang="en-US" dirty="0"/>
          </a:p>
        </p:txBody>
      </p:sp>
      <p:sp>
        <p:nvSpPr>
          <p:cNvPr id="29" name="Text 27"/>
          <p:cNvSpPr/>
          <p:nvPr/>
        </p:nvSpPr>
        <p:spPr>
          <a:xfrm>
            <a:off x="4401889" y="2126605"/>
            <a:ext cx="4149179" cy="109728"/>
          </a:xfrm>
          <a:prstGeom prst="rect">
            <a:avLst/>
          </a:prstGeom>
          <a:noFill/>
          <a:ln/>
        </p:spPr>
        <p:txBody>
          <a:bodyPr wrap="none" lIns="0" tIns="0" rIns="0" bIns="0" rtlCol="0" anchor="t"/>
          <a:lstStyle/>
          <a:p>
            <a:pPr algn="l" indent="0" marL="0">
              <a:lnSpc>
                <a:spcPts val="506"/>
              </a:lnSpc>
              <a:buNone/>
            </a:pPr>
            <a:r>
              <a:rPr lang="en-US" sz="800" spc="91" kern="0" dirty="0">
                <a:solidFill>
                  <a:srgbClr val="8A8576"/>
                </a:solidFill>
                <a:latin typeface="Courier New" pitchFamily="34" charset="0"/>
                <a:ea typeface="Courier New" pitchFamily="34" charset="-122"/>
                <a:cs typeface="Courier New" pitchFamily="34" charset="-120"/>
              </a:rPr>
              <a:t>AUDIENCE PERSONAS</a:t>
            </a:r>
            <a:endParaRPr lang="en-US" sz="800" dirty="0"/>
          </a:p>
        </p:txBody>
      </p:sp>
      <p:sp>
        <p:nvSpPr>
          <p:cNvPr id="30" name="Text 28"/>
          <p:cNvSpPr/>
          <p:nvPr/>
        </p:nvSpPr>
        <p:spPr>
          <a:xfrm>
            <a:off x="4401889" y="2213816"/>
            <a:ext cx="801216" cy="259115"/>
          </a:xfrm>
          <a:prstGeom prst="roundRect">
            <a:avLst>
              <a:gd name="adj" fmla="val 7352"/>
            </a:avLst>
          </a:prstGeom>
          <a:solidFill>
            <a:srgbClr val="FFFFFF">
              <a:alpha val="2000"/>
            </a:srgbClr>
          </a:solidFill>
          <a:ln w="7144">
            <a:solidFill>
              <a:srgbClr val="2A2F37"/>
            </a:solidFill>
            <a:prstDash val="solid"/>
          </a:ln>
        </p:spPr>
        <p:txBody>
          <a:bodyPr wrap="square" rtlCol="0" anchor="ctr"/>
          <a:lstStyle/>
          <a:p>
            <a:pPr indent="0" marL="0">
              <a:buNone/>
            </a:pPr>
            <a:endParaRPr lang="en-US" dirty="0"/>
          </a:p>
        </p:txBody>
      </p:sp>
      <p:sp>
        <p:nvSpPr>
          <p:cNvPr id="31" name="Text 29"/>
          <p:cNvSpPr/>
          <p:nvPr/>
        </p:nvSpPr>
        <p:spPr>
          <a:xfrm>
            <a:off x="4401889" y="2226618"/>
            <a:ext cx="801216" cy="233511"/>
          </a:xfrm>
          <a:prstGeom prst="rect">
            <a:avLst/>
          </a:prstGeom>
          <a:noFill/>
          <a:ln/>
        </p:spPr>
        <p:txBody>
          <a:bodyPr wrap="none" lIns="0" tIns="0" rIns="0" bIns="0" rtlCol="0" anchor="ctr"/>
          <a:lstStyle/>
          <a:p>
            <a:pPr algn="ctr" indent="0" marL="0">
              <a:lnSpc>
                <a:spcPts val="582"/>
              </a:lnSpc>
              <a:buNone/>
            </a:pPr>
            <a:r>
              <a:rPr lang="en-US" sz="800" spc="10" kern="0" dirty="0">
                <a:solidFill>
                  <a:srgbClr val="C9C3B5"/>
                </a:solidFill>
                <a:latin typeface="Courier New" pitchFamily="34" charset="0"/>
                <a:ea typeface="Courier New" pitchFamily="34" charset="-122"/>
                <a:cs typeface="Courier New" pitchFamily="34" charset="-120"/>
              </a:rPr>
              <a:t>Exploration Geologist</a:t>
            </a:r>
            <a:endParaRPr lang="en-US" sz="800" dirty="0"/>
          </a:p>
        </p:txBody>
      </p:sp>
      <p:sp>
        <p:nvSpPr>
          <p:cNvPr id="32" name="Text 30"/>
          <p:cNvSpPr/>
          <p:nvPr/>
        </p:nvSpPr>
        <p:spPr>
          <a:xfrm>
            <a:off x="5242396" y="2230189"/>
            <a:ext cx="794072" cy="226368"/>
          </a:xfrm>
          <a:prstGeom prst="roundRect">
            <a:avLst>
              <a:gd name="adj" fmla="val 8416"/>
            </a:avLst>
          </a:prstGeom>
          <a:solidFill>
            <a:srgbClr val="FFFFFF">
              <a:alpha val="2000"/>
            </a:srgbClr>
          </a:solidFill>
          <a:ln w="7144">
            <a:solidFill>
              <a:srgbClr val="2A2F37"/>
            </a:solidFill>
            <a:prstDash val="solid"/>
          </a:ln>
        </p:spPr>
        <p:txBody>
          <a:bodyPr wrap="square" rtlCol="0" anchor="ctr"/>
          <a:lstStyle/>
          <a:p>
            <a:pPr indent="0" marL="0">
              <a:buNone/>
            </a:pPr>
            <a:endParaRPr lang="en-US" dirty="0"/>
          </a:p>
        </p:txBody>
      </p:sp>
      <p:sp>
        <p:nvSpPr>
          <p:cNvPr id="33" name="Text 31"/>
          <p:cNvSpPr/>
          <p:nvPr/>
        </p:nvSpPr>
        <p:spPr>
          <a:xfrm>
            <a:off x="5238824" y="2226618"/>
            <a:ext cx="801216" cy="233511"/>
          </a:xfrm>
          <a:prstGeom prst="rect">
            <a:avLst/>
          </a:prstGeom>
          <a:noFill/>
          <a:ln/>
        </p:spPr>
        <p:txBody>
          <a:bodyPr wrap="square" lIns="21431" tIns="35719" rIns="21431" bIns="35719" rtlCol="0" anchor="ctr"/>
          <a:lstStyle/>
          <a:p>
            <a:pPr algn="ctr" indent="0" marL="0">
              <a:lnSpc>
                <a:spcPts val="582"/>
              </a:lnSpc>
              <a:buNone/>
            </a:pPr>
            <a:r>
              <a:rPr lang="en-US" sz="800" spc="10" kern="0" dirty="0">
                <a:solidFill>
                  <a:srgbClr val="C9C3B5"/>
                </a:solidFill>
                <a:latin typeface="Liberation Sans Narrow" pitchFamily="34" charset="0"/>
                <a:ea typeface="Liberation Sans Narrow" pitchFamily="34" charset="-122"/>
                <a:cs typeface="Liberation Sans Narrow" pitchFamily="34" charset="-120"/>
              </a:rPr>
              <a:t>Qualified Person (NI 43-101 / JORC)</a:t>
            </a:r>
            <a:endParaRPr lang="en-US" sz="800" dirty="0"/>
          </a:p>
        </p:txBody>
      </p:sp>
      <p:sp>
        <p:nvSpPr>
          <p:cNvPr id="34" name="Text 32"/>
          <p:cNvSpPr/>
          <p:nvPr/>
        </p:nvSpPr>
        <p:spPr>
          <a:xfrm>
            <a:off x="6075759" y="2213816"/>
            <a:ext cx="801328" cy="259115"/>
          </a:xfrm>
          <a:prstGeom prst="roundRect">
            <a:avLst>
              <a:gd name="adj" fmla="val 7352"/>
            </a:avLst>
          </a:prstGeom>
          <a:solidFill>
            <a:srgbClr val="FFFFFF">
              <a:alpha val="2000"/>
            </a:srgbClr>
          </a:solidFill>
          <a:ln w="7144">
            <a:solidFill>
              <a:srgbClr val="2A2F37"/>
            </a:solidFill>
            <a:prstDash val="solid"/>
          </a:ln>
        </p:spPr>
        <p:txBody>
          <a:bodyPr wrap="square" rtlCol="0" anchor="ctr"/>
          <a:lstStyle/>
          <a:p>
            <a:pPr indent="0" marL="0">
              <a:buNone/>
            </a:pPr>
            <a:endParaRPr lang="en-US" dirty="0"/>
          </a:p>
        </p:txBody>
      </p:sp>
      <p:sp>
        <p:nvSpPr>
          <p:cNvPr id="35" name="Text 33"/>
          <p:cNvSpPr/>
          <p:nvPr/>
        </p:nvSpPr>
        <p:spPr>
          <a:xfrm>
            <a:off x="6075759" y="2226618"/>
            <a:ext cx="801328" cy="233511"/>
          </a:xfrm>
          <a:prstGeom prst="rect">
            <a:avLst/>
          </a:prstGeom>
          <a:noFill/>
          <a:ln/>
        </p:spPr>
        <p:txBody>
          <a:bodyPr wrap="none" lIns="0" tIns="0" rIns="0" bIns="0" rtlCol="0" anchor="ctr"/>
          <a:lstStyle/>
          <a:p>
            <a:pPr algn="ctr" indent="0" marL="0">
              <a:lnSpc>
                <a:spcPts val="582"/>
              </a:lnSpc>
              <a:buNone/>
            </a:pPr>
            <a:r>
              <a:rPr lang="en-US" sz="800" spc="10" kern="0" dirty="0">
                <a:solidFill>
                  <a:srgbClr val="C9C3B5"/>
                </a:solidFill>
                <a:latin typeface="Courier New" pitchFamily="34" charset="0"/>
                <a:ea typeface="Courier New" pitchFamily="34" charset="-122"/>
                <a:cs typeface="Courier New" pitchFamily="34" charset="-120"/>
              </a:rPr>
              <a:t>Investor</a:t>
            </a:r>
            <a:endParaRPr lang="en-US" sz="800" dirty="0"/>
          </a:p>
        </p:txBody>
      </p:sp>
      <p:sp>
        <p:nvSpPr>
          <p:cNvPr id="36" name="Text 34"/>
          <p:cNvSpPr/>
          <p:nvPr/>
        </p:nvSpPr>
        <p:spPr>
          <a:xfrm>
            <a:off x="6912806" y="2213816"/>
            <a:ext cx="801216" cy="259115"/>
          </a:xfrm>
          <a:prstGeom prst="roundRect">
            <a:avLst>
              <a:gd name="adj" fmla="val 7352"/>
            </a:avLst>
          </a:prstGeom>
          <a:solidFill>
            <a:srgbClr val="FFFFFF">
              <a:alpha val="2000"/>
            </a:srgbClr>
          </a:solidFill>
          <a:ln w="7144">
            <a:solidFill>
              <a:srgbClr val="2A2F37"/>
            </a:solidFill>
            <a:prstDash val="solid"/>
          </a:ln>
        </p:spPr>
        <p:txBody>
          <a:bodyPr wrap="square" rtlCol="0" anchor="ctr"/>
          <a:lstStyle/>
          <a:p>
            <a:pPr indent="0" marL="0">
              <a:buNone/>
            </a:pPr>
            <a:endParaRPr lang="en-US" dirty="0"/>
          </a:p>
        </p:txBody>
      </p:sp>
      <p:sp>
        <p:nvSpPr>
          <p:cNvPr id="37" name="Text 35"/>
          <p:cNvSpPr/>
          <p:nvPr/>
        </p:nvSpPr>
        <p:spPr>
          <a:xfrm>
            <a:off x="6912806" y="2226618"/>
            <a:ext cx="801216" cy="233511"/>
          </a:xfrm>
          <a:prstGeom prst="rect">
            <a:avLst/>
          </a:prstGeom>
          <a:noFill/>
          <a:ln/>
        </p:spPr>
        <p:txBody>
          <a:bodyPr wrap="none" lIns="0" tIns="0" rIns="0" bIns="0" rtlCol="0" anchor="ctr"/>
          <a:lstStyle/>
          <a:p>
            <a:pPr algn="ctr" indent="0" marL="0">
              <a:lnSpc>
                <a:spcPts val="582"/>
              </a:lnSpc>
              <a:buNone/>
            </a:pPr>
            <a:r>
              <a:rPr lang="en-US" sz="800" spc="10" kern="0" dirty="0">
                <a:solidFill>
                  <a:srgbClr val="C9C3B5"/>
                </a:solidFill>
                <a:latin typeface="Courier New" pitchFamily="34" charset="0"/>
                <a:ea typeface="Courier New" pitchFamily="34" charset="-122"/>
                <a:cs typeface="Courier New" pitchFamily="34" charset="-120"/>
              </a:rPr>
              <a:t>Project Manager</a:t>
            </a:r>
            <a:endParaRPr lang="en-US" sz="800" dirty="0"/>
          </a:p>
        </p:txBody>
      </p:sp>
      <p:sp>
        <p:nvSpPr>
          <p:cNvPr id="38" name="Text 36"/>
          <p:cNvSpPr/>
          <p:nvPr/>
        </p:nvSpPr>
        <p:spPr>
          <a:xfrm>
            <a:off x="7749741" y="2213816"/>
            <a:ext cx="801216" cy="259115"/>
          </a:xfrm>
          <a:prstGeom prst="roundRect">
            <a:avLst>
              <a:gd name="adj" fmla="val 7352"/>
            </a:avLst>
          </a:prstGeom>
          <a:solidFill>
            <a:srgbClr val="FFFFFF">
              <a:alpha val="2000"/>
            </a:srgbClr>
          </a:solidFill>
          <a:ln w="7144">
            <a:solidFill>
              <a:srgbClr val="2A2F37"/>
            </a:solidFill>
            <a:prstDash val="solid"/>
          </a:ln>
        </p:spPr>
        <p:txBody>
          <a:bodyPr wrap="square" rtlCol="0" anchor="ctr"/>
          <a:lstStyle/>
          <a:p>
            <a:pPr indent="0" marL="0">
              <a:buNone/>
            </a:pPr>
            <a:endParaRPr lang="en-US" dirty="0"/>
          </a:p>
        </p:txBody>
      </p:sp>
      <p:sp>
        <p:nvSpPr>
          <p:cNvPr id="39" name="Text 37"/>
          <p:cNvSpPr/>
          <p:nvPr/>
        </p:nvSpPr>
        <p:spPr>
          <a:xfrm>
            <a:off x="7749741" y="2226618"/>
            <a:ext cx="801216" cy="233511"/>
          </a:xfrm>
          <a:prstGeom prst="rect">
            <a:avLst/>
          </a:prstGeom>
          <a:noFill/>
          <a:ln/>
        </p:spPr>
        <p:txBody>
          <a:bodyPr wrap="none" lIns="0" tIns="0" rIns="0" bIns="0" rtlCol="0" anchor="ctr"/>
          <a:lstStyle/>
          <a:p>
            <a:pPr algn="ctr" indent="0" marL="0">
              <a:lnSpc>
                <a:spcPts val="582"/>
              </a:lnSpc>
              <a:buNone/>
            </a:pPr>
            <a:r>
              <a:rPr lang="en-US" sz="800" spc="10" kern="0" dirty="0">
                <a:solidFill>
                  <a:srgbClr val="C9C3B5"/>
                </a:solidFill>
                <a:latin typeface="Courier New" pitchFamily="34" charset="0"/>
                <a:ea typeface="Courier New" pitchFamily="34" charset="-122"/>
                <a:cs typeface="Courier New" pitchFamily="34" charset="-120"/>
              </a:rPr>
              <a:t>Environmental Officer</a:t>
            </a:r>
            <a:endParaRPr lang="en-US" sz="800" dirty="0"/>
          </a:p>
        </p:txBody>
      </p:sp>
      <p:sp>
        <p:nvSpPr>
          <p:cNvPr id="40" name="Shape 38"/>
          <p:cNvSpPr/>
          <p:nvPr/>
        </p:nvSpPr>
        <p:spPr>
          <a:xfrm>
            <a:off x="4323308" y="2570857"/>
            <a:ext cx="4306342" cy="0"/>
          </a:xfrm>
          <a:prstGeom prst="line">
            <a:avLst/>
          </a:prstGeom>
          <a:noFill/>
          <a:ln w="7144">
            <a:solidFill>
              <a:srgbClr val="2A2F37"/>
            </a:solidFill>
            <a:prstDash val="solid"/>
          </a:ln>
        </p:spPr>
      </p:sp>
      <p:sp>
        <p:nvSpPr>
          <p:cNvPr id="41" name="Text 39"/>
          <p:cNvSpPr/>
          <p:nvPr/>
        </p:nvSpPr>
        <p:spPr>
          <a:xfrm>
            <a:off x="4323308" y="2603004"/>
            <a:ext cx="1219010" cy="116644"/>
          </a:xfrm>
          <a:prstGeom prst="rect">
            <a:avLst/>
          </a:prstGeom>
          <a:noFill/>
          <a:ln/>
        </p:spPr>
        <p:txBody>
          <a:bodyPr wrap="square" lIns="0" tIns="0" rIns="0" bIns="0" rtlCol="0" anchor="t"/>
          <a:lstStyle/>
          <a:p>
            <a:pPr algn="l" indent="0" marL="0">
              <a:lnSpc>
                <a:spcPts val="911"/>
              </a:lnSpc>
              <a:buNone/>
            </a:pPr>
            <a:r>
              <a:rPr lang="en-US" sz="675" spc="-3" kern="0" dirty="0">
                <a:solidFill>
                  <a:srgbClr val="D4A24A"/>
                </a:solidFill>
                <a:latin typeface="Carlito" pitchFamily="34" charset="0"/>
                <a:ea typeface="Carlito" pitchFamily="34" charset="-122"/>
                <a:cs typeface="Carlito" pitchFamily="34" charset="-120"/>
              </a:rPr>
              <a:t>Versioned, not overwritten</a:t>
            </a:r>
            <a:endParaRPr lang="en-US" sz="675" dirty="0"/>
          </a:p>
        </p:txBody>
      </p:sp>
      <p:sp>
        <p:nvSpPr>
          <p:cNvPr id="42" name="Text 40"/>
          <p:cNvSpPr/>
          <p:nvPr/>
        </p:nvSpPr>
        <p:spPr>
          <a:xfrm>
            <a:off x="5523458" y="2603004"/>
            <a:ext cx="3106192" cy="116644"/>
          </a:xfrm>
          <a:prstGeom prst="rect">
            <a:avLst/>
          </a:prstGeom>
          <a:noFill/>
          <a:ln/>
        </p:spPr>
        <p:txBody>
          <a:bodyPr wrap="square" lIns="0" tIns="0" rIns="0" bIns="0" rtlCol="0" anchor="t"/>
          <a:lstStyle/>
          <a:p>
            <a:pPr algn="l" indent="0" marL="0">
              <a:lnSpc>
                <a:spcPts val="919"/>
              </a:lnSpc>
              <a:buNone/>
            </a:pPr>
            <a:r>
              <a:rPr lang="en-US" sz="647" dirty="0">
                <a:solidFill>
                  <a:srgbClr val="C9C3B5"/>
                </a:solidFill>
                <a:latin typeface="Carlito" pitchFamily="34" charset="0"/>
                <a:ea typeface="Carlito" pitchFamily="34" charset="-122"/>
                <a:cs typeface="Carlito" pitchFamily="34" charset="-120"/>
              </a:rPr>
              <a:t>Regenerating produces a new version; the old one is preserved.</a:t>
            </a:r>
            <a:endParaRPr lang="en-US" sz="647" dirty="0"/>
          </a:p>
        </p:txBody>
      </p:sp>
      <p:sp>
        <p:nvSpPr>
          <p:cNvPr id="43" name="Shape 41"/>
          <p:cNvSpPr/>
          <p:nvPr/>
        </p:nvSpPr>
        <p:spPr>
          <a:xfrm>
            <a:off x="4323308" y="2751795"/>
            <a:ext cx="4306342" cy="0"/>
          </a:xfrm>
          <a:prstGeom prst="line">
            <a:avLst/>
          </a:prstGeom>
          <a:noFill/>
          <a:ln w="7144">
            <a:solidFill>
              <a:srgbClr val="2A2F37"/>
            </a:solidFill>
            <a:prstDash val="solid"/>
          </a:ln>
        </p:spPr>
      </p:sp>
      <p:sp>
        <p:nvSpPr>
          <p:cNvPr id="44" name="Text 42"/>
          <p:cNvSpPr/>
          <p:nvPr/>
        </p:nvSpPr>
        <p:spPr>
          <a:xfrm>
            <a:off x="4323308" y="2783942"/>
            <a:ext cx="1322851" cy="116644"/>
          </a:xfrm>
          <a:prstGeom prst="rect">
            <a:avLst/>
          </a:prstGeom>
          <a:noFill/>
          <a:ln/>
        </p:spPr>
        <p:txBody>
          <a:bodyPr wrap="none" lIns="0" tIns="0" rIns="0" bIns="0" rtlCol="0" anchor="t"/>
          <a:lstStyle/>
          <a:p>
            <a:pPr algn="l" indent="0" marL="0">
              <a:lnSpc>
                <a:spcPts val="911"/>
              </a:lnSpc>
              <a:buNone/>
            </a:pPr>
            <a:r>
              <a:rPr lang="en-US" sz="800" spc="-3" kern="0" dirty="0">
                <a:solidFill>
                  <a:srgbClr val="D4A24A"/>
                </a:solidFill>
                <a:latin typeface="Carlito" pitchFamily="34" charset="0"/>
                <a:ea typeface="Carlito" pitchFamily="34" charset="-122"/>
                <a:cs typeface="Carlito" pitchFamily="34" charset="-120"/>
              </a:rPr>
              <a:t>Section lifecycle</a:t>
            </a:r>
            <a:endParaRPr lang="en-US" sz="800" dirty="0"/>
          </a:p>
        </p:txBody>
      </p:sp>
      <p:sp>
        <p:nvSpPr>
          <p:cNvPr id="45" name="Text 43"/>
          <p:cNvSpPr/>
          <p:nvPr/>
        </p:nvSpPr>
        <p:spPr>
          <a:xfrm>
            <a:off x="5523458" y="2783942"/>
            <a:ext cx="3106192" cy="116644"/>
          </a:xfrm>
          <a:prstGeom prst="rect">
            <a:avLst/>
          </a:prstGeom>
          <a:noFill/>
          <a:ln/>
        </p:spPr>
        <p:txBody>
          <a:bodyPr wrap="square" lIns="0" tIns="0" rIns="0" bIns="0" rtlCol="0" anchor="t"/>
          <a:lstStyle/>
          <a:p>
            <a:pPr algn="l" indent="0" marL="0">
              <a:lnSpc>
                <a:spcPts val="919"/>
              </a:lnSpc>
              <a:buNone/>
            </a:pPr>
            <a:r>
              <a:rPr lang="en-US" sz="647" dirty="0">
                <a:solidFill>
                  <a:srgbClr val="C9C3B5"/>
                </a:solidFill>
                <a:latin typeface="Carlito" pitchFamily="34" charset="0"/>
                <a:ea typeface="Carlito" pitchFamily="34" charset="-122"/>
                <a:cs typeface="Carlito" pitchFamily="34" charset="-120"/>
              </a:rPr>
              <a:t>Sections move draft → review → final; human edits are recorded.</a:t>
            </a:r>
            <a:endParaRPr lang="en-US" sz="647" dirty="0"/>
          </a:p>
        </p:txBody>
      </p:sp>
      <p:sp>
        <p:nvSpPr>
          <p:cNvPr id="46" name="Shape 44"/>
          <p:cNvSpPr/>
          <p:nvPr/>
        </p:nvSpPr>
        <p:spPr>
          <a:xfrm>
            <a:off x="4323308" y="2932733"/>
            <a:ext cx="4306342" cy="0"/>
          </a:xfrm>
          <a:prstGeom prst="line">
            <a:avLst/>
          </a:prstGeom>
          <a:noFill/>
          <a:ln w="7144">
            <a:solidFill>
              <a:srgbClr val="2A2F37"/>
            </a:solidFill>
            <a:prstDash val="solid"/>
          </a:ln>
        </p:spPr>
      </p:sp>
      <p:sp>
        <p:nvSpPr>
          <p:cNvPr id="47" name="Text 45"/>
          <p:cNvSpPr/>
          <p:nvPr/>
        </p:nvSpPr>
        <p:spPr>
          <a:xfrm>
            <a:off x="4323308" y="2964879"/>
            <a:ext cx="1322851" cy="233288"/>
          </a:xfrm>
          <a:prstGeom prst="rect">
            <a:avLst/>
          </a:prstGeom>
          <a:noFill/>
          <a:ln/>
        </p:spPr>
        <p:txBody>
          <a:bodyPr wrap="none" lIns="0" tIns="0" rIns="0" bIns="0" rtlCol="0" anchor="t"/>
          <a:lstStyle/>
          <a:p>
            <a:pPr algn="l" indent="0" marL="0">
              <a:lnSpc>
                <a:spcPts val="911"/>
              </a:lnSpc>
              <a:buNone/>
            </a:pPr>
            <a:r>
              <a:rPr lang="en-US" sz="800" spc="-3" kern="0" dirty="0">
                <a:solidFill>
                  <a:srgbClr val="D4A24A"/>
                </a:solidFill>
                <a:latin typeface="Carlito" pitchFamily="34" charset="0"/>
                <a:ea typeface="Carlito" pitchFamily="34" charset="-122"/>
                <a:cs typeface="Carlito" pitchFamily="34" charset="-120"/>
              </a:rPr>
              <a:t>Export formats</a:t>
            </a:r>
            <a:endParaRPr lang="en-US" sz="800" dirty="0"/>
          </a:p>
        </p:txBody>
      </p:sp>
      <p:sp>
        <p:nvSpPr>
          <p:cNvPr id="48" name="Text 46"/>
          <p:cNvSpPr/>
          <p:nvPr/>
        </p:nvSpPr>
        <p:spPr>
          <a:xfrm>
            <a:off x="5523458" y="2964879"/>
            <a:ext cx="3106192" cy="233288"/>
          </a:xfrm>
          <a:prstGeom prst="rect">
            <a:avLst/>
          </a:prstGeom>
          <a:noFill/>
          <a:ln/>
        </p:spPr>
        <p:txBody>
          <a:bodyPr wrap="square" lIns="0" tIns="0" rIns="0" bIns="0" rtlCol="0" anchor="t"/>
          <a:lstStyle/>
          <a:p>
            <a:pPr algn="l" indent="0" marL="0">
              <a:lnSpc>
                <a:spcPts val="919"/>
              </a:lnSpc>
              <a:buNone/>
            </a:pPr>
            <a:r>
              <a:rPr lang="en-US" sz="800" dirty="0">
                <a:solidFill>
                  <a:srgbClr val="C9C3B5"/>
                </a:solidFill>
                <a:latin typeface="Carlito" pitchFamily="34" charset="0"/>
                <a:ea typeface="Carlito" pitchFamily="34" charset="-122"/>
                <a:cs typeface="Carlito" pitchFamily="34" charset="-120"/>
              </a:rPr>
              <a:t>PDF for circulation; shapefile &amp; KML for GIS / handhelds; CSV for coordinates &amp; scores.</a:t>
            </a:r>
            <a:endParaRPr lang="en-US" sz="800" dirty="0"/>
          </a:p>
        </p:txBody>
      </p:sp>
      <p:sp>
        <p:nvSpPr>
          <p:cNvPr id="49" name="Shape 47"/>
          <p:cNvSpPr/>
          <p:nvPr/>
        </p:nvSpPr>
        <p:spPr>
          <a:xfrm>
            <a:off x="4323308" y="3230314"/>
            <a:ext cx="4306342" cy="0"/>
          </a:xfrm>
          <a:prstGeom prst="line">
            <a:avLst/>
          </a:prstGeom>
          <a:noFill/>
          <a:ln w="7144">
            <a:solidFill>
              <a:srgbClr val="2A2F37"/>
            </a:solidFill>
            <a:prstDash val="solid"/>
          </a:ln>
        </p:spPr>
      </p:sp>
      <p:sp>
        <p:nvSpPr>
          <p:cNvPr id="50" name="Shape 48"/>
          <p:cNvSpPr/>
          <p:nvPr/>
        </p:nvSpPr>
        <p:spPr>
          <a:xfrm>
            <a:off x="4323308" y="3411252"/>
            <a:ext cx="4306342" cy="0"/>
          </a:xfrm>
          <a:prstGeom prst="line">
            <a:avLst/>
          </a:prstGeom>
          <a:noFill/>
          <a:ln w="7144">
            <a:solidFill>
              <a:srgbClr val="2A2F37"/>
            </a:solidFill>
            <a:prstDash val="solid"/>
          </a:ln>
        </p:spPr>
      </p:sp>
      <p:sp>
        <p:nvSpPr>
          <p:cNvPr id="51" name="Text 49"/>
          <p:cNvSpPr/>
          <p:nvPr/>
        </p:nvSpPr>
        <p:spPr>
          <a:xfrm>
            <a:off x="4323308" y="3262461"/>
            <a:ext cx="1322851" cy="116644"/>
          </a:xfrm>
          <a:prstGeom prst="rect">
            <a:avLst/>
          </a:prstGeom>
          <a:noFill/>
          <a:ln/>
        </p:spPr>
        <p:txBody>
          <a:bodyPr wrap="none" lIns="0" tIns="0" rIns="0" bIns="0" rtlCol="0" anchor="t"/>
          <a:lstStyle/>
          <a:p>
            <a:pPr algn="l" indent="0" marL="0">
              <a:lnSpc>
                <a:spcPts val="911"/>
              </a:lnSpc>
              <a:buNone/>
            </a:pPr>
            <a:r>
              <a:rPr lang="en-US" sz="800" spc="-3" kern="0" dirty="0">
                <a:solidFill>
                  <a:srgbClr val="D4A24A"/>
                </a:solidFill>
                <a:latin typeface="Carlito" pitchFamily="34" charset="0"/>
                <a:ea typeface="Carlito" pitchFamily="34" charset="-122"/>
                <a:cs typeface="Carlito" pitchFamily="34" charset="-120"/>
              </a:rPr>
              <a:t>White-label</a:t>
            </a:r>
            <a:endParaRPr lang="en-US" sz="800" dirty="0"/>
          </a:p>
        </p:txBody>
      </p:sp>
      <p:sp>
        <p:nvSpPr>
          <p:cNvPr id="52" name="Text 50"/>
          <p:cNvSpPr/>
          <p:nvPr/>
        </p:nvSpPr>
        <p:spPr>
          <a:xfrm>
            <a:off x="5523458" y="3262461"/>
            <a:ext cx="3106192" cy="116644"/>
          </a:xfrm>
          <a:prstGeom prst="rect">
            <a:avLst/>
          </a:prstGeom>
          <a:noFill/>
          <a:ln/>
        </p:spPr>
        <p:txBody>
          <a:bodyPr wrap="square" lIns="0" tIns="0" rIns="0" bIns="0" rtlCol="0" anchor="t"/>
          <a:lstStyle/>
          <a:p>
            <a:pPr algn="l" indent="0" marL="0">
              <a:lnSpc>
                <a:spcPts val="919"/>
              </a:lnSpc>
              <a:buNone/>
            </a:pPr>
            <a:r>
              <a:rPr lang="en-US" sz="647" dirty="0">
                <a:solidFill>
                  <a:srgbClr val="C9C3B5"/>
                </a:solidFill>
                <a:latin typeface="Carlito" pitchFamily="34" charset="0"/>
                <a:ea typeface="Carlito" pitchFamily="34" charset="-122"/>
                <a:cs typeface="Carlito" pitchFamily="34" charset="-120"/>
              </a:rPr>
              <a:t>Consultants put their own logo, company name and contact on every document.</a:t>
            </a:r>
            <a:endParaRPr lang="en-US" sz="647" dirty="0"/>
          </a:p>
        </p:txBody>
      </p:sp>
      <p:sp>
        <p:nvSpPr>
          <p:cNvPr id="53" name="Text 51"/>
          <p:cNvSpPr/>
          <p:nvPr/>
        </p:nvSpPr>
        <p:spPr>
          <a:xfrm>
            <a:off x="4323308" y="3450543"/>
            <a:ext cx="4820692" cy="159106"/>
          </a:xfrm>
          <a:prstGeom prst="rect">
            <a:avLst/>
          </a:prstGeom>
          <a:noFill/>
          <a:ln/>
        </p:spPr>
        <p:txBody>
          <a:bodyPr wrap="square" lIns="0" tIns="0" rIns="0" bIns="0" rtlCol="0" anchor="t"/>
          <a:lstStyle/>
          <a:p>
            <a:pPr algn="l" indent="0" marL="0">
              <a:lnSpc>
                <a:spcPts val="816"/>
              </a:lnSpc>
              <a:buNone/>
            </a:pPr>
            <a:r>
              <a:rPr lang="en-US" sz="800" spc="90" kern="0" dirty="0">
                <a:solidFill>
                  <a:srgbClr val="8A8576"/>
                </a:solidFill>
                <a:latin typeface="Courier New" pitchFamily="34" charset="0"/>
                <a:ea typeface="Courier New" pitchFamily="34" charset="-122"/>
                <a:cs typeface="Courier New" pitchFamily="34" charset="-120"/>
              </a:rPr>
              <a:t>QP &amp; INVESTOR VOICES ADDITIONALLY STRIP UNSUPPORTED CLAIMS</a:t>
            </a:r>
            <a:endParaRPr lang="en-US" sz="800" dirty="0"/>
          </a:p>
        </p:txBody>
      </p:sp>
      <p:pic>
        <p:nvPicPr>
          <p:cNvPr id="54" name="Image 0" descr="preencoded.png">    </p:cNvPr>
          <p:cNvPicPr>
            <a:picLocks noChangeAspect="1"/>
          </p:cNvPicPr>
          <p:nvPr/>
        </p:nvPicPr>
        <p:blipFill>
          <a:blip r:embed="rId1"/>
          <a:stretch>
            <a:fillRect/>
          </a:stretch>
        </p:blipFill>
        <p:spPr>
          <a:xfrm>
            <a:off x="514350" y="4376998"/>
            <a:ext cx="8115300" cy="337877"/>
          </a:xfrm>
          <a:prstGeom prst="rect">
            <a:avLst/>
          </a:prstGeom>
        </p:spPr>
      </p:pic>
      <p:sp>
        <p:nvSpPr>
          <p:cNvPr id="55" name="Shape 52"/>
          <p:cNvSpPr/>
          <p:nvPr/>
        </p:nvSpPr>
        <p:spPr>
          <a:xfrm>
            <a:off x="521494" y="4376998"/>
            <a:ext cx="0" cy="337877"/>
          </a:xfrm>
          <a:prstGeom prst="line">
            <a:avLst/>
          </a:prstGeom>
          <a:noFill/>
          <a:ln w="14288">
            <a:solidFill>
              <a:srgbClr val="4A8F6B"/>
            </a:solidFill>
            <a:prstDash val="solid"/>
          </a:ln>
        </p:spPr>
      </p:sp>
      <p:sp>
        <p:nvSpPr>
          <p:cNvPr id="56" name="Text 53"/>
          <p:cNvSpPr/>
          <p:nvPr/>
        </p:nvSpPr>
        <p:spPr>
          <a:xfrm>
            <a:off x="662940" y="4447868"/>
            <a:ext cx="752951" cy="196025"/>
          </a:xfrm>
          <a:prstGeom prst="roundRect">
            <a:avLst>
              <a:gd name="adj" fmla="val 9718"/>
            </a:avLst>
          </a:prstGeom>
          <a:solidFill>
            <a:srgbClr val="4A8F6B">
              <a:alpha val="10000"/>
            </a:srgbClr>
          </a:solidFill>
          <a:ln/>
        </p:spPr>
        <p:txBody>
          <a:bodyPr wrap="square" rtlCol="0" anchor="ctr"/>
          <a:lstStyle/>
          <a:p>
            <a:pPr indent="0" marL="0">
              <a:buNone/>
            </a:pPr>
            <a:endParaRPr lang="en-US" dirty="0"/>
          </a:p>
        </p:txBody>
      </p:sp>
      <p:sp>
        <p:nvSpPr>
          <p:cNvPr id="57" name="Shape 54"/>
          <p:cNvSpPr/>
          <p:nvPr/>
        </p:nvSpPr>
        <p:spPr>
          <a:xfrm>
            <a:off x="692944" y="4458370"/>
            <a:ext cx="0" cy="175022"/>
          </a:xfrm>
          <a:prstGeom prst="line">
            <a:avLst/>
          </a:prstGeom>
          <a:noFill/>
          <a:ln w="14288">
            <a:solidFill>
              <a:srgbClr val="4A8F6B"/>
            </a:solidFill>
            <a:prstDash val="solid"/>
          </a:ln>
        </p:spPr>
      </p:sp>
      <p:sp>
        <p:nvSpPr>
          <p:cNvPr id="58" name="Text 55"/>
          <p:cNvSpPr/>
          <p:nvPr/>
        </p:nvSpPr>
        <p:spPr>
          <a:xfrm>
            <a:off x="670364" y="4458370"/>
            <a:ext cx="738104" cy="175022"/>
          </a:xfrm>
          <a:prstGeom prst="rect">
            <a:avLst/>
          </a:prstGeom>
          <a:noFill/>
          <a:ln/>
        </p:spPr>
        <p:txBody>
          <a:bodyPr wrap="none" lIns="0" tIns="0" rIns="0" bIns="0" rtlCol="0" anchor="ctr"/>
          <a:lstStyle/>
          <a:p>
            <a:pPr algn="ctr" indent="0" marL="0">
              <a:lnSpc>
                <a:spcPts val="928"/>
              </a:lnSpc>
              <a:buNone/>
            </a:pPr>
            <a:r>
              <a:rPr lang="en-US" sz="800" spc="124" kern="0" dirty="0">
                <a:solidFill>
                  <a:srgbClr val="4A8F6B"/>
                </a:solidFill>
                <a:latin typeface="Courier New" pitchFamily="34" charset="0"/>
                <a:ea typeface="Courier New" pitchFamily="34" charset="-122"/>
                <a:cs typeface="Courier New" pitchFamily="34" charset="-120"/>
              </a:rPr>
              <a:t>THE IMPACT</a:t>
            </a:r>
            <a:endParaRPr lang="en-US" sz="800" dirty="0"/>
          </a:p>
        </p:txBody>
      </p:sp>
      <p:sp>
        <p:nvSpPr>
          <p:cNvPr id="59" name="Text 56"/>
          <p:cNvSpPr/>
          <p:nvPr/>
        </p:nvSpPr>
        <p:spPr>
          <a:xfrm>
            <a:off x="1550194" y="4448435"/>
            <a:ext cx="6922294" cy="195002"/>
          </a:xfrm>
          <a:prstGeom prst="rect">
            <a:avLst/>
          </a:prstGeom>
          <a:noFill/>
          <a:ln/>
        </p:spPr>
        <p:txBody>
          <a:bodyPr wrap="square" lIns="0" tIns="0" rIns="0" bIns="0" rtlCol="0" anchor="t"/>
          <a:lstStyle/>
          <a:p>
            <a:pPr algn="l" indent="0" marL="0">
              <a:lnSpc>
                <a:spcPts val="1536"/>
              </a:lnSpc>
              <a:buNone/>
            </a:pPr>
            <a:r>
              <a:rPr lang="en-US" sz="1181" i="1" dirty="0">
                <a:solidFill>
                  <a:srgbClr val="F5F1E8"/>
                </a:solidFill>
                <a:latin typeface="Tinos" pitchFamily="34" charset="0"/>
                <a:ea typeface="Tinos" pitchFamily="34" charset="-122"/>
                <a:cs typeface="Tinos" pitchFamily="34" charset="-120"/>
              </a:rPr>
              <a:t>The document and the screen can never disagree — they are the same data, written twice.</a:t>
            </a:r>
            <a:endParaRPr lang="en-US" sz="1181" dirty="0"/>
          </a:p>
        </p:txBody>
      </p:sp>
      <p:sp>
        <p:nvSpPr>
          <p:cNvPr id="60" name="Shape 57"/>
          <p:cNvSpPr/>
          <p:nvPr/>
        </p:nvSpPr>
        <p:spPr>
          <a:xfrm>
            <a:off x="514350" y="4736306"/>
            <a:ext cx="8115300" cy="0"/>
          </a:xfrm>
          <a:prstGeom prst="line">
            <a:avLst/>
          </a:prstGeom>
          <a:noFill/>
          <a:ln w="7144">
            <a:solidFill>
              <a:srgbClr val="2A2F37"/>
            </a:solidFill>
            <a:prstDash val="solid"/>
          </a:ln>
        </p:spPr>
      </p:sp>
      <p:sp>
        <p:nvSpPr>
          <p:cNvPr id="61" name="Text 58"/>
          <p:cNvSpPr/>
          <p:nvPr/>
        </p:nvSpPr>
        <p:spPr>
          <a:xfrm>
            <a:off x="514350" y="4825603"/>
            <a:ext cx="7748960" cy="117872"/>
          </a:xfrm>
          <a:prstGeom prst="rect">
            <a:avLst/>
          </a:prstGeom>
          <a:noFill/>
          <a:ln/>
        </p:spPr>
        <p:txBody>
          <a:bodyPr wrap="square" lIns="0" tIns="0" rIns="0" bIns="0" rtlCol="0" anchor="t"/>
          <a:lstStyle/>
          <a:p>
            <a:pPr algn="l" indent="0" marL="0">
              <a:lnSpc>
                <a:spcPts val="928"/>
              </a:lnSpc>
              <a:buNone/>
            </a:pPr>
            <a:r>
              <a:rPr lang="en-US" sz="800" spc="87" kern="0" dirty="0">
                <a:solidFill>
                  <a:srgbClr val="8A8576"/>
                </a:solidFill>
                <a:latin typeface="Courier New" pitchFamily="34" charset="0"/>
                <a:ea typeface="Courier New" pitchFamily="34" charset="-122"/>
                <a:cs typeface="Courier New" pitchFamily="34" charset="-120"/>
              </a:rPr>
              <a:t>REPORTING — 5 TYPES × 5 PERSONAS, VERSIONED</a:t>
            </a:r>
            <a:endParaRPr lang="en-US" sz="800" dirty="0"/>
          </a:p>
        </p:txBody>
      </p:sp>
      <p:sp>
        <p:nvSpPr>
          <p:cNvPr id="62" name="Text 59"/>
          <p:cNvSpPr/>
          <p:nvPr/>
        </p:nvSpPr>
        <p:spPr>
          <a:xfrm>
            <a:off x="8277597" y="4825603"/>
            <a:ext cx="352053" cy="117872"/>
          </a:xfrm>
          <a:prstGeom prst="rect">
            <a:avLst/>
          </a:prstGeom>
          <a:noFill/>
          <a:ln/>
        </p:spPr>
        <p:txBody>
          <a:bodyPr wrap="none" lIns="0" tIns="0" rIns="0" bIns="0" rtlCol="0" anchor="t"/>
          <a:lstStyle/>
          <a:p>
            <a:pPr algn="l" indent="0" marL="0">
              <a:lnSpc>
                <a:spcPts val="928"/>
              </a:lnSpc>
              <a:buNone/>
            </a:pPr>
            <a:r>
              <a:rPr lang="en-US" sz="619" spc="87" kern="0" dirty="0">
                <a:solidFill>
                  <a:srgbClr val="8A8576"/>
                </a:solidFill>
                <a:latin typeface="Liberation Sans Narrow" pitchFamily="34" charset="0"/>
                <a:ea typeface="Liberation Sans Narrow" pitchFamily="34" charset="-122"/>
                <a:cs typeface="Liberation Sans Narrow" pitchFamily="34" charset="-120"/>
              </a:rPr>
              <a:t>10 / 12</a:t>
            </a:r>
            <a:endParaRPr lang="en-US" sz="619"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F1115"/>
        </a:solidFill>
      </p:bgPr>
    </p:bg>
    <p:spTree>
      <p:nvGrpSpPr>
        <p:cNvPr id="1" name=""/>
        <p:cNvGrpSpPr/>
        <p:nvPr/>
      </p:nvGrpSpPr>
      <p:grpSpPr>
        <a:xfrm>
          <a:off x="0" y="0"/>
          <a:ext cx="0" cy="0"/>
          <a:chOff x="0" y="0"/>
          <a:chExt cx="0" cy="0"/>
        </a:xfrm>
      </p:grpSpPr>
      <p:sp>
        <p:nvSpPr>
          <p:cNvPr id="2" name="Text 0"/>
          <p:cNvSpPr/>
          <p:nvPr/>
        </p:nvSpPr>
        <p:spPr>
          <a:xfrm>
            <a:off x="514350" y="200025"/>
            <a:ext cx="2326933" cy="164592"/>
          </a:xfrm>
          <a:prstGeom prst="rect">
            <a:avLst/>
          </a:prstGeom>
          <a:noFill/>
          <a:ln/>
        </p:spPr>
        <p:txBody>
          <a:bodyPr wrap="square" lIns="0" tIns="0" rIns="0" bIns="0" rtlCol="0" anchor="t"/>
          <a:lstStyle/>
          <a:p>
            <a:pPr algn="l" indent="0" marL="0">
              <a:lnSpc>
                <a:spcPts val="928"/>
              </a:lnSpc>
              <a:buNone/>
            </a:pPr>
            <a:r>
              <a:rPr lang="en-US" sz="619" spc="111" kern="0" dirty="0">
                <a:solidFill>
                  <a:srgbClr val="8A8576"/>
                </a:solidFill>
                <a:latin typeface="Courier New" pitchFamily="34" charset="0"/>
                <a:ea typeface="Courier New" pitchFamily="34" charset="-122"/>
                <a:cs typeface="Courier New" pitchFamily="34" charset="-120"/>
              </a:rPr>
              <a:t>TERRAPULSE × GOLD FIELDS GHANA / 2026</a:t>
            </a:r>
            <a:endParaRPr lang="en-US" sz="619" dirty="0"/>
          </a:p>
        </p:txBody>
      </p:sp>
      <p:sp>
        <p:nvSpPr>
          <p:cNvPr id="3" name="Text 1"/>
          <p:cNvSpPr/>
          <p:nvPr/>
        </p:nvSpPr>
        <p:spPr>
          <a:xfrm>
            <a:off x="8299586" y="200025"/>
            <a:ext cx="474415" cy="164592"/>
          </a:xfrm>
          <a:prstGeom prst="rect">
            <a:avLst/>
          </a:prstGeom>
          <a:noFill/>
          <a:ln/>
        </p:spPr>
        <p:txBody>
          <a:bodyPr wrap="none" lIns="0" tIns="0" rIns="0" bIns="0" rtlCol="0" anchor="t"/>
          <a:lstStyle/>
          <a:p>
            <a:pPr algn="l" indent="0" marL="0">
              <a:lnSpc>
                <a:spcPts val="928"/>
              </a:lnSpc>
              <a:buNone/>
            </a:pPr>
            <a:r>
              <a:rPr lang="en-US" sz="800" spc="62" kern="0" dirty="0">
                <a:solidFill>
                  <a:srgbClr val="8A8576"/>
                </a:solidFill>
                <a:latin typeface="Liberation Sans Narrow" pitchFamily="34" charset="0"/>
                <a:ea typeface="Liberation Sans Narrow" pitchFamily="34" charset="-122"/>
                <a:cs typeface="Liberation Sans Narrow" pitchFamily="34" charset="-120"/>
              </a:rPr>
              <a:t>11 / 12</a:t>
            </a:r>
            <a:endParaRPr lang="en-US" sz="800" dirty="0"/>
          </a:p>
        </p:txBody>
      </p:sp>
      <p:sp>
        <p:nvSpPr>
          <p:cNvPr id="4" name="Text 2"/>
          <p:cNvSpPr/>
          <p:nvPr/>
        </p:nvSpPr>
        <p:spPr>
          <a:xfrm>
            <a:off x="514350" y="500063"/>
            <a:ext cx="8629650" cy="164592"/>
          </a:xfrm>
          <a:prstGeom prst="rect">
            <a:avLst/>
          </a:prstGeom>
          <a:noFill/>
          <a:ln/>
        </p:spPr>
        <p:txBody>
          <a:bodyPr wrap="none" lIns="0" tIns="0" rIns="0" bIns="0" rtlCol="0" anchor="t"/>
          <a:lstStyle/>
          <a:p>
            <a:pPr algn="l" indent="0" marL="0">
              <a:lnSpc>
                <a:spcPts val="1013"/>
              </a:lnSpc>
              <a:buNone/>
            </a:pPr>
            <a:r>
              <a:rPr lang="en-US" sz="800" spc="149" kern="0" dirty="0">
                <a:solidFill>
                  <a:srgbClr val="D4A24A"/>
                </a:solidFill>
                <a:latin typeface="Courier New" pitchFamily="34" charset="0"/>
                <a:ea typeface="Courier New" pitchFamily="34" charset="-122"/>
                <a:cs typeface="Courier New" pitchFamily="34" charset="-120"/>
              </a:rPr>
              <a:t>EVIDENCE &amp; CONSTRAINTS</a:t>
            </a:r>
            <a:endParaRPr lang="en-US" sz="800" dirty="0"/>
          </a:p>
        </p:txBody>
      </p:sp>
      <p:sp>
        <p:nvSpPr>
          <p:cNvPr id="5" name="Text 3"/>
          <p:cNvSpPr/>
          <p:nvPr/>
        </p:nvSpPr>
        <p:spPr>
          <a:xfrm>
            <a:off x="514350" y="700088"/>
            <a:ext cx="7858125" cy="644223"/>
          </a:xfrm>
          <a:prstGeom prst="rect">
            <a:avLst/>
          </a:prstGeom>
          <a:noFill/>
          <a:ln/>
        </p:spPr>
        <p:txBody>
          <a:bodyPr wrap="square" lIns="0" tIns="0" rIns="0" bIns="0" rtlCol="0" anchor="t"/>
          <a:lstStyle/>
          <a:p>
            <a:pPr algn="l" indent="0" marL="0">
              <a:lnSpc>
                <a:spcPts val="2349"/>
              </a:lnSpc>
              <a:buNone/>
            </a:pPr>
            <a:r>
              <a:rPr lang="en-US" sz="2025" spc="-20" kern="0" dirty="0">
                <a:solidFill>
                  <a:srgbClr val="F5F1E8"/>
                </a:solidFill>
                <a:latin typeface="Tinos" pitchFamily="34" charset="0"/>
                <a:ea typeface="Tinos" pitchFamily="34" charset="-122"/>
                <a:cs typeface="Tinos" pitchFamily="34" charset="-120"/>
              </a:rPr>
              <a:t>Where the data comes from — and the four constraints that make the output usable in disclosure.</a:t>
            </a:r>
            <a:endParaRPr lang="en-US" sz="2025" dirty="0"/>
          </a:p>
        </p:txBody>
      </p:sp>
      <p:sp>
        <p:nvSpPr>
          <p:cNvPr id="6" name="Text 4"/>
          <p:cNvSpPr/>
          <p:nvPr/>
        </p:nvSpPr>
        <p:spPr>
          <a:xfrm>
            <a:off x="514350" y="1353741"/>
            <a:ext cx="342900" cy="14288"/>
          </a:xfrm>
          <a:prstGeom prst="rect">
            <a:avLst/>
          </a:prstGeom>
          <a:solidFill>
            <a:srgbClr val="D4A24A"/>
          </a:solidFill>
          <a:ln/>
        </p:spPr>
        <p:txBody>
          <a:bodyPr wrap="square" rtlCol="0" anchor="ctr"/>
          <a:lstStyle/>
          <a:p>
            <a:pPr indent="0" marL="0">
              <a:buNone/>
            </a:pPr>
            <a:endParaRPr lang="en-US" dirty="0"/>
          </a:p>
        </p:txBody>
      </p:sp>
      <p:sp>
        <p:nvSpPr>
          <p:cNvPr id="7" name="Text 5"/>
          <p:cNvSpPr/>
          <p:nvPr/>
        </p:nvSpPr>
        <p:spPr>
          <a:xfrm>
            <a:off x="514350" y="1496616"/>
            <a:ext cx="3929063" cy="401193"/>
          </a:xfrm>
          <a:prstGeom prst="rect">
            <a:avLst/>
          </a:prstGeom>
          <a:noFill/>
          <a:ln/>
        </p:spPr>
        <p:txBody>
          <a:bodyPr wrap="square" lIns="0" tIns="0" rIns="0" bIns="0" rtlCol="0" anchor="t"/>
          <a:lstStyle/>
          <a:p>
            <a:pPr algn="l" indent="0" marL="0">
              <a:lnSpc>
                <a:spcPts val="1463"/>
              </a:lnSpc>
              <a:buNone/>
            </a:pPr>
            <a:r>
              <a:rPr lang="en-US" sz="1125" dirty="0">
                <a:solidFill>
                  <a:srgbClr val="F5F1E8"/>
                </a:solidFill>
                <a:latin typeface="Tinos" pitchFamily="34" charset="0"/>
                <a:ea typeface="Tinos" pitchFamily="34" charset="-122"/>
                <a:cs typeface="Tinos" pitchFamily="34" charset="-120"/>
              </a:rPr>
              <a:t>Twelve sources, all licensed for commercial use, fetched to your boundary.</a:t>
            </a:r>
            <a:endParaRPr lang="en-US" sz="1125"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14350" y="1953816"/>
          <a:ext cx="3929063" cy="914400"/>
        </p:xfrm>
        <a:graphic>
          <a:graphicData uri="http://schemas.openxmlformats.org/drawingml/2006/table">
            <a:tbl>
              <a:tblPr/>
              <a:tblGrid>
                <a:gridCol w="1021556"/>
                <a:gridCol w="1493044"/>
                <a:gridCol w="1414463"/>
              </a:tblGrid>
              <a:tr h="0">
                <a:tc>
                  <a:txBody>
                    <a:bodyPr/>
                    <a:lstStyle/>
                    <a:p>
                      <a:pPr algn="l" indent="0" marL="0">
                        <a:buNone/>
                      </a:pPr>
                      <a:r>
                        <a:rPr lang="en-US" sz="800" b="1" dirty="0">
                          <a:solidFill>
                            <a:srgbClr val="8A8576"/>
                          </a:solidFill>
                          <a:latin typeface="Courier New" pitchFamily="34" charset="0"/>
                          <a:ea typeface="Courier New" pitchFamily="34" charset="-122"/>
                          <a:cs typeface="Courier New" pitchFamily="34" charset="-120"/>
                        </a:rPr>
                        <a:t>Source</a:t>
                      </a:r>
                      <a:endParaRPr lang="en-US" sz="800" dirty="0">
                        <a:latin typeface="Courier New" charset="0"/>
                        <a:ea typeface="Courier New" charset="0"/>
                        <a:cs typeface="Courier New" charset="0"/>
                      </a:endParaRPr>
                    </a:p>
                  </a:txBody>
                  <a:tcPr marL="42863" marR="57150" marT="57150" marB="5715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l" indent="0" marL="0">
                        <a:buNone/>
                      </a:pPr>
                      <a:r>
                        <a:rPr lang="en-US" sz="800" b="1" dirty="0">
                          <a:solidFill>
                            <a:srgbClr val="8A8576"/>
                          </a:solidFill>
                          <a:latin typeface="Courier New" pitchFamily="34" charset="0"/>
                          <a:ea typeface="Courier New" pitchFamily="34" charset="-122"/>
                          <a:cs typeface="Courier New" pitchFamily="34" charset="-120"/>
                        </a:rPr>
                        <a:t>Provides</a:t>
                      </a:r>
                      <a:endParaRPr lang="en-US" sz="800" dirty="0">
                        <a:latin typeface="Courier New" charset="0"/>
                        <a:ea typeface="Courier New" charset="0"/>
                        <a:cs typeface="Courier New" charset="0"/>
                      </a:endParaRPr>
                    </a:p>
                  </a:txBody>
                  <a:tcPr marL="42863" marR="57150" marT="57150" marB="5715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l" indent="0" marL="0">
                        <a:buNone/>
                      </a:pPr>
                      <a:r>
                        <a:rPr lang="en-US" sz="800" b="1" dirty="0">
                          <a:solidFill>
                            <a:srgbClr val="8A8576"/>
                          </a:solidFill>
                          <a:latin typeface="Courier New" pitchFamily="34" charset="0"/>
                          <a:ea typeface="Courier New" pitchFamily="34" charset="-122"/>
                          <a:cs typeface="Courier New" pitchFamily="34" charset="-120"/>
                        </a:rPr>
                        <a:t>Role in scoring</a:t>
                      </a:r>
                      <a:endParaRPr lang="en-US" sz="800" dirty="0">
                        <a:latin typeface="Courier New" charset="0"/>
                        <a:ea typeface="Courier New" charset="0"/>
                        <a:cs typeface="Courier New" charset="0"/>
                      </a:endParaRPr>
                    </a:p>
                  </a:txBody>
                  <a:tcPr marL="42863" marR="57150" marT="57150" marB="5715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r>
              <a:tr h="0">
                <a:tc>
                  <a:txBody>
                    <a:bodyPr/>
                    <a:lstStyle/>
                    <a:p>
                      <a:pPr algn="l" indent="0" marL="0">
                        <a:buNone/>
                      </a:pPr>
                      <a:r>
                        <a:rPr lang="en-US" sz="800" dirty="0">
                          <a:solidFill>
                            <a:srgbClr val="F5F1E8"/>
                          </a:solidFill>
                          <a:latin typeface="Courier New" pitchFamily="34" charset="0"/>
                          <a:ea typeface="Courier New" pitchFamily="34" charset="-122"/>
                          <a:cs typeface="Courier New" pitchFamily="34" charset="-120"/>
                        </a:rPr>
                        <a:t>Your survey data</a:t>
                      </a:r>
                      <a:endParaRPr lang="en-US" sz="800" dirty="0">
                        <a:latin typeface="Courier New" charset="0"/>
                        <a:ea typeface="Courier New" charset="0"/>
                        <a:cs typeface="Courier New" charset="0"/>
                      </a:endParaRPr>
                    </a:p>
                  </a:txBody>
                  <a:tcPr marL="35719" marR="57150" marT="57150" marB="35719" anchor="t">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l" indent="0" marL="0">
                        <a:buNone/>
                      </a:pPr>
                      <a:r>
                        <a:rPr lang="en-US" sz="800" dirty="0">
                          <a:solidFill>
                            <a:srgbClr val="C9C3B5"/>
                          </a:solidFill>
                          <a:latin typeface="Courier New" pitchFamily="34" charset="0"/>
                          <a:ea typeface="Courier New" pitchFamily="34" charset="-122"/>
                          <a:cs typeface="Courier New" pitchFamily="34" charset="-120"/>
                        </a:rPr>
                        <a:t>Magnetics, geochem, assays</a:t>
                      </a:r>
                      <a:endParaRPr lang="en-US" sz="800" dirty="0">
                        <a:latin typeface="Courier New" charset="0"/>
                        <a:ea typeface="Courier New" charset="0"/>
                        <a:cs typeface="Courier New" charset="0"/>
                      </a:endParaRPr>
                    </a:p>
                  </a:txBody>
                  <a:tcPr marL="35719" marR="57150" marT="57150" marB="35719" anchor="t">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l" indent="0" marL="0">
                        <a:buNone/>
                      </a:pPr>
                      <a:r>
                        <a:rPr lang="en-US" sz="800" dirty="0">
                          <a:solidFill>
                            <a:srgbClr val="D4A24A"/>
                          </a:solidFill>
                          <a:latin typeface="Courier New" pitchFamily="34" charset="0"/>
                          <a:ea typeface="Courier New" pitchFamily="34" charset="-122"/>
                          <a:cs typeface="Courier New" pitchFamily="34" charset="-120"/>
                        </a:rPr>
                        <a:t>Primary anomaly evidence</a:t>
                      </a:r>
                      <a:endParaRPr lang="en-US" sz="800" dirty="0">
                        <a:latin typeface="Courier New" charset="0"/>
                        <a:ea typeface="Courier New" charset="0"/>
                        <a:cs typeface="Courier New" charset="0"/>
                      </a:endParaRPr>
                    </a:p>
                  </a:txBody>
                  <a:tcPr marL="35719" marR="57150" marT="57150" marB="35719" anchor="t">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r>
              <a:tr h="0">
                <a:tc>
                  <a:txBody>
                    <a:bodyPr/>
                    <a:lstStyle/>
                    <a:p>
                      <a:pPr algn="l" indent="0" marL="0">
                        <a:buNone/>
                      </a:pPr>
                      <a:r>
                        <a:rPr lang="en-US" sz="800" dirty="0">
                          <a:solidFill>
                            <a:srgbClr val="F5F1E8"/>
                          </a:solidFill>
                          <a:latin typeface="Courier New" pitchFamily="34" charset="0"/>
                          <a:ea typeface="Courier New" pitchFamily="34" charset="-122"/>
                          <a:cs typeface="Courier New" pitchFamily="34" charset="-120"/>
                        </a:rPr>
                        <a:t>Sentinel-2</a:t>
                      </a:r>
                      <a:endParaRPr lang="en-US" sz="800" dirty="0">
                        <a:latin typeface="Courier New" charset="0"/>
                        <a:ea typeface="Courier New" charset="0"/>
                        <a:cs typeface="Courier New" charset="0"/>
                      </a:endParaRPr>
                    </a:p>
                  </a:txBody>
                  <a:tcPr marL="35719" marR="57150" marT="57150" marB="35719" anchor="t">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l" indent="0" marL="0">
                        <a:buNone/>
                      </a:pPr>
                      <a:r>
                        <a:rPr lang="en-US" sz="800" dirty="0">
                          <a:solidFill>
                            <a:srgbClr val="C9C3B5"/>
                          </a:solidFill>
                          <a:latin typeface="Courier New" pitchFamily="34" charset="0"/>
                          <a:ea typeface="Courier New" pitchFamily="34" charset="-122"/>
                          <a:cs typeface="Courier New" pitchFamily="34" charset="-120"/>
                        </a:rPr>
                        <a:t>Iron oxide, clay/hydroxyl, vegetation</a:t>
                      </a:r>
                      <a:endParaRPr lang="en-US" sz="800" dirty="0">
                        <a:latin typeface="Courier New" charset="0"/>
                        <a:ea typeface="Courier New" charset="0"/>
                        <a:cs typeface="Courier New" charset="0"/>
                      </a:endParaRPr>
                    </a:p>
                  </a:txBody>
                  <a:tcPr marL="35719" marR="57150" marT="57150" marB="35719" anchor="t">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l" indent="0" marL="0">
                        <a:buNone/>
                      </a:pPr>
                      <a:r>
                        <a:rPr lang="en-US" sz="800" dirty="0">
                          <a:solidFill>
                            <a:srgbClr val="D4A24A"/>
                          </a:solidFill>
                          <a:latin typeface="Courier New" pitchFamily="34" charset="0"/>
                          <a:ea typeface="Courier New" pitchFamily="34" charset="-122"/>
                          <a:cs typeface="Courier New" pitchFamily="34" charset="-120"/>
                        </a:rPr>
                        <a:t>Alteration signature</a:t>
                      </a:r>
                      <a:endParaRPr lang="en-US" sz="800" dirty="0">
                        <a:latin typeface="Courier New" charset="0"/>
                        <a:ea typeface="Courier New" charset="0"/>
                        <a:cs typeface="Courier New" charset="0"/>
                      </a:endParaRPr>
                    </a:p>
                  </a:txBody>
                  <a:tcPr marL="35719" marR="57150" marT="57150" marB="35719" anchor="t">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r>
              <a:tr h="0">
                <a:tc>
                  <a:txBody>
                    <a:bodyPr/>
                    <a:lstStyle/>
                    <a:p>
                      <a:pPr algn="l" indent="0" marL="0">
                        <a:buNone/>
                      </a:pPr>
                      <a:r>
                        <a:rPr lang="en-US" sz="800" dirty="0">
                          <a:solidFill>
                            <a:srgbClr val="F5F1E8"/>
                          </a:solidFill>
                          <a:latin typeface="Courier New" pitchFamily="34" charset="0"/>
                          <a:ea typeface="Courier New" pitchFamily="34" charset="-122"/>
                          <a:cs typeface="Courier New" pitchFamily="34" charset="-120"/>
                        </a:rPr>
                        <a:t>Copernicus DEM</a:t>
                      </a:r>
                      <a:endParaRPr lang="en-US" sz="800" dirty="0">
                        <a:latin typeface="Courier New" charset="0"/>
                        <a:ea typeface="Courier New" charset="0"/>
                        <a:cs typeface="Courier New" charset="0"/>
                      </a:endParaRPr>
                    </a:p>
                  </a:txBody>
                  <a:tcPr marL="35719" marR="57150" marT="57150" marB="35719" anchor="t">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l" indent="0" marL="0">
                        <a:buNone/>
                      </a:pPr>
                      <a:r>
                        <a:rPr lang="en-US" sz="800" dirty="0">
                          <a:solidFill>
                            <a:srgbClr val="C9C3B5"/>
                          </a:solidFill>
                          <a:latin typeface="Courier New" pitchFamily="34" charset="0"/>
                          <a:ea typeface="Courier New" pitchFamily="34" charset="-122"/>
                          <a:cs typeface="Courier New" pitchFamily="34" charset="-120"/>
                        </a:rPr>
                        <a:t>Slope, hillshade, drainage</a:t>
                      </a:r>
                      <a:endParaRPr lang="en-US" sz="800" dirty="0">
                        <a:latin typeface="Courier New" charset="0"/>
                        <a:ea typeface="Courier New" charset="0"/>
                        <a:cs typeface="Courier New" charset="0"/>
                      </a:endParaRPr>
                    </a:p>
                  </a:txBody>
                  <a:tcPr marL="35719" marR="57150" marT="57150" marB="35719" anchor="t">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l" indent="0" marL="0">
                        <a:buNone/>
                      </a:pPr>
                      <a:r>
                        <a:rPr lang="en-US" sz="800" dirty="0">
                          <a:solidFill>
                            <a:srgbClr val="D4A24A"/>
                          </a:solidFill>
                          <a:latin typeface="Courier New" pitchFamily="34" charset="0"/>
                          <a:ea typeface="Courier New" pitchFamily="34" charset="-122"/>
                          <a:cs typeface="Courier New" pitchFamily="34" charset="-120"/>
                        </a:rPr>
                        <a:t>Terrain &amp; access</a:t>
                      </a:r>
                      <a:endParaRPr lang="en-US" sz="800" dirty="0">
                        <a:latin typeface="Courier New" charset="0"/>
                        <a:ea typeface="Courier New" charset="0"/>
                        <a:cs typeface="Courier New" charset="0"/>
                      </a:endParaRPr>
                    </a:p>
                  </a:txBody>
                  <a:tcPr marL="35719" marR="57150" marT="57150" marB="35719" anchor="t">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r>
              <a:tr h="0">
                <a:tc>
                  <a:txBody>
                    <a:bodyPr/>
                    <a:lstStyle/>
                    <a:p>
                      <a:pPr algn="l" indent="0" marL="0">
                        <a:buNone/>
                      </a:pPr>
                      <a:r>
                        <a:rPr lang="en-US" sz="800" dirty="0">
                          <a:solidFill>
                            <a:srgbClr val="F5F1E8"/>
                          </a:solidFill>
                          <a:latin typeface="Courier New" pitchFamily="34" charset="0"/>
                          <a:ea typeface="Courier New" pitchFamily="34" charset="-122"/>
                          <a:cs typeface="Courier New" pitchFamily="34" charset="-120"/>
                        </a:rPr>
                        <a:t>NOAA EMAG2</a:t>
                      </a:r>
                      <a:endParaRPr lang="en-US" sz="800" dirty="0">
                        <a:latin typeface="Courier New" charset="0"/>
                        <a:ea typeface="Courier New" charset="0"/>
                        <a:cs typeface="Courier New" charset="0"/>
                      </a:endParaRPr>
                    </a:p>
                  </a:txBody>
                  <a:tcPr marL="35719" marR="57150" marT="57150" marB="35719" anchor="t">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l" indent="0" marL="0">
                        <a:buNone/>
                      </a:pPr>
                      <a:r>
                        <a:rPr lang="en-US" sz="800" dirty="0">
                          <a:solidFill>
                            <a:srgbClr val="C9C3B5"/>
                          </a:solidFill>
                          <a:latin typeface="Courier New" pitchFamily="34" charset="0"/>
                          <a:ea typeface="Courier New" pitchFamily="34" charset="-122"/>
                          <a:cs typeface="Courier New" pitchFamily="34" charset="-120"/>
                        </a:rPr>
                        <a:t>Regional magnetic anomaly</a:t>
                      </a:r>
                      <a:endParaRPr lang="en-US" sz="800" dirty="0">
                        <a:latin typeface="Courier New" charset="0"/>
                        <a:ea typeface="Courier New" charset="0"/>
                        <a:cs typeface="Courier New" charset="0"/>
                      </a:endParaRPr>
                    </a:p>
                  </a:txBody>
                  <a:tcPr marL="35719" marR="57150" marT="57150" marB="35719" anchor="t">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l" indent="0" marL="0">
                        <a:buNone/>
                      </a:pPr>
                      <a:r>
                        <a:rPr lang="en-US" sz="800" dirty="0">
                          <a:solidFill>
                            <a:srgbClr val="D4A24A"/>
                          </a:solidFill>
                          <a:latin typeface="Courier New" pitchFamily="34" charset="0"/>
                          <a:ea typeface="Courier New" pitchFamily="34" charset="-122"/>
                          <a:cs typeface="Courier New" pitchFamily="34" charset="-120"/>
                        </a:rPr>
                        <a:t>Basement &amp; structural context</a:t>
                      </a:r>
                      <a:endParaRPr lang="en-US" sz="800" dirty="0">
                        <a:latin typeface="Courier New" charset="0"/>
                        <a:ea typeface="Courier New" charset="0"/>
                        <a:cs typeface="Courier New" charset="0"/>
                      </a:endParaRPr>
                    </a:p>
                  </a:txBody>
                  <a:tcPr marL="35719" marR="57150" marT="57150" marB="35719" anchor="t">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r>
              <a:tr h="0">
                <a:tc>
                  <a:txBody>
                    <a:bodyPr/>
                    <a:lstStyle/>
                    <a:p>
                      <a:pPr algn="l" indent="0" marL="0">
                        <a:buNone/>
                      </a:pPr>
                      <a:r>
                        <a:rPr lang="en-US" sz="800" dirty="0">
                          <a:solidFill>
                            <a:srgbClr val="F5F1E8"/>
                          </a:solidFill>
                          <a:latin typeface="Courier New" pitchFamily="34" charset="0"/>
                          <a:ea typeface="Courier New" pitchFamily="34" charset="-122"/>
                          <a:cs typeface="Courier New" pitchFamily="34" charset="-120"/>
                        </a:rPr>
                        <a:t>Macrostrat</a:t>
                      </a:r>
                      <a:endParaRPr lang="en-US" sz="800" dirty="0">
                        <a:latin typeface="Courier New" charset="0"/>
                        <a:ea typeface="Courier New" charset="0"/>
                        <a:cs typeface="Courier New" charset="0"/>
                      </a:endParaRPr>
                    </a:p>
                  </a:txBody>
                  <a:tcPr marL="35719" marR="57150" marT="57150" marB="35719" anchor="t">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l" indent="0" marL="0">
                        <a:buNone/>
                      </a:pPr>
                      <a:r>
                        <a:rPr lang="en-US" sz="800" dirty="0">
                          <a:solidFill>
                            <a:srgbClr val="C9C3B5"/>
                          </a:solidFill>
                          <a:latin typeface="Courier New" pitchFamily="34" charset="0"/>
                          <a:ea typeface="Courier New" pitchFamily="34" charset="-122"/>
                          <a:cs typeface="Courier New" pitchFamily="34" charset="-120"/>
                        </a:rPr>
                        <a:t>Lithology, age, structure</a:t>
                      </a:r>
                      <a:endParaRPr lang="en-US" sz="800" dirty="0">
                        <a:latin typeface="Courier New" charset="0"/>
                        <a:ea typeface="Courier New" charset="0"/>
                        <a:cs typeface="Courier New" charset="0"/>
                      </a:endParaRPr>
                    </a:p>
                  </a:txBody>
                  <a:tcPr marL="35719" marR="57150" marT="57150" marB="35719" anchor="t">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l" indent="0" marL="0">
                        <a:buNone/>
                      </a:pPr>
                      <a:r>
                        <a:rPr lang="en-US" sz="800" dirty="0">
                          <a:solidFill>
                            <a:srgbClr val="D4A24A"/>
                          </a:solidFill>
                          <a:latin typeface="Courier New" pitchFamily="34" charset="0"/>
                          <a:ea typeface="Courier New" pitchFamily="34" charset="-122"/>
                          <a:cs typeface="Courier New" pitchFamily="34" charset="-120"/>
                        </a:rPr>
                        <a:t>Host-rock favourability</a:t>
                      </a:r>
                      <a:endParaRPr lang="en-US" sz="800" dirty="0">
                        <a:latin typeface="Courier New" charset="0"/>
                        <a:ea typeface="Courier New" charset="0"/>
                        <a:cs typeface="Courier New" charset="0"/>
                      </a:endParaRPr>
                    </a:p>
                  </a:txBody>
                  <a:tcPr marL="35719" marR="57150" marT="57150" marB="35719" anchor="t">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r>
              <a:tr h="0">
                <a:tc>
                  <a:txBody>
                    <a:bodyPr/>
                    <a:lstStyle/>
                    <a:p>
                      <a:pPr algn="l" indent="0" marL="0">
                        <a:buNone/>
                      </a:pPr>
                      <a:r>
                        <a:rPr lang="en-US" sz="800" dirty="0">
                          <a:solidFill>
                            <a:srgbClr val="F5F1E8"/>
                          </a:solidFill>
                          <a:latin typeface="Courier New" pitchFamily="34" charset="0"/>
                          <a:ea typeface="Courier New" pitchFamily="34" charset="-122"/>
                          <a:cs typeface="Courier New" pitchFamily="34" charset="-120"/>
                        </a:rPr>
                        <a:t>OneGeology / BRGM</a:t>
                      </a:r>
                      <a:endParaRPr lang="en-US" sz="800" dirty="0">
                        <a:latin typeface="Courier New" charset="0"/>
                        <a:ea typeface="Courier New" charset="0"/>
                        <a:cs typeface="Courier New" charset="0"/>
                      </a:endParaRPr>
                    </a:p>
                  </a:txBody>
                  <a:tcPr marL="35719" marR="57150" marT="57150" marB="35719" anchor="t">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l" indent="0" marL="0">
                        <a:buNone/>
                      </a:pPr>
                      <a:r>
                        <a:rPr lang="en-US" sz="800" dirty="0">
                          <a:solidFill>
                            <a:srgbClr val="C9C3B5"/>
                          </a:solidFill>
                          <a:latin typeface="Courier New" pitchFamily="34" charset="0"/>
                          <a:ea typeface="Courier New" pitchFamily="34" charset="-122"/>
                          <a:cs typeface="Courier New" pitchFamily="34" charset="-120"/>
                        </a:rPr>
                        <a:t>Geological map context</a:t>
                      </a:r>
                      <a:endParaRPr lang="en-US" sz="800" dirty="0">
                        <a:latin typeface="Courier New" charset="0"/>
                        <a:ea typeface="Courier New" charset="0"/>
                        <a:cs typeface="Courier New" charset="0"/>
                      </a:endParaRPr>
                    </a:p>
                  </a:txBody>
                  <a:tcPr marL="35719" marR="57150" marT="57150" marB="35719" anchor="t">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l" indent="0" marL="0">
                        <a:buNone/>
                      </a:pPr>
                      <a:r>
                        <a:rPr lang="en-US" sz="800" dirty="0">
                          <a:solidFill>
                            <a:srgbClr val="D4A24A"/>
                          </a:solidFill>
                          <a:latin typeface="Courier New" pitchFamily="34" charset="0"/>
                          <a:ea typeface="Courier New" pitchFamily="34" charset="-122"/>
                          <a:cs typeface="Courier New" pitchFamily="34" charset="-120"/>
                        </a:rPr>
                        <a:t>Interpretation backdrop</a:t>
                      </a:r>
                      <a:endParaRPr lang="en-US" sz="800" dirty="0">
                        <a:latin typeface="Courier New" charset="0"/>
                        <a:ea typeface="Courier New" charset="0"/>
                        <a:cs typeface="Courier New" charset="0"/>
                      </a:endParaRPr>
                    </a:p>
                  </a:txBody>
                  <a:tcPr marL="35719" marR="57150" marT="57150" marB="35719" anchor="t">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r>
              <a:tr h="0">
                <a:tc>
                  <a:txBody>
                    <a:bodyPr/>
                    <a:lstStyle/>
                    <a:p>
                      <a:pPr algn="l" indent="0" marL="0">
                        <a:buNone/>
                      </a:pPr>
                      <a:r>
                        <a:rPr lang="en-US" sz="800" dirty="0">
                          <a:solidFill>
                            <a:srgbClr val="F5F1E8"/>
                          </a:solidFill>
                          <a:latin typeface="Courier New" pitchFamily="34" charset="0"/>
                          <a:ea typeface="Courier New" pitchFamily="34" charset="-122"/>
                          <a:cs typeface="Courier New" pitchFamily="34" charset="-120"/>
                        </a:rPr>
                        <a:t>USGS MRDS</a:t>
                      </a:r>
                      <a:endParaRPr lang="en-US" sz="800" dirty="0">
                        <a:latin typeface="Courier New" charset="0"/>
                        <a:ea typeface="Courier New" charset="0"/>
                        <a:cs typeface="Courier New" charset="0"/>
                      </a:endParaRPr>
                    </a:p>
                  </a:txBody>
                  <a:tcPr marL="35719" marR="57150" marT="57150" marB="35719" anchor="t">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l" indent="0" marL="0">
                        <a:buNone/>
                      </a:pPr>
                      <a:r>
                        <a:rPr lang="en-US" sz="800" dirty="0">
                          <a:solidFill>
                            <a:srgbClr val="C9C3B5"/>
                          </a:solidFill>
                          <a:latin typeface="Courier New" pitchFamily="34" charset="0"/>
                          <a:ea typeface="Courier New" pitchFamily="34" charset="-122"/>
                          <a:cs typeface="Courier New" pitchFamily="34" charset="-120"/>
                        </a:rPr>
                        <a:t>Known deposits &amp; occurrences</a:t>
                      </a:r>
                      <a:endParaRPr lang="en-US" sz="800" dirty="0">
                        <a:latin typeface="Courier New" charset="0"/>
                        <a:ea typeface="Courier New" charset="0"/>
                        <a:cs typeface="Courier New" charset="0"/>
                      </a:endParaRPr>
                    </a:p>
                  </a:txBody>
                  <a:tcPr marL="35719" marR="57150" marT="57150" marB="35719" anchor="t">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l" indent="0" marL="0">
                        <a:buNone/>
                      </a:pPr>
                      <a:r>
                        <a:rPr lang="en-US" sz="800" dirty="0">
                          <a:solidFill>
                            <a:srgbClr val="D4A24A"/>
                          </a:solidFill>
                          <a:latin typeface="Courier New" pitchFamily="34" charset="0"/>
                          <a:ea typeface="Courier New" pitchFamily="34" charset="-122"/>
                          <a:cs typeface="Courier New" pitchFamily="34" charset="-120"/>
                        </a:rPr>
                        <a:t>Proximity weighting</a:t>
                      </a:r>
                      <a:endParaRPr lang="en-US" sz="800" dirty="0">
                        <a:latin typeface="Courier New" charset="0"/>
                        <a:ea typeface="Courier New" charset="0"/>
                        <a:cs typeface="Courier New" charset="0"/>
                      </a:endParaRPr>
                    </a:p>
                  </a:txBody>
                  <a:tcPr marL="35719" marR="57150" marT="57150" marB="35719" anchor="t">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r>
              <a:tr h="0">
                <a:tc>
                  <a:txBody>
                    <a:bodyPr/>
                    <a:lstStyle/>
                    <a:p>
                      <a:pPr algn="l" indent="0" marL="0">
                        <a:buNone/>
                      </a:pPr>
                      <a:r>
                        <a:rPr lang="en-US" sz="800" dirty="0">
                          <a:solidFill>
                            <a:srgbClr val="F5F1E8"/>
                          </a:solidFill>
                          <a:latin typeface="Courier New" pitchFamily="34" charset="0"/>
                          <a:ea typeface="Courier New" pitchFamily="34" charset="-122"/>
                          <a:cs typeface="Courier New" pitchFamily="34" charset="-120"/>
                        </a:rPr>
                        <a:t>WDPA</a:t>
                      </a:r>
                      <a:endParaRPr lang="en-US" sz="800" dirty="0">
                        <a:latin typeface="Courier New" charset="0"/>
                        <a:ea typeface="Courier New" charset="0"/>
                        <a:cs typeface="Courier New" charset="0"/>
                      </a:endParaRPr>
                    </a:p>
                  </a:txBody>
                  <a:tcPr marL="35719" marR="57150" marT="57150" marB="35719" anchor="t">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l" indent="0" marL="0">
                        <a:buNone/>
                      </a:pPr>
                      <a:r>
                        <a:rPr lang="en-US" sz="800" dirty="0">
                          <a:solidFill>
                            <a:srgbClr val="C9C3B5"/>
                          </a:solidFill>
                          <a:latin typeface="Courier New" pitchFamily="34" charset="0"/>
                          <a:ea typeface="Courier New" pitchFamily="34" charset="-122"/>
                          <a:cs typeface="Courier New" pitchFamily="34" charset="-120"/>
                        </a:rPr>
                        <a:t>Conservation boundaries</a:t>
                      </a:r>
                      <a:endParaRPr lang="en-US" sz="800" dirty="0">
                        <a:latin typeface="Courier New" charset="0"/>
                        <a:ea typeface="Courier New" charset="0"/>
                        <a:cs typeface="Courier New" charset="0"/>
                      </a:endParaRPr>
                    </a:p>
                  </a:txBody>
                  <a:tcPr marL="35719" marR="57150" marT="57150" marB="35719" anchor="t">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l" indent="0" marL="0">
                        <a:buNone/>
                      </a:pPr>
                      <a:r>
                        <a:rPr lang="en-US" sz="800" dirty="0">
                          <a:solidFill>
                            <a:srgbClr val="D4A24A"/>
                          </a:solidFill>
                          <a:latin typeface="Courier New" pitchFamily="34" charset="0"/>
                          <a:ea typeface="Courier New" pitchFamily="34" charset="-122"/>
                          <a:cs typeface="Courier New" pitchFamily="34" charset="-120"/>
                        </a:rPr>
                        <a:t>Exclusion constraint</a:t>
                      </a:r>
                      <a:endParaRPr lang="en-US" sz="800" dirty="0">
                        <a:latin typeface="Courier New" charset="0"/>
                        <a:ea typeface="Courier New" charset="0"/>
                        <a:cs typeface="Courier New" charset="0"/>
                      </a:endParaRPr>
                    </a:p>
                  </a:txBody>
                  <a:tcPr marL="35719" marR="57150" marT="57150" marB="35719" anchor="t">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r>
              <a:tr h="0">
                <a:tc>
                  <a:txBody>
                    <a:bodyPr/>
                    <a:lstStyle/>
                    <a:p>
                      <a:pPr algn="l" indent="0" marL="0">
                        <a:buNone/>
                      </a:pPr>
                      <a:r>
                        <a:rPr lang="en-US" sz="800" dirty="0">
                          <a:solidFill>
                            <a:srgbClr val="F5F1E8"/>
                          </a:solidFill>
                          <a:latin typeface="Courier New" pitchFamily="34" charset="0"/>
                          <a:ea typeface="Courier New" pitchFamily="34" charset="-122"/>
                          <a:cs typeface="Courier New" pitchFamily="34" charset="-120"/>
                        </a:rPr>
                        <a:t>OpenStreetMap</a:t>
                      </a:r>
                      <a:endParaRPr lang="en-US" sz="800" dirty="0">
                        <a:latin typeface="Courier New" charset="0"/>
                        <a:ea typeface="Courier New" charset="0"/>
                        <a:cs typeface="Courier New" charset="0"/>
                      </a:endParaRPr>
                    </a:p>
                  </a:txBody>
                  <a:tcPr marL="35719" marR="57150" marT="57150" marB="35719" anchor="t">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l" indent="0" marL="0">
                        <a:buNone/>
                      </a:pPr>
                      <a:r>
                        <a:rPr lang="en-US" sz="800" dirty="0">
                          <a:solidFill>
                            <a:srgbClr val="C9C3B5"/>
                          </a:solidFill>
                          <a:latin typeface="Courier New" pitchFamily="34" charset="0"/>
                          <a:ea typeface="Courier New" pitchFamily="34" charset="-122"/>
                          <a:cs typeface="Courier New" pitchFamily="34" charset="-120"/>
                        </a:rPr>
                        <a:t>Roads, settlements</a:t>
                      </a:r>
                      <a:endParaRPr lang="en-US" sz="800" dirty="0">
                        <a:latin typeface="Courier New" charset="0"/>
                        <a:ea typeface="Courier New" charset="0"/>
                        <a:cs typeface="Courier New" charset="0"/>
                      </a:endParaRPr>
                    </a:p>
                  </a:txBody>
                  <a:tcPr marL="35719" marR="57150" marT="57150" marB="35719" anchor="t">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l" indent="0" marL="0">
                        <a:buNone/>
                      </a:pPr>
                      <a:r>
                        <a:rPr lang="en-US" sz="800" dirty="0">
                          <a:solidFill>
                            <a:srgbClr val="D4A24A"/>
                          </a:solidFill>
                          <a:latin typeface="Courier New" pitchFamily="34" charset="0"/>
                          <a:ea typeface="Courier New" pitchFamily="34" charset="-122"/>
                          <a:cs typeface="Courier New" pitchFamily="34" charset="-120"/>
                        </a:rPr>
                        <a:t>Access &amp; logistics scoring</a:t>
                      </a:r>
                      <a:endParaRPr lang="en-US" sz="800" dirty="0">
                        <a:latin typeface="Courier New" charset="0"/>
                        <a:ea typeface="Courier New" charset="0"/>
                        <a:cs typeface="Courier New" charset="0"/>
                      </a:endParaRPr>
                    </a:p>
                  </a:txBody>
                  <a:tcPr marL="35719" marR="57150" marT="57150" marB="35719" anchor="t">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r>
              <a:tr h="0">
                <a:tc>
                  <a:txBody>
                    <a:bodyPr/>
                    <a:lstStyle/>
                    <a:p>
                      <a:pPr algn="l" indent="0" marL="0">
                        <a:buNone/>
                      </a:pPr>
                      <a:r>
                        <a:rPr lang="en-US" sz="800" dirty="0">
                          <a:solidFill>
                            <a:srgbClr val="F5F1E8"/>
                          </a:solidFill>
                          <a:latin typeface="Courier New" pitchFamily="34" charset="0"/>
                          <a:ea typeface="Courier New" pitchFamily="34" charset="-122"/>
                          <a:cs typeface="Courier New" pitchFamily="34" charset="-120"/>
                        </a:rPr>
                        <a:t>Landsat / ASTER</a:t>
                      </a:r>
                      <a:endParaRPr lang="en-US" sz="800" dirty="0">
                        <a:latin typeface="Courier New" charset="0"/>
                        <a:ea typeface="Courier New" charset="0"/>
                        <a:cs typeface="Courier New" charset="0"/>
                      </a:endParaRPr>
                    </a:p>
                  </a:txBody>
                  <a:tcPr marL="35719" marR="57150" marT="57150" marB="35719" anchor="t">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l" indent="0" marL="0">
                        <a:buNone/>
                      </a:pPr>
                      <a:r>
                        <a:rPr lang="en-US" sz="800" dirty="0">
                          <a:solidFill>
                            <a:srgbClr val="C9C3B5"/>
                          </a:solidFill>
                          <a:latin typeface="Courier New" pitchFamily="34" charset="0"/>
                          <a:ea typeface="Courier New" pitchFamily="34" charset="-122"/>
                          <a:cs typeface="Courier New" pitchFamily="34" charset="-120"/>
                        </a:rPr>
                        <a:t>Long-archive SWIR</a:t>
                      </a:r>
                      <a:endParaRPr lang="en-US" sz="800" dirty="0">
                        <a:latin typeface="Courier New" charset="0"/>
                        <a:ea typeface="Courier New" charset="0"/>
                        <a:cs typeface="Courier New" charset="0"/>
                      </a:endParaRPr>
                    </a:p>
                  </a:txBody>
                  <a:tcPr marL="35719" marR="57150" marT="57150" marB="35719" anchor="t">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l" indent="0" marL="0">
                        <a:buNone/>
                      </a:pPr>
                      <a:r>
                        <a:rPr lang="en-US" sz="800" dirty="0">
                          <a:solidFill>
                            <a:srgbClr val="D4A24A"/>
                          </a:solidFill>
                          <a:latin typeface="Courier New" pitchFamily="34" charset="0"/>
                          <a:ea typeface="Courier New" pitchFamily="34" charset="-122"/>
                          <a:cs typeface="Courier New" pitchFamily="34" charset="-120"/>
                        </a:rPr>
                        <a:t>Change detection, alteration</a:t>
                      </a:r>
                      <a:endParaRPr lang="en-US" sz="800" dirty="0">
                        <a:latin typeface="Courier New" charset="0"/>
                        <a:ea typeface="Courier New" charset="0"/>
                        <a:cs typeface="Courier New" charset="0"/>
                      </a:endParaRPr>
                    </a:p>
                  </a:txBody>
                  <a:tcPr marL="35719" marR="57150" marT="57150" marB="35719" anchor="t">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r>
            </a:tbl>
          </a:graphicData>
        </a:graphic>
      </p:graphicFrame>
      <p:sp>
        <p:nvSpPr>
          <p:cNvPr id="9" name="Shape 6"/>
          <p:cNvSpPr/>
          <p:nvPr/>
        </p:nvSpPr>
        <p:spPr>
          <a:xfrm>
            <a:off x="514350" y="4194386"/>
            <a:ext cx="3929063" cy="0"/>
          </a:xfrm>
          <a:prstGeom prst="line">
            <a:avLst/>
          </a:prstGeom>
          <a:noFill/>
          <a:ln w="7144">
            <a:solidFill>
              <a:srgbClr val="2A2F37"/>
            </a:solidFill>
            <a:prstDash val="dash"/>
          </a:ln>
        </p:spPr>
      </p:sp>
      <p:sp>
        <p:nvSpPr>
          <p:cNvPr id="10" name="Text 7"/>
          <p:cNvSpPr/>
          <p:nvPr/>
        </p:nvSpPr>
        <p:spPr>
          <a:xfrm>
            <a:off x="514350" y="4190814"/>
            <a:ext cx="3929063" cy="398847"/>
          </a:xfrm>
          <a:prstGeom prst="rect">
            <a:avLst/>
          </a:prstGeom>
          <a:noFill/>
          <a:ln/>
        </p:spPr>
        <p:txBody>
          <a:bodyPr wrap="square" lIns="0" tIns="42863" rIns="0" bIns="0" rtlCol="0" anchor="t"/>
          <a:lstStyle/>
          <a:p>
            <a:pPr algn="l" indent="0" marL="0">
              <a:lnSpc>
                <a:spcPts val="775"/>
              </a:lnSpc>
              <a:buNone/>
            </a:pPr>
            <a:r>
              <a:rPr lang="en-US" sz="800" spc="21" kern="0" dirty="0">
                <a:solidFill>
                  <a:srgbClr val="D4A24A"/>
                </a:solidFill>
                <a:latin typeface="Liberation Sans Narrow" pitchFamily="34" charset="0"/>
                <a:ea typeface="Liberation Sans Narrow" pitchFamily="34" charset="-122"/>
                <a:cs typeface="Liberation Sans Narrow" pitchFamily="34" charset="-120"/>
              </a:rPr>
              <a:t>12 SOURCES TOTAL</a:t>
            </a:r>
            <a:pPr algn="l" indent="0" marL="0">
              <a:lnSpc>
                <a:spcPts val="775"/>
              </a:lnSpc>
              <a:buNone/>
            </a:pPr>
            <a:r>
              <a:rPr lang="en-US" sz="800" spc="21" kern="0" dirty="0">
                <a:solidFill>
                  <a:srgbClr val="8A8576"/>
                </a:solidFill>
                <a:latin typeface="Courier New" pitchFamily="34" charset="0"/>
                <a:ea typeface="Courier New" pitchFamily="34" charset="-122"/>
                <a:cs typeface="Courier New" pitchFamily="34" charset="-120"/>
              </a:rPr>
              <a:t> — rows above + your licence-boundary polygon &amp; project metadata (commercial shape) = 12 integrated inputs.</a:t>
            </a:r>
            <a:endParaRPr lang="en-US" sz="800" dirty="0"/>
          </a:p>
        </p:txBody>
      </p:sp>
      <p:sp>
        <p:nvSpPr>
          <p:cNvPr id="11" name="Text 8"/>
          <p:cNvSpPr/>
          <p:nvPr/>
        </p:nvSpPr>
        <p:spPr>
          <a:xfrm>
            <a:off x="4700588" y="1496616"/>
            <a:ext cx="4321969" cy="200597"/>
          </a:xfrm>
          <a:prstGeom prst="rect">
            <a:avLst/>
          </a:prstGeom>
          <a:noFill/>
          <a:ln/>
        </p:spPr>
        <p:txBody>
          <a:bodyPr wrap="square" lIns="0" tIns="0" rIns="0" bIns="0" rtlCol="0" anchor="t"/>
          <a:lstStyle/>
          <a:p>
            <a:pPr algn="l" indent="0" marL="0">
              <a:lnSpc>
                <a:spcPts val="1463"/>
              </a:lnSpc>
              <a:buNone/>
            </a:pPr>
            <a:r>
              <a:rPr lang="en-US" sz="1125" dirty="0">
                <a:solidFill>
                  <a:srgbClr val="F5F1E8"/>
                </a:solidFill>
                <a:latin typeface="Tinos" pitchFamily="34" charset="0"/>
                <a:ea typeface="Tinos" pitchFamily="34" charset="-122"/>
                <a:cs typeface="Tinos" pitchFamily="34" charset="-120"/>
              </a:rPr>
              <a:t>The argument that matters to a technical buyer.</a:t>
            </a:r>
            <a:endParaRPr lang="en-US" sz="1125" dirty="0"/>
          </a:p>
        </p:txBody>
      </p:sp>
      <p:sp>
        <p:nvSpPr>
          <p:cNvPr id="12" name="Text 9"/>
          <p:cNvSpPr/>
          <p:nvPr/>
        </p:nvSpPr>
        <p:spPr>
          <a:xfrm>
            <a:off x="4700588" y="1768078"/>
            <a:ext cx="3929063" cy="619720"/>
          </a:xfrm>
          <a:prstGeom prst="rect">
            <a:avLst/>
          </a:prstGeom>
          <a:solidFill>
            <a:srgbClr val="1C2128"/>
          </a:solidFill>
          <a:ln/>
        </p:spPr>
        <p:txBody>
          <a:bodyPr wrap="square" rtlCol="0" anchor="ctr"/>
          <a:lstStyle/>
          <a:p>
            <a:pPr indent="0" marL="0">
              <a:buNone/>
            </a:pPr>
            <a:endParaRPr lang="en-US" dirty="0"/>
          </a:p>
        </p:txBody>
      </p:sp>
      <p:sp>
        <p:nvSpPr>
          <p:cNvPr id="13" name="Shape 10"/>
          <p:cNvSpPr/>
          <p:nvPr/>
        </p:nvSpPr>
        <p:spPr>
          <a:xfrm>
            <a:off x="4700588" y="1771650"/>
            <a:ext cx="3929063" cy="0"/>
          </a:xfrm>
          <a:prstGeom prst="line">
            <a:avLst/>
          </a:prstGeom>
          <a:noFill/>
          <a:ln w="7144">
            <a:solidFill>
              <a:srgbClr val="2A2F37"/>
            </a:solidFill>
            <a:prstDash val="solid"/>
          </a:ln>
        </p:spPr>
      </p:sp>
      <p:sp>
        <p:nvSpPr>
          <p:cNvPr id="14" name="Shape 11"/>
          <p:cNvSpPr/>
          <p:nvPr/>
        </p:nvSpPr>
        <p:spPr>
          <a:xfrm>
            <a:off x="8626078" y="1768078"/>
            <a:ext cx="0" cy="619720"/>
          </a:xfrm>
          <a:prstGeom prst="line">
            <a:avLst/>
          </a:prstGeom>
          <a:noFill/>
          <a:ln w="7144">
            <a:solidFill>
              <a:srgbClr val="2A2F37"/>
            </a:solidFill>
            <a:prstDash val="solid"/>
          </a:ln>
        </p:spPr>
      </p:sp>
      <p:sp>
        <p:nvSpPr>
          <p:cNvPr id="15" name="Shape 12"/>
          <p:cNvSpPr/>
          <p:nvPr/>
        </p:nvSpPr>
        <p:spPr>
          <a:xfrm>
            <a:off x="4700588" y="2384227"/>
            <a:ext cx="3929063" cy="0"/>
          </a:xfrm>
          <a:prstGeom prst="line">
            <a:avLst/>
          </a:prstGeom>
          <a:noFill/>
          <a:ln w="7144">
            <a:solidFill>
              <a:srgbClr val="2A2F37"/>
            </a:solidFill>
            <a:prstDash val="solid"/>
          </a:ln>
        </p:spPr>
      </p:sp>
      <p:sp>
        <p:nvSpPr>
          <p:cNvPr id="16" name="Shape 13"/>
          <p:cNvSpPr/>
          <p:nvPr/>
        </p:nvSpPr>
        <p:spPr>
          <a:xfrm>
            <a:off x="4707731" y="1768078"/>
            <a:ext cx="0" cy="619720"/>
          </a:xfrm>
          <a:prstGeom prst="line">
            <a:avLst/>
          </a:prstGeom>
          <a:noFill/>
          <a:ln w="14288">
            <a:solidFill>
              <a:srgbClr val="D4A24A"/>
            </a:solidFill>
            <a:prstDash val="solid"/>
          </a:ln>
        </p:spPr>
      </p:sp>
      <p:sp>
        <p:nvSpPr>
          <p:cNvPr id="17" name="Text 14"/>
          <p:cNvSpPr/>
          <p:nvPr/>
        </p:nvSpPr>
        <p:spPr>
          <a:xfrm>
            <a:off x="4814888" y="1860947"/>
            <a:ext cx="640080" cy="433983"/>
          </a:xfrm>
          <a:prstGeom prst="rect">
            <a:avLst/>
          </a:prstGeom>
          <a:noFill/>
          <a:ln/>
        </p:spPr>
        <p:txBody>
          <a:bodyPr wrap="none" lIns="0" tIns="0" rIns="0" bIns="0" rtlCol="0" anchor="t"/>
          <a:lstStyle/>
          <a:p>
            <a:pPr algn="l" indent="0" marL="0">
              <a:lnSpc>
                <a:spcPts val="1575"/>
              </a:lnSpc>
              <a:buNone/>
            </a:pPr>
            <a:r>
              <a:rPr lang="en-US" sz="1575" spc="63" kern="0" dirty="0">
                <a:solidFill>
                  <a:srgbClr val="D4A24A"/>
                </a:solidFill>
                <a:latin typeface="Liberation Sans Narrow" pitchFamily="34" charset="0"/>
                <a:ea typeface="Liberation Sans Narrow" pitchFamily="34" charset="-122"/>
                <a:cs typeface="Liberation Sans Narrow" pitchFamily="34" charset="-120"/>
              </a:rPr>
              <a:t>01</a:t>
            </a:r>
            <a:endParaRPr lang="en-US" sz="1575" dirty="0"/>
          </a:p>
        </p:txBody>
      </p:sp>
      <p:sp>
        <p:nvSpPr>
          <p:cNvPr id="18" name="Text 15"/>
          <p:cNvSpPr/>
          <p:nvPr/>
        </p:nvSpPr>
        <p:spPr>
          <a:xfrm>
            <a:off x="5314950" y="1875234"/>
            <a:ext cx="3317272" cy="135088"/>
          </a:xfrm>
          <a:prstGeom prst="rect">
            <a:avLst/>
          </a:prstGeom>
          <a:noFill/>
          <a:ln/>
        </p:spPr>
        <p:txBody>
          <a:bodyPr wrap="square" lIns="0" tIns="0" rIns="0" bIns="0" rtlCol="0" anchor="t">
            <a:normAutofit/>
          </a:bodyPr>
          <a:lstStyle/>
          <a:p>
            <a:pPr algn="l" indent="0" marL="0">
              <a:lnSpc>
                <a:spcPts val="1055"/>
              </a:lnSpc>
              <a:buNone/>
            </a:pPr>
            <a:r>
              <a:rPr lang="en-US" sz="844" dirty="0">
                <a:solidFill>
                  <a:srgbClr val="F5F1E8"/>
                </a:solidFill>
                <a:latin typeface="Tinos" pitchFamily="34" charset="0"/>
                <a:ea typeface="Tinos" pitchFamily="34" charset="-122"/>
                <a:cs typeface="Tinos" pitchFamily="34" charset="-120"/>
              </a:rPr>
              <a:t>The model cannot write a number.</a:t>
            </a:r>
            <a:endParaRPr lang="en-US" sz="844" dirty="0"/>
          </a:p>
        </p:txBody>
      </p:sp>
      <p:sp>
        <p:nvSpPr>
          <p:cNvPr id="19" name="Text 16"/>
          <p:cNvSpPr/>
          <p:nvPr/>
        </p:nvSpPr>
        <p:spPr>
          <a:xfrm>
            <a:off x="5314950" y="2037755"/>
            <a:ext cx="3207544" cy="257175"/>
          </a:xfrm>
          <a:prstGeom prst="rect">
            <a:avLst/>
          </a:prstGeom>
          <a:noFill/>
          <a:ln/>
        </p:spPr>
        <p:txBody>
          <a:bodyPr wrap="square" lIns="0" tIns="0" rIns="0" bIns="0" rtlCol="0" anchor="t"/>
          <a:lstStyle/>
          <a:p>
            <a:pPr algn="l" indent="0" marL="0">
              <a:lnSpc>
                <a:spcPts val="1013"/>
              </a:lnSpc>
              <a:buNone/>
            </a:pPr>
            <a:r>
              <a:rPr lang="en-US" sz="800" dirty="0">
                <a:solidFill>
                  <a:srgbClr val="C9C3B5"/>
                </a:solidFill>
                <a:latin typeface="Carlito" pitchFamily="34" charset="0"/>
                <a:ea typeface="Carlito" pitchFamily="34" charset="-122"/>
                <a:cs typeface="Carlito" pitchFamily="34" charset="-120"/>
              </a:rPr>
              <a:t>Every figure and statistic in Copilot &amp; reports is resolved from the database server-side. The LLM selects and interprets; it never supplies values.</a:t>
            </a:r>
            <a:endParaRPr lang="en-US" sz="800" dirty="0"/>
          </a:p>
        </p:txBody>
      </p:sp>
      <p:sp>
        <p:nvSpPr>
          <p:cNvPr id="20" name="Text 17"/>
          <p:cNvSpPr/>
          <p:nvPr/>
        </p:nvSpPr>
        <p:spPr>
          <a:xfrm>
            <a:off x="4700588" y="2459236"/>
            <a:ext cx="3929063" cy="619720"/>
          </a:xfrm>
          <a:prstGeom prst="rect">
            <a:avLst/>
          </a:prstGeom>
          <a:solidFill>
            <a:srgbClr val="1C2128"/>
          </a:solidFill>
          <a:ln/>
        </p:spPr>
        <p:txBody>
          <a:bodyPr wrap="square" rtlCol="0" anchor="ctr"/>
          <a:lstStyle/>
          <a:p>
            <a:pPr indent="0" marL="0">
              <a:buNone/>
            </a:pPr>
            <a:endParaRPr lang="en-US" dirty="0"/>
          </a:p>
        </p:txBody>
      </p:sp>
      <p:sp>
        <p:nvSpPr>
          <p:cNvPr id="21" name="Shape 18"/>
          <p:cNvSpPr/>
          <p:nvPr/>
        </p:nvSpPr>
        <p:spPr>
          <a:xfrm>
            <a:off x="4700588" y="2462808"/>
            <a:ext cx="3929063" cy="0"/>
          </a:xfrm>
          <a:prstGeom prst="line">
            <a:avLst/>
          </a:prstGeom>
          <a:noFill/>
          <a:ln w="7144">
            <a:solidFill>
              <a:srgbClr val="2A2F37"/>
            </a:solidFill>
            <a:prstDash val="solid"/>
          </a:ln>
        </p:spPr>
      </p:sp>
      <p:sp>
        <p:nvSpPr>
          <p:cNvPr id="22" name="Shape 19"/>
          <p:cNvSpPr/>
          <p:nvPr/>
        </p:nvSpPr>
        <p:spPr>
          <a:xfrm>
            <a:off x="8626078" y="2459236"/>
            <a:ext cx="0" cy="619720"/>
          </a:xfrm>
          <a:prstGeom prst="line">
            <a:avLst/>
          </a:prstGeom>
          <a:noFill/>
          <a:ln w="7144">
            <a:solidFill>
              <a:srgbClr val="2A2F37"/>
            </a:solidFill>
            <a:prstDash val="solid"/>
          </a:ln>
        </p:spPr>
      </p:sp>
      <p:sp>
        <p:nvSpPr>
          <p:cNvPr id="23" name="Shape 20"/>
          <p:cNvSpPr/>
          <p:nvPr/>
        </p:nvSpPr>
        <p:spPr>
          <a:xfrm>
            <a:off x="4700588" y="3075384"/>
            <a:ext cx="3929063" cy="0"/>
          </a:xfrm>
          <a:prstGeom prst="line">
            <a:avLst/>
          </a:prstGeom>
          <a:noFill/>
          <a:ln w="7144">
            <a:solidFill>
              <a:srgbClr val="2A2F37"/>
            </a:solidFill>
            <a:prstDash val="solid"/>
          </a:ln>
        </p:spPr>
      </p:sp>
      <p:sp>
        <p:nvSpPr>
          <p:cNvPr id="24" name="Shape 21"/>
          <p:cNvSpPr/>
          <p:nvPr/>
        </p:nvSpPr>
        <p:spPr>
          <a:xfrm>
            <a:off x="4707731" y="2459236"/>
            <a:ext cx="0" cy="619720"/>
          </a:xfrm>
          <a:prstGeom prst="line">
            <a:avLst/>
          </a:prstGeom>
          <a:noFill/>
          <a:ln w="14288">
            <a:solidFill>
              <a:srgbClr val="D4A24A"/>
            </a:solidFill>
            <a:prstDash val="solid"/>
          </a:ln>
        </p:spPr>
      </p:sp>
      <p:sp>
        <p:nvSpPr>
          <p:cNvPr id="25" name="Text 22"/>
          <p:cNvSpPr/>
          <p:nvPr/>
        </p:nvSpPr>
        <p:spPr>
          <a:xfrm>
            <a:off x="4814888" y="2552105"/>
            <a:ext cx="640080" cy="433983"/>
          </a:xfrm>
          <a:prstGeom prst="rect">
            <a:avLst/>
          </a:prstGeom>
          <a:noFill/>
          <a:ln/>
        </p:spPr>
        <p:txBody>
          <a:bodyPr wrap="none" lIns="0" tIns="0" rIns="0" bIns="0" rtlCol="0" anchor="t"/>
          <a:lstStyle/>
          <a:p>
            <a:pPr algn="l" indent="0" marL="0">
              <a:lnSpc>
                <a:spcPts val="1575"/>
              </a:lnSpc>
              <a:buNone/>
            </a:pPr>
            <a:r>
              <a:rPr lang="en-US" sz="1575" spc="63" kern="0" dirty="0">
                <a:solidFill>
                  <a:srgbClr val="D4A24A"/>
                </a:solidFill>
                <a:latin typeface="Liberation Sans Narrow" pitchFamily="34" charset="0"/>
                <a:ea typeface="Liberation Sans Narrow" pitchFamily="34" charset="-122"/>
                <a:cs typeface="Liberation Sans Narrow" pitchFamily="34" charset="-120"/>
              </a:rPr>
              <a:t>02</a:t>
            </a:r>
            <a:endParaRPr lang="en-US" sz="1575" dirty="0"/>
          </a:p>
        </p:txBody>
      </p:sp>
      <p:sp>
        <p:nvSpPr>
          <p:cNvPr id="26" name="Text 23"/>
          <p:cNvSpPr/>
          <p:nvPr/>
        </p:nvSpPr>
        <p:spPr>
          <a:xfrm>
            <a:off x="5314950" y="2566392"/>
            <a:ext cx="3207544" cy="135088"/>
          </a:xfrm>
          <a:prstGeom prst="rect">
            <a:avLst/>
          </a:prstGeom>
          <a:noFill/>
          <a:ln/>
        </p:spPr>
        <p:txBody>
          <a:bodyPr wrap="square" lIns="0" tIns="0" rIns="0" bIns="0" rtlCol="0" anchor="t">
            <a:normAutofit/>
          </a:bodyPr>
          <a:lstStyle/>
          <a:p>
            <a:pPr algn="l" indent="0" marL="0">
              <a:lnSpc>
                <a:spcPts val="1055"/>
              </a:lnSpc>
              <a:buNone/>
            </a:pPr>
            <a:r>
              <a:rPr lang="en-US" sz="844" dirty="0">
                <a:solidFill>
                  <a:srgbClr val="F5F1E8"/>
                </a:solidFill>
                <a:latin typeface="Tinos" pitchFamily="34" charset="0"/>
                <a:ea typeface="Tinos" pitchFamily="34" charset="-122"/>
                <a:cs typeface="Tinos" pitchFamily="34" charset="-120"/>
              </a:rPr>
              <a:t>Ranking is withheld where the model does not apply.</a:t>
            </a:r>
            <a:endParaRPr lang="en-US" sz="844" dirty="0"/>
          </a:p>
        </p:txBody>
      </p:sp>
      <p:sp>
        <p:nvSpPr>
          <p:cNvPr id="27" name="Text 24"/>
          <p:cNvSpPr/>
          <p:nvPr/>
        </p:nvSpPr>
        <p:spPr>
          <a:xfrm>
            <a:off x="5314950" y="2728913"/>
            <a:ext cx="3207544" cy="257175"/>
          </a:xfrm>
          <a:prstGeom prst="rect">
            <a:avLst/>
          </a:prstGeom>
          <a:noFill/>
          <a:ln/>
        </p:spPr>
        <p:txBody>
          <a:bodyPr wrap="square" lIns="0" tIns="0" rIns="0" bIns="0" rtlCol="0" anchor="t"/>
          <a:lstStyle/>
          <a:p>
            <a:pPr algn="l" indent="0" marL="0">
              <a:lnSpc>
                <a:spcPts val="1013"/>
              </a:lnSpc>
              <a:buNone/>
            </a:pPr>
            <a:r>
              <a:rPr lang="en-US" sz="800" dirty="0">
                <a:solidFill>
                  <a:srgbClr val="C9C3B5"/>
                </a:solidFill>
                <a:latin typeface="Carlito" pitchFamily="34" charset="0"/>
                <a:ea typeface="Carlito" pitchFamily="34" charset="-122"/>
                <a:cs typeface="Carlito" pitchFamily="34" charset="-120"/>
              </a:rPr>
              <a:t>The deposit model is tuned for orogenic gold. Other commodities get full data, maps and layers — but no ranked targets, rather than numbers from the wrong model.</a:t>
            </a:r>
            <a:endParaRPr lang="en-US" sz="800" dirty="0"/>
          </a:p>
        </p:txBody>
      </p:sp>
      <p:sp>
        <p:nvSpPr>
          <p:cNvPr id="28" name="Text 25"/>
          <p:cNvSpPr/>
          <p:nvPr/>
        </p:nvSpPr>
        <p:spPr>
          <a:xfrm>
            <a:off x="4700588" y="3150394"/>
            <a:ext cx="3929063" cy="619720"/>
          </a:xfrm>
          <a:prstGeom prst="rect">
            <a:avLst/>
          </a:prstGeom>
          <a:solidFill>
            <a:srgbClr val="1C2128"/>
          </a:solidFill>
          <a:ln/>
        </p:spPr>
        <p:txBody>
          <a:bodyPr wrap="square" rtlCol="0" anchor="ctr"/>
          <a:lstStyle/>
          <a:p>
            <a:pPr indent="0" marL="0">
              <a:buNone/>
            </a:pPr>
            <a:endParaRPr lang="en-US" dirty="0"/>
          </a:p>
        </p:txBody>
      </p:sp>
      <p:sp>
        <p:nvSpPr>
          <p:cNvPr id="29" name="Shape 26"/>
          <p:cNvSpPr/>
          <p:nvPr/>
        </p:nvSpPr>
        <p:spPr>
          <a:xfrm>
            <a:off x="4700588" y="3153966"/>
            <a:ext cx="3929063" cy="0"/>
          </a:xfrm>
          <a:prstGeom prst="line">
            <a:avLst/>
          </a:prstGeom>
          <a:noFill/>
          <a:ln w="7144">
            <a:solidFill>
              <a:srgbClr val="2A2F37"/>
            </a:solidFill>
            <a:prstDash val="solid"/>
          </a:ln>
        </p:spPr>
      </p:sp>
      <p:sp>
        <p:nvSpPr>
          <p:cNvPr id="30" name="Shape 27"/>
          <p:cNvSpPr/>
          <p:nvPr/>
        </p:nvSpPr>
        <p:spPr>
          <a:xfrm>
            <a:off x="8626078" y="3150394"/>
            <a:ext cx="0" cy="619720"/>
          </a:xfrm>
          <a:prstGeom prst="line">
            <a:avLst/>
          </a:prstGeom>
          <a:noFill/>
          <a:ln w="7144">
            <a:solidFill>
              <a:srgbClr val="2A2F37"/>
            </a:solidFill>
            <a:prstDash val="solid"/>
          </a:ln>
        </p:spPr>
      </p:sp>
      <p:sp>
        <p:nvSpPr>
          <p:cNvPr id="31" name="Shape 28"/>
          <p:cNvSpPr/>
          <p:nvPr/>
        </p:nvSpPr>
        <p:spPr>
          <a:xfrm>
            <a:off x="4700588" y="3766542"/>
            <a:ext cx="3929063" cy="0"/>
          </a:xfrm>
          <a:prstGeom prst="line">
            <a:avLst/>
          </a:prstGeom>
          <a:noFill/>
          <a:ln w="7144">
            <a:solidFill>
              <a:srgbClr val="2A2F37"/>
            </a:solidFill>
            <a:prstDash val="solid"/>
          </a:ln>
        </p:spPr>
      </p:sp>
      <p:sp>
        <p:nvSpPr>
          <p:cNvPr id="32" name="Shape 29"/>
          <p:cNvSpPr/>
          <p:nvPr/>
        </p:nvSpPr>
        <p:spPr>
          <a:xfrm>
            <a:off x="4707731" y="3150394"/>
            <a:ext cx="0" cy="619720"/>
          </a:xfrm>
          <a:prstGeom prst="line">
            <a:avLst/>
          </a:prstGeom>
          <a:noFill/>
          <a:ln w="14288">
            <a:solidFill>
              <a:srgbClr val="D4A24A"/>
            </a:solidFill>
            <a:prstDash val="solid"/>
          </a:ln>
        </p:spPr>
      </p:sp>
      <p:sp>
        <p:nvSpPr>
          <p:cNvPr id="33" name="Text 30"/>
          <p:cNvSpPr/>
          <p:nvPr/>
        </p:nvSpPr>
        <p:spPr>
          <a:xfrm>
            <a:off x="4814888" y="3243263"/>
            <a:ext cx="640080" cy="433983"/>
          </a:xfrm>
          <a:prstGeom prst="rect">
            <a:avLst/>
          </a:prstGeom>
          <a:noFill/>
          <a:ln/>
        </p:spPr>
        <p:txBody>
          <a:bodyPr wrap="none" lIns="0" tIns="0" rIns="0" bIns="0" rtlCol="0" anchor="t"/>
          <a:lstStyle/>
          <a:p>
            <a:pPr algn="l" indent="0" marL="0">
              <a:lnSpc>
                <a:spcPts val="1575"/>
              </a:lnSpc>
              <a:buNone/>
            </a:pPr>
            <a:r>
              <a:rPr lang="en-US" sz="1575" spc="63" kern="0" dirty="0">
                <a:solidFill>
                  <a:srgbClr val="D4A24A"/>
                </a:solidFill>
                <a:latin typeface="Liberation Sans Narrow" pitchFamily="34" charset="0"/>
                <a:ea typeface="Liberation Sans Narrow" pitchFamily="34" charset="-122"/>
                <a:cs typeface="Liberation Sans Narrow" pitchFamily="34" charset="-120"/>
              </a:rPr>
              <a:t>03</a:t>
            </a:r>
            <a:endParaRPr lang="en-US" sz="1575" dirty="0"/>
          </a:p>
        </p:txBody>
      </p:sp>
      <p:sp>
        <p:nvSpPr>
          <p:cNvPr id="34" name="Text 31"/>
          <p:cNvSpPr/>
          <p:nvPr/>
        </p:nvSpPr>
        <p:spPr>
          <a:xfrm>
            <a:off x="5314950" y="3257550"/>
            <a:ext cx="3317272" cy="135088"/>
          </a:xfrm>
          <a:prstGeom prst="rect">
            <a:avLst/>
          </a:prstGeom>
          <a:noFill/>
          <a:ln/>
        </p:spPr>
        <p:txBody>
          <a:bodyPr wrap="square" lIns="0" tIns="0" rIns="0" bIns="0" rtlCol="0" anchor="t">
            <a:normAutofit/>
          </a:bodyPr>
          <a:lstStyle/>
          <a:p>
            <a:pPr algn="l" indent="0" marL="0">
              <a:lnSpc>
                <a:spcPts val="1055"/>
              </a:lnSpc>
              <a:buNone/>
            </a:pPr>
            <a:r>
              <a:rPr lang="en-US" sz="844" dirty="0">
                <a:solidFill>
                  <a:srgbClr val="F5F1E8"/>
                </a:solidFill>
                <a:latin typeface="Tinos" pitchFamily="34" charset="0"/>
                <a:ea typeface="Tinos" pitchFamily="34" charset="-122"/>
                <a:cs typeface="Tinos" pitchFamily="34" charset="-120"/>
              </a:rPr>
              <a:t>Deposit names are verified before they are shown.</a:t>
            </a:r>
            <a:endParaRPr lang="en-US" sz="844" dirty="0"/>
          </a:p>
        </p:txBody>
      </p:sp>
      <p:sp>
        <p:nvSpPr>
          <p:cNvPr id="35" name="Text 32"/>
          <p:cNvSpPr/>
          <p:nvPr/>
        </p:nvSpPr>
        <p:spPr>
          <a:xfrm>
            <a:off x="5314950" y="3420070"/>
            <a:ext cx="3207544" cy="257175"/>
          </a:xfrm>
          <a:prstGeom prst="rect">
            <a:avLst/>
          </a:prstGeom>
          <a:noFill/>
          <a:ln/>
        </p:spPr>
        <p:txBody>
          <a:bodyPr wrap="square" lIns="0" tIns="0" rIns="0" bIns="0" rtlCol="0" anchor="t"/>
          <a:lstStyle/>
          <a:p>
            <a:pPr algn="l" indent="0" marL="0">
              <a:lnSpc>
                <a:spcPts val="1013"/>
              </a:lnSpc>
              <a:buNone/>
            </a:pPr>
            <a:r>
              <a:rPr lang="en-US" sz="800" dirty="0">
                <a:solidFill>
                  <a:srgbClr val="C9C3B5"/>
                </a:solidFill>
                <a:latin typeface="Carlito" pitchFamily="34" charset="0"/>
                <a:ea typeface="Carlito" pitchFamily="34" charset="-122"/>
                <a:cs typeface="Carlito" pitchFamily="34" charset="-120"/>
              </a:rPr>
              <a:t>Any analogue cited in a generated summary is checked against a known-deposits register, and stripped if it does not match.</a:t>
            </a:r>
            <a:endParaRPr lang="en-US" sz="800" dirty="0"/>
          </a:p>
        </p:txBody>
      </p:sp>
      <p:sp>
        <p:nvSpPr>
          <p:cNvPr id="36" name="Text 33"/>
          <p:cNvSpPr/>
          <p:nvPr/>
        </p:nvSpPr>
        <p:spPr>
          <a:xfrm>
            <a:off x="4700588" y="3841552"/>
            <a:ext cx="3929063" cy="619720"/>
          </a:xfrm>
          <a:prstGeom prst="rect">
            <a:avLst/>
          </a:prstGeom>
          <a:solidFill>
            <a:srgbClr val="1C2128"/>
          </a:solidFill>
          <a:ln/>
        </p:spPr>
        <p:txBody>
          <a:bodyPr wrap="square" rtlCol="0" anchor="ctr"/>
          <a:lstStyle/>
          <a:p>
            <a:pPr indent="0" marL="0">
              <a:buNone/>
            </a:pPr>
            <a:endParaRPr lang="en-US" dirty="0"/>
          </a:p>
        </p:txBody>
      </p:sp>
      <p:sp>
        <p:nvSpPr>
          <p:cNvPr id="37" name="Shape 34"/>
          <p:cNvSpPr/>
          <p:nvPr/>
        </p:nvSpPr>
        <p:spPr>
          <a:xfrm>
            <a:off x="4700588" y="3845123"/>
            <a:ext cx="3929063" cy="0"/>
          </a:xfrm>
          <a:prstGeom prst="line">
            <a:avLst/>
          </a:prstGeom>
          <a:noFill/>
          <a:ln w="7144">
            <a:solidFill>
              <a:srgbClr val="2A2F37"/>
            </a:solidFill>
            <a:prstDash val="solid"/>
          </a:ln>
        </p:spPr>
      </p:sp>
      <p:sp>
        <p:nvSpPr>
          <p:cNvPr id="38" name="Shape 35"/>
          <p:cNvSpPr/>
          <p:nvPr/>
        </p:nvSpPr>
        <p:spPr>
          <a:xfrm>
            <a:off x="8626078" y="3841552"/>
            <a:ext cx="0" cy="619720"/>
          </a:xfrm>
          <a:prstGeom prst="line">
            <a:avLst/>
          </a:prstGeom>
          <a:noFill/>
          <a:ln w="7144">
            <a:solidFill>
              <a:srgbClr val="2A2F37"/>
            </a:solidFill>
            <a:prstDash val="solid"/>
          </a:ln>
        </p:spPr>
      </p:sp>
      <p:sp>
        <p:nvSpPr>
          <p:cNvPr id="39" name="Shape 36"/>
          <p:cNvSpPr/>
          <p:nvPr/>
        </p:nvSpPr>
        <p:spPr>
          <a:xfrm>
            <a:off x="4700588" y="4457700"/>
            <a:ext cx="3929063" cy="0"/>
          </a:xfrm>
          <a:prstGeom prst="line">
            <a:avLst/>
          </a:prstGeom>
          <a:noFill/>
          <a:ln w="7144">
            <a:solidFill>
              <a:srgbClr val="2A2F37"/>
            </a:solidFill>
            <a:prstDash val="solid"/>
          </a:ln>
        </p:spPr>
      </p:sp>
      <p:sp>
        <p:nvSpPr>
          <p:cNvPr id="40" name="Shape 37"/>
          <p:cNvSpPr/>
          <p:nvPr/>
        </p:nvSpPr>
        <p:spPr>
          <a:xfrm>
            <a:off x="4707731" y="3841552"/>
            <a:ext cx="0" cy="619720"/>
          </a:xfrm>
          <a:prstGeom prst="line">
            <a:avLst/>
          </a:prstGeom>
          <a:noFill/>
          <a:ln w="14288">
            <a:solidFill>
              <a:srgbClr val="D4A24A"/>
            </a:solidFill>
            <a:prstDash val="solid"/>
          </a:ln>
        </p:spPr>
      </p:sp>
      <p:sp>
        <p:nvSpPr>
          <p:cNvPr id="41" name="Text 38"/>
          <p:cNvSpPr/>
          <p:nvPr/>
        </p:nvSpPr>
        <p:spPr>
          <a:xfrm>
            <a:off x="4814888" y="3934420"/>
            <a:ext cx="640080" cy="433983"/>
          </a:xfrm>
          <a:prstGeom prst="rect">
            <a:avLst/>
          </a:prstGeom>
          <a:noFill/>
          <a:ln/>
        </p:spPr>
        <p:txBody>
          <a:bodyPr wrap="none" lIns="0" tIns="0" rIns="0" bIns="0" rtlCol="0" anchor="t"/>
          <a:lstStyle/>
          <a:p>
            <a:pPr algn="l" indent="0" marL="0">
              <a:lnSpc>
                <a:spcPts val="1575"/>
              </a:lnSpc>
              <a:buNone/>
            </a:pPr>
            <a:r>
              <a:rPr lang="en-US" sz="1575" spc="63" kern="0" dirty="0">
                <a:solidFill>
                  <a:srgbClr val="D4A24A"/>
                </a:solidFill>
                <a:latin typeface="Liberation Sans Narrow" pitchFamily="34" charset="0"/>
                <a:ea typeface="Liberation Sans Narrow" pitchFamily="34" charset="-122"/>
                <a:cs typeface="Liberation Sans Narrow" pitchFamily="34" charset="-120"/>
              </a:rPr>
              <a:t>04</a:t>
            </a:r>
            <a:endParaRPr lang="en-US" sz="1575" dirty="0"/>
          </a:p>
        </p:txBody>
      </p:sp>
      <p:sp>
        <p:nvSpPr>
          <p:cNvPr id="42" name="Text 39"/>
          <p:cNvSpPr/>
          <p:nvPr/>
        </p:nvSpPr>
        <p:spPr>
          <a:xfrm>
            <a:off x="5314950" y="3948708"/>
            <a:ext cx="3207544" cy="135088"/>
          </a:xfrm>
          <a:prstGeom prst="rect">
            <a:avLst/>
          </a:prstGeom>
          <a:noFill/>
          <a:ln/>
        </p:spPr>
        <p:txBody>
          <a:bodyPr wrap="none" lIns="0" tIns="0" rIns="0" bIns="0" rtlCol="0" anchor="t">
            <a:normAutofit/>
          </a:bodyPr>
          <a:lstStyle/>
          <a:p>
            <a:pPr algn="l" indent="0" marL="0">
              <a:lnSpc>
                <a:spcPts val="1055"/>
              </a:lnSpc>
              <a:buNone/>
            </a:pPr>
            <a:r>
              <a:rPr lang="en-US" sz="844" dirty="0">
                <a:solidFill>
                  <a:srgbClr val="F5F1E8"/>
                </a:solidFill>
                <a:latin typeface="Tinos" pitchFamily="34" charset="0"/>
                <a:ea typeface="Tinos" pitchFamily="34" charset="-122"/>
                <a:cs typeface="Tinos" pitchFamily="34" charset="-120"/>
              </a:rPr>
              <a:t>Nothing is a black box.</a:t>
            </a:r>
            <a:endParaRPr lang="en-US" sz="844" dirty="0"/>
          </a:p>
        </p:txBody>
      </p:sp>
      <p:sp>
        <p:nvSpPr>
          <p:cNvPr id="43" name="Text 40"/>
          <p:cNvSpPr/>
          <p:nvPr/>
        </p:nvSpPr>
        <p:spPr>
          <a:xfrm>
            <a:off x="5314950" y="4111228"/>
            <a:ext cx="3207544" cy="257175"/>
          </a:xfrm>
          <a:prstGeom prst="rect">
            <a:avLst/>
          </a:prstGeom>
          <a:noFill/>
          <a:ln/>
        </p:spPr>
        <p:txBody>
          <a:bodyPr wrap="square" lIns="0" tIns="0" rIns="0" bIns="0" rtlCol="0" anchor="t"/>
          <a:lstStyle/>
          <a:p>
            <a:pPr algn="l" indent="0" marL="0">
              <a:lnSpc>
                <a:spcPts val="1013"/>
              </a:lnSpc>
              <a:buNone/>
            </a:pPr>
            <a:r>
              <a:rPr lang="en-US" sz="800" dirty="0">
                <a:solidFill>
                  <a:srgbClr val="C9C3B5"/>
                </a:solidFill>
                <a:latin typeface="Carlito" pitchFamily="34" charset="0"/>
                <a:ea typeface="Carlito" pitchFamily="34" charset="-122"/>
                <a:cs typeface="Carlito" pitchFamily="34" charset="-120"/>
              </a:rPr>
              <a:t>Weights are published. Contributions are per-target. Processing parameters are recorded. Source files are checksummed.</a:t>
            </a:r>
            <a:endParaRPr lang="en-US" sz="800" dirty="0"/>
          </a:p>
        </p:txBody>
      </p:sp>
      <p:sp>
        <p:nvSpPr>
          <p:cNvPr id="44" name="Shape 41"/>
          <p:cNvSpPr/>
          <p:nvPr/>
        </p:nvSpPr>
        <p:spPr>
          <a:xfrm>
            <a:off x="514350" y="4736306"/>
            <a:ext cx="8115300" cy="0"/>
          </a:xfrm>
          <a:prstGeom prst="line">
            <a:avLst/>
          </a:prstGeom>
          <a:noFill/>
          <a:ln w="7144">
            <a:solidFill>
              <a:srgbClr val="2A2F37"/>
            </a:solidFill>
            <a:prstDash val="solid"/>
          </a:ln>
        </p:spPr>
      </p:sp>
      <p:sp>
        <p:nvSpPr>
          <p:cNvPr id="45" name="Text 42"/>
          <p:cNvSpPr/>
          <p:nvPr/>
        </p:nvSpPr>
        <p:spPr>
          <a:xfrm>
            <a:off x="514350" y="4825603"/>
            <a:ext cx="7748960" cy="117872"/>
          </a:xfrm>
          <a:prstGeom prst="rect">
            <a:avLst/>
          </a:prstGeom>
          <a:noFill/>
          <a:ln/>
        </p:spPr>
        <p:txBody>
          <a:bodyPr wrap="square" lIns="0" tIns="0" rIns="0" bIns="0" rtlCol="0" anchor="t"/>
          <a:lstStyle/>
          <a:p>
            <a:pPr algn="l" indent="0" marL="0">
              <a:lnSpc>
                <a:spcPts val="928"/>
              </a:lnSpc>
              <a:buNone/>
            </a:pPr>
            <a:r>
              <a:rPr lang="en-US" sz="800" spc="87" kern="0" dirty="0">
                <a:solidFill>
                  <a:srgbClr val="8A8576"/>
                </a:solidFill>
                <a:latin typeface="Courier New" pitchFamily="34" charset="0"/>
                <a:ea typeface="Courier New" pitchFamily="34" charset="-122"/>
                <a:cs typeface="Courier New" pitchFamily="34" charset="-120"/>
              </a:rPr>
              <a:t>EVIDENCE × CONSTRAINTS — THE TECHNICAL ARGUMENT</a:t>
            </a:r>
            <a:endParaRPr lang="en-US" sz="800" dirty="0"/>
          </a:p>
        </p:txBody>
      </p:sp>
      <p:sp>
        <p:nvSpPr>
          <p:cNvPr id="46" name="Text 43"/>
          <p:cNvSpPr/>
          <p:nvPr/>
        </p:nvSpPr>
        <p:spPr>
          <a:xfrm>
            <a:off x="8277597" y="4825603"/>
            <a:ext cx="352053" cy="117872"/>
          </a:xfrm>
          <a:prstGeom prst="rect">
            <a:avLst/>
          </a:prstGeom>
          <a:noFill/>
          <a:ln/>
        </p:spPr>
        <p:txBody>
          <a:bodyPr wrap="none" lIns="0" tIns="0" rIns="0" bIns="0" rtlCol="0" anchor="t"/>
          <a:lstStyle/>
          <a:p>
            <a:pPr algn="l" indent="0" marL="0">
              <a:lnSpc>
                <a:spcPts val="928"/>
              </a:lnSpc>
              <a:buNone/>
            </a:pPr>
            <a:r>
              <a:rPr lang="en-US" sz="619" spc="87" kern="0" dirty="0">
                <a:solidFill>
                  <a:srgbClr val="8A8576"/>
                </a:solidFill>
                <a:latin typeface="Liberation Sans Narrow" pitchFamily="34" charset="0"/>
                <a:ea typeface="Liberation Sans Narrow" pitchFamily="34" charset="-122"/>
                <a:cs typeface="Liberation Sans Narrow" pitchFamily="34" charset="-120"/>
              </a:rPr>
              <a:t>11 / 12</a:t>
            </a:r>
            <a:endParaRPr lang="en-US" sz="619"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F1115"/>
        </a:solidFill>
      </p:bgPr>
    </p:bg>
    <p:spTree>
      <p:nvGrpSpPr>
        <p:cNvPr id="1" name=""/>
        <p:cNvGrpSpPr/>
        <p:nvPr/>
      </p:nvGrpSpPr>
      <p:grpSpPr>
        <a:xfrm>
          <a:off x="0" y="0"/>
          <a:ext cx="0" cy="0"/>
          <a:chOff x="0" y="0"/>
          <a:chExt cx="0" cy="0"/>
        </a:xfrm>
      </p:grpSpPr>
      <p:sp>
        <p:nvSpPr>
          <p:cNvPr id="2" name="Text 0"/>
          <p:cNvSpPr/>
          <p:nvPr/>
        </p:nvSpPr>
        <p:spPr>
          <a:xfrm>
            <a:off x="514350" y="200025"/>
            <a:ext cx="2326933" cy="164592"/>
          </a:xfrm>
          <a:prstGeom prst="rect">
            <a:avLst/>
          </a:prstGeom>
          <a:noFill/>
          <a:ln/>
        </p:spPr>
        <p:txBody>
          <a:bodyPr wrap="square" lIns="0" tIns="0" rIns="0" bIns="0" rtlCol="0" anchor="t"/>
          <a:lstStyle/>
          <a:p>
            <a:pPr algn="l" indent="0" marL="0">
              <a:lnSpc>
                <a:spcPts val="928"/>
              </a:lnSpc>
              <a:buNone/>
            </a:pPr>
            <a:r>
              <a:rPr lang="en-US" sz="619" spc="111" kern="0" dirty="0">
                <a:solidFill>
                  <a:srgbClr val="8A8576"/>
                </a:solidFill>
                <a:latin typeface="Courier New" pitchFamily="34" charset="0"/>
                <a:ea typeface="Courier New" pitchFamily="34" charset="-122"/>
                <a:cs typeface="Courier New" pitchFamily="34" charset="-120"/>
              </a:rPr>
              <a:t>TERRAPULSE × GOLD FIELDS GHANA / 2026</a:t>
            </a:r>
            <a:endParaRPr lang="en-US" sz="619" dirty="0"/>
          </a:p>
        </p:txBody>
      </p:sp>
      <p:sp>
        <p:nvSpPr>
          <p:cNvPr id="3" name="Text 1"/>
          <p:cNvSpPr/>
          <p:nvPr/>
        </p:nvSpPr>
        <p:spPr>
          <a:xfrm>
            <a:off x="8299586" y="200025"/>
            <a:ext cx="474415" cy="164592"/>
          </a:xfrm>
          <a:prstGeom prst="rect">
            <a:avLst/>
          </a:prstGeom>
          <a:noFill/>
          <a:ln/>
        </p:spPr>
        <p:txBody>
          <a:bodyPr wrap="none" lIns="0" tIns="0" rIns="0" bIns="0" rtlCol="0" anchor="t"/>
          <a:lstStyle/>
          <a:p>
            <a:pPr algn="l" indent="0" marL="0">
              <a:lnSpc>
                <a:spcPts val="928"/>
              </a:lnSpc>
              <a:buNone/>
            </a:pPr>
            <a:r>
              <a:rPr lang="en-US" sz="800" spc="62" kern="0" dirty="0">
                <a:solidFill>
                  <a:srgbClr val="8A8576"/>
                </a:solidFill>
                <a:latin typeface="Liberation Sans Narrow" pitchFamily="34" charset="0"/>
                <a:ea typeface="Liberation Sans Narrow" pitchFamily="34" charset="-122"/>
                <a:cs typeface="Liberation Sans Narrow" pitchFamily="34" charset="-120"/>
              </a:rPr>
              <a:t>12 / 12</a:t>
            </a:r>
            <a:endParaRPr lang="en-US" sz="800" dirty="0"/>
          </a:p>
        </p:txBody>
      </p:sp>
      <p:sp>
        <p:nvSpPr>
          <p:cNvPr id="4" name="Text 2"/>
          <p:cNvSpPr/>
          <p:nvPr/>
        </p:nvSpPr>
        <p:spPr>
          <a:xfrm>
            <a:off x="514350" y="485775"/>
            <a:ext cx="8629650" cy="158306"/>
          </a:xfrm>
          <a:prstGeom prst="rect">
            <a:avLst/>
          </a:prstGeom>
          <a:noFill/>
          <a:ln/>
        </p:spPr>
        <p:txBody>
          <a:bodyPr wrap="square" lIns="0" tIns="0" rIns="0" bIns="0" rtlCol="0" anchor="t">
            <a:normAutofit/>
          </a:bodyPr>
          <a:lstStyle/>
          <a:p>
            <a:pPr algn="l" indent="0" marL="0">
              <a:lnSpc>
                <a:spcPts val="1013"/>
              </a:lnSpc>
              <a:buNone/>
            </a:pPr>
            <a:r>
              <a:rPr lang="en-US" sz="800" spc="149" kern="0" dirty="0">
                <a:solidFill>
                  <a:srgbClr val="D4A24A"/>
                </a:solidFill>
                <a:latin typeface="Courier New" pitchFamily="34" charset="0"/>
                <a:ea typeface="Courier New" pitchFamily="34" charset="-122"/>
                <a:cs typeface="Courier New" pitchFamily="34" charset="-120"/>
              </a:rPr>
              <a:t>WHAT IT DOESN'T DO YET — &amp; NEXT STEP</a:t>
            </a:r>
            <a:endParaRPr lang="en-US" sz="800" dirty="0"/>
          </a:p>
        </p:txBody>
      </p:sp>
      <p:sp>
        <p:nvSpPr>
          <p:cNvPr id="5" name="Text 3"/>
          <p:cNvSpPr/>
          <p:nvPr/>
        </p:nvSpPr>
        <p:spPr>
          <a:xfrm>
            <a:off x="514350" y="671513"/>
            <a:ext cx="8629650" cy="351767"/>
          </a:xfrm>
          <a:prstGeom prst="rect">
            <a:avLst/>
          </a:prstGeom>
          <a:noFill/>
          <a:ln/>
        </p:spPr>
        <p:txBody>
          <a:bodyPr wrap="square" lIns="0" tIns="0" rIns="0" bIns="0" rtlCol="0" anchor="t"/>
          <a:lstStyle/>
          <a:p>
            <a:pPr algn="l" indent="0" marL="0">
              <a:lnSpc>
                <a:spcPts val="2565"/>
              </a:lnSpc>
              <a:buNone/>
            </a:pPr>
            <a:r>
              <a:rPr lang="en-US" sz="2250" spc="-23" kern="0" dirty="0">
                <a:solidFill>
                  <a:srgbClr val="F5F1E8"/>
                </a:solidFill>
                <a:latin typeface="Tinos" pitchFamily="34" charset="0"/>
                <a:ea typeface="Tinos" pitchFamily="34" charset="-122"/>
                <a:cs typeface="Tinos" pitchFamily="34" charset="-120"/>
              </a:rPr>
              <a:t>Say these before they're found.</a:t>
            </a:r>
            <a:endParaRPr lang="en-US" sz="2250" dirty="0"/>
          </a:p>
        </p:txBody>
      </p:sp>
      <p:sp>
        <p:nvSpPr>
          <p:cNvPr id="6" name="Text 4"/>
          <p:cNvSpPr/>
          <p:nvPr/>
        </p:nvSpPr>
        <p:spPr>
          <a:xfrm>
            <a:off x="514350" y="1040085"/>
            <a:ext cx="342900" cy="14288"/>
          </a:xfrm>
          <a:prstGeom prst="rect">
            <a:avLst/>
          </a:prstGeom>
          <a:solidFill>
            <a:srgbClr val="D4A24A"/>
          </a:solidFill>
          <a:ln/>
        </p:spPr>
        <p:txBody>
          <a:bodyPr wrap="square" rtlCol="0" anchor="ctr"/>
          <a:lstStyle/>
          <a:p>
            <a:pPr indent="0" marL="0">
              <a:buNone/>
            </a:pPr>
            <a:endParaRPr lang="en-US" dirty="0"/>
          </a:p>
        </p:txBody>
      </p:sp>
      <p:sp>
        <p:nvSpPr>
          <p:cNvPr id="7" name="Text 5"/>
          <p:cNvSpPr/>
          <p:nvPr/>
        </p:nvSpPr>
        <p:spPr>
          <a:xfrm>
            <a:off x="491490" y="1151028"/>
            <a:ext cx="807980" cy="196025"/>
          </a:xfrm>
          <a:prstGeom prst="roundRect">
            <a:avLst>
              <a:gd name="adj" fmla="val 9718"/>
            </a:avLst>
          </a:prstGeom>
          <a:solidFill>
            <a:srgbClr val="B23A1F">
              <a:alpha val="10000"/>
            </a:srgbClr>
          </a:solidFill>
          <a:ln/>
        </p:spPr>
        <p:txBody>
          <a:bodyPr wrap="square" rtlCol="0" anchor="ctr"/>
          <a:lstStyle/>
          <a:p>
            <a:pPr indent="0" marL="0">
              <a:buNone/>
            </a:pPr>
            <a:endParaRPr lang="en-US" dirty="0"/>
          </a:p>
        </p:txBody>
      </p:sp>
      <p:sp>
        <p:nvSpPr>
          <p:cNvPr id="8" name="Shape 6"/>
          <p:cNvSpPr/>
          <p:nvPr/>
        </p:nvSpPr>
        <p:spPr>
          <a:xfrm>
            <a:off x="521494" y="1161529"/>
            <a:ext cx="0" cy="175022"/>
          </a:xfrm>
          <a:prstGeom prst="line">
            <a:avLst/>
          </a:prstGeom>
          <a:noFill/>
          <a:ln w="14288">
            <a:solidFill>
              <a:srgbClr val="B23A1F"/>
            </a:solidFill>
            <a:prstDash val="solid"/>
          </a:ln>
        </p:spPr>
      </p:sp>
      <p:sp>
        <p:nvSpPr>
          <p:cNvPr id="9" name="Text 7"/>
          <p:cNvSpPr/>
          <p:nvPr/>
        </p:nvSpPr>
        <p:spPr>
          <a:xfrm>
            <a:off x="489263" y="1161529"/>
            <a:ext cx="812434" cy="175022"/>
          </a:xfrm>
          <a:prstGeom prst="rect">
            <a:avLst/>
          </a:prstGeom>
          <a:noFill/>
          <a:ln/>
        </p:spPr>
        <p:txBody>
          <a:bodyPr wrap="none" lIns="0" tIns="0" rIns="0" bIns="0" rtlCol="0" anchor="ctr"/>
          <a:lstStyle/>
          <a:p>
            <a:pPr algn="ctr" indent="0" marL="0">
              <a:lnSpc>
                <a:spcPts val="928"/>
              </a:lnSpc>
              <a:buNone/>
            </a:pPr>
            <a:r>
              <a:rPr lang="en-US" sz="800" spc="124" kern="0" dirty="0">
                <a:solidFill>
                  <a:srgbClr val="B23A1F"/>
                </a:solidFill>
                <a:latin typeface="Courier New" pitchFamily="34" charset="0"/>
                <a:ea typeface="Courier New" pitchFamily="34" charset="-122"/>
                <a:cs typeface="Courier New" pitchFamily="34" charset="-120"/>
              </a:rPr>
              <a:t>THE PROBLEM</a:t>
            </a:r>
            <a:endParaRPr lang="en-US" sz="800" dirty="0"/>
          </a:p>
        </p:txBody>
      </p:sp>
      <p:sp>
        <p:nvSpPr>
          <p:cNvPr id="10" name="Text 8"/>
          <p:cNvSpPr/>
          <p:nvPr/>
        </p:nvSpPr>
        <p:spPr>
          <a:xfrm>
            <a:off x="514350" y="1407988"/>
            <a:ext cx="4321969" cy="212169"/>
          </a:xfrm>
          <a:prstGeom prst="rect">
            <a:avLst/>
          </a:prstGeom>
          <a:noFill/>
          <a:ln/>
        </p:spPr>
        <p:txBody>
          <a:bodyPr wrap="square" lIns="0" tIns="0" rIns="0" bIns="0" rtlCol="0" anchor="t"/>
          <a:lstStyle/>
          <a:p>
            <a:pPr algn="l" indent="0" marL="0">
              <a:lnSpc>
                <a:spcPts val="1547"/>
              </a:lnSpc>
              <a:buNone/>
            </a:pPr>
            <a:r>
              <a:rPr lang="en-US" sz="1238" dirty="0">
                <a:solidFill>
                  <a:srgbClr val="F5F1E8"/>
                </a:solidFill>
                <a:latin typeface="Tinos" pitchFamily="34" charset="0"/>
                <a:ea typeface="Tinos" pitchFamily="34" charset="-122"/>
                <a:cs typeface="Tinos" pitchFamily="34" charset="-120"/>
              </a:rPr>
              <a:t>Overselling reads as engineering judgement lost.</a:t>
            </a:r>
            <a:endParaRPr lang="en-US" sz="1238" dirty="0"/>
          </a:p>
        </p:txBody>
      </p:sp>
      <p:sp>
        <p:nvSpPr>
          <p:cNvPr id="11" name="Text 9"/>
          <p:cNvSpPr/>
          <p:nvPr/>
        </p:nvSpPr>
        <p:spPr>
          <a:xfrm>
            <a:off x="514350" y="1690167"/>
            <a:ext cx="3929063" cy="654350"/>
          </a:xfrm>
          <a:prstGeom prst="rect">
            <a:avLst/>
          </a:prstGeom>
          <a:noFill/>
          <a:ln/>
        </p:spPr>
        <p:txBody>
          <a:bodyPr wrap="square" lIns="0" tIns="0" rIns="0" bIns="0" rtlCol="0" anchor="t">
            <a:normAutofit/>
          </a:bodyPr>
          <a:lstStyle/>
          <a:p>
            <a:pPr algn="l" indent="0" marL="0">
              <a:lnSpc>
                <a:spcPts val="1244"/>
              </a:lnSpc>
              <a:buNone/>
            </a:pPr>
            <a:r>
              <a:rPr lang="en-US" sz="800" dirty="0">
                <a:solidFill>
                  <a:srgbClr val="C9C3B5"/>
                </a:solidFill>
                <a:latin typeface="Carlito" pitchFamily="34" charset="0"/>
                <a:ea typeface="Carlito" pitchFamily="34" charset="-122"/>
                <a:cs typeface="Carlito" pitchFamily="34" charset="-120"/>
              </a:rPr>
              <a:t>The fastest way to lose a senior geologist's trust is to let them discover a limit during the trial. So: the ranking is gold-only — copper, lithium, nickel get every layer, map and geochemical treatment, but no ranked targets. The weights are tuned for orogenic gold. Returning numbers from the wrong model would be worse than returning none.</a:t>
            </a:r>
            <a:endParaRPr lang="en-US" sz="800" dirty="0"/>
          </a:p>
        </p:txBody>
      </p:sp>
      <p:sp>
        <p:nvSpPr>
          <p:cNvPr id="12" name="Text 10"/>
          <p:cNvSpPr/>
          <p:nvPr/>
        </p:nvSpPr>
        <p:spPr>
          <a:xfrm>
            <a:off x="514350" y="2371948"/>
            <a:ext cx="3929063" cy="204936"/>
          </a:xfrm>
          <a:prstGeom prst="rect">
            <a:avLst/>
          </a:prstGeom>
          <a:solidFill>
            <a:srgbClr val="B23A1F">
              <a:alpha val="6000"/>
            </a:srgbClr>
          </a:solidFill>
          <a:ln/>
        </p:spPr>
        <p:txBody>
          <a:bodyPr wrap="square" rtlCol="0" anchor="ctr"/>
          <a:lstStyle/>
          <a:p>
            <a:pPr indent="0" marL="0">
              <a:buNone/>
            </a:pPr>
            <a:endParaRPr lang="en-US" dirty="0"/>
          </a:p>
        </p:txBody>
      </p:sp>
      <p:sp>
        <p:nvSpPr>
          <p:cNvPr id="13" name="Shape 11"/>
          <p:cNvSpPr/>
          <p:nvPr/>
        </p:nvSpPr>
        <p:spPr>
          <a:xfrm>
            <a:off x="521494" y="2371948"/>
            <a:ext cx="0" cy="204936"/>
          </a:xfrm>
          <a:prstGeom prst="line">
            <a:avLst/>
          </a:prstGeom>
          <a:noFill/>
          <a:ln w="14288">
            <a:solidFill>
              <a:srgbClr val="B23A1F"/>
            </a:solidFill>
            <a:prstDash val="solid"/>
          </a:ln>
        </p:spPr>
      </p:sp>
      <p:sp>
        <p:nvSpPr>
          <p:cNvPr id="14" name="Text 12"/>
          <p:cNvSpPr/>
          <p:nvPr/>
        </p:nvSpPr>
        <p:spPr>
          <a:xfrm>
            <a:off x="514350" y="2371948"/>
            <a:ext cx="3929063" cy="227511"/>
          </a:xfrm>
          <a:prstGeom prst="rect">
            <a:avLst/>
          </a:prstGeom>
          <a:noFill/>
          <a:ln/>
        </p:spPr>
        <p:txBody>
          <a:bodyPr wrap="square" lIns="78581" tIns="50006" rIns="78581" bIns="50006" rtlCol="0" anchor="t">
            <a:normAutofit/>
          </a:bodyPr>
          <a:lstStyle/>
          <a:p>
            <a:pPr algn="l" indent="0" marL="0">
              <a:lnSpc>
                <a:spcPts val="827"/>
              </a:lnSpc>
              <a:buNone/>
            </a:pPr>
            <a:r>
              <a:rPr lang="en-US" sz="800" spc="59" kern="0" dirty="0">
                <a:solidFill>
                  <a:srgbClr val="B23A1F"/>
                </a:solidFill>
                <a:latin typeface="Courier New" pitchFamily="34" charset="0"/>
                <a:ea typeface="Courier New" pitchFamily="34" charset="-122"/>
                <a:cs typeface="Courier New" pitchFamily="34" charset="-120"/>
              </a:rPr>
              <a:t>GOLD-ONLY RANKING</a:t>
            </a:r>
            <a:pPr algn="l" indent="0" marL="0">
              <a:lnSpc>
                <a:spcPts val="827"/>
              </a:lnSpc>
              <a:buNone/>
            </a:pPr>
            <a:r>
              <a:rPr lang="en-US" sz="800" spc="59" kern="0" dirty="0">
                <a:solidFill>
                  <a:srgbClr val="C9C3B5"/>
                </a:solidFill>
                <a:latin typeface="Courier New" pitchFamily="34" charset="0"/>
                <a:ea typeface="Courier New" pitchFamily="34" charset="-122"/>
                <a:cs typeface="Courier New" pitchFamily="34" charset="-120"/>
              </a:rPr>
              <a:t> — PER-COMMODITY PROFILES SPECIFIED, NOT YET BUILT</a:t>
            </a:r>
            <a:endParaRPr lang="en-US" sz="800" dirty="0"/>
          </a:p>
        </p:txBody>
      </p:sp>
      <p:sp>
        <p:nvSpPr>
          <p:cNvPr id="15" name="Text 13"/>
          <p:cNvSpPr/>
          <p:nvPr/>
        </p:nvSpPr>
        <p:spPr>
          <a:xfrm>
            <a:off x="514350" y="2626891"/>
            <a:ext cx="3929063" cy="204936"/>
          </a:xfrm>
          <a:prstGeom prst="rect">
            <a:avLst/>
          </a:prstGeom>
          <a:solidFill>
            <a:srgbClr val="B23A1F">
              <a:alpha val="6000"/>
            </a:srgbClr>
          </a:solidFill>
          <a:ln/>
        </p:spPr>
        <p:txBody>
          <a:bodyPr wrap="square" rtlCol="0" anchor="ctr"/>
          <a:lstStyle/>
          <a:p>
            <a:pPr indent="0" marL="0">
              <a:buNone/>
            </a:pPr>
            <a:endParaRPr lang="en-US" dirty="0"/>
          </a:p>
        </p:txBody>
      </p:sp>
      <p:sp>
        <p:nvSpPr>
          <p:cNvPr id="16" name="Shape 14"/>
          <p:cNvSpPr/>
          <p:nvPr/>
        </p:nvSpPr>
        <p:spPr>
          <a:xfrm>
            <a:off x="521494" y="2626891"/>
            <a:ext cx="0" cy="204936"/>
          </a:xfrm>
          <a:prstGeom prst="line">
            <a:avLst/>
          </a:prstGeom>
          <a:noFill/>
          <a:ln w="14288">
            <a:solidFill>
              <a:srgbClr val="B23A1F"/>
            </a:solidFill>
            <a:prstDash val="solid"/>
          </a:ln>
        </p:spPr>
      </p:sp>
      <p:sp>
        <p:nvSpPr>
          <p:cNvPr id="17" name="Text 15"/>
          <p:cNvSpPr/>
          <p:nvPr/>
        </p:nvSpPr>
        <p:spPr>
          <a:xfrm>
            <a:off x="514350" y="2626891"/>
            <a:ext cx="3929063" cy="227511"/>
          </a:xfrm>
          <a:prstGeom prst="rect">
            <a:avLst/>
          </a:prstGeom>
          <a:noFill/>
          <a:ln/>
        </p:spPr>
        <p:txBody>
          <a:bodyPr wrap="square" lIns="78581" tIns="50006" rIns="78581" bIns="50006" rtlCol="0" anchor="t">
            <a:normAutofit/>
          </a:bodyPr>
          <a:lstStyle/>
          <a:p>
            <a:pPr algn="l" indent="0" marL="0">
              <a:lnSpc>
                <a:spcPts val="827"/>
              </a:lnSpc>
              <a:buNone/>
            </a:pPr>
            <a:r>
              <a:rPr lang="en-US" sz="800" spc="59" kern="0" dirty="0">
                <a:solidFill>
                  <a:srgbClr val="B23A1F"/>
                </a:solidFill>
                <a:latin typeface="Courier New" pitchFamily="34" charset="0"/>
                <a:ea typeface="Courier New" pitchFamily="34" charset="-122"/>
                <a:cs typeface="Courier New" pitchFamily="34" charset="-120"/>
              </a:rPr>
              <a:t>LICENCE BOUNDARY REQUIRED</a:t>
            </a:r>
            <a:pPr algn="l" indent="0" marL="0">
              <a:lnSpc>
                <a:spcPts val="827"/>
              </a:lnSpc>
              <a:buNone/>
            </a:pPr>
            <a:r>
              <a:rPr lang="en-US" sz="800" spc="59" kern="0" dirty="0">
                <a:solidFill>
                  <a:srgbClr val="C9C3B5"/>
                </a:solidFill>
                <a:latin typeface="Courier New" pitchFamily="34" charset="0"/>
                <a:ea typeface="Courier New" pitchFamily="34" charset="-122"/>
                <a:cs typeface="Courier New" pitchFamily="34" charset="-120"/>
              </a:rPr>
              <a:t> — NO POLYGON, NO ANALYSIS</a:t>
            </a:r>
            <a:endParaRPr lang="en-US" sz="800" dirty="0"/>
          </a:p>
        </p:txBody>
      </p:sp>
      <p:sp>
        <p:nvSpPr>
          <p:cNvPr id="18" name="Text 16"/>
          <p:cNvSpPr/>
          <p:nvPr/>
        </p:nvSpPr>
        <p:spPr>
          <a:xfrm>
            <a:off x="514350" y="2881833"/>
            <a:ext cx="3929063" cy="309860"/>
          </a:xfrm>
          <a:prstGeom prst="rect">
            <a:avLst/>
          </a:prstGeom>
          <a:solidFill>
            <a:srgbClr val="B23A1F">
              <a:alpha val="6000"/>
            </a:srgbClr>
          </a:solidFill>
          <a:ln/>
        </p:spPr>
        <p:txBody>
          <a:bodyPr wrap="square" rtlCol="0" anchor="ctr"/>
          <a:lstStyle/>
          <a:p>
            <a:pPr indent="0" marL="0">
              <a:buNone/>
            </a:pPr>
            <a:endParaRPr lang="en-US" dirty="0"/>
          </a:p>
        </p:txBody>
      </p:sp>
      <p:sp>
        <p:nvSpPr>
          <p:cNvPr id="19" name="Shape 17"/>
          <p:cNvSpPr/>
          <p:nvPr/>
        </p:nvSpPr>
        <p:spPr>
          <a:xfrm>
            <a:off x="521494" y="2881833"/>
            <a:ext cx="0" cy="309860"/>
          </a:xfrm>
          <a:prstGeom prst="line">
            <a:avLst/>
          </a:prstGeom>
          <a:noFill/>
          <a:ln w="14288">
            <a:solidFill>
              <a:srgbClr val="B23A1F"/>
            </a:solidFill>
            <a:prstDash val="solid"/>
          </a:ln>
        </p:spPr>
      </p:sp>
      <p:sp>
        <p:nvSpPr>
          <p:cNvPr id="20" name="Text 18"/>
          <p:cNvSpPr/>
          <p:nvPr/>
        </p:nvSpPr>
        <p:spPr>
          <a:xfrm>
            <a:off x="514350" y="2881833"/>
            <a:ext cx="3929063" cy="453281"/>
          </a:xfrm>
          <a:prstGeom prst="rect">
            <a:avLst/>
          </a:prstGeom>
          <a:noFill/>
          <a:ln/>
        </p:spPr>
        <p:txBody>
          <a:bodyPr wrap="square" lIns="78581" tIns="50006" rIns="78581" bIns="50006" rtlCol="0" anchor="t"/>
          <a:lstStyle/>
          <a:p>
            <a:pPr algn="l" indent="0" marL="0">
              <a:lnSpc>
                <a:spcPts val="827"/>
              </a:lnSpc>
              <a:buNone/>
            </a:pPr>
            <a:r>
              <a:rPr lang="en-US" sz="800" spc="59" kern="0" dirty="0">
                <a:solidFill>
                  <a:srgbClr val="B23A1F"/>
                </a:solidFill>
                <a:latin typeface="Courier New" pitchFamily="34" charset="0"/>
                <a:ea typeface="Courier New" pitchFamily="34" charset="-122"/>
                <a:cs typeface="Courier New" pitchFamily="34" charset="-120"/>
              </a:rPr>
              <a:t>SMALLER GAPS</a:t>
            </a:r>
            <a:pPr algn="l" indent="0" marL="0">
              <a:lnSpc>
                <a:spcPts val="827"/>
              </a:lnSpc>
              <a:buNone/>
            </a:pPr>
            <a:r>
              <a:rPr lang="en-US" sz="800" spc="59" kern="0" dirty="0">
                <a:solidFill>
                  <a:srgbClr val="C9C3B5"/>
                </a:solidFill>
                <a:latin typeface="Courier New" pitchFamily="34" charset="0"/>
                <a:ea typeface="Courier New" pitchFamily="34" charset="-122"/>
                <a:cs typeface="Courier New" pitchFamily="34" charset="-120"/>
              </a:rPr>
              <a:t> — SOCIAL SIGN-IN, SELF-SERVICE PASSWORD, BRANDING ACCENT — VISIBLE BUT NOT FUNCTIONAL</a:t>
            </a:r>
            <a:endParaRPr lang="en-US" sz="800" dirty="0"/>
          </a:p>
        </p:txBody>
      </p:sp>
      <p:sp>
        <p:nvSpPr>
          <p:cNvPr id="21" name="Text 19"/>
          <p:cNvSpPr/>
          <p:nvPr/>
        </p:nvSpPr>
        <p:spPr>
          <a:xfrm>
            <a:off x="4677728" y="1151028"/>
            <a:ext cx="698034" cy="196025"/>
          </a:xfrm>
          <a:prstGeom prst="roundRect">
            <a:avLst>
              <a:gd name="adj" fmla="val 9718"/>
            </a:avLst>
          </a:prstGeom>
          <a:solidFill>
            <a:srgbClr val="D4A24A">
              <a:alpha val="10000"/>
            </a:srgbClr>
          </a:solidFill>
          <a:ln/>
        </p:spPr>
        <p:txBody>
          <a:bodyPr wrap="square" rtlCol="0" anchor="ctr"/>
          <a:lstStyle/>
          <a:p>
            <a:pPr indent="0" marL="0">
              <a:buNone/>
            </a:pPr>
            <a:endParaRPr lang="en-US" dirty="0"/>
          </a:p>
        </p:txBody>
      </p:sp>
      <p:sp>
        <p:nvSpPr>
          <p:cNvPr id="22" name="Shape 20"/>
          <p:cNvSpPr/>
          <p:nvPr/>
        </p:nvSpPr>
        <p:spPr>
          <a:xfrm>
            <a:off x="4707731" y="1161529"/>
            <a:ext cx="0" cy="175022"/>
          </a:xfrm>
          <a:prstGeom prst="line">
            <a:avLst/>
          </a:prstGeom>
          <a:noFill/>
          <a:ln w="14288">
            <a:solidFill>
              <a:srgbClr val="D4A24A"/>
            </a:solidFill>
            <a:prstDash val="solid"/>
          </a:ln>
        </p:spPr>
      </p:sp>
      <p:sp>
        <p:nvSpPr>
          <p:cNvPr id="23" name="Text 21"/>
          <p:cNvSpPr/>
          <p:nvPr/>
        </p:nvSpPr>
        <p:spPr>
          <a:xfrm>
            <a:off x="4694858" y="1161529"/>
            <a:ext cx="663773" cy="175022"/>
          </a:xfrm>
          <a:prstGeom prst="rect">
            <a:avLst/>
          </a:prstGeom>
          <a:noFill/>
          <a:ln/>
        </p:spPr>
        <p:txBody>
          <a:bodyPr wrap="none" lIns="0" tIns="0" rIns="0" bIns="0" rtlCol="0" anchor="ctr"/>
          <a:lstStyle/>
          <a:p>
            <a:pPr algn="ctr" indent="0" marL="0">
              <a:lnSpc>
                <a:spcPts val="928"/>
              </a:lnSpc>
              <a:buNone/>
            </a:pPr>
            <a:r>
              <a:rPr lang="en-US" sz="800" spc="124" kern="0" dirty="0">
                <a:solidFill>
                  <a:srgbClr val="D4A24A"/>
                </a:solidFill>
                <a:latin typeface="Courier New" pitchFamily="34" charset="0"/>
                <a:ea typeface="Courier New" pitchFamily="34" charset="-122"/>
                <a:cs typeface="Courier New" pitchFamily="34" charset="-120"/>
              </a:rPr>
              <a:t>THE POINT</a:t>
            </a:r>
            <a:endParaRPr lang="en-US" sz="800" dirty="0"/>
          </a:p>
        </p:txBody>
      </p:sp>
      <p:sp>
        <p:nvSpPr>
          <p:cNvPr id="24" name="Text 22"/>
          <p:cNvSpPr/>
          <p:nvPr/>
        </p:nvSpPr>
        <p:spPr>
          <a:xfrm>
            <a:off x="4700588" y="1407988"/>
            <a:ext cx="4321969" cy="212169"/>
          </a:xfrm>
          <a:prstGeom prst="rect">
            <a:avLst/>
          </a:prstGeom>
          <a:noFill/>
          <a:ln/>
        </p:spPr>
        <p:txBody>
          <a:bodyPr wrap="square" lIns="0" tIns="0" rIns="0" bIns="0" rtlCol="0" anchor="t"/>
          <a:lstStyle/>
          <a:p>
            <a:pPr algn="l" indent="0" marL="0">
              <a:lnSpc>
                <a:spcPts val="1547"/>
              </a:lnSpc>
              <a:buNone/>
            </a:pPr>
            <a:r>
              <a:rPr lang="en-US" sz="1238" dirty="0">
                <a:solidFill>
                  <a:srgbClr val="F5F1E8"/>
                </a:solidFill>
                <a:latin typeface="Tinos" pitchFamily="34" charset="0"/>
                <a:ea typeface="Tinos" pitchFamily="34" charset="-122"/>
                <a:cs typeface="Tinos" pitchFamily="34" charset="-120"/>
              </a:rPr>
              <a:t>A Pilot plan engagement — sized for a real evaluation.</a:t>
            </a:r>
            <a:endParaRPr lang="en-US" sz="1238" dirty="0"/>
          </a:p>
        </p:txBody>
      </p:sp>
      <p:sp>
        <p:nvSpPr>
          <p:cNvPr id="25" name="Text 23"/>
          <p:cNvSpPr/>
          <p:nvPr/>
        </p:nvSpPr>
        <p:spPr>
          <a:xfrm>
            <a:off x="4700588" y="1690167"/>
            <a:ext cx="3929063" cy="1263997"/>
          </a:xfrm>
          <a:prstGeom prst="roundRect">
            <a:avLst>
              <a:gd name="adj" fmla="val 3014"/>
            </a:avLst>
          </a:prstGeom>
          <a:solidFill>
            <a:srgbClr val="1C2128"/>
          </a:solidFill>
          <a:ln/>
        </p:spPr>
        <p:txBody>
          <a:bodyPr wrap="square" rtlCol="0" anchor="ctr"/>
          <a:lstStyle/>
          <a:p>
            <a:pPr indent="0" marL="0">
              <a:buNone/>
            </a:pPr>
            <a:endParaRPr lang="en-US" dirty="0"/>
          </a:p>
        </p:txBody>
      </p:sp>
      <p:sp>
        <p:nvSpPr>
          <p:cNvPr id="26" name="Shape 24"/>
          <p:cNvSpPr/>
          <p:nvPr/>
        </p:nvSpPr>
        <p:spPr>
          <a:xfrm>
            <a:off x="4700588" y="1693738"/>
            <a:ext cx="3929063" cy="0"/>
          </a:xfrm>
          <a:prstGeom prst="line">
            <a:avLst/>
          </a:prstGeom>
          <a:noFill/>
          <a:ln w="7144">
            <a:solidFill>
              <a:srgbClr val="2A2F37"/>
            </a:solidFill>
            <a:prstDash val="solid"/>
          </a:ln>
        </p:spPr>
      </p:sp>
      <p:sp>
        <p:nvSpPr>
          <p:cNvPr id="27" name="Shape 25"/>
          <p:cNvSpPr/>
          <p:nvPr/>
        </p:nvSpPr>
        <p:spPr>
          <a:xfrm>
            <a:off x="8626078" y="1690167"/>
            <a:ext cx="0" cy="1263997"/>
          </a:xfrm>
          <a:prstGeom prst="line">
            <a:avLst/>
          </a:prstGeom>
          <a:noFill/>
          <a:ln w="7144">
            <a:solidFill>
              <a:srgbClr val="2A2F37"/>
            </a:solidFill>
            <a:prstDash val="solid"/>
          </a:ln>
        </p:spPr>
      </p:sp>
      <p:sp>
        <p:nvSpPr>
          <p:cNvPr id="28" name="Shape 26"/>
          <p:cNvSpPr/>
          <p:nvPr/>
        </p:nvSpPr>
        <p:spPr>
          <a:xfrm>
            <a:off x="4700588" y="2950592"/>
            <a:ext cx="3929063" cy="0"/>
          </a:xfrm>
          <a:prstGeom prst="line">
            <a:avLst/>
          </a:prstGeom>
          <a:noFill/>
          <a:ln w="7144">
            <a:solidFill>
              <a:srgbClr val="2A2F37"/>
            </a:solidFill>
            <a:prstDash val="solid"/>
          </a:ln>
        </p:spPr>
      </p:sp>
      <p:sp>
        <p:nvSpPr>
          <p:cNvPr id="29" name="Shape 27"/>
          <p:cNvSpPr/>
          <p:nvPr/>
        </p:nvSpPr>
        <p:spPr>
          <a:xfrm>
            <a:off x="4707731" y="1690167"/>
            <a:ext cx="0" cy="1263997"/>
          </a:xfrm>
          <a:prstGeom prst="line">
            <a:avLst/>
          </a:prstGeom>
          <a:noFill/>
          <a:ln w="14288">
            <a:solidFill>
              <a:srgbClr val="D4A24A"/>
            </a:solidFill>
            <a:prstDash val="solid"/>
          </a:ln>
        </p:spPr>
      </p:sp>
      <p:sp>
        <p:nvSpPr>
          <p:cNvPr id="30" name="Shape 28"/>
          <p:cNvSpPr/>
          <p:nvPr/>
        </p:nvSpPr>
        <p:spPr>
          <a:xfrm>
            <a:off x="4829175" y="2100932"/>
            <a:ext cx="1753791" cy="0"/>
          </a:xfrm>
          <a:prstGeom prst="line">
            <a:avLst/>
          </a:prstGeom>
          <a:noFill/>
          <a:ln w="7144">
            <a:solidFill>
              <a:srgbClr val="2A2F37"/>
            </a:solidFill>
            <a:prstDash val="solid"/>
          </a:ln>
        </p:spPr>
      </p:sp>
      <p:sp>
        <p:nvSpPr>
          <p:cNvPr id="31" name="Text 29"/>
          <p:cNvSpPr/>
          <p:nvPr/>
        </p:nvSpPr>
        <p:spPr>
          <a:xfrm>
            <a:off x="4829175" y="1911623"/>
            <a:ext cx="1753791" cy="142875"/>
          </a:xfrm>
          <a:prstGeom prst="rect">
            <a:avLst/>
          </a:prstGeom>
          <a:noFill/>
          <a:ln/>
        </p:spPr>
        <p:txBody>
          <a:bodyPr wrap="none" lIns="0" tIns="0" rIns="0" bIns="0" rtlCol="0" anchor="t"/>
          <a:lstStyle/>
          <a:p>
            <a:pPr algn="l" indent="0" marL="0">
              <a:lnSpc>
                <a:spcPts val="886"/>
              </a:lnSpc>
              <a:buNone/>
            </a:pPr>
            <a:r>
              <a:rPr lang="en-US" sz="800" spc="95" kern="0" dirty="0">
                <a:solidFill>
                  <a:srgbClr val="8A8576"/>
                </a:solidFill>
                <a:latin typeface="Courier New" pitchFamily="34" charset="0"/>
                <a:ea typeface="Courier New" pitchFamily="34" charset="-122"/>
                <a:cs typeface="Courier New" pitchFamily="34" charset="-120"/>
              </a:rPr>
              <a:t>SEATS</a:t>
            </a:r>
            <a:endParaRPr lang="en-US" sz="800" dirty="0"/>
          </a:p>
        </p:txBody>
      </p:sp>
      <p:sp>
        <p:nvSpPr>
          <p:cNvPr id="32" name="Text 30"/>
          <p:cNvSpPr/>
          <p:nvPr/>
        </p:nvSpPr>
        <p:spPr>
          <a:xfrm>
            <a:off x="6379096" y="1840185"/>
            <a:ext cx="259061" cy="214313"/>
          </a:xfrm>
          <a:prstGeom prst="rect">
            <a:avLst/>
          </a:prstGeom>
          <a:noFill/>
          <a:ln/>
        </p:spPr>
        <p:txBody>
          <a:bodyPr wrap="square" lIns="0" tIns="0" rIns="0" bIns="0" rtlCol="0" anchor="t"/>
          <a:lstStyle/>
          <a:p>
            <a:pPr algn="l" indent="0" marL="0">
              <a:lnSpc>
                <a:spcPts val="1688"/>
              </a:lnSpc>
              <a:buNone/>
            </a:pPr>
            <a:r>
              <a:rPr lang="en-US" sz="1125" spc="23" kern="0" dirty="0">
                <a:solidFill>
                  <a:srgbClr val="D4A24A"/>
                </a:solidFill>
                <a:latin typeface="Liberation Sans Narrow" pitchFamily="34" charset="0"/>
                <a:ea typeface="Liberation Sans Narrow" pitchFamily="34" charset="-122"/>
                <a:cs typeface="Liberation Sans Narrow" pitchFamily="34" charset="-120"/>
              </a:rPr>
              <a:t>10</a:t>
            </a:r>
            <a:endParaRPr lang="en-US" sz="1125" dirty="0"/>
          </a:p>
        </p:txBody>
      </p:sp>
      <p:sp>
        <p:nvSpPr>
          <p:cNvPr id="33" name="Shape 31"/>
          <p:cNvSpPr/>
          <p:nvPr/>
        </p:nvSpPr>
        <p:spPr>
          <a:xfrm>
            <a:off x="6754416" y="2100932"/>
            <a:ext cx="1753791" cy="0"/>
          </a:xfrm>
          <a:prstGeom prst="line">
            <a:avLst/>
          </a:prstGeom>
          <a:noFill/>
          <a:ln w="7144">
            <a:solidFill>
              <a:srgbClr val="2A2F37"/>
            </a:solidFill>
            <a:prstDash val="solid"/>
          </a:ln>
        </p:spPr>
      </p:sp>
      <p:sp>
        <p:nvSpPr>
          <p:cNvPr id="34" name="Text 32"/>
          <p:cNvSpPr/>
          <p:nvPr/>
        </p:nvSpPr>
        <p:spPr>
          <a:xfrm>
            <a:off x="6754416" y="1911623"/>
            <a:ext cx="1753791" cy="142875"/>
          </a:xfrm>
          <a:prstGeom prst="rect">
            <a:avLst/>
          </a:prstGeom>
          <a:noFill/>
          <a:ln/>
        </p:spPr>
        <p:txBody>
          <a:bodyPr wrap="none" lIns="0" tIns="0" rIns="0" bIns="0" rtlCol="0" anchor="t"/>
          <a:lstStyle/>
          <a:p>
            <a:pPr algn="l" indent="0" marL="0">
              <a:lnSpc>
                <a:spcPts val="886"/>
              </a:lnSpc>
              <a:buNone/>
            </a:pPr>
            <a:r>
              <a:rPr lang="en-US" sz="800" spc="95" kern="0" dirty="0">
                <a:solidFill>
                  <a:srgbClr val="8A8576"/>
                </a:solidFill>
                <a:latin typeface="Courier New" pitchFamily="34" charset="0"/>
                <a:ea typeface="Courier New" pitchFamily="34" charset="-122"/>
                <a:cs typeface="Courier New" pitchFamily="34" charset="-120"/>
              </a:rPr>
              <a:t>PROJECTS</a:t>
            </a:r>
            <a:endParaRPr lang="en-US" sz="800" dirty="0"/>
          </a:p>
        </p:txBody>
      </p:sp>
      <p:sp>
        <p:nvSpPr>
          <p:cNvPr id="35" name="Text 33"/>
          <p:cNvSpPr/>
          <p:nvPr/>
        </p:nvSpPr>
        <p:spPr>
          <a:xfrm>
            <a:off x="8304336" y="1840185"/>
            <a:ext cx="259061" cy="214313"/>
          </a:xfrm>
          <a:prstGeom prst="rect">
            <a:avLst/>
          </a:prstGeom>
          <a:noFill/>
          <a:ln/>
        </p:spPr>
        <p:txBody>
          <a:bodyPr wrap="square" lIns="0" tIns="0" rIns="0" bIns="0" rtlCol="0" anchor="t"/>
          <a:lstStyle/>
          <a:p>
            <a:pPr algn="l" indent="0" marL="0">
              <a:lnSpc>
                <a:spcPts val="1688"/>
              </a:lnSpc>
              <a:buNone/>
            </a:pPr>
            <a:r>
              <a:rPr lang="en-US" sz="1125" spc="23" kern="0" dirty="0">
                <a:solidFill>
                  <a:srgbClr val="D4A24A"/>
                </a:solidFill>
                <a:latin typeface="Liberation Sans Narrow" pitchFamily="34" charset="0"/>
                <a:ea typeface="Liberation Sans Narrow" pitchFamily="34" charset="-122"/>
                <a:cs typeface="Liberation Sans Narrow" pitchFamily="34" charset="-120"/>
              </a:rPr>
              <a:t>15</a:t>
            </a:r>
            <a:endParaRPr lang="en-US" sz="1125" dirty="0"/>
          </a:p>
        </p:txBody>
      </p:sp>
      <p:sp>
        <p:nvSpPr>
          <p:cNvPr id="36" name="Text 34"/>
          <p:cNvSpPr/>
          <p:nvPr/>
        </p:nvSpPr>
        <p:spPr>
          <a:xfrm>
            <a:off x="4829175" y="2247379"/>
            <a:ext cx="2140366" cy="164592"/>
          </a:xfrm>
          <a:prstGeom prst="rect">
            <a:avLst/>
          </a:prstGeom>
          <a:noFill/>
          <a:ln/>
        </p:spPr>
        <p:txBody>
          <a:bodyPr wrap="none" lIns="0" tIns="0" rIns="0" bIns="0" rtlCol="0" anchor="t"/>
          <a:lstStyle/>
          <a:p>
            <a:pPr algn="l" indent="0" marL="0">
              <a:lnSpc>
                <a:spcPts val="886"/>
              </a:lnSpc>
              <a:buNone/>
            </a:pPr>
            <a:r>
              <a:rPr lang="en-US" sz="800" spc="95" kern="0" dirty="0">
                <a:solidFill>
                  <a:srgbClr val="8A8576"/>
                </a:solidFill>
                <a:latin typeface="Courier New" pitchFamily="34" charset="0"/>
                <a:ea typeface="Courier New" pitchFamily="34" charset="-122"/>
                <a:cs typeface="Courier New" pitchFamily="34" charset="-120"/>
              </a:rPr>
              <a:t>RUNS / MO</a:t>
            </a:r>
            <a:endParaRPr lang="en-US" sz="800" dirty="0"/>
          </a:p>
        </p:txBody>
      </p:sp>
      <p:sp>
        <p:nvSpPr>
          <p:cNvPr id="37" name="Text 35"/>
          <p:cNvSpPr/>
          <p:nvPr/>
        </p:nvSpPr>
        <p:spPr>
          <a:xfrm>
            <a:off x="6356590" y="2175942"/>
            <a:ext cx="363588" cy="231458"/>
          </a:xfrm>
          <a:prstGeom prst="rect">
            <a:avLst/>
          </a:prstGeom>
          <a:noFill/>
          <a:ln/>
        </p:spPr>
        <p:txBody>
          <a:bodyPr wrap="square" lIns="0" tIns="0" rIns="0" bIns="0" rtlCol="0" anchor="t"/>
          <a:lstStyle/>
          <a:p>
            <a:pPr algn="l" indent="0" marL="0">
              <a:lnSpc>
                <a:spcPts val="1688"/>
              </a:lnSpc>
              <a:buNone/>
            </a:pPr>
            <a:r>
              <a:rPr lang="en-US" sz="1125" spc="23" kern="0" dirty="0">
                <a:solidFill>
                  <a:srgbClr val="D4A24A"/>
                </a:solidFill>
                <a:latin typeface="Liberation Sans Narrow" pitchFamily="34" charset="0"/>
                <a:ea typeface="Liberation Sans Narrow" pitchFamily="34" charset="-122"/>
                <a:cs typeface="Liberation Sans Narrow" pitchFamily="34" charset="-120"/>
              </a:rPr>
              <a:t>150</a:t>
            </a:r>
            <a:endParaRPr lang="en-US" sz="1125" dirty="0"/>
          </a:p>
        </p:txBody>
      </p:sp>
      <p:sp>
        <p:nvSpPr>
          <p:cNvPr id="38" name="Text 36"/>
          <p:cNvSpPr/>
          <p:nvPr/>
        </p:nvSpPr>
        <p:spPr>
          <a:xfrm>
            <a:off x="6754416" y="2247379"/>
            <a:ext cx="1753791" cy="164592"/>
          </a:xfrm>
          <a:prstGeom prst="rect">
            <a:avLst/>
          </a:prstGeom>
          <a:noFill/>
          <a:ln/>
        </p:spPr>
        <p:txBody>
          <a:bodyPr wrap="none" lIns="0" tIns="0" rIns="0" bIns="0" rtlCol="0" anchor="t"/>
          <a:lstStyle/>
          <a:p>
            <a:pPr algn="l" indent="0" marL="0">
              <a:lnSpc>
                <a:spcPts val="886"/>
              </a:lnSpc>
              <a:buNone/>
            </a:pPr>
            <a:r>
              <a:rPr lang="en-US" sz="800" spc="95" kern="0" dirty="0">
                <a:solidFill>
                  <a:srgbClr val="8A8576"/>
                </a:solidFill>
                <a:latin typeface="Courier New" pitchFamily="34" charset="0"/>
                <a:ea typeface="Courier New" pitchFamily="34" charset="-122"/>
                <a:cs typeface="Courier New" pitchFamily="34" charset="-120"/>
              </a:rPr>
              <a:t>REPORTS / MO</a:t>
            </a:r>
            <a:endParaRPr lang="en-US" sz="800" dirty="0"/>
          </a:p>
        </p:txBody>
      </p:sp>
      <p:sp>
        <p:nvSpPr>
          <p:cNvPr id="39" name="Text 37"/>
          <p:cNvSpPr/>
          <p:nvPr/>
        </p:nvSpPr>
        <p:spPr>
          <a:xfrm>
            <a:off x="8304336" y="2175942"/>
            <a:ext cx="259061" cy="231458"/>
          </a:xfrm>
          <a:prstGeom prst="rect">
            <a:avLst/>
          </a:prstGeom>
          <a:noFill/>
          <a:ln/>
        </p:spPr>
        <p:txBody>
          <a:bodyPr wrap="square" lIns="0" tIns="0" rIns="0" bIns="0" rtlCol="0" anchor="t"/>
          <a:lstStyle/>
          <a:p>
            <a:pPr algn="l" indent="0" marL="0">
              <a:lnSpc>
                <a:spcPts val="1688"/>
              </a:lnSpc>
              <a:buNone/>
            </a:pPr>
            <a:r>
              <a:rPr lang="en-US" sz="1125" spc="23" kern="0" dirty="0">
                <a:solidFill>
                  <a:srgbClr val="D4A24A"/>
                </a:solidFill>
                <a:latin typeface="Liberation Sans Narrow" pitchFamily="34" charset="0"/>
                <a:ea typeface="Liberation Sans Narrow" pitchFamily="34" charset="-122"/>
                <a:cs typeface="Liberation Sans Narrow" pitchFamily="34" charset="-120"/>
              </a:rPr>
              <a:t>60</a:t>
            </a:r>
            <a:endParaRPr lang="en-US" sz="1125" dirty="0"/>
          </a:p>
        </p:txBody>
      </p:sp>
      <p:sp>
        <p:nvSpPr>
          <p:cNvPr id="40" name="Shape 38"/>
          <p:cNvSpPr/>
          <p:nvPr/>
        </p:nvSpPr>
        <p:spPr>
          <a:xfrm>
            <a:off x="4829175" y="2508126"/>
            <a:ext cx="3679031" cy="0"/>
          </a:xfrm>
          <a:prstGeom prst="line">
            <a:avLst/>
          </a:prstGeom>
          <a:noFill/>
          <a:ln w="7144">
            <a:solidFill>
              <a:srgbClr val="2A2F37"/>
            </a:solidFill>
            <a:prstDash val="dash"/>
          </a:ln>
        </p:spPr>
      </p:sp>
      <p:sp>
        <p:nvSpPr>
          <p:cNvPr id="41" name="Text 39"/>
          <p:cNvSpPr/>
          <p:nvPr/>
        </p:nvSpPr>
        <p:spPr>
          <a:xfrm>
            <a:off x="4829175" y="2583135"/>
            <a:ext cx="3679031" cy="106513"/>
          </a:xfrm>
          <a:prstGeom prst="rect">
            <a:avLst/>
          </a:prstGeom>
          <a:noFill/>
          <a:ln/>
        </p:spPr>
        <p:txBody>
          <a:bodyPr wrap="none" lIns="0" tIns="0" rIns="0" bIns="0" rtlCol="0" anchor="t">
            <a:normAutofit/>
          </a:bodyPr>
          <a:lstStyle/>
          <a:p>
            <a:pPr algn="l" indent="0" marL="0">
              <a:lnSpc>
                <a:spcPts val="886"/>
              </a:lnSpc>
              <a:buNone/>
            </a:pPr>
            <a:r>
              <a:rPr lang="en-US" sz="800" spc="95" kern="0" dirty="0">
                <a:solidFill>
                  <a:srgbClr val="8A8576"/>
                </a:solidFill>
                <a:latin typeface="Courier New" pitchFamily="34" charset="0"/>
                <a:ea typeface="Courier New" pitchFamily="34" charset="-122"/>
                <a:cs typeface="Courier New" pitchFamily="34" charset="-120"/>
              </a:rPr>
              <a:t>INCLUDES</a:t>
            </a:r>
            <a:endParaRPr lang="en-US" sz="800" dirty="0"/>
          </a:p>
        </p:txBody>
      </p:sp>
      <p:sp>
        <p:nvSpPr>
          <p:cNvPr id="42" name="Text 40"/>
          <p:cNvSpPr/>
          <p:nvPr/>
        </p:nvSpPr>
        <p:spPr>
          <a:xfrm>
            <a:off x="4829175" y="2717081"/>
            <a:ext cx="3788759" cy="129927"/>
          </a:xfrm>
          <a:prstGeom prst="rect">
            <a:avLst/>
          </a:prstGeom>
          <a:noFill/>
          <a:ln/>
        </p:spPr>
        <p:txBody>
          <a:bodyPr wrap="square" lIns="0" tIns="0" rIns="0" bIns="0" rtlCol="0" anchor="t"/>
          <a:lstStyle/>
          <a:p>
            <a:pPr algn="l" indent="0" marL="0">
              <a:lnSpc>
                <a:spcPts val="1024"/>
              </a:lnSpc>
              <a:buNone/>
            </a:pPr>
            <a:r>
              <a:rPr lang="en-US" sz="800" dirty="0">
                <a:solidFill>
                  <a:srgbClr val="F5F1E8"/>
                </a:solidFill>
                <a:latin typeface="Carlito" pitchFamily="34" charset="0"/>
                <a:ea typeface="Carlito" pitchFamily="34" charset="-122"/>
                <a:cs typeface="Carlito" pitchFamily="34" charset="-120"/>
              </a:rPr>
              <a:t>Map, upload, analysis, reports + Copilot + team</a:t>
            </a:r>
            <a:endParaRPr lang="en-US" sz="800" dirty="0"/>
          </a:p>
        </p:txBody>
      </p:sp>
      <p:sp>
        <p:nvSpPr>
          <p:cNvPr id="43" name="Text 41"/>
          <p:cNvSpPr/>
          <p:nvPr/>
        </p:nvSpPr>
        <p:spPr>
          <a:xfrm>
            <a:off x="4700588" y="3025601"/>
            <a:ext cx="3929063" cy="329184"/>
          </a:xfrm>
          <a:prstGeom prst="rect">
            <a:avLst/>
          </a:prstGeom>
          <a:noFill/>
          <a:ln/>
        </p:spPr>
        <p:txBody>
          <a:bodyPr wrap="square" lIns="0" tIns="0" rIns="0" bIns="0" rtlCol="0" anchor="t"/>
          <a:lstStyle/>
          <a:p>
            <a:pPr algn="l" indent="0" marL="0">
              <a:lnSpc>
                <a:spcPts val="1013"/>
              </a:lnSpc>
              <a:buNone/>
            </a:pPr>
            <a:r>
              <a:rPr lang="en-US" sz="800" dirty="0">
                <a:solidFill>
                  <a:srgbClr val="C9C3B5"/>
                </a:solidFill>
                <a:latin typeface="Carlito" pitchFamily="34" charset="0"/>
                <a:ea typeface="Carlito" pitchFamily="34" charset="-122"/>
                <a:cs typeface="Carlito" pitchFamily="34" charset="-120"/>
              </a:rPr>
              <a:t>Near-Pro capability, sized for a real evaluation rather than a trial. Heavy-AI work draws on usage credits — pay for what you use rather than being throttled. Top-ups via Paystack; visible ledger.</a:t>
            </a:r>
            <a:endParaRPr lang="en-US" sz="800" dirty="0"/>
          </a:p>
        </p:txBody>
      </p:sp>
      <p:pic>
        <p:nvPicPr>
          <p:cNvPr id="44" name="Image 0" descr="preencoded.png">    </p:cNvPr>
          <p:cNvPicPr>
            <a:picLocks noChangeAspect="1"/>
          </p:cNvPicPr>
          <p:nvPr/>
        </p:nvPicPr>
        <p:blipFill>
          <a:blip r:embed="rId1"/>
          <a:stretch>
            <a:fillRect/>
          </a:stretch>
        </p:blipFill>
        <p:spPr>
          <a:xfrm>
            <a:off x="514350" y="3829050"/>
            <a:ext cx="8115300" cy="742950"/>
          </a:xfrm>
          <a:prstGeom prst="rect">
            <a:avLst/>
          </a:prstGeom>
        </p:spPr>
      </p:pic>
      <p:sp>
        <p:nvSpPr>
          <p:cNvPr id="45" name="Shape 42"/>
          <p:cNvSpPr/>
          <p:nvPr/>
        </p:nvSpPr>
        <p:spPr>
          <a:xfrm>
            <a:off x="521494" y="3829050"/>
            <a:ext cx="0" cy="742950"/>
          </a:xfrm>
          <a:prstGeom prst="line">
            <a:avLst/>
          </a:prstGeom>
          <a:noFill/>
          <a:ln w="14288">
            <a:solidFill>
              <a:srgbClr val="4A8F6B"/>
            </a:solidFill>
            <a:prstDash val="solid"/>
          </a:ln>
        </p:spPr>
      </p:sp>
      <p:sp>
        <p:nvSpPr>
          <p:cNvPr id="46" name="Text 43"/>
          <p:cNvSpPr/>
          <p:nvPr/>
        </p:nvSpPr>
        <p:spPr>
          <a:xfrm>
            <a:off x="662940" y="3904274"/>
            <a:ext cx="1413078" cy="196025"/>
          </a:xfrm>
          <a:prstGeom prst="roundRect">
            <a:avLst>
              <a:gd name="adj" fmla="val 9718"/>
            </a:avLst>
          </a:prstGeom>
          <a:solidFill>
            <a:srgbClr val="4A8F6B">
              <a:alpha val="10000"/>
            </a:srgbClr>
          </a:solidFill>
          <a:ln/>
        </p:spPr>
        <p:txBody>
          <a:bodyPr wrap="square" rtlCol="0" anchor="ctr"/>
          <a:lstStyle/>
          <a:p>
            <a:pPr indent="0" marL="0">
              <a:buNone/>
            </a:pPr>
            <a:endParaRPr lang="en-US" dirty="0"/>
          </a:p>
        </p:txBody>
      </p:sp>
      <p:sp>
        <p:nvSpPr>
          <p:cNvPr id="47" name="Shape 44"/>
          <p:cNvSpPr/>
          <p:nvPr/>
        </p:nvSpPr>
        <p:spPr>
          <a:xfrm>
            <a:off x="692944" y="3914775"/>
            <a:ext cx="0" cy="175022"/>
          </a:xfrm>
          <a:prstGeom prst="line">
            <a:avLst/>
          </a:prstGeom>
          <a:noFill/>
          <a:ln w="14288">
            <a:solidFill>
              <a:srgbClr val="4A8F6B"/>
            </a:solidFill>
            <a:prstDash val="solid"/>
          </a:ln>
        </p:spPr>
      </p:sp>
      <p:sp>
        <p:nvSpPr>
          <p:cNvPr id="48" name="Text 45"/>
          <p:cNvSpPr/>
          <p:nvPr/>
        </p:nvSpPr>
        <p:spPr>
          <a:xfrm>
            <a:off x="685800" y="3914775"/>
            <a:ext cx="1367358" cy="175022"/>
          </a:xfrm>
          <a:prstGeom prst="rect">
            <a:avLst/>
          </a:prstGeom>
          <a:noFill/>
          <a:ln/>
        </p:spPr>
        <p:txBody>
          <a:bodyPr wrap="none" lIns="0" tIns="0" rIns="0" bIns="0" rtlCol="0" anchor="ctr"/>
          <a:lstStyle/>
          <a:p>
            <a:pPr algn="ctr" indent="0" marL="0">
              <a:lnSpc>
                <a:spcPts val="928"/>
              </a:lnSpc>
              <a:buNone/>
            </a:pPr>
            <a:r>
              <a:rPr lang="en-US" sz="800" spc="124" kern="0" dirty="0">
                <a:solidFill>
                  <a:srgbClr val="4A8F6B"/>
                </a:solidFill>
                <a:latin typeface="Courier New" pitchFamily="34" charset="0"/>
                <a:ea typeface="Courier New" pitchFamily="34" charset="-122"/>
                <a:cs typeface="Courier New" pitchFamily="34" charset="-120"/>
              </a:rPr>
              <a:t>THE IMPACT — NEXT STEP</a:t>
            </a:r>
            <a:endParaRPr lang="en-US" sz="800" dirty="0"/>
          </a:p>
        </p:txBody>
      </p:sp>
      <p:sp>
        <p:nvSpPr>
          <p:cNvPr id="49" name="Text 46"/>
          <p:cNvSpPr/>
          <p:nvPr/>
        </p:nvSpPr>
        <p:spPr>
          <a:xfrm>
            <a:off x="6085024" y="3948708"/>
            <a:ext cx="2497192" cy="164592"/>
          </a:xfrm>
          <a:prstGeom prst="rect">
            <a:avLst/>
          </a:prstGeom>
          <a:noFill/>
          <a:ln/>
        </p:spPr>
        <p:txBody>
          <a:bodyPr wrap="square" lIns="0" tIns="0" rIns="0" bIns="0" rtlCol="0" anchor="t"/>
          <a:lstStyle/>
          <a:p>
            <a:pPr algn="l" indent="0" marL="0">
              <a:lnSpc>
                <a:spcPts val="844"/>
              </a:lnSpc>
              <a:buNone/>
            </a:pPr>
            <a:r>
              <a:rPr lang="en-US" sz="600" spc="101" kern="0" dirty="0">
                <a:solidFill>
                  <a:srgbClr val="D4A24A"/>
                </a:solidFill>
                <a:latin typeface="Courier New" pitchFamily="34" charset="0"/>
                <a:ea typeface="Courier New" pitchFamily="34" charset="-122"/>
                <a:cs typeface="Courier New" pitchFamily="34" charset="-120"/>
              </a:rPr>
              <a:t>TERRAPULSE × GOLD FIELDS GHANA / AUG 2026 / ACCRA</a:t>
            </a:r>
            <a:endParaRPr lang="en-US" sz="600" dirty="0"/>
          </a:p>
        </p:txBody>
      </p:sp>
      <p:sp>
        <p:nvSpPr>
          <p:cNvPr id="50" name="Text 47"/>
          <p:cNvSpPr/>
          <p:nvPr/>
        </p:nvSpPr>
        <p:spPr>
          <a:xfrm>
            <a:off x="685800" y="4146947"/>
            <a:ext cx="7786688" cy="339328"/>
          </a:xfrm>
          <a:prstGeom prst="rect">
            <a:avLst/>
          </a:prstGeom>
          <a:noFill/>
          <a:ln/>
        </p:spPr>
        <p:txBody>
          <a:bodyPr wrap="square" lIns="0" tIns="0" rIns="0" bIns="0" rtlCol="0" anchor="t"/>
          <a:lstStyle/>
          <a:p>
            <a:pPr algn="l" indent="0" marL="0">
              <a:lnSpc>
                <a:spcPts val="1337"/>
              </a:lnSpc>
              <a:buNone/>
            </a:pPr>
            <a:r>
              <a:rPr lang="en-US" sz="1013" dirty="0">
                <a:solidFill>
                  <a:srgbClr val="F5F1E8"/>
                </a:solidFill>
                <a:latin typeface="Tinos" pitchFamily="34" charset="0"/>
                <a:ea typeface="Tinos" pitchFamily="34" charset="-122"/>
                <a:cs typeface="Tinos" pitchFamily="34" charset="-120"/>
              </a:rPr>
              <a:t>Bring us one licence polygon on a Birimian ground. We'll return the ranked targets, the evidence attribution per target, and the provenance trail — and a senior geologist on your team decides whether the numbers are defensible.</a:t>
            </a:r>
            <a:endParaRPr lang="en-US" sz="1013" dirty="0"/>
          </a:p>
        </p:txBody>
      </p:sp>
      <p:sp>
        <p:nvSpPr>
          <p:cNvPr id="51" name="Shape 48"/>
          <p:cNvSpPr/>
          <p:nvPr/>
        </p:nvSpPr>
        <p:spPr>
          <a:xfrm>
            <a:off x="514350" y="4736306"/>
            <a:ext cx="8115300" cy="0"/>
          </a:xfrm>
          <a:prstGeom prst="line">
            <a:avLst/>
          </a:prstGeom>
          <a:noFill/>
          <a:ln w="7144">
            <a:solidFill>
              <a:srgbClr val="2A2F37"/>
            </a:solidFill>
            <a:prstDash val="solid"/>
          </a:ln>
        </p:spPr>
      </p:sp>
      <p:sp>
        <p:nvSpPr>
          <p:cNvPr id="52" name="Text 49"/>
          <p:cNvSpPr/>
          <p:nvPr/>
        </p:nvSpPr>
        <p:spPr>
          <a:xfrm>
            <a:off x="514350" y="4825603"/>
            <a:ext cx="7748960" cy="117872"/>
          </a:xfrm>
          <a:prstGeom prst="rect">
            <a:avLst/>
          </a:prstGeom>
          <a:noFill/>
          <a:ln/>
        </p:spPr>
        <p:txBody>
          <a:bodyPr wrap="square" lIns="0" tIns="0" rIns="0" bIns="0" rtlCol="0" anchor="t"/>
          <a:lstStyle/>
          <a:p>
            <a:pPr algn="l" indent="0" marL="0">
              <a:lnSpc>
                <a:spcPts val="928"/>
              </a:lnSpc>
              <a:buNone/>
            </a:pPr>
            <a:r>
              <a:rPr lang="en-US" sz="800" spc="87" kern="0" dirty="0">
                <a:solidFill>
                  <a:srgbClr val="8A8576"/>
                </a:solidFill>
                <a:latin typeface="Courier New" pitchFamily="34" charset="0"/>
                <a:ea typeface="Courier New" pitchFamily="34" charset="-122"/>
                <a:cs typeface="Courier New" pitchFamily="34" charset="-120"/>
              </a:rPr>
              <a:t>END — SAY THESE BEFORE THEY'RE FOUND</a:t>
            </a:r>
            <a:endParaRPr lang="en-US" sz="800" dirty="0"/>
          </a:p>
        </p:txBody>
      </p:sp>
      <p:sp>
        <p:nvSpPr>
          <p:cNvPr id="53" name="Text 50"/>
          <p:cNvSpPr/>
          <p:nvPr/>
        </p:nvSpPr>
        <p:spPr>
          <a:xfrm>
            <a:off x="8277597" y="4825603"/>
            <a:ext cx="352053" cy="117872"/>
          </a:xfrm>
          <a:prstGeom prst="rect">
            <a:avLst/>
          </a:prstGeom>
          <a:noFill/>
          <a:ln/>
        </p:spPr>
        <p:txBody>
          <a:bodyPr wrap="none" lIns="0" tIns="0" rIns="0" bIns="0" rtlCol="0" anchor="t"/>
          <a:lstStyle/>
          <a:p>
            <a:pPr algn="l" indent="0" marL="0">
              <a:lnSpc>
                <a:spcPts val="928"/>
              </a:lnSpc>
              <a:buNone/>
            </a:pPr>
            <a:r>
              <a:rPr lang="en-US" sz="619" spc="87" kern="0" dirty="0">
                <a:solidFill>
                  <a:srgbClr val="8A8576"/>
                </a:solidFill>
                <a:latin typeface="Liberation Sans Narrow" pitchFamily="34" charset="0"/>
                <a:ea typeface="Liberation Sans Narrow" pitchFamily="34" charset="-122"/>
                <a:cs typeface="Liberation Sans Narrow" pitchFamily="34" charset="-120"/>
              </a:rPr>
              <a:t>12 / 12</a:t>
            </a:r>
            <a:endParaRPr lang="en-US" sz="619"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2026-08-13T00:07:56Z</dcterms:created>
  <dcterms:modified xsi:type="dcterms:W3CDTF">2026-08-13T00:07:56Z</dcterms:modified>
</cp:coreProperties>
</file>