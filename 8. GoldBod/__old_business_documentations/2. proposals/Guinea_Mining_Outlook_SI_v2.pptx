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8" d="100"/>
          <a:sy n="138" d="100"/>
        </p:scale>
        <p:origin x="75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Bauxite (Mt)</c:v>
                </c:pt>
              </c:strCache>
            </c:strRef>
          </c:tx>
          <c:spPr>
            <a:solidFill>
              <a:srgbClr val="2D5A1B"/>
            </a:solidFill>
            <a:effectLst/>
          </c:spPr>
          <c:invertIfNegative val="0"/>
          <c:dLbls>
            <c:numFmt formatCode="#,##0" sourceLinked="0"/>
            <c:spPr>
              <a:noFill/>
              <a:ln>
                <a:noFill/>
              </a:ln>
              <a:effectLst/>
            </c:spPr>
            <c:txPr>
              <a:bodyPr/>
              <a:lstStyle/>
              <a:p>
                <a:pPr>
                  <a:defRPr sz="900" b="0" i="0" u="none" strike="noStrike">
                    <a:solidFill>
                      <a:srgbClr val="1A3A0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2017</c:v>
                </c:pt>
                <c:pt idx="1">
                  <c:v>2018</c:v>
                </c:pt>
                <c:pt idx="2">
                  <c:v>2019</c:v>
                </c:pt>
                <c:pt idx="3">
                  <c:v>2020</c:v>
                </c:pt>
                <c:pt idx="4">
                  <c:v>2021</c:v>
                </c:pt>
                <c:pt idx="5">
                  <c:v>2022</c:v>
                </c:pt>
                <c:pt idx="6">
                  <c:v>2023</c:v>
                </c:pt>
                <c:pt idx="7">
                  <c:v>2024e</c:v>
                </c:pt>
              </c:strCache>
            </c:strRef>
          </c:cat>
          <c:val>
            <c:numRef>
              <c:f>Sheet1!$B$2:$B$9</c:f>
              <c:numCache>
                <c:formatCode>General</c:formatCode>
                <c:ptCount val="8"/>
                <c:pt idx="0">
                  <c:v>38</c:v>
                </c:pt>
                <c:pt idx="1">
                  <c:v>45</c:v>
                </c:pt>
                <c:pt idx="2">
                  <c:v>58</c:v>
                </c:pt>
                <c:pt idx="3">
                  <c:v>62</c:v>
                </c:pt>
                <c:pt idx="4">
                  <c:v>76</c:v>
                </c:pt>
                <c:pt idx="5">
                  <c:v>86</c:v>
                </c:pt>
                <c:pt idx="6">
                  <c:v>95</c:v>
                </c:pt>
                <c:pt idx="7">
                  <c:v>100</c:v>
                </c:pt>
              </c:numCache>
            </c:numRef>
          </c:val>
          <c:extLst>
            <c:ext xmlns:c16="http://schemas.microsoft.com/office/drawing/2014/chart" uri="{C3380CC4-5D6E-409C-BE32-E72D297353CC}">
              <c16:uniqueId val="{00000000-6A62-44B0-80CB-CAE28C4AF85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4444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Gold (000 oz)</c:v>
                </c:pt>
              </c:strCache>
            </c:strRef>
          </c:tx>
          <c:spPr>
            <a:ln w="31750" cap="flat">
              <a:solidFill>
                <a:srgbClr val="C8920A"/>
              </a:solidFill>
              <a:prstDash val="solid"/>
              <a:round/>
            </a:ln>
            <a:effectLst/>
          </c:spPr>
          <c:marker>
            <c:symbol val="circle"/>
            <c:size val="6"/>
            <c:spPr>
              <a:solidFill>
                <a:srgbClr val="C8920A"/>
              </a:solidFill>
              <a:ln w="9525" cap="flat">
                <a:solidFill>
                  <a:srgbClr val="C8920A"/>
                </a:solidFill>
                <a:prstDash val="solid"/>
                <a:round/>
              </a:ln>
              <a:effectLst/>
            </c:spPr>
          </c:marker>
          <c:cat>
            <c:strRef>
              <c:f>Sheet1!$A$2:$A$8</c:f>
              <c:strCache>
                <c:ptCount val="7"/>
                <c:pt idx="0">
                  <c:v>2017</c:v>
                </c:pt>
                <c:pt idx="1">
                  <c:v>2018</c:v>
                </c:pt>
                <c:pt idx="2">
                  <c:v>2019</c:v>
                </c:pt>
                <c:pt idx="3">
                  <c:v>2020</c:v>
                </c:pt>
                <c:pt idx="4">
                  <c:v>2021</c:v>
                </c:pt>
                <c:pt idx="5">
                  <c:v>2022</c:v>
                </c:pt>
                <c:pt idx="6">
                  <c:v>2023</c:v>
                </c:pt>
              </c:strCache>
            </c:strRef>
          </c:cat>
          <c:val>
            <c:numRef>
              <c:f>Sheet1!$B$2:$B$8</c:f>
              <c:numCache>
                <c:formatCode>General</c:formatCode>
                <c:ptCount val="7"/>
                <c:pt idx="0">
                  <c:v>312</c:v>
                </c:pt>
                <c:pt idx="1">
                  <c:v>368</c:v>
                </c:pt>
                <c:pt idx="2">
                  <c:v>388</c:v>
                </c:pt>
                <c:pt idx="3">
                  <c:v>345</c:v>
                </c:pt>
                <c:pt idx="4">
                  <c:v>401</c:v>
                </c:pt>
                <c:pt idx="5">
                  <c:v>415</c:v>
                </c:pt>
                <c:pt idx="6">
                  <c:v>400</c:v>
                </c:pt>
              </c:numCache>
            </c:numRef>
          </c:val>
          <c:smooth val="1"/>
          <c:extLst>
            <c:ext xmlns:c16="http://schemas.microsoft.com/office/drawing/2014/chart" uri="{C3380CC4-5D6E-409C-BE32-E72D297353CC}">
              <c16:uniqueId val="{00000000-EBB6-41A1-8A15-DAFA835C2E4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66666"/>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7262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08"/>
        </a:solidFill>
        <a:effectLst/>
      </p:bgPr>
    </p:bg>
    <p:spTree>
      <p:nvGrpSpPr>
        <p:cNvPr id="1" name=""/>
        <p:cNvGrpSpPr/>
        <p:nvPr/>
      </p:nvGrpSpPr>
      <p:grpSpPr>
        <a:xfrm>
          <a:off x="0" y="0"/>
          <a:ext cx="0" cy="0"/>
          <a:chOff x="0" y="0"/>
          <a:chExt cx="0" cy="0"/>
        </a:xfrm>
      </p:grpSpPr>
      <p:sp>
        <p:nvSpPr>
          <p:cNvPr id="2" name="Shape 0"/>
          <p:cNvSpPr/>
          <p:nvPr/>
        </p:nvSpPr>
        <p:spPr>
          <a:xfrm>
            <a:off x="6400800" y="-1456113"/>
            <a:ext cx="4389120" cy="4389120"/>
          </a:xfrm>
          <a:prstGeom prst="ellipse">
            <a:avLst/>
          </a:prstGeom>
          <a:solidFill>
            <a:srgbClr val="2D5A1B">
              <a:alpha val="32000"/>
            </a:srgbClr>
          </a:solidFill>
          <a:ln w="12700">
            <a:solidFill>
              <a:srgbClr val="2D5A1B">
                <a:alpha val="32000"/>
              </a:srgbClr>
            </a:solidFill>
            <a:prstDash val="solid"/>
          </a:ln>
        </p:spPr>
      </p:sp>
      <p:sp>
        <p:nvSpPr>
          <p:cNvPr id="3" name="Shape 1"/>
          <p:cNvSpPr/>
          <p:nvPr/>
        </p:nvSpPr>
        <p:spPr>
          <a:xfrm>
            <a:off x="7388352" y="3383280"/>
            <a:ext cx="2743200" cy="2743200"/>
          </a:xfrm>
          <a:prstGeom prst="ellipse">
            <a:avLst/>
          </a:prstGeom>
          <a:solidFill>
            <a:srgbClr val="C8920A">
              <a:alpha val="22000"/>
            </a:srgbClr>
          </a:solidFill>
          <a:ln w="12700">
            <a:solidFill>
              <a:srgbClr val="C8920A">
                <a:alpha val="22000"/>
              </a:srgbClr>
            </a:solidFill>
            <a:prstDash val="solid"/>
          </a:ln>
        </p:spPr>
      </p:sp>
      <p:sp>
        <p:nvSpPr>
          <p:cNvPr id="4" name="Shape 2"/>
          <p:cNvSpPr/>
          <p:nvPr/>
        </p:nvSpPr>
        <p:spPr>
          <a:xfrm>
            <a:off x="-731520" y="3474720"/>
            <a:ext cx="2560320" cy="2560320"/>
          </a:xfrm>
          <a:prstGeom prst="ellipse">
            <a:avLst/>
          </a:prstGeom>
          <a:solidFill>
            <a:srgbClr val="0A3D62">
              <a:alpha val="28000"/>
            </a:srgbClr>
          </a:solidFill>
          <a:ln w="12700">
            <a:solidFill>
              <a:srgbClr val="0A3D62">
                <a:alpha val="28000"/>
              </a:srgbClr>
            </a:solidFill>
            <a:prstDash val="solid"/>
          </a:ln>
        </p:spPr>
      </p:sp>
      <p:sp>
        <p:nvSpPr>
          <p:cNvPr id="5" name="Shape 3"/>
          <p:cNvSpPr/>
          <p:nvPr/>
        </p:nvSpPr>
        <p:spPr>
          <a:xfrm>
            <a:off x="0" y="0"/>
            <a:ext cx="182880" cy="5143500"/>
          </a:xfrm>
          <a:prstGeom prst="rect">
            <a:avLst/>
          </a:prstGeom>
          <a:solidFill>
            <a:srgbClr val="C8920A"/>
          </a:solidFill>
          <a:ln w="12700">
            <a:solidFill>
              <a:srgbClr val="C8920A"/>
            </a:solidFill>
            <a:prstDash val="solid"/>
          </a:ln>
        </p:spPr>
      </p:sp>
      <p:sp>
        <p:nvSpPr>
          <p:cNvPr id="6" name="Text 4"/>
          <p:cNvSpPr/>
          <p:nvPr/>
        </p:nvSpPr>
        <p:spPr>
          <a:xfrm>
            <a:off x="384048" y="347472"/>
            <a:ext cx="8229600" cy="310896"/>
          </a:xfrm>
          <a:prstGeom prst="rect">
            <a:avLst/>
          </a:prstGeom>
          <a:noFill/>
          <a:ln/>
        </p:spPr>
        <p:txBody>
          <a:bodyPr wrap="square" rtlCol="0" anchor="ctr"/>
          <a:lstStyle/>
          <a:p>
            <a:pPr marL="0" indent="0">
              <a:buNone/>
            </a:pPr>
            <a:r>
              <a:rPr lang="en-US" sz="1400" b="1" kern="0" spc="500" dirty="0">
                <a:solidFill>
                  <a:srgbClr val="F0C040"/>
                </a:solidFill>
                <a:latin typeface="Footlight MT Light" panose="0204060206030A020304" pitchFamily="18" charset="0"/>
                <a:ea typeface="Trebuchet MS" pitchFamily="34" charset="-122"/>
                <a:cs typeface="Trebuchet MS" pitchFamily="34" charset="-120"/>
              </a:rPr>
              <a:t>REPUBLIC OF GUINEA</a:t>
            </a:r>
            <a:endParaRPr lang="en-US" sz="1400" dirty="0">
              <a:latin typeface="Footlight MT Light" panose="0204060206030A020304" pitchFamily="18" charset="0"/>
            </a:endParaRPr>
          </a:p>
        </p:txBody>
      </p:sp>
      <p:sp>
        <p:nvSpPr>
          <p:cNvPr id="7" name="Text 5"/>
          <p:cNvSpPr/>
          <p:nvPr/>
        </p:nvSpPr>
        <p:spPr>
          <a:xfrm>
            <a:off x="384048" y="731520"/>
            <a:ext cx="8046720" cy="960120"/>
          </a:xfrm>
          <a:prstGeom prst="rect">
            <a:avLst/>
          </a:prstGeom>
          <a:noFill/>
          <a:ln/>
        </p:spPr>
        <p:txBody>
          <a:bodyPr wrap="square" rtlCol="0" anchor="ctr"/>
          <a:lstStyle/>
          <a:p>
            <a:pPr marL="0" indent="0">
              <a:buNone/>
            </a:pPr>
            <a:r>
              <a:rPr lang="en-US" sz="5600" b="1" dirty="0">
                <a:solidFill>
                  <a:srgbClr val="FFFFFF"/>
                </a:solidFill>
                <a:latin typeface="Footlight MT Light" panose="0204060206030A020304" pitchFamily="18" charset="0"/>
                <a:ea typeface="Georgia" pitchFamily="34" charset="-122"/>
                <a:cs typeface="Georgia" pitchFamily="34" charset="-120"/>
              </a:rPr>
              <a:t>Mining Sector</a:t>
            </a:r>
            <a:endParaRPr lang="en-US" sz="5600" dirty="0">
              <a:latin typeface="Footlight MT Light" panose="0204060206030A020304" pitchFamily="18" charset="0"/>
            </a:endParaRPr>
          </a:p>
        </p:txBody>
      </p:sp>
      <p:sp>
        <p:nvSpPr>
          <p:cNvPr id="8" name="Text 6"/>
          <p:cNvSpPr/>
          <p:nvPr/>
        </p:nvSpPr>
        <p:spPr>
          <a:xfrm>
            <a:off x="384048" y="1664208"/>
            <a:ext cx="8046720" cy="731520"/>
          </a:xfrm>
          <a:prstGeom prst="rect">
            <a:avLst/>
          </a:prstGeom>
          <a:noFill/>
          <a:ln/>
        </p:spPr>
        <p:txBody>
          <a:bodyPr wrap="square" rtlCol="0" anchor="ctr"/>
          <a:lstStyle/>
          <a:p>
            <a:pPr marL="0" indent="0">
              <a:buNone/>
            </a:pPr>
            <a:r>
              <a:rPr lang="en-US" sz="3600" dirty="0">
                <a:solidFill>
                  <a:srgbClr val="F0C040"/>
                </a:solidFill>
                <a:latin typeface="Footlight MT Light" panose="0204060206030A020304" pitchFamily="18" charset="0"/>
                <a:ea typeface="Georgia" pitchFamily="34" charset="-122"/>
                <a:cs typeface="Georgia" pitchFamily="34" charset="-120"/>
              </a:rPr>
              <a:t>Outlook &amp; Analysis</a:t>
            </a:r>
            <a:endParaRPr lang="en-US" sz="3600" dirty="0">
              <a:latin typeface="Footlight MT Light" panose="0204060206030A020304" pitchFamily="18" charset="0"/>
            </a:endParaRPr>
          </a:p>
        </p:txBody>
      </p:sp>
      <p:sp>
        <p:nvSpPr>
          <p:cNvPr id="9" name="Text 7"/>
          <p:cNvSpPr/>
          <p:nvPr/>
        </p:nvSpPr>
        <p:spPr>
          <a:xfrm>
            <a:off x="384048" y="2578608"/>
            <a:ext cx="8229600" cy="804672"/>
          </a:xfrm>
          <a:prstGeom prst="rect">
            <a:avLst/>
          </a:prstGeom>
          <a:noFill/>
          <a:ln/>
        </p:spPr>
        <p:txBody>
          <a:bodyPr wrap="square" rtlCol="0" anchor="ctr"/>
          <a:lstStyle/>
          <a:p>
            <a:pPr marL="0" indent="0">
              <a:buNone/>
            </a:pPr>
            <a:r>
              <a:rPr lang="en-US" sz="1400" dirty="0">
                <a:solidFill>
                  <a:srgbClr val="90BB80"/>
                </a:solidFill>
                <a:latin typeface="Footlight MT Light" panose="0204060206030A020304" pitchFamily="18" charset="0"/>
                <a:ea typeface="Calibri" pitchFamily="34" charset="-122"/>
                <a:cs typeface="Calibri" pitchFamily="34" charset="-120"/>
              </a:rPr>
              <a:t>Large-Scale &amp; ASM Mining  ·  Mineral Types &amp; Production  ·  Sector Challenges</a:t>
            </a:r>
            <a:endParaRPr lang="en-US" sz="1400" dirty="0">
              <a:latin typeface="Footlight MT Light" panose="0204060206030A020304" pitchFamily="18" charset="0"/>
            </a:endParaRPr>
          </a:p>
          <a:p>
            <a:pPr marL="0" indent="0">
              <a:buNone/>
            </a:pPr>
            <a:r>
              <a:rPr lang="en-US" sz="1400" dirty="0">
                <a:solidFill>
                  <a:srgbClr val="90BB80"/>
                </a:solidFill>
                <a:latin typeface="Footlight MT Light" panose="0204060206030A020304" pitchFamily="18" charset="0"/>
                <a:ea typeface="Calibri" pitchFamily="34" charset="-122"/>
                <a:cs typeface="Calibri" pitchFamily="34" charset="-120"/>
              </a:rPr>
              <a:t>Technologies  ·  AI Drone Monitoring  ·  24/7 Control Room  ·  Smart Innovations Solutions for Guinea</a:t>
            </a:r>
            <a:endParaRPr lang="en-US" sz="1400" dirty="0">
              <a:latin typeface="Footlight MT Light" panose="0204060206030A020304" pitchFamily="18" charset="0"/>
            </a:endParaRPr>
          </a:p>
        </p:txBody>
      </p:sp>
      <p:sp>
        <p:nvSpPr>
          <p:cNvPr id="10" name="Shape 8"/>
          <p:cNvSpPr/>
          <p:nvPr/>
        </p:nvSpPr>
        <p:spPr>
          <a:xfrm>
            <a:off x="0" y="4773168"/>
            <a:ext cx="9144000" cy="365760"/>
          </a:xfrm>
          <a:prstGeom prst="rect">
            <a:avLst/>
          </a:prstGeom>
          <a:solidFill>
            <a:srgbClr val="0A3D62"/>
          </a:solidFill>
          <a:ln w="12700">
            <a:solidFill>
              <a:srgbClr val="0A3D62"/>
            </a:solidFill>
            <a:prstDash val="solid"/>
          </a:ln>
        </p:spPr>
      </p:sp>
      <p:sp>
        <p:nvSpPr>
          <p:cNvPr id="11" name="Text 9"/>
          <p:cNvSpPr/>
          <p:nvPr/>
        </p:nvSpPr>
        <p:spPr>
          <a:xfrm>
            <a:off x="0" y="4773168"/>
            <a:ext cx="9144000" cy="365760"/>
          </a:xfrm>
          <a:prstGeom prst="rect">
            <a:avLst/>
          </a:prstGeom>
          <a:noFill/>
          <a:ln/>
        </p:spPr>
        <p:txBody>
          <a:bodyPr wrap="square" rtlCol="0" anchor="ctr"/>
          <a:lstStyle/>
          <a:p>
            <a:pPr marL="0" indent="0" algn="ctr">
              <a:buNone/>
            </a:pPr>
            <a:r>
              <a:rPr lang="en-US" sz="1050" b="1" dirty="0">
                <a:solidFill>
                  <a:srgbClr val="FFFFFF"/>
                </a:solidFill>
                <a:latin typeface="Footlight MT Light" panose="0204060206030A020304" pitchFamily="18" charset="0"/>
                <a:ea typeface="Calibri" pitchFamily="34" charset="-122"/>
                <a:cs typeface="Calibri" pitchFamily="34" charset="-120"/>
              </a:rPr>
              <a:t>Prepared by  SMART INNOVATIONS GHANA LIMITED  |  www.smartinnovationsgh.com  |  May 2026</a:t>
            </a:r>
            <a:endParaRPr lang="en-US" sz="1050" dirty="0">
              <a:latin typeface="Footlight MT Light" panose="0204060206030A020304" pitchFamily="18" charset="0"/>
            </a:endParaRPr>
          </a:p>
        </p:txBody>
      </p:sp>
      <p:pic>
        <p:nvPicPr>
          <p:cNvPr id="1026" name="Picture 1">
            <a:extLst>
              <a:ext uri="{FF2B5EF4-FFF2-40B4-BE49-F238E27FC236}">
                <a16:creationId xmlns:a16="http://schemas.microsoft.com/office/drawing/2014/main" id="{D00702A3-4B6A-947B-63E3-6F786B80E5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528" t="37415" r="9814" b="35420"/>
          <a:stretch>
            <a:fillRect/>
          </a:stretch>
        </p:blipFill>
        <p:spPr bwMode="auto">
          <a:xfrm>
            <a:off x="7281028" y="0"/>
            <a:ext cx="1862972" cy="626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7">
            <a:extLst>
              <a:ext uri="{FF2B5EF4-FFF2-40B4-BE49-F238E27FC236}">
                <a16:creationId xmlns:a16="http://schemas.microsoft.com/office/drawing/2014/main" id="{F0C31DD4-67DD-CF91-D40F-5FC9B974E27C}"/>
              </a:ext>
            </a:extLst>
          </p:cNvPr>
          <p:cNvSpPr/>
          <p:nvPr/>
        </p:nvSpPr>
        <p:spPr>
          <a:xfrm>
            <a:off x="365760" y="3614651"/>
            <a:ext cx="8229600" cy="804672"/>
          </a:xfrm>
          <a:prstGeom prst="rect">
            <a:avLst/>
          </a:prstGeom>
          <a:noFill/>
          <a:ln/>
        </p:spPr>
        <p:txBody>
          <a:bodyPr wrap="square" rtlCol="0" anchor="ctr"/>
          <a:lstStyle/>
          <a:p>
            <a:pPr marL="0" indent="0">
              <a:buNone/>
            </a:pPr>
            <a:r>
              <a:rPr lang="en-US" sz="1400" dirty="0">
                <a:solidFill>
                  <a:srgbClr val="90BB80"/>
                </a:solidFill>
                <a:latin typeface="Footlight MT Light" panose="0204060206030A020304" pitchFamily="18" charset="0"/>
                <a:ea typeface="Calibri" pitchFamily="34" charset="-122"/>
                <a:cs typeface="Calibri" pitchFamily="34" charset="-120"/>
              </a:rPr>
              <a:t>Presentation By</a:t>
            </a:r>
          </a:p>
          <a:p>
            <a:pPr marL="0" indent="0">
              <a:buNone/>
            </a:pPr>
            <a:r>
              <a:rPr lang="en-US" sz="1400" dirty="0">
                <a:solidFill>
                  <a:srgbClr val="90BB80"/>
                </a:solidFill>
                <a:latin typeface="Footlight MT Light" panose="0204060206030A020304" pitchFamily="18" charset="0"/>
                <a:ea typeface="Calibri" pitchFamily="34" charset="-122"/>
                <a:cs typeface="Calibri" pitchFamily="34" charset="-120"/>
              </a:rPr>
              <a:t>Dr Sylvester </a:t>
            </a:r>
            <a:r>
              <a:rPr lang="en-US" sz="1400" dirty="0" err="1">
                <a:solidFill>
                  <a:srgbClr val="90BB80"/>
                </a:solidFill>
                <a:latin typeface="Footlight MT Light" panose="0204060206030A020304" pitchFamily="18" charset="0"/>
                <a:ea typeface="Calibri" pitchFamily="34" charset="-122"/>
                <a:cs typeface="Calibri" pitchFamily="34" charset="-120"/>
              </a:rPr>
              <a:t>Akpah</a:t>
            </a:r>
            <a:endParaRPr lang="en-US" sz="1400" dirty="0">
              <a:solidFill>
                <a:srgbClr val="90BB80"/>
              </a:solidFill>
              <a:latin typeface="Footlight MT Light" panose="0204060206030A020304" pitchFamily="18" charset="0"/>
              <a:ea typeface="Calibri" pitchFamily="34" charset="-122"/>
              <a:cs typeface="Calibri" pitchFamily="34" charset="-120"/>
            </a:endParaRPr>
          </a:p>
          <a:p>
            <a:pPr marL="0" indent="0">
              <a:buNone/>
            </a:pPr>
            <a:r>
              <a:rPr lang="en-US" sz="1400" dirty="0">
                <a:solidFill>
                  <a:srgbClr val="90BB80"/>
                </a:solidFill>
                <a:latin typeface="Footlight MT Light" panose="0204060206030A020304" pitchFamily="18" charset="0"/>
                <a:ea typeface="Calibri" pitchFamily="34" charset="-122"/>
                <a:cs typeface="Calibri" pitchFamily="34" charset="-120"/>
              </a:rPr>
              <a:t>CEO</a:t>
            </a:r>
          </a:p>
          <a:p>
            <a:pPr marL="0" indent="0">
              <a:buNone/>
            </a:pPr>
            <a:r>
              <a:rPr lang="en-US" sz="1400" dirty="0">
                <a:solidFill>
                  <a:srgbClr val="90BB80"/>
                </a:solidFill>
                <a:latin typeface="Footlight MT Light" panose="0204060206030A020304" pitchFamily="18" charset="0"/>
                <a:ea typeface="Calibri" pitchFamily="34" charset="-122"/>
                <a:cs typeface="Calibri" pitchFamily="34" charset="-120"/>
              </a:rPr>
              <a:t>Consultant – Minerals Commission of Ghana</a:t>
            </a:r>
            <a:endParaRPr lang="en-US" sz="1400" dirty="0">
              <a:latin typeface="Footlight MT Light" panose="0204060206030A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D1F08"/>
          </a:solidFill>
          <a:ln w="12700">
            <a:solidFill>
              <a:srgbClr val="0D1F08"/>
            </a:solidFill>
            <a:prstDash val="solid"/>
          </a:ln>
        </p:spPr>
      </p:sp>
      <p:sp>
        <p:nvSpPr>
          <p:cNvPr id="3" name="Text 1"/>
          <p:cNvSpPr/>
          <p:nvPr/>
        </p:nvSpPr>
        <p:spPr>
          <a:xfrm>
            <a:off x="347472" y="128016"/>
            <a:ext cx="8412480" cy="566928"/>
          </a:xfrm>
          <a:prstGeom prst="rect">
            <a:avLst/>
          </a:prstGeom>
          <a:noFill/>
          <a:ln/>
        </p:spPr>
        <p:txBody>
          <a:bodyPr wrap="square" rtlCol="0" anchor="ctr"/>
          <a:lstStyle/>
          <a:p>
            <a:pPr marL="0" indent="0">
              <a:buNone/>
            </a:pPr>
            <a:r>
              <a:rPr lang="en-US" sz="2600" b="1" dirty="0">
                <a:solidFill>
                  <a:srgbClr val="FFFFFF"/>
                </a:solidFill>
                <a:latin typeface="Footlight MT Light" panose="0204060206030A020304" pitchFamily="18" charset="0"/>
                <a:ea typeface="Georgia" pitchFamily="34" charset="-122"/>
                <a:cs typeface="Georgia" pitchFamily="34" charset="-120"/>
              </a:rPr>
              <a:t>Guinea: A Mining Powerhouse</a:t>
            </a:r>
            <a:endParaRPr lang="en-US" sz="2600" dirty="0">
              <a:latin typeface="Footlight MT Light" panose="0204060206030A020304" pitchFamily="18" charset="0"/>
            </a:endParaRPr>
          </a:p>
        </p:txBody>
      </p:sp>
      <p:sp>
        <p:nvSpPr>
          <p:cNvPr id="4" name="Shape 2"/>
          <p:cNvSpPr/>
          <p:nvPr/>
        </p:nvSpPr>
        <p:spPr>
          <a:xfrm>
            <a:off x="256032" y="932688"/>
            <a:ext cx="1993392" cy="1828800"/>
          </a:xfrm>
          <a:prstGeom prst="rect">
            <a:avLst/>
          </a:prstGeom>
          <a:solidFill>
            <a:srgbClr val="0D1F08"/>
          </a:solidFill>
          <a:ln/>
          <a:effectLst>
            <a:outerShdw blurRad="101600" dist="38100" dir="8100000" algn="bl" rotWithShape="0">
              <a:srgbClr val="000000">
                <a:alpha val="15000"/>
              </a:srgbClr>
            </a:outerShdw>
          </a:effectLst>
        </p:spPr>
      </p:sp>
      <p:sp>
        <p:nvSpPr>
          <p:cNvPr id="5" name="Text 3"/>
          <p:cNvSpPr/>
          <p:nvPr/>
        </p:nvSpPr>
        <p:spPr>
          <a:xfrm>
            <a:off x="256032" y="987552"/>
            <a:ext cx="1993392" cy="804672"/>
          </a:xfrm>
          <a:prstGeom prst="rect">
            <a:avLst/>
          </a:prstGeom>
          <a:noFill/>
          <a:ln/>
        </p:spPr>
        <p:txBody>
          <a:bodyPr wrap="square" rtlCol="0" anchor="ctr"/>
          <a:lstStyle/>
          <a:p>
            <a:pPr marL="0" indent="0" algn="ctr">
              <a:buNone/>
            </a:pPr>
            <a:r>
              <a:rPr lang="en-US" sz="3400" b="1" dirty="0">
                <a:solidFill>
                  <a:srgbClr val="F0C040"/>
                </a:solidFill>
                <a:latin typeface="Georgia" pitchFamily="34" charset="0"/>
                <a:ea typeface="Georgia" pitchFamily="34" charset="-122"/>
                <a:cs typeface="Georgia" pitchFamily="34" charset="-120"/>
              </a:rPr>
              <a:t>#1</a:t>
            </a:r>
            <a:endParaRPr lang="en-US" sz="3400" dirty="0"/>
          </a:p>
        </p:txBody>
      </p:sp>
      <p:sp>
        <p:nvSpPr>
          <p:cNvPr id="6" name="Text 4"/>
          <p:cNvSpPr/>
          <p:nvPr/>
        </p:nvSpPr>
        <p:spPr>
          <a:xfrm>
            <a:off x="256032" y="1773936"/>
            <a:ext cx="1993392" cy="585216"/>
          </a:xfrm>
          <a:prstGeom prst="rect">
            <a:avLst/>
          </a:prstGeom>
          <a:noFill/>
          <a:ln/>
        </p:spPr>
        <p:txBody>
          <a:bodyPr wrap="square" rtlCol="0" anchor="ctr"/>
          <a:lstStyle/>
          <a:p>
            <a:pPr marL="0" indent="0" algn="ctr">
              <a:buNone/>
            </a:pPr>
            <a:r>
              <a:rPr lang="en-US" sz="1050" dirty="0">
                <a:solidFill>
                  <a:srgbClr val="FFFFFF"/>
                </a:solidFill>
                <a:latin typeface="Footlight MT Light" panose="0204060206030A020304" pitchFamily="18" charset="0"/>
                <a:ea typeface="Calibri" pitchFamily="34" charset="-122"/>
                <a:cs typeface="Calibri" pitchFamily="34" charset="-120"/>
              </a:rPr>
              <a:t>World's Largest</a:t>
            </a:r>
            <a:endParaRPr lang="en-US" sz="1050" dirty="0">
              <a:latin typeface="Footlight MT Light" panose="0204060206030A020304" pitchFamily="18" charset="0"/>
            </a:endParaRPr>
          </a:p>
          <a:p>
            <a:pPr marL="0" indent="0" algn="ctr">
              <a:buNone/>
            </a:pPr>
            <a:r>
              <a:rPr lang="en-US" sz="1050" dirty="0">
                <a:solidFill>
                  <a:srgbClr val="FFFFFF"/>
                </a:solidFill>
                <a:latin typeface="Footlight MT Light" panose="0204060206030A020304" pitchFamily="18" charset="0"/>
                <a:ea typeface="Calibri" pitchFamily="34" charset="-122"/>
                <a:cs typeface="Calibri" pitchFamily="34" charset="-120"/>
              </a:rPr>
              <a:t>Bauxite Reserves</a:t>
            </a:r>
            <a:endParaRPr lang="en-US" sz="1050" dirty="0">
              <a:latin typeface="Footlight MT Light" panose="0204060206030A020304" pitchFamily="18" charset="0"/>
            </a:endParaRPr>
          </a:p>
        </p:txBody>
      </p:sp>
      <p:sp>
        <p:nvSpPr>
          <p:cNvPr id="7" name="Text 5"/>
          <p:cNvSpPr/>
          <p:nvPr/>
        </p:nvSpPr>
        <p:spPr>
          <a:xfrm>
            <a:off x="256032" y="2350008"/>
            <a:ext cx="1993392" cy="292608"/>
          </a:xfrm>
          <a:prstGeom prst="rect">
            <a:avLst/>
          </a:prstGeom>
          <a:noFill/>
          <a:ln/>
        </p:spPr>
        <p:txBody>
          <a:bodyPr wrap="square" rtlCol="0" anchor="ctr"/>
          <a:lstStyle/>
          <a:p>
            <a:pPr marL="0" indent="0" algn="ctr">
              <a:buNone/>
            </a:pPr>
            <a:r>
              <a:rPr lang="en-US" sz="950" dirty="0">
                <a:solidFill>
                  <a:srgbClr val="F0C040"/>
                </a:solidFill>
                <a:latin typeface="Footlight MT Light" panose="0204060206030A020304" pitchFamily="18" charset="0"/>
                <a:ea typeface="Calibri" pitchFamily="34" charset="-122"/>
                <a:cs typeface="Calibri" pitchFamily="34" charset="-120"/>
              </a:rPr>
              <a:t>~25 Billion </a:t>
            </a:r>
            <a:r>
              <a:rPr lang="en-US" sz="950" dirty="0" err="1">
                <a:solidFill>
                  <a:srgbClr val="F0C040"/>
                </a:solidFill>
                <a:latin typeface="Footlight MT Light" panose="0204060206030A020304" pitchFamily="18" charset="0"/>
                <a:ea typeface="Calibri" pitchFamily="34" charset="-122"/>
                <a:cs typeface="Calibri" pitchFamily="34" charset="-120"/>
              </a:rPr>
              <a:t>Tonnes</a:t>
            </a:r>
            <a:endParaRPr lang="en-US" sz="950" dirty="0">
              <a:latin typeface="Footlight MT Light" panose="0204060206030A020304" pitchFamily="18" charset="0"/>
            </a:endParaRPr>
          </a:p>
        </p:txBody>
      </p:sp>
      <p:sp>
        <p:nvSpPr>
          <p:cNvPr id="8" name="Shape 6"/>
          <p:cNvSpPr/>
          <p:nvPr/>
        </p:nvSpPr>
        <p:spPr>
          <a:xfrm>
            <a:off x="2414016" y="932688"/>
            <a:ext cx="1993392" cy="1828800"/>
          </a:xfrm>
          <a:prstGeom prst="rect">
            <a:avLst/>
          </a:prstGeom>
          <a:solidFill>
            <a:srgbClr val="0D1F08"/>
          </a:solidFill>
          <a:ln/>
          <a:effectLst>
            <a:outerShdw blurRad="101600" dist="38100" dir="8100000" algn="bl" rotWithShape="0">
              <a:srgbClr val="000000">
                <a:alpha val="15000"/>
              </a:srgbClr>
            </a:outerShdw>
          </a:effectLst>
        </p:spPr>
      </p:sp>
      <p:sp>
        <p:nvSpPr>
          <p:cNvPr id="9" name="Text 7"/>
          <p:cNvSpPr/>
          <p:nvPr/>
        </p:nvSpPr>
        <p:spPr>
          <a:xfrm>
            <a:off x="2414016" y="987552"/>
            <a:ext cx="1993392" cy="804672"/>
          </a:xfrm>
          <a:prstGeom prst="rect">
            <a:avLst/>
          </a:prstGeom>
          <a:noFill/>
          <a:ln/>
        </p:spPr>
        <p:txBody>
          <a:bodyPr wrap="square" rtlCol="0" anchor="ctr"/>
          <a:lstStyle/>
          <a:p>
            <a:pPr marL="0" indent="0" algn="ctr">
              <a:buNone/>
            </a:pPr>
            <a:r>
              <a:rPr lang="en-US" sz="3400" b="1" dirty="0">
                <a:solidFill>
                  <a:srgbClr val="F0C040"/>
                </a:solidFill>
                <a:latin typeface="Georgia" pitchFamily="34" charset="0"/>
                <a:ea typeface="Georgia" pitchFamily="34" charset="-122"/>
                <a:cs typeface="Georgia" pitchFamily="34" charset="-120"/>
              </a:rPr>
              <a:t>22%</a:t>
            </a:r>
            <a:endParaRPr lang="en-US" sz="3400" dirty="0"/>
          </a:p>
        </p:txBody>
      </p:sp>
      <p:sp>
        <p:nvSpPr>
          <p:cNvPr id="10" name="Text 8"/>
          <p:cNvSpPr/>
          <p:nvPr/>
        </p:nvSpPr>
        <p:spPr>
          <a:xfrm>
            <a:off x="2414016" y="1773936"/>
            <a:ext cx="1993392" cy="585216"/>
          </a:xfrm>
          <a:prstGeom prst="rect">
            <a:avLst/>
          </a:prstGeom>
          <a:noFill/>
          <a:ln/>
        </p:spPr>
        <p:txBody>
          <a:bodyPr wrap="square" rtlCol="0" anchor="ctr"/>
          <a:lstStyle/>
          <a:p>
            <a:pPr marL="0" indent="0" algn="ctr">
              <a:buNone/>
            </a:pPr>
            <a:r>
              <a:rPr lang="en-US" sz="1050" dirty="0">
                <a:solidFill>
                  <a:srgbClr val="FFFFFF"/>
                </a:solidFill>
                <a:latin typeface="Footlight MT Light" panose="0204060206030A020304" pitchFamily="18" charset="0"/>
                <a:ea typeface="Calibri" pitchFamily="34" charset="-122"/>
                <a:cs typeface="Calibri" pitchFamily="34" charset="-120"/>
              </a:rPr>
              <a:t>Mining Share</a:t>
            </a:r>
            <a:endParaRPr lang="en-US" sz="1050" dirty="0">
              <a:latin typeface="Footlight MT Light" panose="0204060206030A020304" pitchFamily="18" charset="0"/>
            </a:endParaRPr>
          </a:p>
          <a:p>
            <a:pPr marL="0" indent="0" algn="ctr">
              <a:buNone/>
            </a:pPr>
            <a:r>
              <a:rPr lang="en-US" sz="1050" dirty="0">
                <a:solidFill>
                  <a:srgbClr val="FFFFFF"/>
                </a:solidFill>
                <a:latin typeface="Footlight MT Light" panose="0204060206030A020304" pitchFamily="18" charset="0"/>
                <a:ea typeface="Calibri" pitchFamily="34" charset="-122"/>
                <a:cs typeface="Calibri" pitchFamily="34" charset="-120"/>
              </a:rPr>
              <a:t>of National GDP</a:t>
            </a:r>
            <a:endParaRPr lang="en-US" sz="1050" dirty="0">
              <a:latin typeface="Footlight MT Light" panose="0204060206030A020304" pitchFamily="18" charset="0"/>
            </a:endParaRPr>
          </a:p>
        </p:txBody>
      </p:sp>
      <p:sp>
        <p:nvSpPr>
          <p:cNvPr id="11" name="Text 9"/>
          <p:cNvSpPr/>
          <p:nvPr/>
        </p:nvSpPr>
        <p:spPr>
          <a:xfrm>
            <a:off x="2414016" y="2350008"/>
            <a:ext cx="1993392" cy="292608"/>
          </a:xfrm>
          <a:prstGeom prst="rect">
            <a:avLst/>
          </a:prstGeom>
          <a:noFill/>
          <a:ln/>
        </p:spPr>
        <p:txBody>
          <a:bodyPr wrap="square" rtlCol="0" anchor="ctr"/>
          <a:lstStyle/>
          <a:p>
            <a:pPr marL="0" indent="0" algn="ctr">
              <a:buNone/>
            </a:pPr>
            <a:r>
              <a:rPr lang="en-US" sz="950" dirty="0">
                <a:solidFill>
                  <a:srgbClr val="F0C040"/>
                </a:solidFill>
                <a:latin typeface="Footlight MT Light" panose="0204060206030A020304" pitchFamily="18" charset="0"/>
                <a:ea typeface="Calibri" pitchFamily="34" charset="-122"/>
                <a:cs typeface="Calibri" pitchFamily="34" charset="-120"/>
              </a:rPr>
              <a:t>Dominant Sector</a:t>
            </a:r>
            <a:endParaRPr lang="en-US" sz="950" dirty="0">
              <a:latin typeface="Footlight MT Light" panose="0204060206030A020304" pitchFamily="18" charset="0"/>
            </a:endParaRPr>
          </a:p>
        </p:txBody>
      </p:sp>
      <p:sp>
        <p:nvSpPr>
          <p:cNvPr id="12" name="Shape 10"/>
          <p:cNvSpPr/>
          <p:nvPr/>
        </p:nvSpPr>
        <p:spPr>
          <a:xfrm>
            <a:off x="4572000" y="932688"/>
            <a:ext cx="1993392" cy="1828800"/>
          </a:xfrm>
          <a:prstGeom prst="rect">
            <a:avLst/>
          </a:prstGeom>
          <a:solidFill>
            <a:srgbClr val="0D1F08"/>
          </a:solidFill>
          <a:ln/>
          <a:effectLst>
            <a:outerShdw blurRad="101600" dist="38100" dir="8100000" algn="bl" rotWithShape="0">
              <a:srgbClr val="000000">
                <a:alpha val="15000"/>
              </a:srgbClr>
            </a:outerShdw>
          </a:effectLst>
        </p:spPr>
      </p:sp>
      <p:sp>
        <p:nvSpPr>
          <p:cNvPr id="13" name="Text 11"/>
          <p:cNvSpPr/>
          <p:nvPr/>
        </p:nvSpPr>
        <p:spPr>
          <a:xfrm>
            <a:off x="4572000" y="987552"/>
            <a:ext cx="1993392" cy="804672"/>
          </a:xfrm>
          <a:prstGeom prst="rect">
            <a:avLst/>
          </a:prstGeom>
          <a:noFill/>
          <a:ln/>
        </p:spPr>
        <p:txBody>
          <a:bodyPr wrap="square" rtlCol="0" anchor="ctr"/>
          <a:lstStyle/>
          <a:p>
            <a:pPr marL="0" indent="0" algn="ctr">
              <a:buNone/>
            </a:pPr>
            <a:r>
              <a:rPr lang="en-US" sz="3400" b="1" dirty="0">
                <a:solidFill>
                  <a:srgbClr val="F0C040"/>
                </a:solidFill>
                <a:latin typeface="Georgia" pitchFamily="34" charset="0"/>
                <a:ea typeface="Georgia" pitchFamily="34" charset="-122"/>
                <a:cs typeface="Georgia" pitchFamily="34" charset="-120"/>
              </a:rPr>
              <a:t>2.4Bn</a:t>
            </a:r>
            <a:endParaRPr lang="en-US" sz="3400" dirty="0"/>
          </a:p>
        </p:txBody>
      </p:sp>
      <p:sp>
        <p:nvSpPr>
          <p:cNvPr id="14" name="Text 12"/>
          <p:cNvSpPr/>
          <p:nvPr/>
        </p:nvSpPr>
        <p:spPr>
          <a:xfrm>
            <a:off x="4572000" y="1773936"/>
            <a:ext cx="1993392" cy="585216"/>
          </a:xfrm>
          <a:prstGeom prst="rect">
            <a:avLst/>
          </a:prstGeom>
          <a:noFill/>
          <a:ln/>
        </p:spPr>
        <p:txBody>
          <a:bodyPr wrap="square" rtlCol="0" anchor="ctr"/>
          <a:lstStyle/>
          <a:p>
            <a:pPr marL="0" indent="0" algn="ctr">
              <a:buNone/>
            </a:pPr>
            <a:r>
              <a:rPr lang="en-US" sz="1050" dirty="0">
                <a:solidFill>
                  <a:srgbClr val="FFFFFF"/>
                </a:solidFill>
                <a:latin typeface="Footlight MT Light" panose="0204060206030A020304" pitchFamily="18" charset="0"/>
                <a:ea typeface="Calibri" pitchFamily="34" charset="-122"/>
                <a:cs typeface="Calibri" pitchFamily="34" charset="-120"/>
              </a:rPr>
              <a:t>Iron Ore Reserves</a:t>
            </a:r>
            <a:endParaRPr lang="en-US" sz="1050" dirty="0">
              <a:latin typeface="Footlight MT Light" panose="0204060206030A020304" pitchFamily="18" charset="0"/>
            </a:endParaRPr>
          </a:p>
          <a:p>
            <a:pPr marL="0" indent="0" algn="ctr">
              <a:buNone/>
            </a:pPr>
            <a:r>
              <a:rPr lang="en-US" sz="1050" dirty="0">
                <a:solidFill>
                  <a:srgbClr val="FFFFFF"/>
                </a:solidFill>
                <a:latin typeface="Footlight MT Light" panose="0204060206030A020304" pitchFamily="18" charset="0"/>
                <a:ea typeface="Calibri" pitchFamily="34" charset="-122"/>
                <a:cs typeface="Calibri" pitchFamily="34" charset="-120"/>
              </a:rPr>
              <a:t>(Simandou)</a:t>
            </a:r>
            <a:endParaRPr lang="en-US" sz="1050" dirty="0">
              <a:latin typeface="Footlight MT Light" panose="0204060206030A020304" pitchFamily="18" charset="0"/>
            </a:endParaRPr>
          </a:p>
        </p:txBody>
      </p:sp>
      <p:sp>
        <p:nvSpPr>
          <p:cNvPr id="15" name="Text 13"/>
          <p:cNvSpPr/>
          <p:nvPr/>
        </p:nvSpPr>
        <p:spPr>
          <a:xfrm>
            <a:off x="4572000" y="2350008"/>
            <a:ext cx="1993392" cy="292608"/>
          </a:xfrm>
          <a:prstGeom prst="rect">
            <a:avLst/>
          </a:prstGeom>
          <a:noFill/>
          <a:ln/>
        </p:spPr>
        <p:txBody>
          <a:bodyPr wrap="square" rtlCol="0" anchor="ctr"/>
          <a:lstStyle/>
          <a:p>
            <a:pPr marL="0" indent="0" algn="ctr">
              <a:buNone/>
            </a:pPr>
            <a:r>
              <a:rPr lang="en-US" sz="950" dirty="0" err="1">
                <a:solidFill>
                  <a:srgbClr val="F0C040"/>
                </a:solidFill>
                <a:latin typeface="Footlight MT Light" panose="0204060206030A020304" pitchFamily="18" charset="0"/>
                <a:ea typeface="Calibri" pitchFamily="34" charset="-122"/>
                <a:cs typeface="Calibri" pitchFamily="34" charset="-120"/>
              </a:rPr>
              <a:t>Tonnes</a:t>
            </a:r>
            <a:r>
              <a:rPr lang="en-US" sz="950" dirty="0">
                <a:solidFill>
                  <a:srgbClr val="F0C040"/>
                </a:solidFill>
                <a:latin typeface="Footlight MT Light" panose="0204060206030A020304" pitchFamily="18" charset="0"/>
                <a:ea typeface="Calibri" pitchFamily="34" charset="-122"/>
                <a:cs typeface="Calibri" pitchFamily="34" charset="-120"/>
              </a:rPr>
              <a:t>, High-grade</a:t>
            </a:r>
            <a:endParaRPr lang="en-US" sz="950" dirty="0">
              <a:latin typeface="Footlight MT Light" panose="0204060206030A020304" pitchFamily="18" charset="0"/>
            </a:endParaRPr>
          </a:p>
        </p:txBody>
      </p:sp>
      <p:sp>
        <p:nvSpPr>
          <p:cNvPr id="16" name="Shape 14"/>
          <p:cNvSpPr/>
          <p:nvPr/>
        </p:nvSpPr>
        <p:spPr>
          <a:xfrm>
            <a:off x="6729984" y="932688"/>
            <a:ext cx="1993392" cy="1828800"/>
          </a:xfrm>
          <a:prstGeom prst="rect">
            <a:avLst/>
          </a:prstGeom>
          <a:solidFill>
            <a:srgbClr val="0D1F08"/>
          </a:solidFill>
          <a:ln/>
          <a:effectLst>
            <a:outerShdw blurRad="101600" dist="38100" dir="8100000" algn="bl" rotWithShape="0">
              <a:srgbClr val="000000">
                <a:alpha val="15000"/>
              </a:srgbClr>
            </a:outerShdw>
          </a:effectLst>
        </p:spPr>
      </p:sp>
      <p:sp>
        <p:nvSpPr>
          <p:cNvPr id="17" name="Text 15"/>
          <p:cNvSpPr/>
          <p:nvPr/>
        </p:nvSpPr>
        <p:spPr>
          <a:xfrm>
            <a:off x="6729984" y="987552"/>
            <a:ext cx="1993392" cy="804672"/>
          </a:xfrm>
          <a:prstGeom prst="rect">
            <a:avLst/>
          </a:prstGeom>
          <a:noFill/>
          <a:ln/>
        </p:spPr>
        <p:txBody>
          <a:bodyPr wrap="square" rtlCol="0" anchor="ctr"/>
          <a:lstStyle/>
          <a:p>
            <a:pPr marL="0" indent="0" algn="ctr">
              <a:buNone/>
            </a:pPr>
            <a:r>
              <a:rPr lang="en-US" sz="3400" b="1" dirty="0">
                <a:solidFill>
                  <a:srgbClr val="F0C040"/>
                </a:solidFill>
                <a:latin typeface="Georgia" pitchFamily="34" charset="0"/>
                <a:ea typeface="Georgia" pitchFamily="34" charset="-122"/>
                <a:cs typeface="Georgia" pitchFamily="34" charset="-120"/>
              </a:rPr>
              <a:t>~90%</a:t>
            </a:r>
            <a:endParaRPr lang="en-US" sz="3400" dirty="0"/>
          </a:p>
        </p:txBody>
      </p:sp>
      <p:sp>
        <p:nvSpPr>
          <p:cNvPr id="18" name="Text 16"/>
          <p:cNvSpPr/>
          <p:nvPr/>
        </p:nvSpPr>
        <p:spPr>
          <a:xfrm>
            <a:off x="6729984" y="1773936"/>
            <a:ext cx="1993392" cy="585216"/>
          </a:xfrm>
          <a:prstGeom prst="rect">
            <a:avLst/>
          </a:prstGeom>
          <a:noFill/>
          <a:ln/>
        </p:spPr>
        <p:txBody>
          <a:bodyPr wrap="square" rtlCol="0" anchor="ctr"/>
          <a:lstStyle/>
          <a:p>
            <a:pPr marL="0" indent="0" algn="ctr">
              <a:buNone/>
            </a:pPr>
            <a:r>
              <a:rPr lang="en-US" sz="1050" dirty="0">
                <a:solidFill>
                  <a:srgbClr val="FFFFFF"/>
                </a:solidFill>
                <a:latin typeface="Footlight MT Light" panose="0204060206030A020304" pitchFamily="18" charset="0"/>
                <a:ea typeface="Calibri" pitchFamily="34" charset="-122"/>
                <a:cs typeface="Calibri" pitchFamily="34" charset="-120"/>
              </a:rPr>
              <a:t>Mining Share</a:t>
            </a:r>
            <a:endParaRPr lang="en-US" sz="1050" dirty="0">
              <a:latin typeface="Footlight MT Light" panose="0204060206030A020304" pitchFamily="18" charset="0"/>
            </a:endParaRPr>
          </a:p>
          <a:p>
            <a:pPr marL="0" indent="0" algn="ctr">
              <a:buNone/>
            </a:pPr>
            <a:r>
              <a:rPr lang="en-US" sz="1050" dirty="0">
                <a:solidFill>
                  <a:srgbClr val="FFFFFF"/>
                </a:solidFill>
                <a:latin typeface="Footlight MT Light" panose="0204060206030A020304" pitchFamily="18" charset="0"/>
                <a:ea typeface="Calibri" pitchFamily="34" charset="-122"/>
                <a:cs typeface="Calibri" pitchFamily="34" charset="-120"/>
              </a:rPr>
              <a:t>of Total Exports</a:t>
            </a:r>
            <a:endParaRPr lang="en-US" sz="1050" dirty="0">
              <a:latin typeface="Footlight MT Light" panose="0204060206030A020304" pitchFamily="18" charset="0"/>
            </a:endParaRPr>
          </a:p>
        </p:txBody>
      </p:sp>
      <p:sp>
        <p:nvSpPr>
          <p:cNvPr id="19" name="Text 17"/>
          <p:cNvSpPr/>
          <p:nvPr/>
        </p:nvSpPr>
        <p:spPr>
          <a:xfrm>
            <a:off x="6729984" y="2350008"/>
            <a:ext cx="1993392" cy="292608"/>
          </a:xfrm>
          <a:prstGeom prst="rect">
            <a:avLst/>
          </a:prstGeom>
          <a:noFill/>
          <a:ln/>
        </p:spPr>
        <p:txBody>
          <a:bodyPr wrap="square" rtlCol="0" anchor="ctr"/>
          <a:lstStyle/>
          <a:p>
            <a:pPr marL="0" indent="0" algn="ctr">
              <a:buNone/>
            </a:pPr>
            <a:r>
              <a:rPr lang="en-US" sz="900" dirty="0">
                <a:solidFill>
                  <a:srgbClr val="F0C040"/>
                </a:solidFill>
                <a:latin typeface="Footlight MT Light" panose="0204060206030A020304" pitchFamily="18" charset="0"/>
                <a:ea typeface="Calibri" pitchFamily="34" charset="-122"/>
                <a:cs typeface="Calibri" pitchFamily="34" charset="-120"/>
              </a:rPr>
              <a:t>Economic Backbone</a:t>
            </a:r>
            <a:endParaRPr lang="en-US" sz="900" dirty="0">
              <a:latin typeface="Footlight MT Light" panose="0204060206030A020304" pitchFamily="18" charset="0"/>
            </a:endParaRPr>
          </a:p>
        </p:txBody>
      </p:sp>
      <p:sp>
        <p:nvSpPr>
          <p:cNvPr id="20" name="Text 18"/>
          <p:cNvSpPr/>
          <p:nvPr/>
        </p:nvSpPr>
        <p:spPr>
          <a:xfrm>
            <a:off x="320040" y="2926080"/>
            <a:ext cx="8503920" cy="310896"/>
          </a:xfrm>
          <a:prstGeom prst="rect">
            <a:avLst/>
          </a:prstGeom>
          <a:noFill/>
          <a:ln/>
        </p:spPr>
        <p:txBody>
          <a:bodyPr wrap="square" rtlCol="0" anchor="ctr"/>
          <a:lstStyle/>
          <a:p>
            <a:pPr marL="0" indent="0">
              <a:buNone/>
            </a:pPr>
            <a:r>
              <a:rPr lang="en-US" sz="1500" b="1" dirty="0">
                <a:solidFill>
                  <a:srgbClr val="0D1F08"/>
                </a:solidFill>
                <a:latin typeface="Footlight MT Light" panose="0204060206030A020304" pitchFamily="18" charset="0"/>
                <a:ea typeface="Trebuchet MS" pitchFamily="34" charset="-122"/>
                <a:cs typeface="Trebuchet MS" pitchFamily="34" charset="-120"/>
              </a:rPr>
              <a:t>Guinea's Strategic Position</a:t>
            </a:r>
            <a:endParaRPr lang="en-US" sz="1500" dirty="0">
              <a:latin typeface="Footlight MT Light" panose="0204060206030A020304" pitchFamily="18" charset="0"/>
            </a:endParaRPr>
          </a:p>
        </p:txBody>
      </p:sp>
      <p:sp>
        <p:nvSpPr>
          <p:cNvPr id="21" name="Text 19"/>
          <p:cNvSpPr/>
          <p:nvPr/>
        </p:nvSpPr>
        <p:spPr>
          <a:xfrm>
            <a:off x="320040" y="3273552"/>
            <a:ext cx="8503920" cy="1481328"/>
          </a:xfrm>
          <a:prstGeom prst="rect">
            <a:avLst/>
          </a:prstGeom>
          <a:noFill/>
          <a:ln/>
        </p:spPr>
        <p:txBody>
          <a:bodyPr wrap="square" rtlCol="0" anchor="ctr"/>
          <a:lstStyle/>
          <a:p>
            <a:pPr marL="0" indent="0" algn="just">
              <a:buNone/>
            </a:pPr>
            <a:r>
              <a:rPr lang="en-US" sz="1400" dirty="0">
                <a:solidFill>
                  <a:srgbClr val="4A4A4A"/>
                </a:solidFill>
                <a:latin typeface="Footlight MT Light" panose="0204060206030A020304" pitchFamily="18" charset="0"/>
                <a:ea typeface="Calibri" pitchFamily="34" charset="-122"/>
                <a:cs typeface="Calibri" pitchFamily="34" charset="-120"/>
              </a:rPr>
              <a:t>Guinea holds some of the world's most significant mineral deposits — bauxite, iron ore, gold, and diamonds. Located in West Africa, its subsoil wealth makes mining the dominant economic driver. The Simandou iron ore project (Nzérékoré region) is among the largest untapped high-grade deposits globally, attracting over US$15B in Foreign Direct Investment. Despite this wealth, governance challenges, infrastructure gaps, and a large informal artisanal mining sector continue to limit the country's ability to fully capture mineral revenues.</a:t>
            </a:r>
            <a:endParaRPr lang="en-US" sz="1400" dirty="0">
              <a:latin typeface="Footlight MT Light" panose="0204060206030A020304" pitchFamily="18" charset="0"/>
            </a:endParaRPr>
          </a:p>
        </p:txBody>
      </p:sp>
      <p:sp>
        <p:nvSpPr>
          <p:cNvPr id="22" name="Shape 20"/>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D5A1B"/>
          </a:solidFill>
          <a:ln w="12700">
            <a:solidFill>
              <a:srgbClr val="2D5A1B"/>
            </a:solidFill>
            <a:prstDash val="solid"/>
          </a:ln>
        </p:spPr>
      </p:sp>
      <p:sp>
        <p:nvSpPr>
          <p:cNvPr id="3" name="Text 1"/>
          <p:cNvSpPr/>
          <p:nvPr/>
        </p:nvSpPr>
        <p:spPr>
          <a:xfrm>
            <a:off x="347472" y="128016"/>
            <a:ext cx="8412480" cy="566928"/>
          </a:xfrm>
          <a:prstGeom prst="rect">
            <a:avLst/>
          </a:prstGeom>
          <a:noFill/>
          <a:ln/>
        </p:spPr>
        <p:txBody>
          <a:bodyPr wrap="square" rtlCol="0" anchor="ctr"/>
          <a:lstStyle/>
          <a:p>
            <a:pPr marL="0" indent="0">
              <a:buNone/>
            </a:pPr>
            <a:r>
              <a:rPr lang="en-US" sz="2800" b="1" dirty="0">
                <a:solidFill>
                  <a:srgbClr val="FFFFFF"/>
                </a:solidFill>
                <a:latin typeface="Footlight MT Light" panose="0204060206030A020304" pitchFamily="18" charset="0"/>
                <a:ea typeface="Georgia" pitchFamily="34" charset="-122"/>
                <a:cs typeface="Georgia" pitchFamily="34" charset="-120"/>
              </a:rPr>
              <a:t>Large-Scale Mining (LSM)</a:t>
            </a:r>
            <a:endParaRPr lang="en-US" sz="2800" dirty="0">
              <a:latin typeface="Footlight MT Light" panose="0204060206030A020304" pitchFamily="18" charset="0"/>
            </a:endParaRPr>
          </a:p>
        </p:txBody>
      </p:sp>
      <p:sp>
        <p:nvSpPr>
          <p:cNvPr id="4" name="Shape 2"/>
          <p:cNvSpPr/>
          <p:nvPr/>
        </p:nvSpPr>
        <p:spPr>
          <a:xfrm>
            <a:off x="228600" y="914400"/>
            <a:ext cx="4206240" cy="329184"/>
          </a:xfrm>
          <a:prstGeom prst="rect">
            <a:avLst/>
          </a:prstGeom>
          <a:solidFill>
            <a:srgbClr val="2D5A1B"/>
          </a:solidFill>
          <a:ln w="12700">
            <a:solidFill>
              <a:srgbClr val="2D5A1B"/>
            </a:solidFill>
            <a:prstDash val="solid"/>
          </a:ln>
        </p:spPr>
      </p:sp>
      <p:sp>
        <p:nvSpPr>
          <p:cNvPr id="5" name="Text 3"/>
          <p:cNvSpPr/>
          <p:nvPr/>
        </p:nvSpPr>
        <p:spPr>
          <a:xfrm>
            <a:off x="228600" y="914400"/>
            <a:ext cx="4206240" cy="329184"/>
          </a:xfrm>
          <a:prstGeom prst="rect">
            <a:avLst/>
          </a:prstGeom>
          <a:noFill/>
          <a:ln/>
        </p:spPr>
        <p:txBody>
          <a:bodyPr wrap="square" rtlCol="0" anchor="ctr"/>
          <a:lstStyle/>
          <a:p>
            <a:pPr marL="0" indent="0" algn="ctr">
              <a:buNone/>
            </a:pPr>
            <a:r>
              <a:rPr lang="en-US" sz="1200" b="1" kern="0" spc="100" dirty="0">
                <a:solidFill>
                  <a:srgbClr val="FFFFFF"/>
                </a:solidFill>
                <a:latin typeface="Footlight MT Light" panose="0204060206030A020304" pitchFamily="18" charset="0"/>
                <a:ea typeface="Trebuchet MS" pitchFamily="34" charset="-122"/>
                <a:cs typeface="Trebuchet MS" pitchFamily="34" charset="-120"/>
              </a:rPr>
              <a:t>KEY OPERATORS &amp; PROJECTS</a:t>
            </a:r>
            <a:endParaRPr lang="en-US" sz="1200" dirty="0">
              <a:latin typeface="Footlight MT Light" panose="0204060206030A020304" pitchFamily="18" charset="0"/>
            </a:endParaRPr>
          </a:p>
        </p:txBody>
      </p:sp>
      <p:sp>
        <p:nvSpPr>
          <p:cNvPr id="6" name="Shape 4"/>
          <p:cNvSpPr/>
          <p:nvPr/>
        </p:nvSpPr>
        <p:spPr>
          <a:xfrm>
            <a:off x="228600" y="1298448"/>
            <a:ext cx="4206240" cy="603504"/>
          </a:xfrm>
          <a:prstGeom prst="rect">
            <a:avLst/>
          </a:prstGeom>
          <a:solidFill>
            <a:srgbClr val="EEF5EE"/>
          </a:solidFill>
          <a:ln w="6350">
            <a:solidFill>
              <a:srgbClr val="CCDDCC"/>
            </a:solidFill>
            <a:prstDash val="solid"/>
          </a:ln>
          <a:effectLst>
            <a:outerShdw blurRad="50800" dist="25400" dir="8100000" algn="bl" rotWithShape="0">
              <a:srgbClr val="000000">
                <a:alpha val="10000"/>
              </a:srgbClr>
            </a:outerShdw>
          </a:effectLst>
        </p:spPr>
      </p:sp>
      <p:sp>
        <p:nvSpPr>
          <p:cNvPr id="7" name="Text 5"/>
          <p:cNvSpPr/>
          <p:nvPr/>
        </p:nvSpPr>
        <p:spPr>
          <a:xfrm>
            <a:off x="347472" y="1335024"/>
            <a:ext cx="4005072" cy="219456"/>
          </a:xfrm>
          <a:prstGeom prst="rect">
            <a:avLst/>
          </a:prstGeom>
          <a:noFill/>
          <a:ln/>
        </p:spPr>
        <p:txBody>
          <a:bodyPr wrap="square" rtlCol="0" anchor="ctr"/>
          <a:lstStyle/>
          <a:p>
            <a:pPr marL="0" indent="0">
              <a:buNone/>
            </a:pPr>
            <a:r>
              <a:rPr lang="en-US" sz="1100" b="1" dirty="0">
                <a:solidFill>
                  <a:srgbClr val="2D5A1B"/>
                </a:solidFill>
                <a:latin typeface="Footlight MT Light" panose="0204060206030A020304" pitchFamily="18" charset="0"/>
                <a:ea typeface="Calibri" pitchFamily="34" charset="-122"/>
                <a:cs typeface="Calibri" pitchFamily="34" charset="-120"/>
              </a:rPr>
              <a:t>CBG – Compagnie des Bauxites de Guinée</a:t>
            </a:r>
            <a:endParaRPr lang="en-US" sz="1100" dirty="0">
              <a:latin typeface="Footlight MT Light" panose="0204060206030A020304" pitchFamily="18" charset="0"/>
            </a:endParaRPr>
          </a:p>
        </p:txBody>
      </p:sp>
      <p:sp>
        <p:nvSpPr>
          <p:cNvPr id="8" name="Text 6"/>
          <p:cNvSpPr/>
          <p:nvPr/>
        </p:nvSpPr>
        <p:spPr>
          <a:xfrm>
            <a:off x="347472" y="1572768"/>
            <a:ext cx="4005072" cy="274320"/>
          </a:xfrm>
          <a:prstGeom prst="rect">
            <a:avLst/>
          </a:prstGeom>
          <a:noFill/>
          <a:ln/>
        </p:spPr>
        <p:txBody>
          <a:bodyPr wrap="square" rtlCol="0" anchor="ctr"/>
          <a:lstStyle/>
          <a:p>
            <a:pPr marL="0" indent="0">
              <a:buNone/>
            </a:pPr>
            <a:r>
              <a:rPr lang="en-US" sz="1000" dirty="0">
                <a:solidFill>
                  <a:srgbClr val="4A4A4A"/>
                </a:solidFill>
                <a:latin typeface="Footlight MT Light" panose="0204060206030A020304" pitchFamily="18" charset="0"/>
                <a:ea typeface="Calibri" pitchFamily="34" charset="-122"/>
                <a:cs typeface="Calibri" pitchFamily="34" charset="-120"/>
              </a:rPr>
              <a:t>World's largest bauxite operation. ~15Mt/yr; Boké region. JV: Halco/Alcoa, Rio Tinto, Dadco.</a:t>
            </a:r>
            <a:endParaRPr lang="en-US" sz="1000" dirty="0">
              <a:latin typeface="Footlight MT Light" panose="0204060206030A020304" pitchFamily="18" charset="0"/>
            </a:endParaRPr>
          </a:p>
        </p:txBody>
      </p:sp>
      <p:sp>
        <p:nvSpPr>
          <p:cNvPr id="9" name="Shape 7"/>
          <p:cNvSpPr/>
          <p:nvPr/>
        </p:nvSpPr>
        <p:spPr>
          <a:xfrm>
            <a:off x="228600" y="1975104"/>
            <a:ext cx="4206240" cy="603504"/>
          </a:xfrm>
          <a:prstGeom prst="rect">
            <a:avLst/>
          </a:prstGeom>
          <a:solidFill>
            <a:srgbClr val="FFFFFF"/>
          </a:solidFill>
          <a:ln w="6350">
            <a:solidFill>
              <a:srgbClr val="CCDDCC"/>
            </a:solidFill>
            <a:prstDash val="solid"/>
          </a:ln>
          <a:effectLst>
            <a:outerShdw blurRad="50800" dist="25400" dir="8100000" algn="bl" rotWithShape="0">
              <a:srgbClr val="000000">
                <a:alpha val="10000"/>
              </a:srgbClr>
            </a:outerShdw>
          </a:effectLst>
        </p:spPr>
      </p:sp>
      <p:sp>
        <p:nvSpPr>
          <p:cNvPr id="10" name="Text 8"/>
          <p:cNvSpPr/>
          <p:nvPr/>
        </p:nvSpPr>
        <p:spPr>
          <a:xfrm>
            <a:off x="347472" y="2011680"/>
            <a:ext cx="4005072" cy="219456"/>
          </a:xfrm>
          <a:prstGeom prst="rect">
            <a:avLst/>
          </a:prstGeom>
          <a:noFill/>
          <a:ln/>
        </p:spPr>
        <p:txBody>
          <a:bodyPr wrap="square" rtlCol="0" anchor="ctr"/>
          <a:lstStyle/>
          <a:p>
            <a:pPr marL="0" indent="0">
              <a:buNone/>
            </a:pPr>
            <a:r>
              <a:rPr lang="en-US" sz="1100" b="1" dirty="0">
                <a:solidFill>
                  <a:srgbClr val="2D5A1B"/>
                </a:solidFill>
                <a:latin typeface="Footlight MT Light" panose="0204060206030A020304" pitchFamily="18" charset="0"/>
                <a:ea typeface="Calibri" pitchFamily="34" charset="-122"/>
                <a:cs typeface="Calibri" pitchFamily="34" charset="-120"/>
              </a:rPr>
              <a:t>SMB-Winning Consortium</a:t>
            </a:r>
            <a:endParaRPr lang="en-US" sz="1100" dirty="0">
              <a:latin typeface="Footlight MT Light" panose="0204060206030A020304" pitchFamily="18" charset="0"/>
            </a:endParaRPr>
          </a:p>
        </p:txBody>
      </p:sp>
      <p:sp>
        <p:nvSpPr>
          <p:cNvPr id="11" name="Text 9"/>
          <p:cNvSpPr/>
          <p:nvPr/>
        </p:nvSpPr>
        <p:spPr>
          <a:xfrm>
            <a:off x="347472" y="2249424"/>
            <a:ext cx="4005072" cy="27432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Rapid-growth bauxite producer. Target ~60Mt/yr from Boké. Chinese, Singaporean &amp; Guinean partners.</a:t>
            </a:r>
            <a:endParaRPr lang="en-US" sz="950" dirty="0">
              <a:latin typeface="Footlight MT Light" panose="0204060206030A020304" pitchFamily="18" charset="0"/>
            </a:endParaRPr>
          </a:p>
        </p:txBody>
      </p:sp>
      <p:sp>
        <p:nvSpPr>
          <p:cNvPr id="12" name="Shape 10"/>
          <p:cNvSpPr/>
          <p:nvPr/>
        </p:nvSpPr>
        <p:spPr>
          <a:xfrm>
            <a:off x="228600" y="2651760"/>
            <a:ext cx="4206240" cy="603504"/>
          </a:xfrm>
          <a:prstGeom prst="rect">
            <a:avLst/>
          </a:prstGeom>
          <a:solidFill>
            <a:srgbClr val="EEF5EE"/>
          </a:solidFill>
          <a:ln w="6350">
            <a:solidFill>
              <a:srgbClr val="CCDDCC"/>
            </a:solidFill>
            <a:prstDash val="solid"/>
          </a:ln>
          <a:effectLst>
            <a:outerShdw blurRad="50800" dist="25400" dir="8100000" algn="bl" rotWithShape="0">
              <a:srgbClr val="000000">
                <a:alpha val="10000"/>
              </a:srgbClr>
            </a:outerShdw>
          </a:effectLst>
        </p:spPr>
      </p:sp>
      <p:sp>
        <p:nvSpPr>
          <p:cNvPr id="13" name="Text 11"/>
          <p:cNvSpPr/>
          <p:nvPr/>
        </p:nvSpPr>
        <p:spPr>
          <a:xfrm>
            <a:off x="347472" y="2688336"/>
            <a:ext cx="4005072" cy="219456"/>
          </a:xfrm>
          <a:prstGeom prst="rect">
            <a:avLst/>
          </a:prstGeom>
          <a:noFill/>
          <a:ln/>
        </p:spPr>
        <p:txBody>
          <a:bodyPr wrap="square" rtlCol="0" anchor="ctr"/>
          <a:lstStyle/>
          <a:p>
            <a:pPr marL="0" indent="0">
              <a:buNone/>
            </a:pPr>
            <a:r>
              <a:rPr lang="en-US" sz="1100" b="1" dirty="0">
                <a:solidFill>
                  <a:srgbClr val="2D5A1B"/>
                </a:solidFill>
                <a:latin typeface="Footlight MT Light" panose="0204060206030A020304" pitchFamily="18" charset="0"/>
                <a:ea typeface="Calibri" pitchFamily="34" charset="-122"/>
                <a:cs typeface="Calibri" pitchFamily="34" charset="-120"/>
              </a:rPr>
              <a:t>Simandou Iron Ore Project</a:t>
            </a:r>
            <a:endParaRPr lang="en-US" sz="1100" dirty="0">
              <a:latin typeface="Footlight MT Light" panose="0204060206030A020304" pitchFamily="18" charset="0"/>
            </a:endParaRPr>
          </a:p>
        </p:txBody>
      </p:sp>
      <p:sp>
        <p:nvSpPr>
          <p:cNvPr id="14" name="Text 12"/>
          <p:cNvSpPr/>
          <p:nvPr/>
        </p:nvSpPr>
        <p:spPr>
          <a:xfrm>
            <a:off x="347472" y="2926080"/>
            <a:ext cx="4005072" cy="27432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JV: Rio Tinto, Baowu Steel, SMB-Winning &amp; GoG. US$15B+ investment. New 650km rail &amp; Morebayah port.</a:t>
            </a:r>
            <a:endParaRPr lang="en-US" sz="950" dirty="0">
              <a:latin typeface="Footlight MT Light" panose="0204060206030A020304" pitchFamily="18" charset="0"/>
            </a:endParaRPr>
          </a:p>
        </p:txBody>
      </p:sp>
      <p:sp>
        <p:nvSpPr>
          <p:cNvPr id="15" name="Shape 13"/>
          <p:cNvSpPr/>
          <p:nvPr/>
        </p:nvSpPr>
        <p:spPr>
          <a:xfrm>
            <a:off x="228600" y="3328416"/>
            <a:ext cx="4206240" cy="603504"/>
          </a:xfrm>
          <a:prstGeom prst="rect">
            <a:avLst/>
          </a:prstGeom>
          <a:solidFill>
            <a:srgbClr val="FFFFFF"/>
          </a:solidFill>
          <a:ln w="6350">
            <a:solidFill>
              <a:srgbClr val="CCDDCC"/>
            </a:solidFill>
            <a:prstDash val="solid"/>
          </a:ln>
          <a:effectLst>
            <a:outerShdw blurRad="50800" dist="25400" dir="8100000" algn="bl" rotWithShape="0">
              <a:srgbClr val="000000">
                <a:alpha val="10000"/>
              </a:srgbClr>
            </a:outerShdw>
          </a:effectLst>
        </p:spPr>
      </p:sp>
      <p:sp>
        <p:nvSpPr>
          <p:cNvPr id="16" name="Text 14"/>
          <p:cNvSpPr/>
          <p:nvPr/>
        </p:nvSpPr>
        <p:spPr>
          <a:xfrm>
            <a:off x="347472" y="3364992"/>
            <a:ext cx="4005072" cy="219456"/>
          </a:xfrm>
          <a:prstGeom prst="rect">
            <a:avLst/>
          </a:prstGeom>
          <a:noFill/>
          <a:ln/>
        </p:spPr>
        <p:txBody>
          <a:bodyPr wrap="square" rtlCol="0" anchor="ctr"/>
          <a:lstStyle/>
          <a:p>
            <a:pPr marL="0" indent="0">
              <a:buNone/>
            </a:pPr>
            <a:r>
              <a:rPr lang="en-US" sz="1100" b="1" dirty="0">
                <a:solidFill>
                  <a:srgbClr val="2D5A1B"/>
                </a:solidFill>
                <a:latin typeface="Footlight MT Light" panose="0204060206030A020304" pitchFamily="18" charset="0"/>
                <a:ea typeface="Calibri" pitchFamily="34" charset="-122"/>
                <a:cs typeface="Calibri" pitchFamily="34" charset="-120"/>
              </a:rPr>
              <a:t>SAG – Société Aurifère de Guinée</a:t>
            </a:r>
            <a:endParaRPr lang="en-US" sz="1100" dirty="0">
              <a:latin typeface="Footlight MT Light" panose="0204060206030A020304" pitchFamily="18" charset="0"/>
            </a:endParaRPr>
          </a:p>
        </p:txBody>
      </p:sp>
      <p:sp>
        <p:nvSpPr>
          <p:cNvPr id="17" name="Text 15"/>
          <p:cNvSpPr/>
          <p:nvPr/>
        </p:nvSpPr>
        <p:spPr>
          <a:xfrm>
            <a:off x="347472" y="3602736"/>
            <a:ext cx="4005072" cy="27432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AngloGold Ashanti. Siguiri gold mine, Haute-Guinée. ~380,000–420,000 oz/yr output.</a:t>
            </a:r>
            <a:endParaRPr lang="en-US" sz="950" dirty="0">
              <a:latin typeface="Footlight MT Light" panose="0204060206030A020304" pitchFamily="18" charset="0"/>
            </a:endParaRPr>
          </a:p>
        </p:txBody>
      </p:sp>
      <p:sp>
        <p:nvSpPr>
          <p:cNvPr id="18" name="Shape 16"/>
          <p:cNvSpPr/>
          <p:nvPr/>
        </p:nvSpPr>
        <p:spPr>
          <a:xfrm>
            <a:off x="228600" y="4005072"/>
            <a:ext cx="4206240" cy="603504"/>
          </a:xfrm>
          <a:prstGeom prst="rect">
            <a:avLst/>
          </a:prstGeom>
          <a:solidFill>
            <a:srgbClr val="EEF5EE"/>
          </a:solidFill>
          <a:ln w="6350">
            <a:solidFill>
              <a:srgbClr val="CCDDCC"/>
            </a:solidFill>
            <a:prstDash val="solid"/>
          </a:ln>
          <a:effectLst>
            <a:outerShdw blurRad="50800" dist="25400" dir="8100000" algn="bl" rotWithShape="0">
              <a:srgbClr val="000000">
                <a:alpha val="10000"/>
              </a:srgbClr>
            </a:outerShdw>
          </a:effectLst>
        </p:spPr>
      </p:sp>
      <p:sp>
        <p:nvSpPr>
          <p:cNvPr id="19" name="Text 17"/>
          <p:cNvSpPr/>
          <p:nvPr/>
        </p:nvSpPr>
        <p:spPr>
          <a:xfrm>
            <a:off x="347472" y="4041648"/>
            <a:ext cx="4005072" cy="219456"/>
          </a:xfrm>
          <a:prstGeom prst="rect">
            <a:avLst/>
          </a:prstGeom>
          <a:noFill/>
          <a:ln/>
        </p:spPr>
        <p:txBody>
          <a:bodyPr wrap="square" rtlCol="0" anchor="ctr"/>
          <a:lstStyle/>
          <a:p>
            <a:pPr marL="0" indent="0">
              <a:buNone/>
            </a:pPr>
            <a:r>
              <a:rPr lang="en-US" sz="1100" b="1" dirty="0">
                <a:solidFill>
                  <a:srgbClr val="2D5A1B"/>
                </a:solidFill>
                <a:latin typeface="Footlight MT Light" panose="0204060206030A020304" pitchFamily="18" charset="0"/>
                <a:ea typeface="Calibri" pitchFamily="34" charset="-122"/>
                <a:cs typeface="Calibri" pitchFamily="34" charset="-120"/>
              </a:rPr>
              <a:t>COBAD (Dian-Dian Bauxite)</a:t>
            </a:r>
            <a:endParaRPr lang="en-US" sz="1100" dirty="0">
              <a:latin typeface="Footlight MT Light" panose="0204060206030A020304" pitchFamily="18" charset="0"/>
            </a:endParaRPr>
          </a:p>
        </p:txBody>
      </p:sp>
      <p:sp>
        <p:nvSpPr>
          <p:cNvPr id="20" name="Text 18"/>
          <p:cNvSpPr/>
          <p:nvPr/>
        </p:nvSpPr>
        <p:spPr>
          <a:xfrm>
            <a:off x="347472" y="4279392"/>
            <a:ext cx="4005072" cy="27432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Halco Mining/Alcoa developing Boffa deposits. Major new bauxite mine in pipeline.</a:t>
            </a:r>
            <a:endParaRPr lang="en-US" sz="950" dirty="0">
              <a:latin typeface="Footlight MT Light" panose="0204060206030A020304" pitchFamily="18" charset="0"/>
            </a:endParaRPr>
          </a:p>
        </p:txBody>
      </p:sp>
      <p:sp>
        <p:nvSpPr>
          <p:cNvPr id="21" name="Shape 19"/>
          <p:cNvSpPr/>
          <p:nvPr/>
        </p:nvSpPr>
        <p:spPr>
          <a:xfrm>
            <a:off x="4709160" y="914400"/>
            <a:ext cx="4206240" cy="329184"/>
          </a:xfrm>
          <a:prstGeom prst="rect">
            <a:avLst/>
          </a:prstGeom>
          <a:solidFill>
            <a:srgbClr val="C8920A"/>
          </a:solidFill>
          <a:ln w="12700">
            <a:solidFill>
              <a:srgbClr val="C8920A"/>
            </a:solidFill>
            <a:prstDash val="solid"/>
          </a:ln>
        </p:spPr>
      </p:sp>
      <p:sp>
        <p:nvSpPr>
          <p:cNvPr id="22" name="Text 20"/>
          <p:cNvSpPr/>
          <p:nvPr/>
        </p:nvSpPr>
        <p:spPr>
          <a:xfrm>
            <a:off x="4709160" y="914400"/>
            <a:ext cx="4206240" cy="329184"/>
          </a:xfrm>
          <a:prstGeom prst="rect">
            <a:avLst/>
          </a:prstGeom>
          <a:noFill/>
          <a:ln/>
        </p:spPr>
        <p:txBody>
          <a:bodyPr wrap="square" rtlCol="0" anchor="ctr"/>
          <a:lstStyle/>
          <a:p>
            <a:pPr marL="0" indent="0" algn="ctr">
              <a:buNone/>
            </a:pPr>
            <a:r>
              <a:rPr lang="en-US" sz="1200" b="1" kern="0" spc="100" dirty="0">
                <a:solidFill>
                  <a:srgbClr val="FFFFFF"/>
                </a:solidFill>
                <a:latin typeface="Footlight MT Light" panose="0204060206030A020304" pitchFamily="18" charset="0"/>
                <a:ea typeface="Trebuchet MS" pitchFamily="34" charset="-122"/>
                <a:cs typeface="Trebuchet MS" pitchFamily="34" charset="-120"/>
              </a:rPr>
              <a:t>LARGE-SCALE MINING FRAMEWORK &amp; FEATURES</a:t>
            </a:r>
            <a:endParaRPr lang="en-US" sz="1200" dirty="0">
              <a:latin typeface="Footlight MT Light" panose="0204060206030A020304" pitchFamily="18" charset="0"/>
            </a:endParaRPr>
          </a:p>
        </p:txBody>
      </p:sp>
      <p:sp>
        <p:nvSpPr>
          <p:cNvPr id="23" name="Shape 21"/>
          <p:cNvSpPr/>
          <p:nvPr/>
        </p:nvSpPr>
        <p:spPr>
          <a:xfrm>
            <a:off x="4709160" y="1298448"/>
            <a:ext cx="4206240" cy="786384"/>
          </a:xfrm>
          <a:prstGeom prst="rect">
            <a:avLst/>
          </a:prstGeom>
          <a:solidFill>
            <a:srgbClr val="F7FAFE"/>
          </a:solidFill>
          <a:ln w="6350">
            <a:solidFill>
              <a:srgbClr val="D0DDEE"/>
            </a:solidFill>
            <a:prstDash val="solid"/>
          </a:ln>
          <a:effectLst>
            <a:outerShdw blurRad="50800" dist="25400" dir="8100000" algn="bl" rotWithShape="0">
              <a:srgbClr val="000000">
                <a:alpha val="10000"/>
              </a:srgbClr>
            </a:outerShdw>
          </a:effectLst>
        </p:spPr>
      </p:sp>
      <p:sp>
        <p:nvSpPr>
          <p:cNvPr id="24" name="Shape 22"/>
          <p:cNvSpPr/>
          <p:nvPr/>
        </p:nvSpPr>
        <p:spPr>
          <a:xfrm>
            <a:off x="4709160" y="1298448"/>
            <a:ext cx="64008" cy="786384"/>
          </a:xfrm>
          <a:prstGeom prst="rect">
            <a:avLst/>
          </a:prstGeom>
          <a:solidFill>
            <a:srgbClr val="C8920A"/>
          </a:solidFill>
          <a:ln w="12700">
            <a:solidFill>
              <a:srgbClr val="C8920A"/>
            </a:solidFill>
            <a:prstDash val="solid"/>
          </a:ln>
        </p:spPr>
      </p:sp>
      <p:sp>
        <p:nvSpPr>
          <p:cNvPr id="25" name="Text 23"/>
          <p:cNvSpPr/>
          <p:nvPr/>
        </p:nvSpPr>
        <p:spPr>
          <a:xfrm>
            <a:off x="4846320" y="1353312"/>
            <a:ext cx="3986784" cy="237744"/>
          </a:xfrm>
          <a:prstGeom prst="rect">
            <a:avLst/>
          </a:prstGeom>
          <a:noFill/>
          <a:ln/>
        </p:spPr>
        <p:txBody>
          <a:bodyPr wrap="square" rtlCol="0" anchor="ctr"/>
          <a:lstStyle/>
          <a:p>
            <a:pPr marL="0" indent="0">
              <a:buNone/>
            </a:pPr>
            <a:r>
              <a:rPr lang="en-US" sz="1150" b="1" dirty="0">
                <a:solidFill>
                  <a:srgbClr val="7D4E00"/>
                </a:solidFill>
                <a:latin typeface="Footlight MT Light" panose="0204060206030A020304" pitchFamily="18" charset="0"/>
                <a:ea typeface="Calibri" pitchFamily="34" charset="-122"/>
                <a:cs typeface="Calibri" pitchFamily="34" charset="-120"/>
              </a:rPr>
              <a:t>Regulatory Framework</a:t>
            </a:r>
            <a:endParaRPr lang="en-US" sz="1150" dirty="0">
              <a:latin typeface="Footlight MT Light" panose="0204060206030A020304" pitchFamily="18" charset="0"/>
            </a:endParaRPr>
          </a:p>
        </p:txBody>
      </p:sp>
      <p:sp>
        <p:nvSpPr>
          <p:cNvPr id="26" name="Text 24"/>
          <p:cNvSpPr/>
          <p:nvPr/>
        </p:nvSpPr>
        <p:spPr>
          <a:xfrm>
            <a:off x="4846320" y="1618488"/>
            <a:ext cx="3986784" cy="402336"/>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2011 Mining Code (amended 2013). Exploitation licences via Ministry of Mines. SOGUIPAMI holds state equity stakes.</a:t>
            </a:r>
            <a:endParaRPr lang="en-US" sz="950" dirty="0">
              <a:latin typeface="Footlight MT Light" panose="0204060206030A020304" pitchFamily="18" charset="0"/>
            </a:endParaRPr>
          </a:p>
        </p:txBody>
      </p:sp>
      <p:sp>
        <p:nvSpPr>
          <p:cNvPr id="27" name="Shape 25"/>
          <p:cNvSpPr/>
          <p:nvPr/>
        </p:nvSpPr>
        <p:spPr>
          <a:xfrm>
            <a:off x="4709160" y="2176272"/>
            <a:ext cx="4206240" cy="786384"/>
          </a:xfrm>
          <a:prstGeom prst="rect">
            <a:avLst/>
          </a:prstGeom>
          <a:solidFill>
            <a:srgbClr val="F7FAFE"/>
          </a:solidFill>
          <a:ln w="6350">
            <a:solidFill>
              <a:srgbClr val="D0DDEE"/>
            </a:solidFill>
            <a:prstDash val="solid"/>
          </a:ln>
          <a:effectLst>
            <a:outerShdw blurRad="50800" dist="25400" dir="8100000" algn="bl" rotWithShape="0">
              <a:srgbClr val="000000">
                <a:alpha val="10000"/>
              </a:srgbClr>
            </a:outerShdw>
          </a:effectLst>
        </p:spPr>
      </p:sp>
      <p:sp>
        <p:nvSpPr>
          <p:cNvPr id="28" name="Shape 26"/>
          <p:cNvSpPr/>
          <p:nvPr/>
        </p:nvSpPr>
        <p:spPr>
          <a:xfrm>
            <a:off x="4709160" y="2176272"/>
            <a:ext cx="64008" cy="786384"/>
          </a:xfrm>
          <a:prstGeom prst="rect">
            <a:avLst/>
          </a:prstGeom>
          <a:solidFill>
            <a:srgbClr val="C8920A"/>
          </a:solidFill>
          <a:ln w="12700">
            <a:solidFill>
              <a:srgbClr val="C8920A"/>
            </a:solidFill>
            <a:prstDash val="solid"/>
          </a:ln>
        </p:spPr>
      </p:sp>
      <p:sp>
        <p:nvSpPr>
          <p:cNvPr id="29" name="Text 27"/>
          <p:cNvSpPr/>
          <p:nvPr/>
        </p:nvSpPr>
        <p:spPr>
          <a:xfrm>
            <a:off x="4846320" y="2231136"/>
            <a:ext cx="3986784" cy="237744"/>
          </a:xfrm>
          <a:prstGeom prst="rect">
            <a:avLst/>
          </a:prstGeom>
          <a:noFill/>
          <a:ln/>
        </p:spPr>
        <p:txBody>
          <a:bodyPr wrap="square" rtlCol="0" anchor="ctr"/>
          <a:lstStyle/>
          <a:p>
            <a:pPr marL="0" indent="0">
              <a:buNone/>
            </a:pPr>
            <a:r>
              <a:rPr lang="en-US" sz="1150" b="1" dirty="0">
                <a:solidFill>
                  <a:srgbClr val="7D4E00"/>
                </a:solidFill>
                <a:latin typeface="Footlight MT Light" panose="0204060206030A020304" pitchFamily="18" charset="0"/>
                <a:ea typeface="Calibri" pitchFamily="34" charset="-122"/>
                <a:cs typeface="Calibri" pitchFamily="34" charset="-120"/>
              </a:rPr>
              <a:t>Export Infrastructure</a:t>
            </a:r>
            <a:endParaRPr lang="en-US" sz="1150" dirty="0">
              <a:latin typeface="Footlight MT Light" panose="0204060206030A020304" pitchFamily="18" charset="0"/>
            </a:endParaRPr>
          </a:p>
        </p:txBody>
      </p:sp>
      <p:sp>
        <p:nvSpPr>
          <p:cNvPr id="30" name="Text 28"/>
          <p:cNvSpPr/>
          <p:nvPr/>
        </p:nvSpPr>
        <p:spPr>
          <a:xfrm>
            <a:off x="4846320" y="2496312"/>
            <a:ext cx="3986784" cy="402336"/>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Kamsar Port for bulk bauxite. Simandou requires new 650km rail and Morebayah deep-water port.</a:t>
            </a:r>
            <a:endParaRPr lang="en-US" sz="950" dirty="0">
              <a:latin typeface="Footlight MT Light" panose="0204060206030A020304" pitchFamily="18" charset="0"/>
            </a:endParaRPr>
          </a:p>
        </p:txBody>
      </p:sp>
      <p:sp>
        <p:nvSpPr>
          <p:cNvPr id="31" name="Shape 29"/>
          <p:cNvSpPr/>
          <p:nvPr/>
        </p:nvSpPr>
        <p:spPr>
          <a:xfrm>
            <a:off x="4709160" y="3054096"/>
            <a:ext cx="4206240" cy="786384"/>
          </a:xfrm>
          <a:prstGeom prst="rect">
            <a:avLst/>
          </a:prstGeom>
          <a:solidFill>
            <a:srgbClr val="F7FAFE"/>
          </a:solidFill>
          <a:ln w="6350">
            <a:solidFill>
              <a:srgbClr val="D0DDEE"/>
            </a:solidFill>
            <a:prstDash val="solid"/>
          </a:ln>
          <a:effectLst>
            <a:outerShdw blurRad="50800" dist="25400" dir="8100000" algn="bl" rotWithShape="0">
              <a:srgbClr val="000000">
                <a:alpha val="10000"/>
              </a:srgbClr>
            </a:outerShdw>
          </a:effectLst>
        </p:spPr>
      </p:sp>
      <p:sp>
        <p:nvSpPr>
          <p:cNvPr id="32" name="Shape 30"/>
          <p:cNvSpPr/>
          <p:nvPr/>
        </p:nvSpPr>
        <p:spPr>
          <a:xfrm>
            <a:off x="4709160" y="3054096"/>
            <a:ext cx="64008" cy="786384"/>
          </a:xfrm>
          <a:prstGeom prst="rect">
            <a:avLst/>
          </a:prstGeom>
          <a:solidFill>
            <a:srgbClr val="C8920A"/>
          </a:solidFill>
          <a:ln w="12700">
            <a:solidFill>
              <a:srgbClr val="C8920A"/>
            </a:solidFill>
            <a:prstDash val="solid"/>
          </a:ln>
        </p:spPr>
      </p:sp>
      <p:sp>
        <p:nvSpPr>
          <p:cNvPr id="33" name="Text 31"/>
          <p:cNvSpPr/>
          <p:nvPr/>
        </p:nvSpPr>
        <p:spPr>
          <a:xfrm>
            <a:off x="4846320" y="3108960"/>
            <a:ext cx="3986784" cy="237744"/>
          </a:xfrm>
          <a:prstGeom prst="rect">
            <a:avLst/>
          </a:prstGeom>
          <a:noFill/>
          <a:ln/>
        </p:spPr>
        <p:txBody>
          <a:bodyPr wrap="square" rtlCol="0" anchor="ctr"/>
          <a:lstStyle/>
          <a:p>
            <a:pPr marL="0" indent="0">
              <a:buNone/>
            </a:pPr>
            <a:r>
              <a:rPr lang="en-US" sz="1150" b="1" dirty="0">
                <a:solidFill>
                  <a:srgbClr val="7D4E00"/>
                </a:solidFill>
                <a:latin typeface="Footlight MT Light" panose="0204060206030A020304" pitchFamily="18" charset="0"/>
                <a:ea typeface="Calibri" pitchFamily="34" charset="-122"/>
                <a:cs typeface="Calibri" pitchFamily="34" charset="-120"/>
              </a:rPr>
              <a:t>Employment &amp; Local Content</a:t>
            </a:r>
            <a:endParaRPr lang="en-US" sz="1150" dirty="0">
              <a:latin typeface="Footlight MT Light" panose="0204060206030A020304" pitchFamily="18" charset="0"/>
            </a:endParaRPr>
          </a:p>
        </p:txBody>
      </p:sp>
      <p:sp>
        <p:nvSpPr>
          <p:cNvPr id="34" name="Text 32"/>
          <p:cNvSpPr/>
          <p:nvPr/>
        </p:nvSpPr>
        <p:spPr>
          <a:xfrm>
            <a:off x="4846320" y="3374136"/>
            <a:ext cx="3986784" cy="402336"/>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CBG employs ~3,000 directly; tens of thousands indirectly. Local content obligations increasing under revised code.</a:t>
            </a:r>
            <a:endParaRPr lang="en-US" sz="950" dirty="0">
              <a:latin typeface="Footlight MT Light" panose="0204060206030A020304" pitchFamily="18" charset="0"/>
            </a:endParaRPr>
          </a:p>
        </p:txBody>
      </p:sp>
      <p:sp>
        <p:nvSpPr>
          <p:cNvPr id="35" name="Shape 33"/>
          <p:cNvSpPr/>
          <p:nvPr/>
        </p:nvSpPr>
        <p:spPr>
          <a:xfrm>
            <a:off x="4709160" y="3931920"/>
            <a:ext cx="4206240" cy="786384"/>
          </a:xfrm>
          <a:prstGeom prst="rect">
            <a:avLst/>
          </a:prstGeom>
          <a:solidFill>
            <a:srgbClr val="F7FAFE"/>
          </a:solidFill>
          <a:ln w="6350">
            <a:solidFill>
              <a:srgbClr val="D0DDEE"/>
            </a:solidFill>
            <a:prstDash val="solid"/>
          </a:ln>
          <a:effectLst>
            <a:outerShdw blurRad="50800" dist="25400" dir="8100000" algn="bl" rotWithShape="0">
              <a:srgbClr val="000000">
                <a:alpha val="10000"/>
              </a:srgbClr>
            </a:outerShdw>
          </a:effectLst>
        </p:spPr>
      </p:sp>
      <p:sp>
        <p:nvSpPr>
          <p:cNvPr id="36" name="Shape 34"/>
          <p:cNvSpPr/>
          <p:nvPr/>
        </p:nvSpPr>
        <p:spPr>
          <a:xfrm>
            <a:off x="4709160" y="3931920"/>
            <a:ext cx="64008" cy="786384"/>
          </a:xfrm>
          <a:prstGeom prst="rect">
            <a:avLst/>
          </a:prstGeom>
          <a:solidFill>
            <a:srgbClr val="C8920A"/>
          </a:solidFill>
          <a:ln w="12700">
            <a:solidFill>
              <a:srgbClr val="C8920A"/>
            </a:solidFill>
            <a:prstDash val="solid"/>
          </a:ln>
        </p:spPr>
      </p:sp>
      <p:sp>
        <p:nvSpPr>
          <p:cNvPr id="37" name="Text 35"/>
          <p:cNvSpPr/>
          <p:nvPr/>
        </p:nvSpPr>
        <p:spPr>
          <a:xfrm>
            <a:off x="4846320" y="3986784"/>
            <a:ext cx="3986784" cy="237744"/>
          </a:xfrm>
          <a:prstGeom prst="rect">
            <a:avLst/>
          </a:prstGeom>
          <a:noFill/>
          <a:ln/>
        </p:spPr>
        <p:txBody>
          <a:bodyPr wrap="square" rtlCol="0" anchor="ctr"/>
          <a:lstStyle/>
          <a:p>
            <a:pPr marL="0" indent="0">
              <a:buNone/>
            </a:pPr>
            <a:r>
              <a:rPr lang="en-US" sz="1150" b="1" dirty="0">
                <a:solidFill>
                  <a:srgbClr val="7D4E00"/>
                </a:solidFill>
                <a:latin typeface="Footlight MT Light" panose="0204060206030A020304" pitchFamily="18" charset="0"/>
                <a:ea typeface="Calibri" pitchFamily="34" charset="-122"/>
                <a:cs typeface="Calibri" pitchFamily="34" charset="-120"/>
              </a:rPr>
              <a:t>Revenue Mechanisms</a:t>
            </a:r>
            <a:endParaRPr lang="en-US" sz="1150" dirty="0">
              <a:latin typeface="Footlight MT Light" panose="0204060206030A020304" pitchFamily="18" charset="0"/>
            </a:endParaRPr>
          </a:p>
        </p:txBody>
      </p:sp>
      <p:sp>
        <p:nvSpPr>
          <p:cNvPr id="38" name="Text 36"/>
          <p:cNvSpPr/>
          <p:nvPr/>
        </p:nvSpPr>
        <p:spPr>
          <a:xfrm>
            <a:off x="4846320" y="4251960"/>
            <a:ext cx="3986784" cy="402336"/>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Royalties (3–5%), corporate tax, surface rents, and state equity participation via SOGUIPAMI.</a:t>
            </a:r>
            <a:endParaRPr lang="en-US" sz="950" dirty="0">
              <a:latin typeface="Footlight MT Light" panose="0204060206030A020304" pitchFamily="18" charset="0"/>
            </a:endParaRPr>
          </a:p>
        </p:txBody>
      </p:sp>
      <p:sp>
        <p:nvSpPr>
          <p:cNvPr id="39" name="Shape 37"/>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8B1A1A"/>
          </a:solidFill>
          <a:ln w="12700">
            <a:solidFill>
              <a:srgbClr val="8B1A1A"/>
            </a:solidFill>
            <a:prstDash val="solid"/>
          </a:ln>
        </p:spPr>
      </p:sp>
      <p:sp>
        <p:nvSpPr>
          <p:cNvPr id="3" name="Text 1"/>
          <p:cNvSpPr/>
          <p:nvPr/>
        </p:nvSpPr>
        <p:spPr>
          <a:xfrm>
            <a:off x="347472" y="128016"/>
            <a:ext cx="8412480" cy="566928"/>
          </a:xfrm>
          <a:prstGeom prst="rect">
            <a:avLst/>
          </a:prstGeom>
          <a:noFill/>
          <a:ln/>
        </p:spPr>
        <p:txBody>
          <a:bodyPr wrap="square" rtlCol="0" anchor="ctr"/>
          <a:lstStyle/>
          <a:p>
            <a:pPr marL="0" indent="0">
              <a:buNone/>
            </a:pPr>
            <a:r>
              <a:rPr lang="en-US" sz="2800" b="1" dirty="0">
                <a:solidFill>
                  <a:srgbClr val="FFFFFF"/>
                </a:solidFill>
                <a:latin typeface="Footlight MT Light" panose="0204060206030A020304" pitchFamily="18" charset="0"/>
                <a:ea typeface="Georgia" pitchFamily="34" charset="-122"/>
                <a:cs typeface="Georgia" pitchFamily="34" charset="-120"/>
              </a:rPr>
              <a:t>Artisanal &amp; Small-Scale Mining (ASM)</a:t>
            </a:r>
            <a:endParaRPr lang="en-US" sz="2800" dirty="0">
              <a:latin typeface="Footlight MT Light" panose="0204060206030A020304" pitchFamily="18" charset="0"/>
            </a:endParaRPr>
          </a:p>
        </p:txBody>
      </p:sp>
      <p:sp>
        <p:nvSpPr>
          <p:cNvPr id="4" name="Shape 2"/>
          <p:cNvSpPr/>
          <p:nvPr/>
        </p:nvSpPr>
        <p:spPr>
          <a:xfrm>
            <a:off x="256032" y="914400"/>
            <a:ext cx="1993392" cy="1188720"/>
          </a:xfrm>
          <a:prstGeom prst="rect">
            <a:avLst/>
          </a:prstGeom>
          <a:solidFill>
            <a:srgbClr val="8B1A1A"/>
          </a:solidFill>
          <a:ln/>
          <a:effectLst>
            <a:outerShdw blurRad="101600" dist="38100" dir="8100000" algn="bl" rotWithShape="0">
              <a:srgbClr val="000000">
                <a:alpha val="15000"/>
              </a:srgbClr>
            </a:outerShdw>
          </a:effectLst>
        </p:spPr>
      </p:sp>
      <p:sp>
        <p:nvSpPr>
          <p:cNvPr id="5" name="Text 3"/>
          <p:cNvSpPr/>
          <p:nvPr/>
        </p:nvSpPr>
        <p:spPr>
          <a:xfrm>
            <a:off x="256032" y="950976"/>
            <a:ext cx="1993392" cy="640080"/>
          </a:xfrm>
          <a:prstGeom prst="rect">
            <a:avLst/>
          </a:prstGeom>
          <a:noFill/>
          <a:ln/>
        </p:spPr>
        <p:txBody>
          <a:bodyPr wrap="square" rtlCol="0" anchor="ctr"/>
          <a:lstStyle/>
          <a:p>
            <a:pPr marL="0" indent="0" algn="ctr">
              <a:buNone/>
            </a:pPr>
            <a:r>
              <a:rPr lang="en-US" sz="2200" b="1" dirty="0">
                <a:solidFill>
                  <a:srgbClr val="FFFFFF"/>
                </a:solidFill>
                <a:latin typeface="Footlight MT Light" panose="0204060206030A020304" pitchFamily="18" charset="0"/>
                <a:ea typeface="Georgia" pitchFamily="34" charset="-122"/>
                <a:cs typeface="Georgia" pitchFamily="34" charset="-120"/>
              </a:rPr>
              <a:t>1M+</a:t>
            </a:r>
            <a:endParaRPr lang="en-US" sz="2200" dirty="0">
              <a:latin typeface="Footlight MT Light" panose="0204060206030A020304" pitchFamily="18" charset="0"/>
            </a:endParaRPr>
          </a:p>
        </p:txBody>
      </p:sp>
      <p:sp>
        <p:nvSpPr>
          <p:cNvPr id="6" name="Text 4"/>
          <p:cNvSpPr/>
          <p:nvPr/>
        </p:nvSpPr>
        <p:spPr>
          <a:xfrm>
            <a:off x="256032" y="1591056"/>
            <a:ext cx="1993392" cy="438912"/>
          </a:xfrm>
          <a:prstGeom prst="rect">
            <a:avLst/>
          </a:prstGeom>
          <a:noFill/>
          <a:ln/>
        </p:spPr>
        <p:txBody>
          <a:bodyPr wrap="square" rtlCol="0" anchor="ctr"/>
          <a:lstStyle/>
          <a:p>
            <a:pPr marL="0" indent="0" algn="ctr">
              <a:buNone/>
            </a:pPr>
            <a:r>
              <a:rPr lang="en-US" sz="950" dirty="0">
                <a:solidFill>
                  <a:srgbClr val="FFCCCC"/>
                </a:solidFill>
                <a:latin typeface="Footlight MT Light" panose="0204060206030A020304" pitchFamily="18" charset="0"/>
                <a:ea typeface="Calibri" pitchFamily="34" charset="-122"/>
                <a:cs typeface="Calibri" pitchFamily="34" charset="-120"/>
              </a:rPr>
              <a:t>Estimated</a:t>
            </a:r>
            <a:endParaRPr lang="en-US" sz="950" dirty="0">
              <a:latin typeface="Footlight MT Light" panose="0204060206030A020304" pitchFamily="18" charset="0"/>
            </a:endParaRPr>
          </a:p>
          <a:p>
            <a:pPr marL="0" indent="0" algn="ctr">
              <a:buNone/>
            </a:pPr>
            <a:r>
              <a:rPr lang="en-US" sz="950" dirty="0">
                <a:solidFill>
                  <a:srgbClr val="FFCCCC"/>
                </a:solidFill>
                <a:latin typeface="Footlight MT Light" panose="0204060206030A020304" pitchFamily="18" charset="0"/>
                <a:ea typeface="Calibri" pitchFamily="34" charset="-122"/>
                <a:cs typeface="Calibri" pitchFamily="34" charset="-120"/>
              </a:rPr>
              <a:t>Artisanal Miners</a:t>
            </a:r>
            <a:endParaRPr lang="en-US" sz="950" dirty="0">
              <a:latin typeface="Footlight MT Light" panose="0204060206030A020304" pitchFamily="18" charset="0"/>
            </a:endParaRPr>
          </a:p>
        </p:txBody>
      </p:sp>
      <p:sp>
        <p:nvSpPr>
          <p:cNvPr id="7" name="Shape 5"/>
          <p:cNvSpPr/>
          <p:nvPr/>
        </p:nvSpPr>
        <p:spPr>
          <a:xfrm>
            <a:off x="2414016" y="914400"/>
            <a:ext cx="1993392" cy="1188720"/>
          </a:xfrm>
          <a:prstGeom prst="rect">
            <a:avLst/>
          </a:prstGeom>
          <a:solidFill>
            <a:srgbClr val="8B1A1A"/>
          </a:solidFill>
          <a:ln/>
          <a:effectLst>
            <a:outerShdw blurRad="101600" dist="38100" dir="8100000" algn="bl" rotWithShape="0">
              <a:srgbClr val="000000">
                <a:alpha val="15000"/>
              </a:srgbClr>
            </a:outerShdw>
          </a:effectLst>
        </p:spPr>
      </p:sp>
      <p:sp>
        <p:nvSpPr>
          <p:cNvPr id="8" name="Text 6"/>
          <p:cNvSpPr/>
          <p:nvPr/>
        </p:nvSpPr>
        <p:spPr>
          <a:xfrm>
            <a:off x="2414016" y="950976"/>
            <a:ext cx="1993392" cy="640080"/>
          </a:xfrm>
          <a:prstGeom prst="rect">
            <a:avLst/>
          </a:prstGeom>
          <a:noFill/>
          <a:ln/>
        </p:spPr>
        <p:txBody>
          <a:bodyPr wrap="square" rtlCol="0" anchor="ctr"/>
          <a:lstStyle/>
          <a:p>
            <a:pPr marL="0" indent="0" algn="ctr">
              <a:buNone/>
            </a:pPr>
            <a:r>
              <a:rPr lang="en-US" sz="2200" b="1" dirty="0">
                <a:solidFill>
                  <a:srgbClr val="FFFFFF"/>
                </a:solidFill>
                <a:latin typeface="Footlight MT Light" panose="0204060206030A020304" pitchFamily="18" charset="0"/>
                <a:ea typeface="Georgia" pitchFamily="34" charset="-122"/>
                <a:cs typeface="Georgia" pitchFamily="34" charset="-120"/>
              </a:rPr>
              <a:t>~80%</a:t>
            </a:r>
            <a:endParaRPr lang="en-US" sz="2200" dirty="0">
              <a:latin typeface="Footlight MT Light" panose="0204060206030A020304" pitchFamily="18" charset="0"/>
            </a:endParaRPr>
          </a:p>
        </p:txBody>
      </p:sp>
      <p:sp>
        <p:nvSpPr>
          <p:cNvPr id="9" name="Text 7"/>
          <p:cNvSpPr/>
          <p:nvPr/>
        </p:nvSpPr>
        <p:spPr>
          <a:xfrm>
            <a:off x="2414016" y="1591056"/>
            <a:ext cx="1993392" cy="438912"/>
          </a:xfrm>
          <a:prstGeom prst="rect">
            <a:avLst/>
          </a:prstGeom>
          <a:noFill/>
          <a:ln/>
        </p:spPr>
        <p:txBody>
          <a:bodyPr wrap="square" rtlCol="0" anchor="ctr"/>
          <a:lstStyle/>
          <a:p>
            <a:pPr marL="0" indent="0" algn="ctr">
              <a:buNone/>
            </a:pPr>
            <a:r>
              <a:rPr lang="en-US" sz="950" dirty="0">
                <a:solidFill>
                  <a:srgbClr val="FFCCCC"/>
                </a:solidFill>
                <a:latin typeface="Footlight MT Light" panose="0204060206030A020304" pitchFamily="18" charset="0"/>
                <a:ea typeface="Calibri" pitchFamily="34" charset="-122"/>
                <a:cs typeface="Calibri" pitchFamily="34" charset="-120"/>
              </a:rPr>
              <a:t>Operate Without</a:t>
            </a:r>
            <a:endParaRPr lang="en-US" sz="950" dirty="0">
              <a:latin typeface="Footlight MT Light" panose="0204060206030A020304" pitchFamily="18" charset="0"/>
            </a:endParaRPr>
          </a:p>
          <a:p>
            <a:pPr marL="0" indent="0" algn="ctr">
              <a:buNone/>
            </a:pPr>
            <a:r>
              <a:rPr lang="en-US" sz="950" dirty="0">
                <a:solidFill>
                  <a:srgbClr val="FFCCCC"/>
                </a:solidFill>
                <a:latin typeface="Footlight MT Light" panose="0204060206030A020304" pitchFamily="18" charset="0"/>
                <a:ea typeface="Calibri" pitchFamily="34" charset="-122"/>
                <a:cs typeface="Calibri" pitchFamily="34" charset="-120"/>
              </a:rPr>
              <a:t>Formal Licence</a:t>
            </a:r>
            <a:endParaRPr lang="en-US" sz="950" dirty="0">
              <a:latin typeface="Footlight MT Light" panose="0204060206030A020304" pitchFamily="18" charset="0"/>
            </a:endParaRPr>
          </a:p>
        </p:txBody>
      </p:sp>
      <p:sp>
        <p:nvSpPr>
          <p:cNvPr id="10" name="Shape 8"/>
          <p:cNvSpPr/>
          <p:nvPr/>
        </p:nvSpPr>
        <p:spPr>
          <a:xfrm>
            <a:off x="4572000" y="914400"/>
            <a:ext cx="1993392" cy="1188720"/>
          </a:xfrm>
          <a:prstGeom prst="rect">
            <a:avLst/>
          </a:prstGeom>
          <a:solidFill>
            <a:srgbClr val="8B1A1A"/>
          </a:solidFill>
          <a:ln/>
          <a:effectLst>
            <a:outerShdw blurRad="101600" dist="38100" dir="8100000" algn="bl" rotWithShape="0">
              <a:srgbClr val="000000">
                <a:alpha val="15000"/>
              </a:srgbClr>
            </a:outerShdw>
          </a:effectLst>
        </p:spPr>
      </p:sp>
      <p:sp>
        <p:nvSpPr>
          <p:cNvPr id="11" name="Text 9"/>
          <p:cNvSpPr/>
          <p:nvPr/>
        </p:nvSpPr>
        <p:spPr>
          <a:xfrm>
            <a:off x="4572000" y="950976"/>
            <a:ext cx="1993392" cy="640080"/>
          </a:xfrm>
          <a:prstGeom prst="rect">
            <a:avLst/>
          </a:prstGeom>
          <a:noFill/>
          <a:ln/>
        </p:spPr>
        <p:txBody>
          <a:bodyPr wrap="square" rtlCol="0" anchor="ctr"/>
          <a:lstStyle/>
          <a:p>
            <a:pPr marL="0" indent="0" algn="ctr">
              <a:buNone/>
            </a:pPr>
            <a:r>
              <a:rPr lang="en-US" sz="2200" b="1" dirty="0">
                <a:solidFill>
                  <a:srgbClr val="FFFFFF"/>
                </a:solidFill>
                <a:latin typeface="Footlight MT Light" panose="0204060206030A020304" pitchFamily="18" charset="0"/>
                <a:ea typeface="Georgia" pitchFamily="34" charset="-122"/>
                <a:cs typeface="Georgia" pitchFamily="34" charset="-120"/>
              </a:rPr>
              <a:t>Gold &amp;</a:t>
            </a:r>
            <a:endParaRPr lang="en-US" sz="2200" dirty="0">
              <a:latin typeface="Footlight MT Light" panose="0204060206030A020304" pitchFamily="18" charset="0"/>
            </a:endParaRPr>
          </a:p>
          <a:p>
            <a:pPr marL="0" indent="0" algn="ctr">
              <a:buNone/>
            </a:pPr>
            <a:r>
              <a:rPr lang="en-US" sz="2200" b="1" dirty="0">
                <a:solidFill>
                  <a:srgbClr val="FFFFFF"/>
                </a:solidFill>
                <a:latin typeface="Footlight MT Light" panose="0204060206030A020304" pitchFamily="18" charset="0"/>
                <a:ea typeface="Georgia" pitchFamily="34" charset="-122"/>
                <a:cs typeface="Georgia" pitchFamily="34" charset="-120"/>
              </a:rPr>
              <a:t>Diamonds</a:t>
            </a:r>
            <a:endParaRPr lang="en-US" sz="2200" dirty="0">
              <a:latin typeface="Footlight MT Light" panose="0204060206030A020304" pitchFamily="18" charset="0"/>
            </a:endParaRPr>
          </a:p>
        </p:txBody>
      </p:sp>
      <p:sp>
        <p:nvSpPr>
          <p:cNvPr id="12" name="Text 10"/>
          <p:cNvSpPr/>
          <p:nvPr/>
        </p:nvSpPr>
        <p:spPr>
          <a:xfrm>
            <a:off x="4572000" y="1591056"/>
            <a:ext cx="1993392" cy="438912"/>
          </a:xfrm>
          <a:prstGeom prst="rect">
            <a:avLst/>
          </a:prstGeom>
          <a:noFill/>
          <a:ln/>
        </p:spPr>
        <p:txBody>
          <a:bodyPr wrap="square" rtlCol="0" anchor="ctr"/>
          <a:lstStyle/>
          <a:p>
            <a:pPr marL="0" indent="0" algn="ctr">
              <a:buNone/>
            </a:pPr>
            <a:r>
              <a:rPr lang="en-US" sz="950" dirty="0">
                <a:solidFill>
                  <a:srgbClr val="FFCCCC"/>
                </a:solidFill>
                <a:latin typeface="Footlight MT Light" panose="0204060206030A020304" pitchFamily="18" charset="0"/>
                <a:ea typeface="Calibri" pitchFamily="34" charset="-122"/>
                <a:cs typeface="Calibri" pitchFamily="34" charset="-120"/>
              </a:rPr>
              <a:t>Primary ASM</a:t>
            </a:r>
            <a:endParaRPr lang="en-US" sz="950" dirty="0">
              <a:latin typeface="Footlight MT Light" panose="0204060206030A020304" pitchFamily="18" charset="0"/>
            </a:endParaRPr>
          </a:p>
          <a:p>
            <a:pPr marL="0" indent="0" algn="ctr">
              <a:buNone/>
            </a:pPr>
            <a:r>
              <a:rPr lang="en-US" sz="950" dirty="0">
                <a:solidFill>
                  <a:srgbClr val="FFCCCC"/>
                </a:solidFill>
                <a:latin typeface="Footlight MT Light" panose="0204060206030A020304" pitchFamily="18" charset="0"/>
                <a:ea typeface="Calibri" pitchFamily="34" charset="-122"/>
                <a:cs typeface="Calibri" pitchFamily="34" charset="-120"/>
              </a:rPr>
              <a:t>Commodities</a:t>
            </a:r>
            <a:endParaRPr lang="en-US" sz="950" dirty="0">
              <a:latin typeface="Footlight MT Light" panose="0204060206030A020304" pitchFamily="18" charset="0"/>
            </a:endParaRPr>
          </a:p>
        </p:txBody>
      </p:sp>
      <p:sp>
        <p:nvSpPr>
          <p:cNvPr id="13" name="Shape 11"/>
          <p:cNvSpPr/>
          <p:nvPr/>
        </p:nvSpPr>
        <p:spPr>
          <a:xfrm>
            <a:off x="6729984" y="914400"/>
            <a:ext cx="1993392" cy="1188720"/>
          </a:xfrm>
          <a:prstGeom prst="rect">
            <a:avLst/>
          </a:prstGeom>
          <a:solidFill>
            <a:srgbClr val="8B1A1A"/>
          </a:solidFill>
          <a:ln/>
          <a:effectLst>
            <a:outerShdw blurRad="101600" dist="38100" dir="8100000" algn="bl" rotWithShape="0">
              <a:srgbClr val="000000">
                <a:alpha val="15000"/>
              </a:srgbClr>
            </a:outerShdw>
          </a:effectLst>
        </p:spPr>
      </p:sp>
      <p:sp>
        <p:nvSpPr>
          <p:cNvPr id="14" name="Text 12"/>
          <p:cNvSpPr/>
          <p:nvPr/>
        </p:nvSpPr>
        <p:spPr>
          <a:xfrm>
            <a:off x="6729984" y="950976"/>
            <a:ext cx="1993392" cy="640080"/>
          </a:xfrm>
          <a:prstGeom prst="rect">
            <a:avLst/>
          </a:prstGeom>
          <a:noFill/>
          <a:ln/>
        </p:spPr>
        <p:txBody>
          <a:bodyPr wrap="square" rtlCol="0" anchor="ctr"/>
          <a:lstStyle/>
          <a:p>
            <a:pPr marL="0" indent="0" algn="ctr">
              <a:buNone/>
            </a:pPr>
            <a:r>
              <a:rPr lang="en-US" sz="2200" b="1" dirty="0">
                <a:solidFill>
                  <a:srgbClr val="FFFFFF"/>
                </a:solidFill>
                <a:latin typeface="Footlight MT Light" panose="0204060206030A020304" pitchFamily="18" charset="0"/>
                <a:ea typeface="Georgia" pitchFamily="34" charset="-122"/>
                <a:cs typeface="Georgia" pitchFamily="34" charset="-120"/>
              </a:rPr>
              <a:t>$500M+</a:t>
            </a:r>
            <a:endParaRPr lang="en-US" sz="2200" dirty="0">
              <a:latin typeface="Footlight MT Light" panose="0204060206030A020304" pitchFamily="18" charset="0"/>
            </a:endParaRPr>
          </a:p>
        </p:txBody>
      </p:sp>
      <p:sp>
        <p:nvSpPr>
          <p:cNvPr id="15" name="Text 13"/>
          <p:cNvSpPr/>
          <p:nvPr/>
        </p:nvSpPr>
        <p:spPr>
          <a:xfrm>
            <a:off x="6729984" y="1591056"/>
            <a:ext cx="1993392" cy="438912"/>
          </a:xfrm>
          <a:prstGeom prst="rect">
            <a:avLst/>
          </a:prstGeom>
          <a:noFill/>
          <a:ln/>
        </p:spPr>
        <p:txBody>
          <a:bodyPr wrap="square" rtlCol="0" anchor="ctr"/>
          <a:lstStyle/>
          <a:p>
            <a:pPr marL="0" indent="0" algn="ctr">
              <a:buNone/>
            </a:pPr>
            <a:r>
              <a:rPr lang="en-US" sz="950" dirty="0">
                <a:solidFill>
                  <a:srgbClr val="FFCCCC"/>
                </a:solidFill>
                <a:latin typeface="Footlight MT Light" panose="0204060206030A020304" pitchFamily="18" charset="0"/>
                <a:ea typeface="Calibri" pitchFamily="34" charset="-122"/>
                <a:cs typeface="Calibri" pitchFamily="34" charset="-120"/>
              </a:rPr>
              <a:t>Est. Annual Revenue</a:t>
            </a:r>
            <a:endParaRPr lang="en-US" sz="950" dirty="0">
              <a:latin typeface="Footlight MT Light" panose="0204060206030A020304" pitchFamily="18" charset="0"/>
            </a:endParaRPr>
          </a:p>
          <a:p>
            <a:pPr marL="0" indent="0" algn="ctr">
              <a:buNone/>
            </a:pPr>
            <a:r>
              <a:rPr lang="en-US" sz="950" dirty="0">
                <a:solidFill>
                  <a:srgbClr val="FFCCCC"/>
                </a:solidFill>
                <a:latin typeface="Footlight MT Light" panose="0204060206030A020304" pitchFamily="18" charset="0"/>
                <a:ea typeface="Calibri" pitchFamily="34" charset="-122"/>
                <a:cs typeface="Calibri" pitchFamily="34" charset="-120"/>
              </a:rPr>
              <a:t>Lost to Smuggling</a:t>
            </a:r>
            <a:endParaRPr lang="en-US" sz="950" dirty="0">
              <a:latin typeface="Footlight MT Light" panose="0204060206030A020304" pitchFamily="18" charset="0"/>
            </a:endParaRPr>
          </a:p>
        </p:txBody>
      </p:sp>
      <p:sp>
        <p:nvSpPr>
          <p:cNvPr id="16" name="Shape 14"/>
          <p:cNvSpPr/>
          <p:nvPr/>
        </p:nvSpPr>
        <p:spPr>
          <a:xfrm>
            <a:off x="228600" y="2249424"/>
            <a:ext cx="64008" cy="713232"/>
          </a:xfrm>
          <a:prstGeom prst="rect">
            <a:avLst/>
          </a:prstGeom>
          <a:solidFill>
            <a:srgbClr val="8B1A1A"/>
          </a:solidFill>
          <a:ln w="12700">
            <a:solidFill>
              <a:srgbClr val="8B1A1A"/>
            </a:solidFill>
            <a:prstDash val="solid"/>
          </a:ln>
        </p:spPr>
      </p:sp>
      <p:sp>
        <p:nvSpPr>
          <p:cNvPr id="17" name="Text 15"/>
          <p:cNvSpPr/>
          <p:nvPr/>
        </p:nvSpPr>
        <p:spPr>
          <a:xfrm>
            <a:off x="411480" y="2286000"/>
            <a:ext cx="3913632" cy="256032"/>
          </a:xfrm>
          <a:prstGeom prst="rect">
            <a:avLst/>
          </a:prstGeom>
          <a:noFill/>
          <a:ln/>
        </p:spPr>
        <p:txBody>
          <a:bodyPr wrap="square" rtlCol="0" anchor="ctr"/>
          <a:lstStyle/>
          <a:p>
            <a:pPr marL="0" indent="0">
              <a:buNone/>
            </a:pPr>
            <a:r>
              <a:rPr lang="en-US" sz="1250" b="1" dirty="0">
                <a:solidFill>
                  <a:srgbClr val="0D1F08"/>
                </a:solidFill>
                <a:latin typeface="Footlight MT Light" panose="0204060206030A020304" pitchFamily="18" charset="0"/>
                <a:ea typeface="Trebuchet MS" pitchFamily="34" charset="-122"/>
                <a:cs typeface="Trebuchet MS" pitchFamily="34" charset="-120"/>
              </a:rPr>
              <a:t>Gold Panning</a:t>
            </a:r>
            <a:endParaRPr lang="en-US" sz="1250" dirty="0">
              <a:latin typeface="Footlight MT Light" panose="0204060206030A020304" pitchFamily="18" charset="0"/>
            </a:endParaRPr>
          </a:p>
        </p:txBody>
      </p:sp>
      <p:sp>
        <p:nvSpPr>
          <p:cNvPr id="18" name="Text 16"/>
          <p:cNvSpPr/>
          <p:nvPr/>
        </p:nvSpPr>
        <p:spPr>
          <a:xfrm>
            <a:off x="411480" y="2560320"/>
            <a:ext cx="3913632" cy="457200"/>
          </a:xfrm>
          <a:prstGeom prst="rect">
            <a:avLst/>
          </a:prstGeom>
          <a:noFill/>
          <a:ln/>
        </p:spPr>
        <p:txBody>
          <a:bodyPr wrap="square" rtlCol="0" anchor="ctr"/>
          <a:lstStyle/>
          <a:p>
            <a:pPr marL="0" indent="0">
              <a:buNone/>
            </a:pPr>
            <a:r>
              <a:rPr lang="en-US" sz="1050" dirty="0">
                <a:solidFill>
                  <a:srgbClr val="4A4A4A"/>
                </a:solidFill>
                <a:latin typeface="Footlight MT Light" panose="0204060206030A020304" pitchFamily="18" charset="0"/>
                <a:ea typeface="Calibri" pitchFamily="34" charset="-122"/>
                <a:cs typeface="Calibri" pitchFamily="34" charset="-120"/>
              </a:rPr>
              <a:t>Traditional panning along Milo, Fié, Kokoulo rivers. Small family/community operations, largely unregistered and untracked.</a:t>
            </a:r>
            <a:endParaRPr lang="en-US" sz="1050" dirty="0">
              <a:latin typeface="Footlight MT Light" panose="0204060206030A020304" pitchFamily="18" charset="0"/>
            </a:endParaRPr>
          </a:p>
        </p:txBody>
      </p:sp>
      <p:sp>
        <p:nvSpPr>
          <p:cNvPr id="19" name="Shape 17"/>
          <p:cNvSpPr/>
          <p:nvPr/>
        </p:nvSpPr>
        <p:spPr>
          <a:xfrm>
            <a:off x="228600" y="3163824"/>
            <a:ext cx="64008" cy="713232"/>
          </a:xfrm>
          <a:prstGeom prst="rect">
            <a:avLst/>
          </a:prstGeom>
          <a:solidFill>
            <a:srgbClr val="8B1A1A"/>
          </a:solidFill>
          <a:ln w="12700">
            <a:solidFill>
              <a:srgbClr val="8B1A1A"/>
            </a:solidFill>
            <a:prstDash val="solid"/>
          </a:ln>
        </p:spPr>
      </p:sp>
      <p:sp>
        <p:nvSpPr>
          <p:cNvPr id="20" name="Text 18"/>
          <p:cNvSpPr/>
          <p:nvPr/>
        </p:nvSpPr>
        <p:spPr>
          <a:xfrm>
            <a:off x="411480" y="3200400"/>
            <a:ext cx="3913632" cy="256032"/>
          </a:xfrm>
          <a:prstGeom prst="rect">
            <a:avLst/>
          </a:prstGeom>
          <a:noFill/>
          <a:ln/>
        </p:spPr>
        <p:txBody>
          <a:bodyPr wrap="square" rtlCol="0" anchor="ctr"/>
          <a:lstStyle/>
          <a:p>
            <a:pPr marL="0" indent="0">
              <a:buNone/>
            </a:pPr>
            <a:r>
              <a:rPr lang="en-US" sz="1250" b="1" dirty="0">
                <a:solidFill>
                  <a:srgbClr val="0D1F08"/>
                </a:solidFill>
                <a:latin typeface="Footlight MT Light" panose="0204060206030A020304" pitchFamily="18" charset="0"/>
                <a:ea typeface="Trebuchet MS" pitchFamily="34" charset="-122"/>
                <a:cs typeface="Trebuchet MS" pitchFamily="34" charset="-120"/>
              </a:rPr>
              <a:t>Diamond Digging</a:t>
            </a:r>
            <a:endParaRPr lang="en-US" sz="1250" dirty="0">
              <a:latin typeface="Footlight MT Light" panose="0204060206030A020304" pitchFamily="18" charset="0"/>
            </a:endParaRPr>
          </a:p>
        </p:txBody>
      </p:sp>
      <p:sp>
        <p:nvSpPr>
          <p:cNvPr id="21" name="Text 19"/>
          <p:cNvSpPr/>
          <p:nvPr/>
        </p:nvSpPr>
        <p:spPr>
          <a:xfrm>
            <a:off x="411480" y="3474720"/>
            <a:ext cx="3913632" cy="457200"/>
          </a:xfrm>
          <a:prstGeom prst="rect">
            <a:avLst/>
          </a:prstGeom>
          <a:noFill/>
          <a:ln/>
        </p:spPr>
        <p:txBody>
          <a:bodyPr wrap="square" rtlCol="0" anchor="ctr"/>
          <a:lstStyle/>
          <a:p>
            <a:pPr marL="0" indent="0">
              <a:buNone/>
            </a:pPr>
            <a:r>
              <a:rPr lang="en-US" sz="1050" dirty="0">
                <a:solidFill>
                  <a:srgbClr val="4A4A4A"/>
                </a:solidFill>
                <a:latin typeface="Footlight MT Light" panose="0204060206030A020304" pitchFamily="18" charset="0"/>
                <a:ea typeface="Calibri" pitchFamily="34" charset="-122"/>
                <a:cs typeface="Calibri" pitchFamily="34" charset="-120"/>
              </a:rPr>
              <a:t>Concentrated in Macenta, Beyla, Kérouané. Manual excavation; 80,000–120,000 ASM miners. Smuggling a major revenue leak.</a:t>
            </a:r>
            <a:endParaRPr lang="en-US" sz="1050" dirty="0">
              <a:latin typeface="Footlight MT Light" panose="0204060206030A020304" pitchFamily="18" charset="0"/>
            </a:endParaRPr>
          </a:p>
        </p:txBody>
      </p:sp>
      <p:sp>
        <p:nvSpPr>
          <p:cNvPr id="22" name="Shape 20"/>
          <p:cNvSpPr/>
          <p:nvPr/>
        </p:nvSpPr>
        <p:spPr>
          <a:xfrm>
            <a:off x="228600" y="4078224"/>
            <a:ext cx="64008" cy="713232"/>
          </a:xfrm>
          <a:prstGeom prst="rect">
            <a:avLst/>
          </a:prstGeom>
          <a:solidFill>
            <a:srgbClr val="8B1A1A"/>
          </a:solidFill>
          <a:ln w="12700">
            <a:solidFill>
              <a:srgbClr val="8B1A1A"/>
            </a:solidFill>
            <a:prstDash val="solid"/>
          </a:ln>
        </p:spPr>
      </p:sp>
      <p:sp>
        <p:nvSpPr>
          <p:cNvPr id="23" name="Text 21"/>
          <p:cNvSpPr/>
          <p:nvPr/>
        </p:nvSpPr>
        <p:spPr>
          <a:xfrm>
            <a:off x="411480" y="4114800"/>
            <a:ext cx="3913632" cy="256032"/>
          </a:xfrm>
          <a:prstGeom prst="rect">
            <a:avLst/>
          </a:prstGeom>
          <a:noFill/>
          <a:ln/>
        </p:spPr>
        <p:txBody>
          <a:bodyPr wrap="square" rtlCol="0" anchor="ctr"/>
          <a:lstStyle/>
          <a:p>
            <a:pPr marL="0" indent="0">
              <a:buNone/>
            </a:pPr>
            <a:r>
              <a:rPr lang="en-US" sz="1250" b="1" dirty="0">
                <a:solidFill>
                  <a:srgbClr val="0D1F08"/>
                </a:solidFill>
                <a:latin typeface="Footlight MT Light" panose="0204060206030A020304" pitchFamily="18" charset="0"/>
                <a:ea typeface="Trebuchet MS" pitchFamily="34" charset="-122"/>
                <a:cs typeface="Trebuchet MS" pitchFamily="34" charset="-120"/>
              </a:rPr>
              <a:t>Governance Gap</a:t>
            </a:r>
            <a:endParaRPr lang="en-US" sz="1250" dirty="0">
              <a:latin typeface="Footlight MT Light" panose="0204060206030A020304" pitchFamily="18" charset="0"/>
            </a:endParaRPr>
          </a:p>
        </p:txBody>
      </p:sp>
      <p:sp>
        <p:nvSpPr>
          <p:cNvPr id="24" name="Text 22"/>
          <p:cNvSpPr/>
          <p:nvPr/>
        </p:nvSpPr>
        <p:spPr>
          <a:xfrm>
            <a:off x="411480" y="4389120"/>
            <a:ext cx="3913632" cy="457200"/>
          </a:xfrm>
          <a:prstGeom prst="rect">
            <a:avLst/>
          </a:prstGeom>
          <a:noFill/>
          <a:ln/>
        </p:spPr>
        <p:txBody>
          <a:bodyPr wrap="square" rtlCol="0" anchor="ctr"/>
          <a:lstStyle/>
          <a:p>
            <a:pPr marL="0" indent="0">
              <a:buNone/>
            </a:pPr>
            <a:r>
              <a:rPr lang="en-US" sz="1050" dirty="0">
                <a:solidFill>
                  <a:srgbClr val="4A4A4A"/>
                </a:solidFill>
                <a:latin typeface="Footlight MT Light" panose="0204060206030A020304" pitchFamily="18" charset="0"/>
                <a:ea typeface="Calibri" pitchFamily="34" charset="-122"/>
                <a:cs typeface="Calibri" pitchFamily="34" charset="-120"/>
              </a:rPr>
              <a:t>The 2011 Mining Code introduced ASM permits but enforcement is weak. Over 80% operate outside the legal framework.</a:t>
            </a:r>
            <a:endParaRPr lang="en-US" sz="1050" dirty="0">
              <a:latin typeface="Footlight MT Light" panose="0204060206030A020304" pitchFamily="18" charset="0"/>
            </a:endParaRPr>
          </a:p>
        </p:txBody>
      </p:sp>
      <p:sp>
        <p:nvSpPr>
          <p:cNvPr id="25" name="Shape 23"/>
          <p:cNvSpPr/>
          <p:nvPr/>
        </p:nvSpPr>
        <p:spPr>
          <a:xfrm>
            <a:off x="4709160" y="2249424"/>
            <a:ext cx="64008" cy="713232"/>
          </a:xfrm>
          <a:prstGeom prst="rect">
            <a:avLst/>
          </a:prstGeom>
          <a:solidFill>
            <a:srgbClr val="C8920A"/>
          </a:solidFill>
          <a:ln w="12700">
            <a:solidFill>
              <a:srgbClr val="C8920A"/>
            </a:solidFill>
            <a:prstDash val="solid"/>
          </a:ln>
        </p:spPr>
      </p:sp>
      <p:sp>
        <p:nvSpPr>
          <p:cNvPr id="26" name="Text 24"/>
          <p:cNvSpPr/>
          <p:nvPr/>
        </p:nvSpPr>
        <p:spPr>
          <a:xfrm>
            <a:off x="4892040" y="2286000"/>
            <a:ext cx="3986784" cy="256032"/>
          </a:xfrm>
          <a:prstGeom prst="rect">
            <a:avLst/>
          </a:prstGeom>
          <a:noFill/>
          <a:ln/>
        </p:spPr>
        <p:txBody>
          <a:bodyPr wrap="square" rtlCol="0" anchor="ctr"/>
          <a:lstStyle/>
          <a:p>
            <a:pPr marL="0" indent="0">
              <a:buNone/>
            </a:pPr>
            <a:r>
              <a:rPr lang="en-US" sz="1250" b="1" dirty="0">
                <a:solidFill>
                  <a:srgbClr val="0D1F08"/>
                </a:solidFill>
                <a:latin typeface="Footlight MT Light" panose="0204060206030A020304" pitchFamily="18" charset="0"/>
                <a:ea typeface="Trebuchet MS" pitchFamily="34" charset="-122"/>
                <a:cs typeface="Trebuchet MS" pitchFamily="34" charset="-120"/>
              </a:rPr>
              <a:t>Livelihoods &amp; Poverty</a:t>
            </a:r>
            <a:endParaRPr lang="en-US" sz="1250" dirty="0">
              <a:latin typeface="Footlight MT Light" panose="0204060206030A020304" pitchFamily="18" charset="0"/>
            </a:endParaRPr>
          </a:p>
        </p:txBody>
      </p:sp>
      <p:sp>
        <p:nvSpPr>
          <p:cNvPr id="27" name="Text 25"/>
          <p:cNvSpPr/>
          <p:nvPr/>
        </p:nvSpPr>
        <p:spPr>
          <a:xfrm>
            <a:off x="4892040" y="2560320"/>
            <a:ext cx="3986784" cy="457200"/>
          </a:xfrm>
          <a:prstGeom prst="rect">
            <a:avLst/>
          </a:prstGeom>
          <a:noFill/>
          <a:ln/>
        </p:spPr>
        <p:txBody>
          <a:bodyPr wrap="square" rtlCol="0" anchor="ctr"/>
          <a:lstStyle/>
          <a:p>
            <a:pPr marL="0" indent="0">
              <a:buNone/>
            </a:pPr>
            <a:r>
              <a:rPr lang="en-US" sz="1050" dirty="0">
                <a:solidFill>
                  <a:srgbClr val="4A4A4A"/>
                </a:solidFill>
                <a:latin typeface="Footlight MT Light" panose="0204060206030A020304" pitchFamily="18" charset="0"/>
                <a:ea typeface="Calibri" pitchFamily="34" charset="-122"/>
                <a:cs typeface="Calibri" pitchFamily="34" charset="-120"/>
              </a:rPr>
              <a:t>ASM provides income to over 2 million people including dependents. Critical rural safety net but with few formal economic linkages.</a:t>
            </a:r>
            <a:endParaRPr lang="en-US" sz="1050" dirty="0">
              <a:latin typeface="Footlight MT Light" panose="0204060206030A020304" pitchFamily="18" charset="0"/>
            </a:endParaRPr>
          </a:p>
        </p:txBody>
      </p:sp>
      <p:sp>
        <p:nvSpPr>
          <p:cNvPr id="28" name="Shape 26"/>
          <p:cNvSpPr/>
          <p:nvPr/>
        </p:nvSpPr>
        <p:spPr>
          <a:xfrm>
            <a:off x="4709160" y="3163824"/>
            <a:ext cx="64008" cy="713232"/>
          </a:xfrm>
          <a:prstGeom prst="rect">
            <a:avLst/>
          </a:prstGeom>
          <a:solidFill>
            <a:srgbClr val="C8920A"/>
          </a:solidFill>
          <a:ln w="12700">
            <a:solidFill>
              <a:srgbClr val="C8920A"/>
            </a:solidFill>
            <a:prstDash val="solid"/>
          </a:ln>
        </p:spPr>
      </p:sp>
      <p:sp>
        <p:nvSpPr>
          <p:cNvPr id="29" name="Text 27"/>
          <p:cNvSpPr/>
          <p:nvPr/>
        </p:nvSpPr>
        <p:spPr>
          <a:xfrm>
            <a:off x="4892040" y="3200400"/>
            <a:ext cx="3986784" cy="256032"/>
          </a:xfrm>
          <a:prstGeom prst="rect">
            <a:avLst/>
          </a:prstGeom>
          <a:noFill/>
          <a:ln/>
        </p:spPr>
        <p:txBody>
          <a:bodyPr wrap="square" rtlCol="0" anchor="ctr"/>
          <a:lstStyle/>
          <a:p>
            <a:pPr marL="0" indent="0">
              <a:buNone/>
            </a:pPr>
            <a:r>
              <a:rPr lang="en-US" sz="1250" b="1" dirty="0">
                <a:solidFill>
                  <a:srgbClr val="0D1F08"/>
                </a:solidFill>
                <a:latin typeface="Footlight MT Light" panose="0204060206030A020304" pitchFamily="18" charset="0"/>
                <a:ea typeface="Trebuchet MS" pitchFamily="34" charset="-122"/>
                <a:cs typeface="Trebuchet MS" pitchFamily="34" charset="-120"/>
              </a:rPr>
              <a:t>Human Rights Risks</a:t>
            </a:r>
            <a:endParaRPr lang="en-US" sz="1250" dirty="0">
              <a:latin typeface="Footlight MT Light" panose="0204060206030A020304" pitchFamily="18" charset="0"/>
            </a:endParaRPr>
          </a:p>
        </p:txBody>
      </p:sp>
      <p:sp>
        <p:nvSpPr>
          <p:cNvPr id="30" name="Text 28"/>
          <p:cNvSpPr/>
          <p:nvPr/>
        </p:nvSpPr>
        <p:spPr>
          <a:xfrm>
            <a:off x="4892040" y="3474720"/>
            <a:ext cx="3986784" cy="457200"/>
          </a:xfrm>
          <a:prstGeom prst="rect">
            <a:avLst/>
          </a:prstGeom>
          <a:noFill/>
          <a:ln/>
        </p:spPr>
        <p:txBody>
          <a:bodyPr wrap="square" rtlCol="0" anchor="ctr"/>
          <a:lstStyle/>
          <a:p>
            <a:pPr marL="0" indent="0">
              <a:buNone/>
            </a:pPr>
            <a:r>
              <a:rPr lang="en-US" sz="1050" dirty="0">
                <a:solidFill>
                  <a:srgbClr val="4A4A4A"/>
                </a:solidFill>
                <a:latin typeface="Footlight MT Light" panose="0204060206030A020304" pitchFamily="18" charset="0"/>
                <a:ea typeface="Calibri" pitchFamily="34" charset="-122"/>
                <a:cs typeface="Calibri" pitchFamily="34" charset="-120"/>
              </a:rPr>
              <a:t>ILO reports cite child labour in gold and diamond ASM sites. Health and safety standards largely absent. Mercury use widespread.</a:t>
            </a:r>
            <a:endParaRPr lang="en-US" sz="1050" dirty="0">
              <a:latin typeface="Footlight MT Light" panose="0204060206030A020304" pitchFamily="18" charset="0"/>
            </a:endParaRPr>
          </a:p>
        </p:txBody>
      </p:sp>
      <p:sp>
        <p:nvSpPr>
          <p:cNvPr id="31" name="Shape 29"/>
          <p:cNvSpPr/>
          <p:nvPr/>
        </p:nvSpPr>
        <p:spPr>
          <a:xfrm>
            <a:off x="4709160" y="4078224"/>
            <a:ext cx="64008" cy="713232"/>
          </a:xfrm>
          <a:prstGeom prst="rect">
            <a:avLst/>
          </a:prstGeom>
          <a:solidFill>
            <a:srgbClr val="C8920A"/>
          </a:solidFill>
          <a:ln w="12700">
            <a:solidFill>
              <a:srgbClr val="C8920A"/>
            </a:solidFill>
            <a:prstDash val="solid"/>
          </a:ln>
        </p:spPr>
      </p:sp>
      <p:sp>
        <p:nvSpPr>
          <p:cNvPr id="32" name="Text 30"/>
          <p:cNvSpPr/>
          <p:nvPr/>
        </p:nvSpPr>
        <p:spPr>
          <a:xfrm>
            <a:off x="4892040" y="4114800"/>
            <a:ext cx="3986784" cy="256032"/>
          </a:xfrm>
          <a:prstGeom prst="rect">
            <a:avLst/>
          </a:prstGeom>
          <a:noFill/>
          <a:ln/>
        </p:spPr>
        <p:txBody>
          <a:bodyPr wrap="square" rtlCol="0" anchor="ctr"/>
          <a:lstStyle/>
          <a:p>
            <a:pPr marL="0" indent="0">
              <a:buNone/>
            </a:pPr>
            <a:r>
              <a:rPr lang="en-US" sz="1250" b="1" dirty="0">
                <a:solidFill>
                  <a:srgbClr val="0D1F08"/>
                </a:solidFill>
                <a:latin typeface="Footlight MT Light" panose="0204060206030A020304" pitchFamily="18" charset="0"/>
                <a:ea typeface="Trebuchet MS" pitchFamily="34" charset="-122"/>
                <a:cs typeface="Trebuchet MS" pitchFamily="34" charset="-120"/>
              </a:rPr>
              <a:t>Formalisation Efforts</a:t>
            </a:r>
            <a:endParaRPr lang="en-US" sz="1250" dirty="0">
              <a:latin typeface="Footlight MT Light" panose="0204060206030A020304" pitchFamily="18" charset="0"/>
            </a:endParaRPr>
          </a:p>
        </p:txBody>
      </p:sp>
      <p:sp>
        <p:nvSpPr>
          <p:cNvPr id="33" name="Text 31"/>
          <p:cNvSpPr/>
          <p:nvPr/>
        </p:nvSpPr>
        <p:spPr>
          <a:xfrm>
            <a:off x="4892040" y="4389120"/>
            <a:ext cx="3986784" cy="457200"/>
          </a:xfrm>
          <a:prstGeom prst="rect">
            <a:avLst/>
          </a:prstGeom>
          <a:noFill/>
          <a:ln/>
        </p:spPr>
        <p:txBody>
          <a:bodyPr wrap="square" rtlCol="0" anchor="ctr"/>
          <a:lstStyle/>
          <a:p>
            <a:pPr marL="0" indent="0">
              <a:buNone/>
            </a:pPr>
            <a:r>
              <a:rPr lang="en-US" sz="1050" dirty="0">
                <a:solidFill>
                  <a:srgbClr val="4A4A4A"/>
                </a:solidFill>
                <a:latin typeface="Footlight MT Light" panose="0204060206030A020304" pitchFamily="18" charset="0"/>
                <a:ea typeface="Calibri" pitchFamily="34" charset="-122"/>
                <a:cs typeface="Calibri" pitchFamily="34" charset="-120"/>
              </a:rPr>
              <a:t>Government and NGOs (Pact, BGR, GIZ) promote formalisation and cooperative models. Progress remains slow without digital enforcement tools.</a:t>
            </a:r>
            <a:endParaRPr lang="en-US" sz="1050" dirty="0">
              <a:latin typeface="Footlight MT Light" panose="0204060206030A020304" pitchFamily="18" charset="0"/>
            </a:endParaRPr>
          </a:p>
        </p:txBody>
      </p:sp>
      <p:sp>
        <p:nvSpPr>
          <p:cNvPr id="34" name="Shape 32"/>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5563"/>
          </a:solidFill>
          <a:ln w="12700">
            <a:solidFill>
              <a:srgbClr val="0B5563"/>
            </a:solidFill>
            <a:prstDash val="solid"/>
          </a:ln>
        </p:spPr>
      </p:sp>
      <p:sp>
        <p:nvSpPr>
          <p:cNvPr id="3" name="Text 1"/>
          <p:cNvSpPr/>
          <p:nvPr/>
        </p:nvSpPr>
        <p:spPr>
          <a:xfrm>
            <a:off x="347472" y="128016"/>
            <a:ext cx="8412480" cy="566928"/>
          </a:xfrm>
          <a:prstGeom prst="rect">
            <a:avLst/>
          </a:prstGeom>
          <a:noFill/>
          <a:ln/>
        </p:spPr>
        <p:txBody>
          <a:bodyPr wrap="square" rtlCol="0" anchor="ctr"/>
          <a:lstStyle/>
          <a:p>
            <a:pPr marL="0" indent="0">
              <a:buNone/>
            </a:pPr>
            <a:r>
              <a:rPr lang="en-US" sz="2800" b="1" dirty="0">
                <a:solidFill>
                  <a:srgbClr val="FFFFFF"/>
                </a:solidFill>
                <a:latin typeface="Footlight MT Light" panose="0204060206030A020304" pitchFamily="18" charset="0"/>
                <a:ea typeface="Georgia" pitchFamily="34" charset="-122"/>
                <a:cs typeface="Georgia" pitchFamily="34" charset="-120"/>
              </a:rPr>
              <a:t>Types of Minerals Mined in Guinea</a:t>
            </a:r>
            <a:endParaRPr lang="en-US" sz="2800" dirty="0">
              <a:latin typeface="Footlight MT Light" panose="0204060206030A020304" pitchFamily="18" charset="0"/>
            </a:endParaRPr>
          </a:p>
        </p:txBody>
      </p:sp>
      <p:sp>
        <p:nvSpPr>
          <p:cNvPr id="4" name="Shape 2"/>
          <p:cNvSpPr/>
          <p:nvPr/>
        </p:nvSpPr>
        <p:spPr>
          <a:xfrm>
            <a:off x="182880" y="914400"/>
            <a:ext cx="2779776" cy="1956816"/>
          </a:xfrm>
          <a:prstGeom prst="rect">
            <a:avLst/>
          </a:prstGeom>
          <a:solidFill>
            <a:srgbClr val="F8F8F8"/>
          </a:solidFill>
          <a:ln w="6350">
            <a:solidFill>
              <a:srgbClr val="DDDDDD"/>
            </a:solidFill>
            <a:prstDash val="solid"/>
          </a:ln>
          <a:effectLst>
            <a:outerShdw blurRad="101600" dist="38100" dir="8100000" algn="bl" rotWithShape="0">
              <a:srgbClr val="000000">
                <a:alpha val="15000"/>
              </a:srgbClr>
            </a:outerShdw>
          </a:effectLst>
        </p:spPr>
      </p:sp>
      <p:sp>
        <p:nvSpPr>
          <p:cNvPr id="5" name="Shape 3"/>
          <p:cNvSpPr/>
          <p:nvPr/>
        </p:nvSpPr>
        <p:spPr>
          <a:xfrm>
            <a:off x="182880" y="914400"/>
            <a:ext cx="2779776" cy="274320"/>
          </a:xfrm>
          <a:prstGeom prst="rect">
            <a:avLst/>
          </a:prstGeom>
          <a:solidFill>
            <a:srgbClr val="B85C1A"/>
          </a:solidFill>
          <a:ln w="12700">
            <a:solidFill>
              <a:srgbClr val="B85C1A"/>
            </a:solidFill>
            <a:prstDash val="solid"/>
          </a:ln>
        </p:spPr>
      </p:sp>
      <p:sp>
        <p:nvSpPr>
          <p:cNvPr id="6" name="Text 4"/>
          <p:cNvSpPr/>
          <p:nvPr/>
        </p:nvSpPr>
        <p:spPr>
          <a:xfrm>
            <a:off x="274320" y="941832"/>
            <a:ext cx="2596896" cy="237744"/>
          </a:xfrm>
          <a:prstGeom prst="rect">
            <a:avLst/>
          </a:prstGeom>
          <a:noFill/>
          <a:ln/>
        </p:spPr>
        <p:txBody>
          <a:bodyPr wrap="square" rtlCol="0" anchor="ctr"/>
          <a:lstStyle/>
          <a:p>
            <a:pPr marL="0" indent="0">
              <a:buNone/>
            </a:pPr>
            <a:r>
              <a:rPr lang="en-US" sz="1150" b="1" kern="0" spc="100" dirty="0">
                <a:solidFill>
                  <a:srgbClr val="FFFFFF"/>
                </a:solidFill>
                <a:latin typeface="Footlight MT Light" panose="0204060206030A020304" pitchFamily="18" charset="0"/>
                <a:ea typeface="Trebuchet MS" pitchFamily="34" charset="-122"/>
                <a:cs typeface="Trebuchet MS" pitchFamily="34" charset="-120"/>
              </a:rPr>
              <a:t>BAUXITE</a:t>
            </a:r>
            <a:endParaRPr lang="en-US" sz="1150" dirty="0">
              <a:latin typeface="Footlight MT Light" panose="0204060206030A020304" pitchFamily="18" charset="0"/>
            </a:endParaRPr>
          </a:p>
        </p:txBody>
      </p:sp>
      <p:sp>
        <p:nvSpPr>
          <p:cNvPr id="7" name="Text 5"/>
          <p:cNvSpPr/>
          <p:nvPr/>
        </p:nvSpPr>
        <p:spPr>
          <a:xfrm>
            <a:off x="256032" y="1225296"/>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 Boké, Fria, Kindia, Télimélé</a:t>
            </a:r>
            <a:endParaRPr lang="en-US" sz="900" dirty="0">
              <a:latin typeface="Footlight MT Light" panose="0204060206030A020304" pitchFamily="18" charset="0"/>
            </a:endParaRPr>
          </a:p>
        </p:txBody>
      </p:sp>
      <p:sp>
        <p:nvSpPr>
          <p:cNvPr id="8" name="Text 6"/>
          <p:cNvSpPr/>
          <p:nvPr/>
        </p:nvSpPr>
        <p:spPr>
          <a:xfrm>
            <a:off x="256032" y="1408176"/>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Reserves: ~25 billion tonnes</a:t>
            </a:r>
            <a:endParaRPr lang="en-US" sz="900" dirty="0">
              <a:latin typeface="Footlight MT Light" panose="0204060206030A020304" pitchFamily="18" charset="0"/>
            </a:endParaRPr>
          </a:p>
        </p:txBody>
      </p:sp>
      <p:sp>
        <p:nvSpPr>
          <p:cNvPr id="9" name="Shape 7"/>
          <p:cNvSpPr/>
          <p:nvPr/>
        </p:nvSpPr>
        <p:spPr>
          <a:xfrm>
            <a:off x="256032" y="1609344"/>
            <a:ext cx="2633472" cy="182880"/>
          </a:xfrm>
          <a:prstGeom prst="rect">
            <a:avLst/>
          </a:prstGeom>
          <a:solidFill>
            <a:srgbClr val="B85C1A">
              <a:alpha val="16000"/>
            </a:srgbClr>
          </a:solidFill>
          <a:ln w="12700">
            <a:solidFill>
              <a:srgbClr val="B85C1A">
                <a:alpha val="42000"/>
              </a:srgbClr>
            </a:solidFill>
            <a:prstDash val="solid"/>
          </a:ln>
        </p:spPr>
      </p:sp>
      <p:sp>
        <p:nvSpPr>
          <p:cNvPr id="10" name="Text 8"/>
          <p:cNvSpPr/>
          <p:nvPr/>
        </p:nvSpPr>
        <p:spPr>
          <a:xfrm>
            <a:off x="256032" y="1609344"/>
            <a:ext cx="2633472" cy="182880"/>
          </a:xfrm>
          <a:prstGeom prst="rect">
            <a:avLst/>
          </a:prstGeom>
          <a:noFill/>
          <a:ln/>
        </p:spPr>
        <p:txBody>
          <a:bodyPr wrap="square" rtlCol="0" anchor="ctr"/>
          <a:lstStyle/>
          <a:p>
            <a:pPr marL="0" indent="0" algn="ctr">
              <a:buNone/>
            </a:pPr>
            <a:r>
              <a:rPr lang="en-US" sz="850" b="1" dirty="0">
                <a:solidFill>
                  <a:srgbClr val="B85C1A"/>
                </a:solidFill>
                <a:latin typeface="Footlight MT Light" panose="0204060206030A020304" pitchFamily="18" charset="0"/>
                <a:ea typeface="Calibri" pitchFamily="34" charset="-122"/>
                <a:cs typeface="Calibri" pitchFamily="34" charset="-120"/>
              </a:rPr>
              <a:t>Active – Primary Export</a:t>
            </a:r>
            <a:endParaRPr lang="en-US" sz="850" dirty="0">
              <a:latin typeface="Footlight MT Light" panose="0204060206030A020304" pitchFamily="18" charset="0"/>
            </a:endParaRPr>
          </a:p>
        </p:txBody>
      </p:sp>
      <p:sp>
        <p:nvSpPr>
          <p:cNvPr id="11" name="Text 9"/>
          <p:cNvSpPr/>
          <p:nvPr/>
        </p:nvSpPr>
        <p:spPr>
          <a:xfrm>
            <a:off x="256032" y="1828800"/>
            <a:ext cx="2633472" cy="969264"/>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Guinea is world's #1 bauxite exporter. CBG, SMB-Winning, COBAD are key producers. Core feedstock for global aluminium industry.</a:t>
            </a:r>
            <a:endParaRPr lang="en-US" sz="950" dirty="0">
              <a:latin typeface="Footlight MT Light" panose="0204060206030A020304" pitchFamily="18" charset="0"/>
            </a:endParaRPr>
          </a:p>
        </p:txBody>
      </p:sp>
      <p:sp>
        <p:nvSpPr>
          <p:cNvPr id="12" name="Shape 10"/>
          <p:cNvSpPr/>
          <p:nvPr/>
        </p:nvSpPr>
        <p:spPr>
          <a:xfrm>
            <a:off x="3136392" y="914400"/>
            <a:ext cx="2779776" cy="1956816"/>
          </a:xfrm>
          <a:prstGeom prst="rect">
            <a:avLst/>
          </a:prstGeom>
          <a:solidFill>
            <a:srgbClr val="F8F8F8"/>
          </a:solidFill>
          <a:ln w="6350">
            <a:solidFill>
              <a:srgbClr val="DDDDDD"/>
            </a:solidFill>
            <a:prstDash val="solid"/>
          </a:ln>
          <a:effectLst>
            <a:outerShdw blurRad="101600" dist="38100" dir="8100000" algn="bl" rotWithShape="0">
              <a:srgbClr val="000000">
                <a:alpha val="15000"/>
              </a:srgbClr>
            </a:outerShdw>
          </a:effectLst>
        </p:spPr>
      </p:sp>
      <p:sp>
        <p:nvSpPr>
          <p:cNvPr id="13" name="Shape 11"/>
          <p:cNvSpPr/>
          <p:nvPr/>
        </p:nvSpPr>
        <p:spPr>
          <a:xfrm>
            <a:off x="3136392" y="914400"/>
            <a:ext cx="2779776" cy="274320"/>
          </a:xfrm>
          <a:prstGeom prst="rect">
            <a:avLst/>
          </a:prstGeom>
          <a:solidFill>
            <a:srgbClr val="5A3828"/>
          </a:solidFill>
          <a:ln w="12700">
            <a:solidFill>
              <a:srgbClr val="5A3828"/>
            </a:solidFill>
            <a:prstDash val="solid"/>
          </a:ln>
        </p:spPr>
      </p:sp>
      <p:sp>
        <p:nvSpPr>
          <p:cNvPr id="14" name="Text 12"/>
          <p:cNvSpPr/>
          <p:nvPr/>
        </p:nvSpPr>
        <p:spPr>
          <a:xfrm>
            <a:off x="3227832" y="941832"/>
            <a:ext cx="2596896" cy="237744"/>
          </a:xfrm>
          <a:prstGeom prst="rect">
            <a:avLst/>
          </a:prstGeom>
          <a:noFill/>
          <a:ln/>
        </p:spPr>
        <p:txBody>
          <a:bodyPr wrap="square" rtlCol="0" anchor="ctr"/>
          <a:lstStyle/>
          <a:p>
            <a:pPr marL="0" indent="0">
              <a:buNone/>
            </a:pPr>
            <a:r>
              <a:rPr lang="en-US" sz="1150" b="1" kern="0" spc="100" dirty="0">
                <a:solidFill>
                  <a:srgbClr val="FFFFFF"/>
                </a:solidFill>
                <a:latin typeface="Footlight MT Light" panose="0204060206030A020304" pitchFamily="18" charset="0"/>
                <a:ea typeface="Trebuchet MS" pitchFamily="34" charset="-122"/>
                <a:cs typeface="Trebuchet MS" pitchFamily="34" charset="-120"/>
              </a:rPr>
              <a:t>IRON ORE</a:t>
            </a:r>
            <a:endParaRPr lang="en-US" sz="1150" dirty="0">
              <a:latin typeface="Footlight MT Light" panose="0204060206030A020304" pitchFamily="18" charset="0"/>
            </a:endParaRPr>
          </a:p>
        </p:txBody>
      </p:sp>
      <p:sp>
        <p:nvSpPr>
          <p:cNvPr id="15" name="Text 13"/>
          <p:cNvSpPr/>
          <p:nvPr/>
        </p:nvSpPr>
        <p:spPr>
          <a:xfrm>
            <a:off x="3209544" y="1225296"/>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 Simandou (Nzérékoré), Zogota</a:t>
            </a:r>
            <a:endParaRPr lang="en-US" sz="900" dirty="0">
              <a:latin typeface="Footlight MT Light" panose="0204060206030A020304" pitchFamily="18" charset="0"/>
            </a:endParaRPr>
          </a:p>
        </p:txBody>
      </p:sp>
      <p:sp>
        <p:nvSpPr>
          <p:cNvPr id="16" name="Text 14"/>
          <p:cNvSpPr/>
          <p:nvPr/>
        </p:nvSpPr>
        <p:spPr>
          <a:xfrm>
            <a:off x="3209544" y="1408176"/>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Reserves: ~2.4 billion tonnes hi-grade</a:t>
            </a:r>
            <a:endParaRPr lang="en-US" sz="900" dirty="0">
              <a:latin typeface="Footlight MT Light" panose="0204060206030A020304" pitchFamily="18" charset="0"/>
            </a:endParaRPr>
          </a:p>
        </p:txBody>
      </p:sp>
      <p:sp>
        <p:nvSpPr>
          <p:cNvPr id="17" name="Shape 15"/>
          <p:cNvSpPr/>
          <p:nvPr/>
        </p:nvSpPr>
        <p:spPr>
          <a:xfrm>
            <a:off x="3209544" y="1609344"/>
            <a:ext cx="2633472" cy="182880"/>
          </a:xfrm>
          <a:prstGeom prst="rect">
            <a:avLst/>
          </a:prstGeom>
          <a:solidFill>
            <a:srgbClr val="5A3828">
              <a:alpha val="16000"/>
            </a:srgbClr>
          </a:solidFill>
          <a:ln w="12700">
            <a:solidFill>
              <a:srgbClr val="5A3828">
                <a:alpha val="42000"/>
              </a:srgbClr>
            </a:solidFill>
            <a:prstDash val="solid"/>
          </a:ln>
        </p:spPr>
      </p:sp>
      <p:sp>
        <p:nvSpPr>
          <p:cNvPr id="18" name="Text 16"/>
          <p:cNvSpPr/>
          <p:nvPr/>
        </p:nvSpPr>
        <p:spPr>
          <a:xfrm>
            <a:off x="3209544" y="1609344"/>
            <a:ext cx="2633472" cy="182880"/>
          </a:xfrm>
          <a:prstGeom prst="rect">
            <a:avLst/>
          </a:prstGeom>
          <a:noFill/>
          <a:ln/>
        </p:spPr>
        <p:txBody>
          <a:bodyPr wrap="square" rtlCol="0" anchor="ctr"/>
          <a:lstStyle/>
          <a:p>
            <a:pPr marL="0" indent="0" algn="ctr">
              <a:buNone/>
            </a:pPr>
            <a:r>
              <a:rPr lang="en-US" sz="850" b="1" dirty="0">
                <a:solidFill>
                  <a:srgbClr val="5A3828"/>
                </a:solidFill>
                <a:latin typeface="Footlight MT Light" panose="0204060206030A020304" pitchFamily="18" charset="0"/>
                <a:ea typeface="Calibri" pitchFamily="34" charset="-122"/>
                <a:cs typeface="Calibri" pitchFamily="34" charset="-120"/>
              </a:rPr>
              <a:t>Development Phase (~2027)</a:t>
            </a:r>
            <a:endParaRPr lang="en-US" sz="850" dirty="0">
              <a:latin typeface="Footlight MT Light" panose="0204060206030A020304" pitchFamily="18" charset="0"/>
            </a:endParaRPr>
          </a:p>
        </p:txBody>
      </p:sp>
      <p:sp>
        <p:nvSpPr>
          <p:cNvPr id="19" name="Text 17"/>
          <p:cNvSpPr/>
          <p:nvPr/>
        </p:nvSpPr>
        <p:spPr>
          <a:xfrm>
            <a:off x="3209544" y="1828800"/>
            <a:ext cx="2633472" cy="969264"/>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Simandou is among the world's largest untapped high-grade deposits. Requires 650km rail + new deep-water port at Morebayah.</a:t>
            </a:r>
            <a:endParaRPr lang="en-US" sz="950" dirty="0">
              <a:latin typeface="Footlight MT Light" panose="0204060206030A020304" pitchFamily="18" charset="0"/>
            </a:endParaRPr>
          </a:p>
        </p:txBody>
      </p:sp>
      <p:sp>
        <p:nvSpPr>
          <p:cNvPr id="20" name="Shape 18"/>
          <p:cNvSpPr/>
          <p:nvPr/>
        </p:nvSpPr>
        <p:spPr>
          <a:xfrm>
            <a:off x="6089904" y="914400"/>
            <a:ext cx="2779776" cy="1956816"/>
          </a:xfrm>
          <a:prstGeom prst="rect">
            <a:avLst/>
          </a:prstGeom>
          <a:solidFill>
            <a:srgbClr val="F8F8F8"/>
          </a:solidFill>
          <a:ln w="6350">
            <a:solidFill>
              <a:srgbClr val="DDDDDD"/>
            </a:solidFill>
            <a:prstDash val="solid"/>
          </a:ln>
          <a:effectLst>
            <a:outerShdw blurRad="101600" dist="38100" dir="8100000" algn="bl" rotWithShape="0">
              <a:srgbClr val="000000">
                <a:alpha val="15000"/>
              </a:srgbClr>
            </a:outerShdw>
          </a:effectLst>
        </p:spPr>
      </p:sp>
      <p:sp>
        <p:nvSpPr>
          <p:cNvPr id="21" name="Shape 19"/>
          <p:cNvSpPr/>
          <p:nvPr/>
        </p:nvSpPr>
        <p:spPr>
          <a:xfrm>
            <a:off x="6089904" y="914400"/>
            <a:ext cx="2779776" cy="274320"/>
          </a:xfrm>
          <a:prstGeom prst="rect">
            <a:avLst/>
          </a:prstGeom>
          <a:solidFill>
            <a:srgbClr val="B8860A"/>
          </a:solidFill>
          <a:ln w="12700">
            <a:solidFill>
              <a:srgbClr val="B8860A"/>
            </a:solidFill>
            <a:prstDash val="solid"/>
          </a:ln>
        </p:spPr>
      </p:sp>
      <p:sp>
        <p:nvSpPr>
          <p:cNvPr id="22" name="Text 20"/>
          <p:cNvSpPr/>
          <p:nvPr/>
        </p:nvSpPr>
        <p:spPr>
          <a:xfrm>
            <a:off x="6181344" y="941832"/>
            <a:ext cx="2596896" cy="237744"/>
          </a:xfrm>
          <a:prstGeom prst="rect">
            <a:avLst/>
          </a:prstGeom>
          <a:noFill/>
          <a:ln/>
        </p:spPr>
        <p:txBody>
          <a:bodyPr wrap="square" rtlCol="0" anchor="ctr"/>
          <a:lstStyle/>
          <a:p>
            <a:pPr marL="0" indent="0">
              <a:buNone/>
            </a:pPr>
            <a:r>
              <a:rPr lang="en-US" sz="1150" b="1" kern="0" spc="100" dirty="0">
                <a:solidFill>
                  <a:srgbClr val="FFFFFF"/>
                </a:solidFill>
                <a:latin typeface="Footlight MT Light" panose="0204060206030A020304" pitchFamily="18" charset="0"/>
                <a:ea typeface="Trebuchet MS" pitchFamily="34" charset="-122"/>
                <a:cs typeface="Trebuchet MS" pitchFamily="34" charset="-120"/>
              </a:rPr>
              <a:t>GOLD</a:t>
            </a:r>
            <a:endParaRPr lang="en-US" sz="1150" dirty="0">
              <a:latin typeface="Footlight MT Light" panose="0204060206030A020304" pitchFamily="18" charset="0"/>
            </a:endParaRPr>
          </a:p>
        </p:txBody>
      </p:sp>
      <p:sp>
        <p:nvSpPr>
          <p:cNvPr id="23" name="Text 21"/>
          <p:cNvSpPr/>
          <p:nvPr/>
        </p:nvSpPr>
        <p:spPr>
          <a:xfrm>
            <a:off x="6163056" y="1225296"/>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 Siguiri, Kouroussa, Mandiana</a:t>
            </a:r>
            <a:endParaRPr lang="en-US" sz="900" dirty="0">
              <a:latin typeface="Footlight MT Light" panose="0204060206030A020304" pitchFamily="18" charset="0"/>
            </a:endParaRPr>
          </a:p>
        </p:txBody>
      </p:sp>
      <p:sp>
        <p:nvSpPr>
          <p:cNvPr id="24" name="Text 22"/>
          <p:cNvSpPr/>
          <p:nvPr/>
        </p:nvSpPr>
        <p:spPr>
          <a:xfrm>
            <a:off x="6163056" y="1408176"/>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Reserves: Est. 700+ tonnes in-situ</a:t>
            </a:r>
            <a:endParaRPr lang="en-US" sz="900" dirty="0">
              <a:latin typeface="Footlight MT Light" panose="0204060206030A020304" pitchFamily="18" charset="0"/>
            </a:endParaRPr>
          </a:p>
        </p:txBody>
      </p:sp>
      <p:sp>
        <p:nvSpPr>
          <p:cNvPr id="25" name="Shape 23"/>
          <p:cNvSpPr/>
          <p:nvPr/>
        </p:nvSpPr>
        <p:spPr>
          <a:xfrm>
            <a:off x="6163056" y="1609344"/>
            <a:ext cx="2633472" cy="182880"/>
          </a:xfrm>
          <a:prstGeom prst="rect">
            <a:avLst/>
          </a:prstGeom>
          <a:solidFill>
            <a:srgbClr val="B8860A">
              <a:alpha val="16000"/>
            </a:srgbClr>
          </a:solidFill>
          <a:ln w="12700">
            <a:solidFill>
              <a:srgbClr val="B8860A">
                <a:alpha val="42000"/>
              </a:srgbClr>
            </a:solidFill>
            <a:prstDash val="solid"/>
          </a:ln>
        </p:spPr>
      </p:sp>
      <p:sp>
        <p:nvSpPr>
          <p:cNvPr id="26" name="Text 24"/>
          <p:cNvSpPr/>
          <p:nvPr/>
        </p:nvSpPr>
        <p:spPr>
          <a:xfrm>
            <a:off x="6163056" y="1609344"/>
            <a:ext cx="2633472" cy="182880"/>
          </a:xfrm>
          <a:prstGeom prst="rect">
            <a:avLst/>
          </a:prstGeom>
          <a:noFill/>
          <a:ln/>
        </p:spPr>
        <p:txBody>
          <a:bodyPr wrap="square" rtlCol="0" anchor="ctr"/>
          <a:lstStyle/>
          <a:p>
            <a:pPr marL="0" indent="0" algn="ctr">
              <a:buNone/>
            </a:pPr>
            <a:r>
              <a:rPr lang="en-US" sz="850" b="1" dirty="0">
                <a:solidFill>
                  <a:srgbClr val="B8860A"/>
                </a:solidFill>
                <a:latin typeface="Footlight MT Light" panose="0204060206030A020304" pitchFamily="18" charset="0"/>
                <a:ea typeface="Calibri" pitchFamily="34" charset="-122"/>
                <a:cs typeface="Calibri" pitchFamily="34" charset="-120"/>
              </a:rPr>
              <a:t>Active – LSM &amp; ASM</a:t>
            </a:r>
            <a:endParaRPr lang="en-US" sz="850" dirty="0">
              <a:latin typeface="Footlight MT Light" panose="0204060206030A020304" pitchFamily="18" charset="0"/>
            </a:endParaRPr>
          </a:p>
        </p:txBody>
      </p:sp>
      <p:sp>
        <p:nvSpPr>
          <p:cNvPr id="27" name="Text 25"/>
          <p:cNvSpPr/>
          <p:nvPr/>
        </p:nvSpPr>
        <p:spPr>
          <a:xfrm>
            <a:off x="6163056" y="1828800"/>
            <a:ext cx="2633472" cy="969264"/>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SAG (AngloGold Ashanti) runs Siguiri mine (~400,000 oz/yr LSM). Significant ASM gold across Haute-Guinée river systems.</a:t>
            </a:r>
            <a:endParaRPr lang="en-US" sz="950" dirty="0">
              <a:latin typeface="Footlight MT Light" panose="0204060206030A020304" pitchFamily="18" charset="0"/>
            </a:endParaRPr>
          </a:p>
        </p:txBody>
      </p:sp>
      <p:sp>
        <p:nvSpPr>
          <p:cNvPr id="28" name="Shape 26"/>
          <p:cNvSpPr/>
          <p:nvPr/>
        </p:nvSpPr>
        <p:spPr>
          <a:xfrm>
            <a:off x="182880" y="2980944"/>
            <a:ext cx="2779776" cy="1956816"/>
          </a:xfrm>
          <a:prstGeom prst="rect">
            <a:avLst/>
          </a:prstGeom>
          <a:solidFill>
            <a:srgbClr val="F8F8F8"/>
          </a:solidFill>
          <a:ln w="6350">
            <a:solidFill>
              <a:srgbClr val="DDDDDD"/>
            </a:solidFill>
            <a:prstDash val="solid"/>
          </a:ln>
          <a:effectLst>
            <a:outerShdw blurRad="101600" dist="38100" dir="8100000" algn="bl" rotWithShape="0">
              <a:srgbClr val="000000">
                <a:alpha val="15000"/>
              </a:srgbClr>
            </a:outerShdw>
          </a:effectLst>
        </p:spPr>
      </p:sp>
      <p:sp>
        <p:nvSpPr>
          <p:cNvPr id="29" name="Shape 27"/>
          <p:cNvSpPr/>
          <p:nvPr/>
        </p:nvSpPr>
        <p:spPr>
          <a:xfrm>
            <a:off x="182880" y="2980944"/>
            <a:ext cx="2779776" cy="274320"/>
          </a:xfrm>
          <a:prstGeom prst="rect">
            <a:avLst/>
          </a:prstGeom>
          <a:solidFill>
            <a:srgbClr val="3A5A8A"/>
          </a:solidFill>
          <a:ln w="12700">
            <a:solidFill>
              <a:srgbClr val="3A5A8A"/>
            </a:solidFill>
            <a:prstDash val="solid"/>
          </a:ln>
        </p:spPr>
      </p:sp>
      <p:sp>
        <p:nvSpPr>
          <p:cNvPr id="30" name="Text 28"/>
          <p:cNvSpPr/>
          <p:nvPr/>
        </p:nvSpPr>
        <p:spPr>
          <a:xfrm>
            <a:off x="274320" y="3008376"/>
            <a:ext cx="2596896" cy="237744"/>
          </a:xfrm>
          <a:prstGeom prst="rect">
            <a:avLst/>
          </a:prstGeom>
          <a:noFill/>
          <a:ln/>
        </p:spPr>
        <p:txBody>
          <a:bodyPr wrap="square" rtlCol="0" anchor="ctr"/>
          <a:lstStyle/>
          <a:p>
            <a:pPr marL="0" indent="0">
              <a:buNone/>
            </a:pPr>
            <a:r>
              <a:rPr lang="en-US" sz="1150" b="1" kern="0" spc="100" dirty="0">
                <a:solidFill>
                  <a:srgbClr val="FFFFFF"/>
                </a:solidFill>
                <a:latin typeface="Footlight MT Light" panose="0204060206030A020304" pitchFamily="18" charset="0"/>
                <a:ea typeface="Trebuchet MS" pitchFamily="34" charset="-122"/>
                <a:cs typeface="Trebuchet MS" pitchFamily="34" charset="-120"/>
              </a:rPr>
              <a:t>DIAMONDS</a:t>
            </a:r>
            <a:endParaRPr lang="en-US" sz="1150" dirty="0">
              <a:latin typeface="Footlight MT Light" panose="0204060206030A020304" pitchFamily="18" charset="0"/>
            </a:endParaRPr>
          </a:p>
        </p:txBody>
      </p:sp>
      <p:sp>
        <p:nvSpPr>
          <p:cNvPr id="31" name="Text 29"/>
          <p:cNvSpPr/>
          <p:nvPr/>
        </p:nvSpPr>
        <p:spPr>
          <a:xfrm>
            <a:off x="256032" y="3291840"/>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 Macenta, Beyla, Kérouané</a:t>
            </a:r>
            <a:endParaRPr lang="en-US" sz="900" dirty="0">
              <a:latin typeface="Footlight MT Light" panose="0204060206030A020304" pitchFamily="18" charset="0"/>
            </a:endParaRPr>
          </a:p>
        </p:txBody>
      </p:sp>
      <p:sp>
        <p:nvSpPr>
          <p:cNvPr id="32" name="Text 30"/>
          <p:cNvSpPr/>
          <p:nvPr/>
        </p:nvSpPr>
        <p:spPr>
          <a:xfrm>
            <a:off x="256032" y="3474720"/>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Reserves: Est. 30M+ carats</a:t>
            </a:r>
            <a:endParaRPr lang="en-US" sz="900" dirty="0">
              <a:latin typeface="Footlight MT Light" panose="0204060206030A020304" pitchFamily="18" charset="0"/>
            </a:endParaRPr>
          </a:p>
        </p:txBody>
      </p:sp>
      <p:sp>
        <p:nvSpPr>
          <p:cNvPr id="33" name="Shape 31"/>
          <p:cNvSpPr/>
          <p:nvPr/>
        </p:nvSpPr>
        <p:spPr>
          <a:xfrm>
            <a:off x="256032" y="3675888"/>
            <a:ext cx="2633472" cy="182880"/>
          </a:xfrm>
          <a:prstGeom prst="rect">
            <a:avLst/>
          </a:prstGeom>
          <a:solidFill>
            <a:srgbClr val="3A5A8A">
              <a:alpha val="16000"/>
            </a:srgbClr>
          </a:solidFill>
          <a:ln w="12700">
            <a:solidFill>
              <a:srgbClr val="3A5A8A">
                <a:alpha val="42000"/>
              </a:srgbClr>
            </a:solidFill>
            <a:prstDash val="solid"/>
          </a:ln>
        </p:spPr>
      </p:sp>
      <p:sp>
        <p:nvSpPr>
          <p:cNvPr id="34" name="Text 32"/>
          <p:cNvSpPr/>
          <p:nvPr/>
        </p:nvSpPr>
        <p:spPr>
          <a:xfrm>
            <a:off x="256032" y="3675888"/>
            <a:ext cx="2633472" cy="182880"/>
          </a:xfrm>
          <a:prstGeom prst="rect">
            <a:avLst/>
          </a:prstGeom>
          <a:noFill/>
          <a:ln/>
        </p:spPr>
        <p:txBody>
          <a:bodyPr wrap="square" rtlCol="0" anchor="ctr"/>
          <a:lstStyle/>
          <a:p>
            <a:pPr marL="0" indent="0" algn="ctr">
              <a:buNone/>
            </a:pPr>
            <a:r>
              <a:rPr lang="en-US" sz="850" b="1" dirty="0">
                <a:solidFill>
                  <a:srgbClr val="3A5A8A"/>
                </a:solidFill>
                <a:latin typeface="Footlight MT Light" panose="0204060206030A020304" pitchFamily="18" charset="0"/>
                <a:ea typeface="Calibri" pitchFamily="34" charset="-122"/>
                <a:cs typeface="Calibri" pitchFamily="34" charset="-120"/>
              </a:rPr>
              <a:t>Active – Largely ASM</a:t>
            </a:r>
            <a:endParaRPr lang="en-US" sz="850" dirty="0">
              <a:latin typeface="Footlight MT Light" panose="0204060206030A020304" pitchFamily="18" charset="0"/>
            </a:endParaRPr>
          </a:p>
        </p:txBody>
      </p:sp>
      <p:sp>
        <p:nvSpPr>
          <p:cNvPr id="35" name="Text 33"/>
          <p:cNvSpPr/>
          <p:nvPr/>
        </p:nvSpPr>
        <p:spPr>
          <a:xfrm>
            <a:off x="256032" y="3895344"/>
            <a:ext cx="2633472" cy="969264"/>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Mostly artisanal recovery. Guinea is a Kimberley Process member. Industrial diamond mining limited. Smuggling a major concern.</a:t>
            </a:r>
            <a:endParaRPr lang="en-US" sz="950" dirty="0">
              <a:latin typeface="Footlight MT Light" panose="0204060206030A020304" pitchFamily="18" charset="0"/>
            </a:endParaRPr>
          </a:p>
        </p:txBody>
      </p:sp>
      <p:sp>
        <p:nvSpPr>
          <p:cNvPr id="36" name="Shape 34"/>
          <p:cNvSpPr/>
          <p:nvPr/>
        </p:nvSpPr>
        <p:spPr>
          <a:xfrm>
            <a:off x="3136392" y="2980944"/>
            <a:ext cx="2779776" cy="1956816"/>
          </a:xfrm>
          <a:prstGeom prst="rect">
            <a:avLst/>
          </a:prstGeom>
          <a:solidFill>
            <a:srgbClr val="F8F8F8"/>
          </a:solidFill>
          <a:ln w="6350">
            <a:solidFill>
              <a:srgbClr val="DDDDDD"/>
            </a:solidFill>
            <a:prstDash val="solid"/>
          </a:ln>
          <a:effectLst>
            <a:outerShdw blurRad="101600" dist="38100" dir="8100000" algn="bl" rotWithShape="0">
              <a:srgbClr val="000000">
                <a:alpha val="15000"/>
              </a:srgbClr>
            </a:outerShdw>
          </a:effectLst>
        </p:spPr>
      </p:sp>
      <p:sp>
        <p:nvSpPr>
          <p:cNvPr id="37" name="Shape 35"/>
          <p:cNvSpPr/>
          <p:nvPr/>
        </p:nvSpPr>
        <p:spPr>
          <a:xfrm>
            <a:off x="3136392" y="2980944"/>
            <a:ext cx="2779776" cy="274320"/>
          </a:xfrm>
          <a:prstGeom prst="rect">
            <a:avLst/>
          </a:prstGeom>
          <a:solidFill>
            <a:srgbClr val="383838"/>
          </a:solidFill>
          <a:ln w="12700">
            <a:solidFill>
              <a:srgbClr val="383838"/>
            </a:solidFill>
            <a:prstDash val="solid"/>
          </a:ln>
        </p:spPr>
      </p:sp>
      <p:sp>
        <p:nvSpPr>
          <p:cNvPr id="38" name="Text 36"/>
          <p:cNvSpPr/>
          <p:nvPr/>
        </p:nvSpPr>
        <p:spPr>
          <a:xfrm>
            <a:off x="3227832" y="3008376"/>
            <a:ext cx="2596896" cy="237744"/>
          </a:xfrm>
          <a:prstGeom prst="rect">
            <a:avLst/>
          </a:prstGeom>
          <a:noFill/>
          <a:ln/>
        </p:spPr>
        <p:txBody>
          <a:bodyPr wrap="square" rtlCol="0" anchor="ctr"/>
          <a:lstStyle/>
          <a:p>
            <a:pPr marL="0" indent="0">
              <a:buNone/>
            </a:pPr>
            <a:r>
              <a:rPr lang="en-US" sz="1150" b="1" kern="0" spc="100" dirty="0">
                <a:solidFill>
                  <a:srgbClr val="FFFFFF"/>
                </a:solidFill>
                <a:latin typeface="Footlight MT Light" panose="0204060206030A020304" pitchFamily="18" charset="0"/>
                <a:ea typeface="Trebuchet MS" pitchFamily="34" charset="-122"/>
                <a:cs typeface="Trebuchet MS" pitchFamily="34" charset="-120"/>
              </a:rPr>
              <a:t>GRAPHITE</a:t>
            </a:r>
            <a:endParaRPr lang="en-US" sz="1150" dirty="0">
              <a:latin typeface="Footlight MT Light" panose="0204060206030A020304" pitchFamily="18" charset="0"/>
            </a:endParaRPr>
          </a:p>
        </p:txBody>
      </p:sp>
      <p:sp>
        <p:nvSpPr>
          <p:cNvPr id="39" name="Text 37"/>
          <p:cNvSpPr/>
          <p:nvPr/>
        </p:nvSpPr>
        <p:spPr>
          <a:xfrm>
            <a:off x="3209544" y="3291840"/>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 Forécariah, Kindia regions</a:t>
            </a:r>
            <a:endParaRPr lang="en-US" sz="900" dirty="0">
              <a:latin typeface="Footlight MT Light" panose="0204060206030A020304" pitchFamily="18" charset="0"/>
            </a:endParaRPr>
          </a:p>
        </p:txBody>
      </p:sp>
      <p:sp>
        <p:nvSpPr>
          <p:cNvPr id="40" name="Text 38"/>
          <p:cNvSpPr/>
          <p:nvPr/>
        </p:nvSpPr>
        <p:spPr>
          <a:xfrm>
            <a:off x="3209544" y="3474720"/>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Reserves: Significant (under-explored)</a:t>
            </a:r>
            <a:endParaRPr lang="en-US" sz="900" dirty="0">
              <a:latin typeface="Footlight MT Light" panose="0204060206030A020304" pitchFamily="18" charset="0"/>
            </a:endParaRPr>
          </a:p>
        </p:txBody>
      </p:sp>
      <p:sp>
        <p:nvSpPr>
          <p:cNvPr id="41" name="Shape 39"/>
          <p:cNvSpPr/>
          <p:nvPr/>
        </p:nvSpPr>
        <p:spPr>
          <a:xfrm>
            <a:off x="3209544" y="3675888"/>
            <a:ext cx="2633472" cy="182880"/>
          </a:xfrm>
          <a:prstGeom prst="rect">
            <a:avLst/>
          </a:prstGeom>
          <a:solidFill>
            <a:srgbClr val="383838">
              <a:alpha val="16000"/>
            </a:srgbClr>
          </a:solidFill>
          <a:ln w="12700">
            <a:solidFill>
              <a:srgbClr val="383838">
                <a:alpha val="42000"/>
              </a:srgbClr>
            </a:solidFill>
            <a:prstDash val="solid"/>
          </a:ln>
        </p:spPr>
      </p:sp>
      <p:sp>
        <p:nvSpPr>
          <p:cNvPr id="42" name="Text 40"/>
          <p:cNvSpPr/>
          <p:nvPr/>
        </p:nvSpPr>
        <p:spPr>
          <a:xfrm>
            <a:off x="3209544" y="3675888"/>
            <a:ext cx="2633472" cy="182880"/>
          </a:xfrm>
          <a:prstGeom prst="rect">
            <a:avLst/>
          </a:prstGeom>
          <a:noFill/>
          <a:ln/>
        </p:spPr>
        <p:txBody>
          <a:bodyPr wrap="square" rtlCol="0" anchor="ctr"/>
          <a:lstStyle/>
          <a:p>
            <a:pPr marL="0" indent="0" algn="ctr">
              <a:buNone/>
            </a:pPr>
            <a:r>
              <a:rPr lang="en-US" sz="850" b="1" dirty="0">
                <a:solidFill>
                  <a:srgbClr val="383838"/>
                </a:solidFill>
                <a:latin typeface="Footlight MT Light" panose="0204060206030A020304" pitchFamily="18" charset="0"/>
                <a:ea typeface="Calibri" pitchFamily="34" charset="-122"/>
                <a:cs typeface="Calibri" pitchFamily="34" charset="-120"/>
              </a:rPr>
              <a:t>Exploration Stage</a:t>
            </a:r>
            <a:endParaRPr lang="en-US" sz="850" dirty="0">
              <a:latin typeface="Footlight MT Light" panose="0204060206030A020304" pitchFamily="18" charset="0"/>
            </a:endParaRPr>
          </a:p>
        </p:txBody>
      </p:sp>
      <p:sp>
        <p:nvSpPr>
          <p:cNvPr id="43" name="Text 41"/>
          <p:cNvSpPr/>
          <p:nvPr/>
        </p:nvSpPr>
        <p:spPr>
          <a:xfrm>
            <a:off x="3209544" y="3895344"/>
            <a:ext cx="2633472" cy="969264"/>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Growing investor interest driven by EV battery supply-chain demand. Several exploration licences recently granted.</a:t>
            </a:r>
            <a:endParaRPr lang="en-US" sz="950" dirty="0">
              <a:latin typeface="Footlight MT Light" panose="0204060206030A020304" pitchFamily="18" charset="0"/>
            </a:endParaRPr>
          </a:p>
        </p:txBody>
      </p:sp>
      <p:sp>
        <p:nvSpPr>
          <p:cNvPr id="44" name="Shape 42"/>
          <p:cNvSpPr/>
          <p:nvPr/>
        </p:nvSpPr>
        <p:spPr>
          <a:xfrm>
            <a:off x="6089904" y="2980944"/>
            <a:ext cx="2779776" cy="1956816"/>
          </a:xfrm>
          <a:prstGeom prst="rect">
            <a:avLst/>
          </a:prstGeom>
          <a:solidFill>
            <a:srgbClr val="F8F8F8"/>
          </a:solidFill>
          <a:ln w="6350">
            <a:solidFill>
              <a:srgbClr val="DDDDDD"/>
            </a:solidFill>
            <a:prstDash val="solid"/>
          </a:ln>
          <a:effectLst>
            <a:outerShdw blurRad="101600" dist="38100" dir="8100000" algn="bl" rotWithShape="0">
              <a:srgbClr val="000000">
                <a:alpha val="15000"/>
              </a:srgbClr>
            </a:outerShdw>
          </a:effectLst>
        </p:spPr>
      </p:sp>
      <p:sp>
        <p:nvSpPr>
          <p:cNvPr id="45" name="Shape 43"/>
          <p:cNvSpPr/>
          <p:nvPr/>
        </p:nvSpPr>
        <p:spPr>
          <a:xfrm>
            <a:off x="6089904" y="2980944"/>
            <a:ext cx="2779776" cy="274320"/>
          </a:xfrm>
          <a:prstGeom prst="rect">
            <a:avLst/>
          </a:prstGeom>
          <a:solidFill>
            <a:srgbClr val="2A6A3A"/>
          </a:solidFill>
          <a:ln w="12700">
            <a:solidFill>
              <a:srgbClr val="2A6A3A"/>
            </a:solidFill>
            <a:prstDash val="solid"/>
          </a:ln>
        </p:spPr>
      </p:sp>
      <p:sp>
        <p:nvSpPr>
          <p:cNvPr id="46" name="Text 44"/>
          <p:cNvSpPr/>
          <p:nvPr/>
        </p:nvSpPr>
        <p:spPr>
          <a:xfrm>
            <a:off x="6181344" y="3008376"/>
            <a:ext cx="2596896" cy="237744"/>
          </a:xfrm>
          <a:prstGeom prst="rect">
            <a:avLst/>
          </a:prstGeom>
          <a:noFill/>
          <a:ln/>
        </p:spPr>
        <p:txBody>
          <a:bodyPr wrap="square" rtlCol="0" anchor="ctr"/>
          <a:lstStyle/>
          <a:p>
            <a:pPr marL="0" indent="0">
              <a:buNone/>
            </a:pPr>
            <a:r>
              <a:rPr lang="en-US" sz="1150" b="1" kern="0" spc="100" dirty="0">
                <a:solidFill>
                  <a:srgbClr val="FFFFFF"/>
                </a:solidFill>
                <a:latin typeface="Footlight MT Light" panose="0204060206030A020304" pitchFamily="18" charset="0"/>
                <a:ea typeface="Trebuchet MS" pitchFamily="34" charset="-122"/>
                <a:cs typeface="Trebuchet MS" pitchFamily="34" charset="-120"/>
              </a:rPr>
              <a:t>OTHER MINERALS</a:t>
            </a:r>
            <a:endParaRPr lang="en-US" sz="1150" dirty="0">
              <a:latin typeface="Footlight MT Light" panose="0204060206030A020304" pitchFamily="18" charset="0"/>
            </a:endParaRPr>
          </a:p>
        </p:txBody>
      </p:sp>
      <p:sp>
        <p:nvSpPr>
          <p:cNvPr id="47" name="Text 45"/>
          <p:cNvSpPr/>
          <p:nvPr/>
        </p:nvSpPr>
        <p:spPr>
          <a:xfrm>
            <a:off x="6163056" y="3291840"/>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 Nationwide</a:t>
            </a:r>
            <a:endParaRPr lang="en-US" sz="900" dirty="0">
              <a:latin typeface="Footlight MT Light" panose="0204060206030A020304" pitchFamily="18" charset="0"/>
            </a:endParaRPr>
          </a:p>
        </p:txBody>
      </p:sp>
      <p:sp>
        <p:nvSpPr>
          <p:cNvPr id="48" name="Text 46"/>
          <p:cNvSpPr/>
          <p:nvPr/>
        </p:nvSpPr>
        <p:spPr>
          <a:xfrm>
            <a:off x="6163056" y="3474720"/>
            <a:ext cx="2633472" cy="182880"/>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Reserves: Coltan, nickel, cobalt, Co</a:t>
            </a:r>
            <a:endParaRPr lang="en-US" sz="900" dirty="0">
              <a:latin typeface="Footlight MT Light" panose="0204060206030A020304" pitchFamily="18" charset="0"/>
            </a:endParaRPr>
          </a:p>
        </p:txBody>
      </p:sp>
      <p:sp>
        <p:nvSpPr>
          <p:cNvPr id="49" name="Shape 47"/>
          <p:cNvSpPr/>
          <p:nvPr/>
        </p:nvSpPr>
        <p:spPr>
          <a:xfrm>
            <a:off x="6163056" y="3675888"/>
            <a:ext cx="2633472" cy="182880"/>
          </a:xfrm>
          <a:prstGeom prst="rect">
            <a:avLst/>
          </a:prstGeom>
          <a:solidFill>
            <a:srgbClr val="2A6A3A">
              <a:alpha val="16000"/>
            </a:srgbClr>
          </a:solidFill>
          <a:ln w="12700">
            <a:solidFill>
              <a:srgbClr val="2A6A3A">
                <a:alpha val="42000"/>
              </a:srgbClr>
            </a:solidFill>
            <a:prstDash val="solid"/>
          </a:ln>
        </p:spPr>
      </p:sp>
      <p:sp>
        <p:nvSpPr>
          <p:cNvPr id="50" name="Text 48"/>
          <p:cNvSpPr/>
          <p:nvPr/>
        </p:nvSpPr>
        <p:spPr>
          <a:xfrm>
            <a:off x="6163056" y="3675888"/>
            <a:ext cx="2633472" cy="182880"/>
          </a:xfrm>
          <a:prstGeom prst="rect">
            <a:avLst/>
          </a:prstGeom>
          <a:noFill/>
          <a:ln/>
        </p:spPr>
        <p:txBody>
          <a:bodyPr wrap="square" rtlCol="0" anchor="ctr"/>
          <a:lstStyle/>
          <a:p>
            <a:pPr marL="0" indent="0" algn="ctr">
              <a:buNone/>
            </a:pPr>
            <a:r>
              <a:rPr lang="en-US" sz="850" b="1" dirty="0">
                <a:solidFill>
                  <a:srgbClr val="2A6A3A"/>
                </a:solidFill>
                <a:latin typeface="Footlight MT Light" panose="0204060206030A020304" pitchFamily="18" charset="0"/>
                <a:ea typeface="Calibri" pitchFamily="34" charset="-122"/>
                <a:cs typeface="Calibri" pitchFamily="34" charset="-120"/>
              </a:rPr>
              <a:t>Early Exploration</a:t>
            </a:r>
            <a:endParaRPr lang="en-US" sz="850" dirty="0">
              <a:latin typeface="Footlight MT Light" panose="0204060206030A020304" pitchFamily="18" charset="0"/>
            </a:endParaRPr>
          </a:p>
        </p:txBody>
      </p:sp>
      <p:sp>
        <p:nvSpPr>
          <p:cNvPr id="51" name="Text 49"/>
          <p:cNvSpPr/>
          <p:nvPr/>
        </p:nvSpPr>
        <p:spPr>
          <a:xfrm>
            <a:off x="6163056" y="3895344"/>
            <a:ext cx="2633472" cy="969264"/>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Includes coltan, cobalt, uranium traces, nickel, copper, chromite. Critical minerals with growing global strategic importance.</a:t>
            </a:r>
            <a:endParaRPr lang="en-US" sz="950" dirty="0">
              <a:latin typeface="Footlight MT Light" panose="0204060206030A020304" pitchFamily="18" charset="0"/>
            </a:endParaRPr>
          </a:p>
        </p:txBody>
      </p:sp>
      <p:sp>
        <p:nvSpPr>
          <p:cNvPr id="52" name="Shape 50"/>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D1F08"/>
          </a:solidFill>
          <a:ln w="12700">
            <a:solidFill>
              <a:srgbClr val="0D1F08"/>
            </a:solidFill>
            <a:prstDash val="solid"/>
          </a:ln>
        </p:spPr>
      </p:sp>
      <p:sp>
        <p:nvSpPr>
          <p:cNvPr id="3" name="Text 1"/>
          <p:cNvSpPr/>
          <p:nvPr/>
        </p:nvSpPr>
        <p:spPr>
          <a:xfrm>
            <a:off x="347472" y="128016"/>
            <a:ext cx="8412480" cy="566928"/>
          </a:xfrm>
          <a:prstGeom prst="rect">
            <a:avLst/>
          </a:prstGeom>
          <a:noFill/>
          <a:ln/>
        </p:spPr>
        <p:txBody>
          <a:bodyPr wrap="square" rtlCol="0" anchor="ctr"/>
          <a:lstStyle/>
          <a:p>
            <a:pPr marL="0" indent="0">
              <a:buNone/>
            </a:pPr>
            <a:r>
              <a:rPr lang="en-US" sz="2600" b="1" dirty="0">
                <a:solidFill>
                  <a:srgbClr val="FFFFFF"/>
                </a:solidFill>
                <a:latin typeface="Footlight MT Light" panose="0204060206030A020304" pitchFamily="18" charset="0"/>
                <a:ea typeface="Georgia" pitchFamily="34" charset="-122"/>
                <a:cs typeface="Georgia" pitchFamily="34" charset="-120"/>
              </a:rPr>
              <a:t>Mineral Production Levels</a:t>
            </a:r>
            <a:endParaRPr lang="en-US" sz="2600" dirty="0">
              <a:latin typeface="Footlight MT Light" panose="0204060206030A020304" pitchFamily="18" charset="0"/>
            </a:endParaRPr>
          </a:p>
        </p:txBody>
      </p:sp>
      <p:sp>
        <p:nvSpPr>
          <p:cNvPr id="4" name="Text 2"/>
          <p:cNvSpPr/>
          <p:nvPr/>
        </p:nvSpPr>
        <p:spPr>
          <a:xfrm>
            <a:off x="274320" y="896112"/>
            <a:ext cx="5303520" cy="256032"/>
          </a:xfrm>
          <a:prstGeom prst="rect">
            <a:avLst/>
          </a:prstGeom>
          <a:noFill/>
          <a:ln/>
        </p:spPr>
        <p:txBody>
          <a:bodyPr wrap="square" rtlCol="0" anchor="ctr"/>
          <a:lstStyle/>
          <a:p>
            <a:pPr marL="0" indent="0">
              <a:buNone/>
            </a:pPr>
            <a:r>
              <a:rPr lang="en-US" sz="1150" b="1" dirty="0">
                <a:solidFill>
                  <a:srgbClr val="0D1F08"/>
                </a:solidFill>
                <a:latin typeface="Footlight MT Light" panose="0204060206030A020304" pitchFamily="18" charset="0"/>
                <a:ea typeface="Trebuchet MS" pitchFamily="34" charset="-122"/>
                <a:cs typeface="Trebuchet MS" pitchFamily="34" charset="-120"/>
              </a:rPr>
              <a:t>Bauxite Export Production (Million Tonnes / Year)</a:t>
            </a:r>
            <a:endParaRPr lang="en-US" sz="1150" dirty="0">
              <a:latin typeface="Footlight MT Light" panose="0204060206030A020304" pitchFamily="18" charset="0"/>
            </a:endParaRPr>
          </a:p>
        </p:txBody>
      </p:sp>
      <p:graphicFrame>
        <p:nvGraphicFramePr>
          <p:cNvPr id="5" name="Chart 0"/>
          <p:cNvGraphicFramePr/>
          <p:nvPr>
            <p:extLst>
              <p:ext uri="{D42A27DB-BD31-4B8C-83A1-F6EECF244321}">
                <p14:modId xmlns:p14="http://schemas.microsoft.com/office/powerpoint/2010/main" val="2348961304"/>
              </p:ext>
            </p:extLst>
          </p:nvPr>
        </p:nvGraphicFramePr>
        <p:xfrm>
          <a:off x="274320" y="1170432"/>
          <a:ext cx="516636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715000" y="896112"/>
            <a:ext cx="3200400" cy="256032"/>
          </a:xfrm>
          <a:prstGeom prst="rect">
            <a:avLst/>
          </a:prstGeom>
          <a:noFill/>
          <a:ln/>
        </p:spPr>
        <p:txBody>
          <a:bodyPr wrap="square" rtlCol="0" anchor="ctr"/>
          <a:lstStyle/>
          <a:p>
            <a:pPr marL="0" indent="0">
              <a:buNone/>
            </a:pPr>
            <a:r>
              <a:rPr lang="en-US" sz="1150" b="1" dirty="0">
                <a:solidFill>
                  <a:srgbClr val="0D1F08"/>
                </a:solidFill>
                <a:latin typeface="Footlight MT Light" panose="0204060206030A020304" pitchFamily="18" charset="0"/>
                <a:ea typeface="Trebuchet MS" pitchFamily="34" charset="-122"/>
                <a:cs typeface="Trebuchet MS" pitchFamily="34" charset="-120"/>
              </a:rPr>
              <a:t>Production Snapshot (2023–2024 Est.)</a:t>
            </a:r>
            <a:endParaRPr lang="en-US" sz="1150" dirty="0">
              <a:latin typeface="Footlight MT Light" panose="0204060206030A020304" pitchFamily="18" charset="0"/>
            </a:endParaRPr>
          </a:p>
        </p:txBody>
      </p:sp>
      <p:graphicFrame>
        <p:nvGraphicFramePr>
          <p:cNvPr id="7" name="Table 0"/>
          <p:cNvGraphicFramePr>
            <a:graphicFrameLocks noGrp="1"/>
          </p:cNvGraphicFramePr>
          <p:nvPr>
            <p:extLst>
              <p:ext uri="{D42A27DB-BD31-4B8C-83A1-F6EECF244321}">
                <p14:modId xmlns:p14="http://schemas.microsoft.com/office/powerpoint/2010/main" val="928408510"/>
              </p:ext>
            </p:extLst>
          </p:nvPr>
        </p:nvGraphicFramePr>
        <p:xfrm>
          <a:off x="5715000" y="1188720"/>
          <a:ext cx="3200400" cy="1463040"/>
        </p:xfrm>
        <a:graphic>
          <a:graphicData uri="http://schemas.openxmlformats.org/drawingml/2006/table">
            <a:tbl>
              <a:tblPr/>
              <a:tblGrid>
                <a:gridCol w="14173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0">
                <a:tc>
                  <a:txBody>
                    <a:bodyPr/>
                    <a:lstStyle/>
                    <a:p>
                      <a:pPr marL="0" indent="0">
                        <a:buNone/>
                      </a:pPr>
                      <a:r>
                        <a:rPr lang="en-US" sz="1000" b="1" dirty="0">
                          <a:solidFill>
                            <a:srgbClr val="FFFFFF"/>
                          </a:solidFill>
                          <a:latin typeface="Footlight MT Light" panose="0204060206030A020304" pitchFamily="18" charset="0"/>
                        </a:rPr>
                        <a:t>Commodity</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F08"/>
                    </a:solidFill>
                  </a:tcPr>
                </a:tc>
                <a:tc>
                  <a:txBody>
                    <a:bodyPr/>
                    <a:lstStyle/>
                    <a:p>
                      <a:pPr marL="0" indent="0">
                        <a:buNone/>
                      </a:pPr>
                      <a:r>
                        <a:rPr lang="en-US" sz="1000" b="1" dirty="0">
                          <a:solidFill>
                            <a:srgbClr val="FFFFFF"/>
                          </a:solidFill>
                          <a:latin typeface="Footlight MT Light" panose="0204060206030A020304" pitchFamily="18" charset="0"/>
                        </a:rPr>
                        <a:t>Volume</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F08"/>
                    </a:solidFill>
                  </a:tcPr>
                </a:tc>
                <a:tc>
                  <a:txBody>
                    <a:bodyPr/>
                    <a:lstStyle/>
                    <a:p>
                      <a:pPr marL="0" indent="0">
                        <a:buNone/>
                      </a:pPr>
                      <a:r>
                        <a:rPr lang="en-US" sz="1000" b="1" dirty="0">
                          <a:solidFill>
                            <a:srgbClr val="FFFFFF"/>
                          </a:solidFill>
                          <a:latin typeface="Footlight MT Light" panose="0204060206030A020304" pitchFamily="18" charset="0"/>
                        </a:rPr>
                        <a:t>Unit</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1F08"/>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000000"/>
                          </a:solidFill>
                          <a:latin typeface="Footlight MT Light" panose="0204060206030A020304" pitchFamily="18" charset="0"/>
                        </a:rPr>
                        <a:t>Bauxite</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Footlight MT Light" panose="0204060206030A020304" pitchFamily="18" charset="0"/>
                        </a:rPr>
                        <a:t>~95–100</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Footlight MT Light" panose="0204060206030A020304" pitchFamily="18" charset="0"/>
                        </a:rPr>
                        <a:t>Mt/yr</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00" dirty="0">
                          <a:solidFill>
                            <a:srgbClr val="000000"/>
                          </a:solidFill>
                          <a:latin typeface="Footlight MT Light" panose="0204060206030A020304" pitchFamily="18" charset="0"/>
                        </a:rPr>
                        <a:t>Gold (LSM)</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EA"/>
                    </a:solidFill>
                  </a:tcPr>
                </a:tc>
                <a:tc>
                  <a:txBody>
                    <a:bodyPr/>
                    <a:lstStyle/>
                    <a:p>
                      <a:pPr marL="0" indent="0">
                        <a:buNone/>
                      </a:pPr>
                      <a:r>
                        <a:rPr lang="en-US" sz="1000" dirty="0">
                          <a:solidFill>
                            <a:srgbClr val="000000"/>
                          </a:solidFill>
                          <a:latin typeface="Footlight MT Light" panose="0204060206030A020304" pitchFamily="18" charset="0"/>
                        </a:rPr>
                        <a:t>~400,000</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EA"/>
                    </a:solidFill>
                  </a:tcPr>
                </a:tc>
                <a:tc>
                  <a:txBody>
                    <a:bodyPr/>
                    <a:lstStyle/>
                    <a:p>
                      <a:pPr marL="0" indent="0">
                        <a:buNone/>
                      </a:pPr>
                      <a:r>
                        <a:rPr lang="en-US" sz="1000" dirty="0">
                          <a:solidFill>
                            <a:srgbClr val="000000"/>
                          </a:solidFill>
                          <a:latin typeface="Footlight MT Light" panose="0204060206030A020304" pitchFamily="18" charset="0"/>
                        </a:rPr>
                        <a:t>oz/yr</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EA"/>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000000"/>
                          </a:solidFill>
                          <a:latin typeface="Footlight MT Light" panose="0204060206030A020304" pitchFamily="18" charset="0"/>
                        </a:rPr>
                        <a:t>Gold (ASM est.)</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Footlight MT Light" panose="0204060206030A020304" pitchFamily="18" charset="0"/>
                        </a:rPr>
                        <a:t>~50,000+</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Footlight MT Light" panose="0204060206030A020304" pitchFamily="18" charset="0"/>
                        </a:rPr>
                        <a:t>oz/yr</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00" dirty="0">
                          <a:solidFill>
                            <a:srgbClr val="000000"/>
                          </a:solidFill>
                          <a:latin typeface="Footlight MT Light" panose="0204060206030A020304" pitchFamily="18" charset="0"/>
                        </a:rPr>
                        <a:t>Diamonds</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EA"/>
                    </a:solidFill>
                  </a:tcPr>
                </a:tc>
                <a:tc>
                  <a:txBody>
                    <a:bodyPr/>
                    <a:lstStyle/>
                    <a:p>
                      <a:pPr marL="0" indent="0">
                        <a:buNone/>
                      </a:pPr>
                      <a:r>
                        <a:rPr lang="en-US" sz="1000" dirty="0">
                          <a:solidFill>
                            <a:srgbClr val="000000"/>
                          </a:solidFill>
                          <a:latin typeface="Footlight MT Light" panose="0204060206030A020304" pitchFamily="18" charset="0"/>
                        </a:rPr>
                        <a:t>~300,000</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EA"/>
                    </a:solidFill>
                  </a:tcPr>
                </a:tc>
                <a:tc>
                  <a:txBody>
                    <a:bodyPr/>
                    <a:lstStyle/>
                    <a:p>
                      <a:pPr marL="0" indent="0">
                        <a:buNone/>
                      </a:pPr>
                      <a:r>
                        <a:rPr lang="en-US" sz="1000" dirty="0">
                          <a:solidFill>
                            <a:srgbClr val="000000"/>
                          </a:solidFill>
                          <a:latin typeface="Footlight MT Light" panose="0204060206030A020304" pitchFamily="18" charset="0"/>
                        </a:rPr>
                        <a:t>carats/yr</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0EA"/>
                    </a:solidFill>
                  </a:tcPr>
                </a:tc>
                <a:extLst>
                  <a:ext uri="{0D108BD9-81ED-4DB2-BD59-A6C34878D82A}">
                    <a16:rowId xmlns:a16="http://schemas.microsoft.com/office/drawing/2014/main" val="10004"/>
                  </a:ext>
                </a:extLst>
              </a:tr>
              <a:tr h="0">
                <a:tc>
                  <a:txBody>
                    <a:bodyPr/>
                    <a:lstStyle/>
                    <a:p>
                      <a:pPr marL="0" indent="0">
                        <a:buNone/>
                      </a:pPr>
                      <a:r>
                        <a:rPr lang="en-US" sz="1000" dirty="0">
                          <a:solidFill>
                            <a:srgbClr val="000000"/>
                          </a:solidFill>
                          <a:latin typeface="Footlight MT Light" panose="0204060206030A020304" pitchFamily="18" charset="0"/>
                        </a:rPr>
                        <a:t>Iron Ore</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Footlight MT Light" panose="0204060206030A020304" pitchFamily="18" charset="0"/>
                        </a:rPr>
                        <a:t>Pre-prod.</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Footlight MT Light" panose="0204060206030A020304" pitchFamily="18" charset="0"/>
                        </a:rPr>
                        <a:t>~2027 tgt</a:t>
                      </a:r>
                      <a:endParaRPr lang="en-US" sz="1000" dirty="0">
                        <a:latin typeface="Footlight MT Light" panose="0204060206030A020304" pitchFamily="18"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274320" y="3712464"/>
            <a:ext cx="8595360" cy="237744"/>
          </a:xfrm>
          <a:prstGeom prst="rect">
            <a:avLst/>
          </a:prstGeom>
          <a:noFill/>
          <a:ln/>
        </p:spPr>
        <p:txBody>
          <a:bodyPr wrap="square" rtlCol="0" anchor="ctr"/>
          <a:lstStyle/>
          <a:p>
            <a:pPr marL="0" indent="0">
              <a:buNone/>
            </a:pPr>
            <a:r>
              <a:rPr lang="en-US" sz="1100" b="1" dirty="0">
                <a:solidFill>
                  <a:srgbClr val="0D1F08"/>
                </a:solidFill>
                <a:latin typeface="Footlight MT Light" panose="0204060206030A020304" pitchFamily="18" charset="0"/>
                <a:ea typeface="Trebuchet MS" pitchFamily="34" charset="-122"/>
                <a:cs typeface="Trebuchet MS" pitchFamily="34" charset="-120"/>
              </a:rPr>
              <a:t>Gold Production – Siguiri LSM Mine (000 oz/yr)</a:t>
            </a:r>
            <a:endParaRPr lang="en-US" sz="1100" dirty="0">
              <a:latin typeface="Footlight MT Light" panose="0204060206030A020304" pitchFamily="18" charset="0"/>
            </a:endParaRPr>
          </a:p>
        </p:txBody>
      </p:sp>
      <p:graphicFrame>
        <p:nvGraphicFramePr>
          <p:cNvPr id="9" name="Chart 1"/>
          <p:cNvGraphicFramePr/>
          <p:nvPr>
            <p:extLst>
              <p:ext uri="{D42A27DB-BD31-4B8C-83A1-F6EECF244321}">
                <p14:modId xmlns:p14="http://schemas.microsoft.com/office/powerpoint/2010/main" val="2620976798"/>
              </p:ext>
            </p:extLst>
          </p:nvPr>
        </p:nvGraphicFramePr>
        <p:xfrm>
          <a:off x="274320" y="3977640"/>
          <a:ext cx="8595360" cy="91440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5"/>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4"/>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8B1A1A"/>
          </a:solidFill>
          <a:ln w="12700">
            <a:solidFill>
              <a:srgbClr val="8B1A1A"/>
            </a:solidFill>
            <a:prstDash val="solid"/>
          </a:ln>
        </p:spPr>
      </p:sp>
      <p:sp>
        <p:nvSpPr>
          <p:cNvPr id="3" name="Text 1"/>
          <p:cNvSpPr/>
          <p:nvPr/>
        </p:nvSpPr>
        <p:spPr>
          <a:xfrm>
            <a:off x="347472" y="128016"/>
            <a:ext cx="8412480" cy="566928"/>
          </a:xfrm>
          <a:prstGeom prst="rect">
            <a:avLst/>
          </a:prstGeom>
          <a:noFill/>
          <a:ln/>
        </p:spPr>
        <p:txBody>
          <a:bodyPr wrap="square" rtlCol="0" anchor="ctr"/>
          <a:lstStyle/>
          <a:p>
            <a:pPr marL="0" indent="0">
              <a:buNone/>
            </a:pPr>
            <a:r>
              <a:rPr lang="en-US" sz="2800" b="1" dirty="0">
                <a:solidFill>
                  <a:srgbClr val="FFFFFF"/>
                </a:solidFill>
                <a:latin typeface="Footlight MT Light" panose="0204060206030A020304" pitchFamily="18" charset="0"/>
                <a:ea typeface="Georgia" pitchFamily="34" charset="-122"/>
                <a:cs typeface="Georgia" pitchFamily="34" charset="-120"/>
              </a:rPr>
              <a:t>Challenges in Guinea's Mining Sector</a:t>
            </a:r>
            <a:endParaRPr lang="en-US" sz="2800" dirty="0">
              <a:latin typeface="Footlight MT Light" panose="0204060206030A020304" pitchFamily="18" charset="0"/>
            </a:endParaRPr>
          </a:p>
        </p:txBody>
      </p:sp>
      <p:sp>
        <p:nvSpPr>
          <p:cNvPr id="4" name="Shape 2"/>
          <p:cNvSpPr/>
          <p:nvPr/>
        </p:nvSpPr>
        <p:spPr>
          <a:xfrm>
            <a:off x="201168" y="932688"/>
            <a:ext cx="2761488" cy="1883664"/>
          </a:xfrm>
          <a:prstGeom prst="rect">
            <a:avLst/>
          </a:prstGeom>
          <a:solidFill>
            <a:srgbClr val="1E1E1E"/>
          </a:solidFill>
          <a:ln w="6350">
            <a:solidFill>
              <a:srgbClr val="333333"/>
            </a:solidFill>
            <a:prstDash val="solid"/>
          </a:ln>
          <a:effectLst>
            <a:outerShdw blurRad="50800" dist="25400" dir="8100000" algn="bl" rotWithShape="0">
              <a:srgbClr val="000000">
                <a:alpha val="10000"/>
              </a:srgbClr>
            </a:outerShdw>
          </a:effectLst>
        </p:spPr>
      </p:sp>
      <p:sp>
        <p:nvSpPr>
          <p:cNvPr id="5" name="Shape 3"/>
          <p:cNvSpPr/>
          <p:nvPr/>
        </p:nvSpPr>
        <p:spPr>
          <a:xfrm>
            <a:off x="201168" y="932688"/>
            <a:ext cx="73152" cy="1883664"/>
          </a:xfrm>
          <a:prstGeom prst="rect">
            <a:avLst/>
          </a:prstGeom>
          <a:solidFill>
            <a:srgbClr val="C0392B"/>
          </a:solidFill>
          <a:ln w="12700">
            <a:solidFill>
              <a:srgbClr val="C0392B"/>
            </a:solidFill>
            <a:prstDash val="solid"/>
          </a:ln>
        </p:spPr>
      </p:sp>
      <p:sp>
        <p:nvSpPr>
          <p:cNvPr id="6" name="Text 4"/>
          <p:cNvSpPr/>
          <p:nvPr/>
        </p:nvSpPr>
        <p:spPr>
          <a:xfrm>
            <a:off x="347472" y="1005840"/>
            <a:ext cx="804672" cy="420624"/>
          </a:xfrm>
          <a:prstGeom prst="rect">
            <a:avLst/>
          </a:prstGeom>
          <a:noFill/>
          <a:ln/>
        </p:spPr>
        <p:txBody>
          <a:bodyPr wrap="square" rtlCol="0" anchor="ctr"/>
          <a:lstStyle/>
          <a:p>
            <a:pPr marL="0" indent="0">
              <a:buNone/>
            </a:pPr>
            <a:r>
              <a:rPr lang="en-US" sz="2800" b="1" dirty="0">
                <a:solidFill>
                  <a:srgbClr val="C0392B"/>
                </a:solidFill>
                <a:latin typeface="Footlight MT Light" panose="0204060206030A020304" pitchFamily="18" charset="0"/>
                <a:ea typeface="Georgia" pitchFamily="34" charset="-122"/>
                <a:cs typeface="Georgia" pitchFamily="34" charset="-120"/>
              </a:rPr>
              <a:t>01</a:t>
            </a:r>
            <a:endParaRPr lang="en-US" sz="2800" dirty="0">
              <a:latin typeface="Footlight MT Light" panose="0204060206030A020304" pitchFamily="18" charset="0"/>
            </a:endParaRPr>
          </a:p>
        </p:txBody>
      </p:sp>
      <p:sp>
        <p:nvSpPr>
          <p:cNvPr id="7" name="Text 5"/>
          <p:cNvSpPr/>
          <p:nvPr/>
        </p:nvSpPr>
        <p:spPr>
          <a:xfrm>
            <a:off x="347472" y="1444752"/>
            <a:ext cx="2542032" cy="329184"/>
          </a:xfrm>
          <a:prstGeom prst="rect">
            <a:avLst/>
          </a:prstGeom>
          <a:noFill/>
          <a:ln/>
        </p:spPr>
        <p:txBody>
          <a:bodyPr wrap="square" rtlCol="0" anchor="ctr"/>
          <a:lstStyle/>
          <a:p>
            <a:pPr marL="0" indent="0">
              <a:buNone/>
            </a:pPr>
            <a:r>
              <a:rPr lang="en-US" sz="1200" b="1" dirty="0">
                <a:solidFill>
                  <a:srgbClr val="FFFFFF"/>
                </a:solidFill>
                <a:latin typeface="Footlight MT Light" panose="0204060206030A020304" pitchFamily="18" charset="0"/>
                <a:ea typeface="Trebuchet MS" pitchFamily="34" charset="-122"/>
                <a:cs typeface="Trebuchet MS" pitchFamily="34" charset="-120"/>
              </a:rPr>
              <a:t>Political Instability</a:t>
            </a:r>
            <a:endParaRPr lang="en-US" sz="1200" dirty="0">
              <a:latin typeface="Footlight MT Light" panose="0204060206030A020304" pitchFamily="18" charset="0"/>
            </a:endParaRPr>
          </a:p>
        </p:txBody>
      </p:sp>
      <p:sp>
        <p:nvSpPr>
          <p:cNvPr id="8" name="Text 6"/>
          <p:cNvSpPr/>
          <p:nvPr/>
        </p:nvSpPr>
        <p:spPr>
          <a:xfrm>
            <a:off x="347472" y="1810512"/>
            <a:ext cx="2542032" cy="914400"/>
          </a:xfrm>
          <a:prstGeom prst="rect">
            <a:avLst/>
          </a:prstGeom>
          <a:noFill/>
          <a:ln/>
        </p:spPr>
        <p:txBody>
          <a:bodyPr wrap="square" rtlCol="0" anchor="ctr"/>
          <a:lstStyle/>
          <a:p>
            <a:pPr marL="0" indent="0">
              <a:buNone/>
            </a:pPr>
            <a:r>
              <a:rPr lang="en-US" sz="1000" dirty="0">
                <a:solidFill>
                  <a:srgbClr val="AAAAAA"/>
                </a:solidFill>
                <a:latin typeface="Footlight MT Light" panose="0204060206030A020304" pitchFamily="18" charset="0"/>
                <a:ea typeface="Calibri" pitchFamily="34" charset="-122"/>
                <a:cs typeface="Calibri" pitchFamily="34" charset="-120"/>
              </a:rPr>
              <a:t>Military coups (2021) and governance transitions disrupted investor confidence and delayed flagship projects including Simandou.</a:t>
            </a:r>
            <a:endParaRPr lang="en-US" sz="1000" dirty="0">
              <a:latin typeface="Footlight MT Light" panose="0204060206030A020304" pitchFamily="18" charset="0"/>
            </a:endParaRPr>
          </a:p>
        </p:txBody>
      </p:sp>
      <p:sp>
        <p:nvSpPr>
          <p:cNvPr id="9" name="Shape 7"/>
          <p:cNvSpPr/>
          <p:nvPr/>
        </p:nvSpPr>
        <p:spPr>
          <a:xfrm>
            <a:off x="3145536" y="932688"/>
            <a:ext cx="2761488" cy="1883664"/>
          </a:xfrm>
          <a:prstGeom prst="rect">
            <a:avLst/>
          </a:prstGeom>
          <a:solidFill>
            <a:srgbClr val="1E1E1E"/>
          </a:solidFill>
          <a:ln w="6350">
            <a:solidFill>
              <a:srgbClr val="333333"/>
            </a:solidFill>
            <a:prstDash val="solid"/>
          </a:ln>
          <a:effectLst>
            <a:outerShdw blurRad="50800" dist="25400" dir="8100000" algn="bl" rotWithShape="0">
              <a:srgbClr val="000000">
                <a:alpha val="10000"/>
              </a:srgbClr>
            </a:outerShdw>
          </a:effectLst>
        </p:spPr>
      </p:sp>
      <p:sp>
        <p:nvSpPr>
          <p:cNvPr id="10" name="Shape 8"/>
          <p:cNvSpPr/>
          <p:nvPr/>
        </p:nvSpPr>
        <p:spPr>
          <a:xfrm>
            <a:off x="3145536" y="932688"/>
            <a:ext cx="73152" cy="1883664"/>
          </a:xfrm>
          <a:prstGeom prst="rect">
            <a:avLst/>
          </a:prstGeom>
          <a:solidFill>
            <a:srgbClr val="D35400"/>
          </a:solidFill>
          <a:ln w="12700">
            <a:solidFill>
              <a:srgbClr val="D35400"/>
            </a:solidFill>
            <a:prstDash val="solid"/>
          </a:ln>
        </p:spPr>
      </p:sp>
      <p:sp>
        <p:nvSpPr>
          <p:cNvPr id="11" name="Text 9"/>
          <p:cNvSpPr/>
          <p:nvPr/>
        </p:nvSpPr>
        <p:spPr>
          <a:xfrm>
            <a:off x="3291840" y="1005840"/>
            <a:ext cx="804672" cy="420624"/>
          </a:xfrm>
          <a:prstGeom prst="rect">
            <a:avLst/>
          </a:prstGeom>
          <a:noFill/>
          <a:ln/>
        </p:spPr>
        <p:txBody>
          <a:bodyPr wrap="square" rtlCol="0" anchor="ctr"/>
          <a:lstStyle/>
          <a:p>
            <a:pPr marL="0" indent="0">
              <a:buNone/>
            </a:pPr>
            <a:r>
              <a:rPr lang="en-US" sz="2800" b="1" dirty="0">
                <a:solidFill>
                  <a:srgbClr val="D35400"/>
                </a:solidFill>
                <a:latin typeface="Footlight MT Light" panose="0204060206030A020304" pitchFamily="18" charset="0"/>
                <a:ea typeface="Georgia" pitchFamily="34" charset="-122"/>
                <a:cs typeface="Georgia" pitchFamily="34" charset="-120"/>
              </a:rPr>
              <a:t>02</a:t>
            </a:r>
            <a:endParaRPr lang="en-US" sz="2800" dirty="0">
              <a:latin typeface="Footlight MT Light" panose="0204060206030A020304" pitchFamily="18" charset="0"/>
            </a:endParaRPr>
          </a:p>
        </p:txBody>
      </p:sp>
      <p:sp>
        <p:nvSpPr>
          <p:cNvPr id="12" name="Text 10"/>
          <p:cNvSpPr/>
          <p:nvPr/>
        </p:nvSpPr>
        <p:spPr>
          <a:xfrm>
            <a:off x="3291840" y="1444752"/>
            <a:ext cx="2542032" cy="329184"/>
          </a:xfrm>
          <a:prstGeom prst="rect">
            <a:avLst/>
          </a:prstGeom>
          <a:noFill/>
          <a:ln/>
        </p:spPr>
        <p:txBody>
          <a:bodyPr wrap="square" rtlCol="0" anchor="ctr"/>
          <a:lstStyle/>
          <a:p>
            <a:pPr marL="0" indent="0">
              <a:buNone/>
            </a:pPr>
            <a:r>
              <a:rPr lang="en-US" sz="1200" b="1" dirty="0">
                <a:solidFill>
                  <a:srgbClr val="FFFFFF"/>
                </a:solidFill>
                <a:latin typeface="Footlight MT Light" panose="0204060206030A020304" pitchFamily="18" charset="0"/>
                <a:ea typeface="Trebuchet MS" pitchFamily="34" charset="-122"/>
                <a:cs typeface="Trebuchet MS" pitchFamily="34" charset="-120"/>
              </a:rPr>
              <a:t>Infrastructure Deficit</a:t>
            </a:r>
            <a:endParaRPr lang="en-US" sz="1200" dirty="0">
              <a:latin typeface="Footlight MT Light" panose="0204060206030A020304" pitchFamily="18" charset="0"/>
            </a:endParaRPr>
          </a:p>
        </p:txBody>
      </p:sp>
      <p:sp>
        <p:nvSpPr>
          <p:cNvPr id="13" name="Text 11"/>
          <p:cNvSpPr/>
          <p:nvPr/>
        </p:nvSpPr>
        <p:spPr>
          <a:xfrm>
            <a:off x="3291840" y="1810512"/>
            <a:ext cx="2542032" cy="914400"/>
          </a:xfrm>
          <a:prstGeom prst="rect">
            <a:avLst/>
          </a:prstGeom>
          <a:noFill/>
          <a:ln/>
        </p:spPr>
        <p:txBody>
          <a:bodyPr wrap="square" rtlCol="0" anchor="ctr"/>
          <a:lstStyle/>
          <a:p>
            <a:pPr marL="0" indent="0">
              <a:buNone/>
            </a:pPr>
            <a:r>
              <a:rPr lang="en-US" sz="1000" dirty="0">
                <a:solidFill>
                  <a:srgbClr val="AAAAAA"/>
                </a:solidFill>
                <a:latin typeface="Footlight MT Light" panose="0204060206030A020304" pitchFamily="18" charset="0"/>
                <a:ea typeface="Calibri" pitchFamily="34" charset="-122"/>
                <a:cs typeface="Calibri" pitchFamily="34" charset="-120"/>
              </a:rPr>
              <a:t>Inadequate road, rail, and port infrastructure inflates costs. Simandou requires an entirely new 650km rail corridor — a massive financing challenge.</a:t>
            </a:r>
            <a:endParaRPr lang="en-US" sz="1000" dirty="0">
              <a:latin typeface="Footlight MT Light" panose="0204060206030A020304" pitchFamily="18" charset="0"/>
            </a:endParaRPr>
          </a:p>
        </p:txBody>
      </p:sp>
      <p:sp>
        <p:nvSpPr>
          <p:cNvPr id="14" name="Shape 12"/>
          <p:cNvSpPr/>
          <p:nvPr/>
        </p:nvSpPr>
        <p:spPr>
          <a:xfrm>
            <a:off x="6089904" y="932688"/>
            <a:ext cx="2761488" cy="1883664"/>
          </a:xfrm>
          <a:prstGeom prst="rect">
            <a:avLst/>
          </a:prstGeom>
          <a:solidFill>
            <a:srgbClr val="1E1E1E"/>
          </a:solidFill>
          <a:ln w="6350">
            <a:solidFill>
              <a:srgbClr val="333333"/>
            </a:solidFill>
            <a:prstDash val="solid"/>
          </a:ln>
          <a:effectLst>
            <a:outerShdw blurRad="50800" dist="25400" dir="8100000" algn="bl" rotWithShape="0">
              <a:srgbClr val="000000">
                <a:alpha val="10000"/>
              </a:srgbClr>
            </a:outerShdw>
          </a:effectLst>
        </p:spPr>
      </p:sp>
      <p:sp>
        <p:nvSpPr>
          <p:cNvPr id="15" name="Shape 13"/>
          <p:cNvSpPr/>
          <p:nvPr/>
        </p:nvSpPr>
        <p:spPr>
          <a:xfrm>
            <a:off x="6089904" y="932688"/>
            <a:ext cx="73152" cy="1883664"/>
          </a:xfrm>
          <a:prstGeom prst="rect">
            <a:avLst/>
          </a:prstGeom>
          <a:solidFill>
            <a:srgbClr val="1E8449"/>
          </a:solidFill>
          <a:ln w="12700">
            <a:solidFill>
              <a:srgbClr val="1E8449"/>
            </a:solidFill>
            <a:prstDash val="solid"/>
          </a:ln>
        </p:spPr>
      </p:sp>
      <p:sp>
        <p:nvSpPr>
          <p:cNvPr id="16" name="Text 14"/>
          <p:cNvSpPr/>
          <p:nvPr/>
        </p:nvSpPr>
        <p:spPr>
          <a:xfrm>
            <a:off x="6236208" y="1005840"/>
            <a:ext cx="804672" cy="420624"/>
          </a:xfrm>
          <a:prstGeom prst="rect">
            <a:avLst/>
          </a:prstGeom>
          <a:noFill/>
          <a:ln/>
        </p:spPr>
        <p:txBody>
          <a:bodyPr wrap="square" rtlCol="0" anchor="ctr"/>
          <a:lstStyle/>
          <a:p>
            <a:pPr marL="0" indent="0">
              <a:buNone/>
            </a:pPr>
            <a:r>
              <a:rPr lang="en-US" sz="2800" b="1" dirty="0">
                <a:solidFill>
                  <a:srgbClr val="1E8449"/>
                </a:solidFill>
                <a:latin typeface="Footlight MT Light" panose="0204060206030A020304" pitchFamily="18" charset="0"/>
                <a:ea typeface="Georgia" pitchFamily="34" charset="-122"/>
                <a:cs typeface="Georgia" pitchFamily="34" charset="-120"/>
              </a:rPr>
              <a:t>03</a:t>
            </a:r>
            <a:endParaRPr lang="en-US" sz="2800" dirty="0">
              <a:latin typeface="Footlight MT Light" panose="0204060206030A020304" pitchFamily="18" charset="0"/>
            </a:endParaRPr>
          </a:p>
        </p:txBody>
      </p:sp>
      <p:sp>
        <p:nvSpPr>
          <p:cNvPr id="17" name="Text 15"/>
          <p:cNvSpPr/>
          <p:nvPr/>
        </p:nvSpPr>
        <p:spPr>
          <a:xfrm>
            <a:off x="6236208" y="1444752"/>
            <a:ext cx="2542032" cy="329184"/>
          </a:xfrm>
          <a:prstGeom prst="rect">
            <a:avLst/>
          </a:prstGeom>
          <a:noFill/>
          <a:ln/>
        </p:spPr>
        <p:txBody>
          <a:bodyPr wrap="square" rtlCol="0" anchor="ctr"/>
          <a:lstStyle/>
          <a:p>
            <a:pPr marL="0" indent="0">
              <a:buNone/>
            </a:pPr>
            <a:r>
              <a:rPr lang="en-US" sz="1200" b="1" dirty="0">
                <a:solidFill>
                  <a:srgbClr val="FFFFFF"/>
                </a:solidFill>
                <a:latin typeface="Footlight MT Light" panose="0204060206030A020304" pitchFamily="18" charset="0"/>
                <a:ea typeface="Trebuchet MS" pitchFamily="34" charset="-122"/>
                <a:cs typeface="Trebuchet MS" pitchFamily="34" charset="-120"/>
              </a:rPr>
              <a:t>Environmental Degradation</a:t>
            </a:r>
            <a:endParaRPr lang="en-US" sz="1200" dirty="0">
              <a:latin typeface="Footlight MT Light" panose="0204060206030A020304" pitchFamily="18" charset="0"/>
            </a:endParaRPr>
          </a:p>
        </p:txBody>
      </p:sp>
      <p:sp>
        <p:nvSpPr>
          <p:cNvPr id="18" name="Text 16"/>
          <p:cNvSpPr/>
          <p:nvPr/>
        </p:nvSpPr>
        <p:spPr>
          <a:xfrm>
            <a:off x="6236208" y="1810512"/>
            <a:ext cx="2542032" cy="914400"/>
          </a:xfrm>
          <a:prstGeom prst="rect">
            <a:avLst/>
          </a:prstGeom>
          <a:noFill/>
          <a:ln/>
        </p:spPr>
        <p:txBody>
          <a:bodyPr wrap="square" rtlCol="0" anchor="ctr"/>
          <a:lstStyle/>
          <a:p>
            <a:pPr marL="0" indent="0">
              <a:buNone/>
            </a:pPr>
            <a:r>
              <a:rPr lang="en-US" sz="1000" dirty="0">
                <a:solidFill>
                  <a:srgbClr val="AAAAAA"/>
                </a:solidFill>
                <a:latin typeface="Footlight MT Light" panose="0204060206030A020304" pitchFamily="18" charset="0"/>
                <a:ea typeface="Calibri" pitchFamily="34" charset="-122"/>
                <a:cs typeface="Calibri" pitchFamily="34" charset="-120"/>
              </a:rPr>
              <a:t>Bauxite mining causes deforestation, water pollution, and displacement in Boké. ASM gold operations drive mercury contamination in waterways.</a:t>
            </a:r>
            <a:endParaRPr lang="en-US" sz="1000" dirty="0">
              <a:latin typeface="Footlight MT Light" panose="0204060206030A020304" pitchFamily="18" charset="0"/>
            </a:endParaRPr>
          </a:p>
        </p:txBody>
      </p:sp>
      <p:sp>
        <p:nvSpPr>
          <p:cNvPr id="19" name="Shape 17"/>
          <p:cNvSpPr/>
          <p:nvPr/>
        </p:nvSpPr>
        <p:spPr>
          <a:xfrm>
            <a:off x="201168" y="2944368"/>
            <a:ext cx="2761488" cy="1883664"/>
          </a:xfrm>
          <a:prstGeom prst="rect">
            <a:avLst/>
          </a:prstGeom>
          <a:solidFill>
            <a:srgbClr val="1E1E1E"/>
          </a:solidFill>
          <a:ln w="6350">
            <a:solidFill>
              <a:srgbClr val="333333"/>
            </a:solidFill>
            <a:prstDash val="solid"/>
          </a:ln>
          <a:effectLst>
            <a:outerShdw blurRad="50800" dist="25400" dir="8100000" algn="bl" rotWithShape="0">
              <a:srgbClr val="000000">
                <a:alpha val="10000"/>
              </a:srgbClr>
            </a:outerShdw>
          </a:effectLst>
        </p:spPr>
      </p:sp>
      <p:sp>
        <p:nvSpPr>
          <p:cNvPr id="20" name="Shape 18"/>
          <p:cNvSpPr/>
          <p:nvPr/>
        </p:nvSpPr>
        <p:spPr>
          <a:xfrm>
            <a:off x="201168" y="2944368"/>
            <a:ext cx="73152" cy="1883664"/>
          </a:xfrm>
          <a:prstGeom prst="rect">
            <a:avLst/>
          </a:prstGeom>
          <a:solidFill>
            <a:srgbClr val="2980B9"/>
          </a:solidFill>
          <a:ln w="12700">
            <a:solidFill>
              <a:srgbClr val="2980B9"/>
            </a:solidFill>
            <a:prstDash val="solid"/>
          </a:ln>
        </p:spPr>
      </p:sp>
      <p:sp>
        <p:nvSpPr>
          <p:cNvPr id="21" name="Text 19"/>
          <p:cNvSpPr/>
          <p:nvPr/>
        </p:nvSpPr>
        <p:spPr>
          <a:xfrm>
            <a:off x="347472" y="3017520"/>
            <a:ext cx="804672" cy="420624"/>
          </a:xfrm>
          <a:prstGeom prst="rect">
            <a:avLst/>
          </a:prstGeom>
          <a:noFill/>
          <a:ln/>
        </p:spPr>
        <p:txBody>
          <a:bodyPr wrap="square" rtlCol="0" anchor="ctr"/>
          <a:lstStyle/>
          <a:p>
            <a:pPr marL="0" indent="0">
              <a:buNone/>
            </a:pPr>
            <a:r>
              <a:rPr lang="en-US" sz="2800" b="1" dirty="0">
                <a:solidFill>
                  <a:srgbClr val="2980B9"/>
                </a:solidFill>
                <a:latin typeface="Footlight MT Light" panose="0204060206030A020304" pitchFamily="18" charset="0"/>
                <a:ea typeface="Georgia" pitchFamily="34" charset="-122"/>
                <a:cs typeface="Georgia" pitchFamily="34" charset="-120"/>
              </a:rPr>
              <a:t>04</a:t>
            </a:r>
            <a:endParaRPr lang="en-US" sz="2800" dirty="0">
              <a:latin typeface="Footlight MT Light" panose="0204060206030A020304" pitchFamily="18" charset="0"/>
            </a:endParaRPr>
          </a:p>
        </p:txBody>
      </p:sp>
      <p:sp>
        <p:nvSpPr>
          <p:cNvPr id="22" name="Text 20"/>
          <p:cNvSpPr/>
          <p:nvPr/>
        </p:nvSpPr>
        <p:spPr>
          <a:xfrm>
            <a:off x="347472" y="3456432"/>
            <a:ext cx="2542032" cy="329184"/>
          </a:xfrm>
          <a:prstGeom prst="rect">
            <a:avLst/>
          </a:prstGeom>
          <a:noFill/>
          <a:ln/>
        </p:spPr>
        <p:txBody>
          <a:bodyPr wrap="square" rtlCol="0" anchor="ctr"/>
          <a:lstStyle/>
          <a:p>
            <a:pPr marL="0" indent="0">
              <a:buNone/>
            </a:pPr>
            <a:r>
              <a:rPr lang="en-US" sz="1200" b="1" dirty="0">
                <a:solidFill>
                  <a:srgbClr val="FFFFFF"/>
                </a:solidFill>
                <a:latin typeface="Footlight MT Light" panose="0204060206030A020304" pitchFamily="18" charset="0"/>
                <a:ea typeface="Trebuchet MS" pitchFamily="34" charset="-122"/>
                <a:cs typeface="Trebuchet MS" pitchFamily="34" charset="-120"/>
              </a:rPr>
              <a:t>Community Displacement</a:t>
            </a:r>
            <a:endParaRPr lang="en-US" sz="1200" dirty="0">
              <a:latin typeface="Footlight MT Light" panose="0204060206030A020304" pitchFamily="18" charset="0"/>
            </a:endParaRPr>
          </a:p>
        </p:txBody>
      </p:sp>
      <p:sp>
        <p:nvSpPr>
          <p:cNvPr id="23" name="Text 21"/>
          <p:cNvSpPr/>
          <p:nvPr/>
        </p:nvSpPr>
        <p:spPr>
          <a:xfrm>
            <a:off x="347472" y="3822192"/>
            <a:ext cx="2542032" cy="914400"/>
          </a:xfrm>
          <a:prstGeom prst="rect">
            <a:avLst/>
          </a:prstGeom>
          <a:noFill/>
          <a:ln/>
        </p:spPr>
        <p:txBody>
          <a:bodyPr wrap="square" rtlCol="0" anchor="ctr"/>
          <a:lstStyle/>
          <a:p>
            <a:pPr marL="0" indent="0">
              <a:buNone/>
            </a:pPr>
            <a:r>
              <a:rPr lang="en-US" sz="1000" dirty="0">
                <a:solidFill>
                  <a:srgbClr val="AAAAAA"/>
                </a:solidFill>
                <a:latin typeface="Footlight MT Light" panose="0204060206030A020304" pitchFamily="18" charset="0"/>
                <a:ea typeface="Calibri" pitchFamily="34" charset="-122"/>
                <a:cs typeface="Calibri" pitchFamily="34" charset="-120"/>
              </a:rPr>
              <a:t>Resettlement without adequate compensation fuels local opposition. Social licence to operate is increasingly contested at mine sites.</a:t>
            </a:r>
            <a:endParaRPr lang="en-US" sz="1000" dirty="0">
              <a:latin typeface="Footlight MT Light" panose="0204060206030A020304" pitchFamily="18" charset="0"/>
            </a:endParaRPr>
          </a:p>
        </p:txBody>
      </p:sp>
      <p:sp>
        <p:nvSpPr>
          <p:cNvPr id="24" name="Shape 22"/>
          <p:cNvSpPr/>
          <p:nvPr/>
        </p:nvSpPr>
        <p:spPr>
          <a:xfrm>
            <a:off x="3145536" y="2944368"/>
            <a:ext cx="2761488" cy="1883664"/>
          </a:xfrm>
          <a:prstGeom prst="rect">
            <a:avLst/>
          </a:prstGeom>
          <a:solidFill>
            <a:srgbClr val="1E1E1E"/>
          </a:solidFill>
          <a:ln w="6350">
            <a:solidFill>
              <a:srgbClr val="333333"/>
            </a:solidFill>
            <a:prstDash val="solid"/>
          </a:ln>
          <a:effectLst>
            <a:outerShdw blurRad="50800" dist="25400" dir="8100000" algn="bl" rotWithShape="0">
              <a:srgbClr val="000000">
                <a:alpha val="10000"/>
              </a:srgbClr>
            </a:outerShdw>
          </a:effectLst>
        </p:spPr>
      </p:sp>
      <p:sp>
        <p:nvSpPr>
          <p:cNvPr id="25" name="Shape 23"/>
          <p:cNvSpPr/>
          <p:nvPr/>
        </p:nvSpPr>
        <p:spPr>
          <a:xfrm>
            <a:off x="3145536" y="2944368"/>
            <a:ext cx="73152" cy="1883664"/>
          </a:xfrm>
          <a:prstGeom prst="rect">
            <a:avLst/>
          </a:prstGeom>
          <a:solidFill>
            <a:srgbClr val="8E44AD"/>
          </a:solidFill>
          <a:ln w="12700">
            <a:solidFill>
              <a:srgbClr val="8E44AD"/>
            </a:solidFill>
            <a:prstDash val="solid"/>
          </a:ln>
        </p:spPr>
      </p:sp>
      <p:sp>
        <p:nvSpPr>
          <p:cNvPr id="26" name="Text 24"/>
          <p:cNvSpPr/>
          <p:nvPr/>
        </p:nvSpPr>
        <p:spPr>
          <a:xfrm>
            <a:off x="3291840" y="3017520"/>
            <a:ext cx="804672" cy="420624"/>
          </a:xfrm>
          <a:prstGeom prst="rect">
            <a:avLst/>
          </a:prstGeom>
          <a:noFill/>
          <a:ln/>
        </p:spPr>
        <p:txBody>
          <a:bodyPr wrap="square" rtlCol="0" anchor="ctr"/>
          <a:lstStyle/>
          <a:p>
            <a:pPr marL="0" indent="0">
              <a:buNone/>
            </a:pPr>
            <a:r>
              <a:rPr lang="en-US" sz="2800" b="1" dirty="0">
                <a:solidFill>
                  <a:srgbClr val="8E44AD"/>
                </a:solidFill>
                <a:latin typeface="Footlight MT Light" panose="0204060206030A020304" pitchFamily="18" charset="0"/>
                <a:ea typeface="Georgia" pitchFamily="34" charset="-122"/>
                <a:cs typeface="Georgia" pitchFamily="34" charset="-120"/>
              </a:rPr>
              <a:t>05</a:t>
            </a:r>
            <a:endParaRPr lang="en-US" sz="2800" dirty="0">
              <a:latin typeface="Footlight MT Light" panose="0204060206030A020304" pitchFamily="18" charset="0"/>
            </a:endParaRPr>
          </a:p>
        </p:txBody>
      </p:sp>
      <p:sp>
        <p:nvSpPr>
          <p:cNvPr id="27" name="Text 25"/>
          <p:cNvSpPr/>
          <p:nvPr/>
        </p:nvSpPr>
        <p:spPr>
          <a:xfrm>
            <a:off x="3291840" y="3456432"/>
            <a:ext cx="2542032" cy="329184"/>
          </a:xfrm>
          <a:prstGeom prst="rect">
            <a:avLst/>
          </a:prstGeom>
          <a:noFill/>
          <a:ln/>
        </p:spPr>
        <p:txBody>
          <a:bodyPr wrap="square" rtlCol="0" anchor="ctr"/>
          <a:lstStyle/>
          <a:p>
            <a:pPr marL="0" indent="0">
              <a:buNone/>
            </a:pPr>
            <a:r>
              <a:rPr lang="en-US" sz="1200" b="1" dirty="0">
                <a:solidFill>
                  <a:srgbClr val="FFFFFF"/>
                </a:solidFill>
                <a:latin typeface="Footlight MT Light" panose="0204060206030A020304" pitchFamily="18" charset="0"/>
                <a:ea typeface="Trebuchet MS" pitchFamily="34" charset="-122"/>
                <a:cs typeface="Trebuchet MS" pitchFamily="34" charset="-120"/>
              </a:rPr>
              <a:t>Governance &amp; Corruption</a:t>
            </a:r>
            <a:endParaRPr lang="en-US" sz="1200" dirty="0">
              <a:latin typeface="Footlight MT Light" panose="0204060206030A020304" pitchFamily="18" charset="0"/>
            </a:endParaRPr>
          </a:p>
        </p:txBody>
      </p:sp>
      <p:sp>
        <p:nvSpPr>
          <p:cNvPr id="28" name="Text 26"/>
          <p:cNvSpPr/>
          <p:nvPr/>
        </p:nvSpPr>
        <p:spPr>
          <a:xfrm>
            <a:off x="3291840" y="3822192"/>
            <a:ext cx="2542032" cy="914400"/>
          </a:xfrm>
          <a:prstGeom prst="rect">
            <a:avLst/>
          </a:prstGeom>
          <a:noFill/>
          <a:ln/>
        </p:spPr>
        <p:txBody>
          <a:bodyPr wrap="square" rtlCol="0" anchor="ctr"/>
          <a:lstStyle/>
          <a:p>
            <a:pPr marL="0" indent="0">
              <a:buNone/>
            </a:pPr>
            <a:r>
              <a:rPr lang="en-US" sz="1000" dirty="0">
                <a:solidFill>
                  <a:srgbClr val="AAAAAA"/>
                </a:solidFill>
                <a:latin typeface="Footlight MT Light" panose="0204060206030A020304" pitchFamily="18" charset="0"/>
                <a:ea typeface="Calibri" pitchFamily="34" charset="-122"/>
                <a:cs typeface="Calibri" pitchFamily="34" charset="-120"/>
              </a:rPr>
              <a:t>Weak contract transparency, opaque revenue flows, and endemic corruption reduce public benefit despite massive export earnings.</a:t>
            </a:r>
            <a:endParaRPr lang="en-US" sz="1000" dirty="0">
              <a:latin typeface="Footlight MT Light" panose="0204060206030A020304" pitchFamily="18" charset="0"/>
            </a:endParaRPr>
          </a:p>
        </p:txBody>
      </p:sp>
      <p:sp>
        <p:nvSpPr>
          <p:cNvPr id="29" name="Shape 27"/>
          <p:cNvSpPr/>
          <p:nvPr/>
        </p:nvSpPr>
        <p:spPr>
          <a:xfrm>
            <a:off x="6089904" y="2944368"/>
            <a:ext cx="2761488" cy="1883664"/>
          </a:xfrm>
          <a:prstGeom prst="rect">
            <a:avLst/>
          </a:prstGeom>
          <a:solidFill>
            <a:srgbClr val="1E1E1E"/>
          </a:solidFill>
          <a:ln w="6350">
            <a:solidFill>
              <a:srgbClr val="333333"/>
            </a:solidFill>
            <a:prstDash val="solid"/>
          </a:ln>
          <a:effectLst>
            <a:outerShdw blurRad="50800" dist="25400" dir="8100000" algn="bl" rotWithShape="0">
              <a:srgbClr val="000000">
                <a:alpha val="10000"/>
              </a:srgbClr>
            </a:outerShdw>
          </a:effectLst>
        </p:spPr>
      </p:sp>
      <p:sp>
        <p:nvSpPr>
          <p:cNvPr id="30" name="Shape 28"/>
          <p:cNvSpPr/>
          <p:nvPr/>
        </p:nvSpPr>
        <p:spPr>
          <a:xfrm>
            <a:off x="6089904" y="2944368"/>
            <a:ext cx="73152" cy="1883664"/>
          </a:xfrm>
          <a:prstGeom prst="rect">
            <a:avLst/>
          </a:prstGeom>
          <a:solidFill>
            <a:srgbClr val="B7950B"/>
          </a:solidFill>
          <a:ln w="12700">
            <a:solidFill>
              <a:srgbClr val="B7950B"/>
            </a:solidFill>
            <a:prstDash val="solid"/>
          </a:ln>
        </p:spPr>
      </p:sp>
      <p:sp>
        <p:nvSpPr>
          <p:cNvPr id="31" name="Text 29"/>
          <p:cNvSpPr/>
          <p:nvPr/>
        </p:nvSpPr>
        <p:spPr>
          <a:xfrm>
            <a:off x="6236208" y="3017520"/>
            <a:ext cx="804672" cy="420624"/>
          </a:xfrm>
          <a:prstGeom prst="rect">
            <a:avLst/>
          </a:prstGeom>
          <a:noFill/>
          <a:ln/>
        </p:spPr>
        <p:txBody>
          <a:bodyPr wrap="square" rtlCol="0" anchor="ctr"/>
          <a:lstStyle/>
          <a:p>
            <a:pPr marL="0" indent="0">
              <a:buNone/>
            </a:pPr>
            <a:r>
              <a:rPr lang="en-US" sz="2800" b="1" dirty="0">
                <a:solidFill>
                  <a:srgbClr val="B7950B"/>
                </a:solidFill>
                <a:latin typeface="Footlight MT Light" panose="0204060206030A020304" pitchFamily="18" charset="0"/>
                <a:ea typeface="Georgia" pitchFamily="34" charset="-122"/>
                <a:cs typeface="Georgia" pitchFamily="34" charset="-120"/>
              </a:rPr>
              <a:t>06</a:t>
            </a:r>
            <a:endParaRPr lang="en-US" sz="2800" dirty="0">
              <a:latin typeface="Footlight MT Light" panose="0204060206030A020304" pitchFamily="18" charset="0"/>
            </a:endParaRPr>
          </a:p>
        </p:txBody>
      </p:sp>
      <p:sp>
        <p:nvSpPr>
          <p:cNvPr id="32" name="Text 30"/>
          <p:cNvSpPr/>
          <p:nvPr/>
        </p:nvSpPr>
        <p:spPr>
          <a:xfrm>
            <a:off x="6236208" y="3456432"/>
            <a:ext cx="2542032" cy="329184"/>
          </a:xfrm>
          <a:prstGeom prst="rect">
            <a:avLst/>
          </a:prstGeom>
          <a:noFill/>
          <a:ln/>
        </p:spPr>
        <p:txBody>
          <a:bodyPr wrap="square" rtlCol="0" anchor="ctr"/>
          <a:lstStyle/>
          <a:p>
            <a:pPr marL="0" indent="0">
              <a:buNone/>
            </a:pPr>
            <a:r>
              <a:rPr lang="en-US" sz="1200" b="1" dirty="0">
                <a:solidFill>
                  <a:srgbClr val="FFFFFF"/>
                </a:solidFill>
                <a:latin typeface="Footlight MT Light" panose="0204060206030A020304" pitchFamily="18" charset="0"/>
                <a:ea typeface="Trebuchet MS" pitchFamily="34" charset="-122"/>
                <a:cs typeface="Trebuchet MS" pitchFamily="34" charset="-120"/>
              </a:rPr>
              <a:t>ASM Informality &amp; Lost Revenue</a:t>
            </a:r>
            <a:endParaRPr lang="en-US" sz="1200" dirty="0">
              <a:latin typeface="Footlight MT Light" panose="0204060206030A020304" pitchFamily="18" charset="0"/>
            </a:endParaRPr>
          </a:p>
        </p:txBody>
      </p:sp>
      <p:sp>
        <p:nvSpPr>
          <p:cNvPr id="33" name="Text 31"/>
          <p:cNvSpPr/>
          <p:nvPr/>
        </p:nvSpPr>
        <p:spPr>
          <a:xfrm>
            <a:off x="6236208" y="3822192"/>
            <a:ext cx="2542032" cy="914400"/>
          </a:xfrm>
          <a:prstGeom prst="rect">
            <a:avLst/>
          </a:prstGeom>
          <a:noFill/>
          <a:ln/>
        </p:spPr>
        <p:txBody>
          <a:bodyPr wrap="square" rtlCol="0" anchor="ctr"/>
          <a:lstStyle/>
          <a:p>
            <a:pPr marL="0" indent="0">
              <a:buNone/>
            </a:pPr>
            <a:r>
              <a:rPr lang="en-US" sz="1000" dirty="0">
                <a:solidFill>
                  <a:srgbClr val="AAAAAA"/>
                </a:solidFill>
                <a:latin typeface="Footlight MT Light" panose="0204060206030A020304" pitchFamily="18" charset="0"/>
                <a:ea typeface="Calibri" pitchFamily="34" charset="-122"/>
                <a:cs typeface="Calibri" pitchFamily="34" charset="-120"/>
              </a:rPr>
              <a:t>80%+ of artisanal miners operate outside the law. No registration, no tracking, no royalties. Billions in government revenue lost annually.</a:t>
            </a:r>
            <a:endParaRPr lang="en-US" sz="1000" dirty="0">
              <a:latin typeface="Footlight MT Light" panose="0204060206030A020304" pitchFamily="18" charset="0"/>
            </a:endParaRPr>
          </a:p>
        </p:txBody>
      </p:sp>
      <p:sp>
        <p:nvSpPr>
          <p:cNvPr id="34" name="Shape 32"/>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B5563"/>
          </a:solidFill>
          <a:ln w="12700">
            <a:solidFill>
              <a:srgbClr val="0B5563"/>
            </a:solidFill>
            <a:prstDash val="solid"/>
          </a:ln>
        </p:spPr>
      </p:sp>
      <p:sp>
        <p:nvSpPr>
          <p:cNvPr id="3" name="Text 1"/>
          <p:cNvSpPr/>
          <p:nvPr/>
        </p:nvSpPr>
        <p:spPr>
          <a:xfrm>
            <a:off x="347472" y="128016"/>
            <a:ext cx="8412480" cy="566928"/>
          </a:xfrm>
          <a:prstGeom prst="rect">
            <a:avLst/>
          </a:prstGeom>
          <a:noFill/>
          <a:ln/>
        </p:spPr>
        <p:txBody>
          <a:bodyPr wrap="square" rtlCol="0" anchor="ctr"/>
          <a:lstStyle/>
          <a:p>
            <a:pPr marL="0" indent="0">
              <a:buNone/>
            </a:pPr>
            <a:r>
              <a:rPr lang="en-US" sz="2800" b="1" dirty="0">
                <a:solidFill>
                  <a:srgbClr val="FFFFFF"/>
                </a:solidFill>
                <a:latin typeface="Footlight MT Light" panose="0204060206030A020304" pitchFamily="18" charset="0"/>
                <a:ea typeface="Georgia" pitchFamily="34" charset="-122"/>
                <a:cs typeface="Georgia" pitchFamily="34" charset="-120"/>
              </a:rPr>
              <a:t>Technologies Employed in Guinea's Mining Sector</a:t>
            </a:r>
            <a:endParaRPr lang="en-US" sz="2800" dirty="0">
              <a:latin typeface="Footlight MT Light" panose="0204060206030A020304" pitchFamily="18" charset="0"/>
            </a:endParaRPr>
          </a:p>
        </p:txBody>
      </p:sp>
      <p:sp>
        <p:nvSpPr>
          <p:cNvPr id="4" name="Shape 2"/>
          <p:cNvSpPr/>
          <p:nvPr/>
        </p:nvSpPr>
        <p:spPr>
          <a:xfrm>
            <a:off x="201168" y="932688"/>
            <a:ext cx="4279392" cy="1956816"/>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5" name="Shape 3"/>
          <p:cNvSpPr/>
          <p:nvPr/>
        </p:nvSpPr>
        <p:spPr>
          <a:xfrm>
            <a:off x="201168" y="932688"/>
            <a:ext cx="4279392" cy="329184"/>
          </a:xfrm>
          <a:prstGeom prst="rect">
            <a:avLst/>
          </a:prstGeom>
          <a:solidFill>
            <a:srgbClr val="065A82"/>
          </a:solidFill>
          <a:ln w="12700">
            <a:solidFill>
              <a:srgbClr val="065A82"/>
            </a:solidFill>
            <a:prstDash val="solid"/>
          </a:ln>
        </p:spPr>
      </p:sp>
      <p:sp>
        <p:nvSpPr>
          <p:cNvPr id="6" name="Text 4"/>
          <p:cNvSpPr/>
          <p:nvPr/>
        </p:nvSpPr>
        <p:spPr>
          <a:xfrm>
            <a:off x="338328" y="978408"/>
            <a:ext cx="4023360" cy="256032"/>
          </a:xfrm>
          <a:prstGeom prst="rect">
            <a:avLst/>
          </a:prstGeom>
          <a:noFill/>
          <a:ln/>
        </p:spPr>
        <p:txBody>
          <a:bodyPr wrap="square" rtlCol="0" anchor="ctr"/>
          <a:lstStyle/>
          <a:p>
            <a:pPr marL="0" indent="0">
              <a:buNone/>
            </a:pPr>
            <a:r>
              <a:rPr lang="en-US" sz="1250" b="1" kern="0" spc="200" dirty="0">
                <a:solidFill>
                  <a:srgbClr val="FFFFFF"/>
                </a:solidFill>
                <a:latin typeface="Footlight MT Light" panose="0204060206030A020304" pitchFamily="18" charset="0"/>
                <a:ea typeface="Trebuchet MS" pitchFamily="34" charset="-122"/>
                <a:cs typeface="Trebuchet MS" pitchFamily="34" charset="-120"/>
              </a:rPr>
              <a:t>EXPLORATION</a:t>
            </a:r>
            <a:endParaRPr lang="en-US" sz="1250" dirty="0">
              <a:latin typeface="Footlight MT Light" panose="0204060206030A020304" pitchFamily="18" charset="0"/>
            </a:endParaRPr>
          </a:p>
        </p:txBody>
      </p:sp>
      <p:sp>
        <p:nvSpPr>
          <p:cNvPr id="7" name="Text 5"/>
          <p:cNvSpPr/>
          <p:nvPr/>
        </p:nvSpPr>
        <p:spPr>
          <a:xfrm>
            <a:off x="310896" y="1335024"/>
            <a:ext cx="4096512" cy="1481328"/>
          </a:xfrm>
          <a:prstGeom prst="rect">
            <a:avLst/>
          </a:prstGeom>
          <a:noFill/>
          <a:ln/>
        </p:spPr>
        <p:txBody>
          <a:bodyPr wrap="square" rtlCol="0" anchor="ctr"/>
          <a:lstStyle/>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Airborne geophysics (VTEM, aeromagnetic)</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LiDAR terrain mapping &amp; satellite remote sensing</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GIS geological modelling (Leapfrog, Surpac)</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Drone-based topographic surveying</a:t>
            </a:r>
            <a:endParaRPr lang="en-US" sz="1050" dirty="0">
              <a:latin typeface="Footlight MT Light" panose="0204060206030A020304" pitchFamily="18" charset="0"/>
            </a:endParaRPr>
          </a:p>
        </p:txBody>
      </p:sp>
      <p:sp>
        <p:nvSpPr>
          <p:cNvPr id="8" name="Shape 6"/>
          <p:cNvSpPr/>
          <p:nvPr/>
        </p:nvSpPr>
        <p:spPr>
          <a:xfrm>
            <a:off x="4681728" y="932688"/>
            <a:ext cx="4279392" cy="1956816"/>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9" name="Shape 7"/>
          <p:cNvSpPr/>
          <p:nvPr/>
        </p:nvSpPr>
        <p:spPr>
          <a:xfrm>
            <a:off x="4681728" y="932688"/>
            <a:ext cx="4279392" cy="329184"/>
          </a:xfrm>
          <a:prstGeom prst="rect">
            <a:avLst/>
          </a:prstGeom>
          <a:solidFill>
            <a:srgbClr val="2D5A1B"/>
          </a:solidFill>
          <a:ln w="12700">
            <a:solidFill>
              <a:srgbClr val="2D5A1B"/>
            </a:solidFill>
            <a:prstDash val="solid"/>
          </a:ln>
        </p:spPr>
      </p:sp>
      <p:sp>
        <p:nvSpPr>
          <p:cNvPr id="10" name="Text 8"/>
          <p:cNvSpPr/>
          <p:nvPr/>
        </p:nvSpPr>
        <p:spPr>
          <a:xfrm>
            <a:off x="4818888" y="978408"/>
            <a:ext cx="4023360" cy="256032"/>
          </a:xfrm>
          <a:prstGeom prst="rect">
            <a:avLst/>
          </a:prstGeom>
          <a:noFill/>
          <a:ln/>
        </p:spPr>
        <p:txBody>
          <a:bodyPr wrap="square" rtlCol="0" anchor="ctr"/>
          <a:lstStyle/>
          <a:p>
            <a:pPr marL="0" indent="0">
              <a:buNone/>
            </a:pPr>
            <a:r>
              <a:rPr lang="en-US" sz="1250" b="1" kern="0" spc="200" dirty="0">
                <a:solidFill>
                  <a:srgbClr val="FFFFFF"/>
                </a:solidFill>
                <a:latin typeface="Footlight MT Light" panose="0204060206030A020304" pitchFamily="18" charset="0"/>
                <a:ea typeface="Trebuchet MS" pitchFamily="34" charset="-122"/>
                <a:cs typeface="Trebuchet MS" pitchFamily="34" charset="-120"/>
              </a:rPr>
              <a:t>EXTRACTION</a:t>
            </a:r>
            <a:endParaRPr lang="en-US" sz="1250" dirty="0">
              <a:latin typeface="Footlight MT Light" panose="0204060206030A020304" pitchFamily="18" charset="0"/>
            </a:endParaRPr>
          </a:p>
        </p:txBody>
      </p:sp>
      <p:sp>
        <p:nvSpPr>
          <p:cNvPr id="11" name="Text 9"/>
          <p:cNvSpPr/>
          <p:nvPr/>
        </p:nvSpPr>
        <p:spPr>
          <a:xfrm>
            <a:off x="4791456" y="1335024"/>
            <a:ext cx="4096512" cy="1481328"/>
          </a:xfrm>
          <a:prstGeom prst="rect">
            <a:avLst/>
          </a:prstGeom>
          <a:noFill/>
          <a:ln/>
        </p:spPr>
        <p:txBody>
          <a:bodyPr wrap="square" rtlCol="0" anchor="ctr"/>
          <a:lstStyle/>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Open-pit truck &amp; shovel (bauxite – Boké)</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GPS-guided blasthole drilling rigs</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Hydraulic excavators: Komatsu, Liebherr, CAT</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Alluvial dredging for ASM gold and diamonds</a:t>
            </a:r>
            <a:endParaRPr lang="en-US" sz="1050" dirty="0">
              <a:latin typeface="Footlight MT Light" panose="0204060206030A020304" pitchFamily="18" charset="0"/>
            </a:endParaRPr>
          </a:p>
        </p:txBody>
      </p:sp>
      <p:sp>
        <p:nvSpPr>
          <p:cNvPr id="12" name="Shape 10"/>
          <p:cNvSpPr/>
          <p:nvPr/>
        </p:nvSpPr>
        <p:spPr>
          <a:xfrm>
            <a:off x="201168" y="2980944"/>
            <a:ext cx="4279392" cy="1956816"/>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13" name="Shape 11"/>
          <p:cNvSpPr/>
          <p:nvPr/>
        </p:nvSpPr>
        <p:spPr>
          <a:xfrm>
            <a:off x="201168" y="2980944"/>
            <a:ext cx="4279392" cy="329184"/>
          </a:xfrm>
          <a:prstGeom prst="rect">
            <a:avLst/>
          </a:prstGeom>
          <a:solidFill>
            <a:srgbClr val="B8860A"/>
          </a:solidFill>
          <a:ln w="12700">
            <a:solidFill>
              <a:srgbClr val="B8860A"/>
            </a:solidFill>
            <a:prstDash val="solid"/>
          </a:ln>
        </p:spPr>
      </p:sp>
      <p:sp>
        <p:nvSpPr>
          <p:cNvPr id="14" name="Text 12"/>
          <p:cNvSpPr/>
          <p:nvPr/>
        </p:nvSpPr>
        <p:spPr>
          <a:xfrm>
            <a:off x="338328" y="3026664"/>
            <a:ext cx="4023360" cy="256032"/>
          </a:xfrm>
          <a:prstGeom prst="rect">
            <a:avLst/>
          </a:prstGeom>
          <a:noFill/>
          <a:ln/>
        </p:spPr>
        <p:txBody>
          <a:bodyPr wrap="square" rtlCol="0" anchor="ctr"/>
          <a:lstStyle/>
          <a:p>
            <a:pPr marL="0" indent="0">
              <a:buNone/>
            </a:pPr>
            <a:r>
              <a:rPr lang="en-US" sz="1250" b="1" kern="0" spc="200" dirty="0">
                <a:solidFill>
                  <a:srgbClr val="FFFFFF"/>
                </a:solidFill>
                <a:latin typeface="Footlight MT Light" panose="0204060206030A020304" pitchFamily="18" charset="0"/>
                <a:ea typeface="Trebuchet MS" pitchFamily="34" charset="-122"/>
                <a:cs typeface="Trebuchet MS" pitchFamily="34" charset="-120"/>
              </a:rPr>
              <a:t>PROCESSING</a:t>
            </a:r>
            <a:endParaRPr lang="en-US" sz="1250" dirty="0">
              <a:latin typeface="Footlight MT Light" panose="0204060206030A020304" pitchFamily="18" charset="0"/>
            </a:endParaRPr>
          </a:p>
        </p:txBody>
      </p:sp>
      <p:sp>
        <p:nvSpPr>
          <p:cNvPr id="15" name="Text 13"/>
          <p:cNvSpPr/>
          <p:nvPr/>
        </p:nvSpPr>
        <p:spPr>
          <a:xfrm>
            <a:off x="310896" y="3383280"/>
            <a:ext cx="4096512" cy="1481328"/>
          </a:xfrm>
          <a:prstGeom prst="rect">
            <a:avLst/>
          </a:prstGeom>
          <a:noFill/>
          <a:ln/>
        </p:spPr>
        <p:txBody>
          <a:bodyPr wrap="square" rtlCol="0" anchor="ctr"/>
          <a:lstStyle/>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Rotary drum washers &amp; trommel screens (bauxite)</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Dense media separation (DMS) for diamonds</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CIL/CIP cyanide leach circuits (Siguiri gold)</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Gravity concentration: jig &amp; shaker tables (ASM)</a:t>
            </a:r>
            <a:endParaRPr lang="en-US" sz="1050" dirty="0">
              <a:latin typeface="Footlight MT Light" panose="0204060206030A020304" pitchFamily="18" charset="0"/>
            </a:endParaRPr>
          </a:p>
        </p:txBody>
      </p:sp>
      <p:sp>
        <p:nvSpPr>
          <p:cNvPr id="16" name="Shape 14"/>
          <p:cNvSpPr/>
          <p:nvPr/>
        </p:nvSpPr>
        <p:spPr>
          <a:xfrm>
            <a:off x="4681728" y="2980944"/>
            <a:ext cx="4279392" cy="1956816"/>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17" name="Shape 15"/>
          <p:cNvSpPr/>
          <p:nvPr/>
        </p:nvSpPr>
        <p:spPr>
          <a:xfrm>
            <a:off x="4681728" y="2980944"/>
            <a:ext cx="4279392" cy="329184"/>
          </a:xfrm>
          <a:prstGeom prst="rect">
            <a:avLst/>
          </a:prstGeom>
          <a:solidFill>
            <a:srgbClr val="1A5C5C"/>
          </a:solidFill>
          <a:ln w="12700">
            <a:solidFill>
              <a:srgbClr val="1A5C5C"/>
            </a:solidFill>
            <a:prstDash val="solid"/>
          </a:ln>
        </p:spPr>
      </p:sp>
      <p:sp>
        <p:nvSpPr>
          <p:cNvPr id="18" name="Text 16"/>
          <p:cNvSpPr/>
          <p:nvPr/>
        </p:nvSpPr>
        <p:spPr>
          <a:xfrm>
            <a:off x="4818888" y="3026664"/>
            <a:ext cx="4023360" cy="256032"/>
          </a:xfrm>
          <a:prstGeom prst="rect">
            <a:avLst/>
          </a:prstGeom>
          <a:noFill/>
          <a:ln/>
        </p:spPr>
        <p:txBody>
          <a:bodyPr wrap="square" rtlCol="0" anchor="ctr"/>
          <a:lstStyle/>
          <a:p>
            <a:pPr marL="0" indent="0">
              <a:buNone/>
            </a:pPr>
            <a:r>
              <a:rPr lang="en-US" sz="1250" b="1" kern="0" spc="200" dirty="0">
                <a:solidFill>
                  <a:srgbClr val="FFFFFF"/>
                </a:solidFill>
                <a:latin typeface="Footlight MT Light" panose="0204060206030A020304" pitchFamily="18" charset="0"/>
                <a:ea typeface="Trebuchet MS" pitchFamily="34" charset="-122"/>
                <a:cs typeface="Trebuchet MS" pitchFamily="34" charset="-120"/>
              </a:rPr>
              <a:t>LOGISTICS &amp; MONITORING</a:t>
            </a:r>
            <a:endParaRPr lang="en-US" sz="1250" dirty="0">
              <a:latin typeface="Footlight MT Light" panose="0204060206030A020304" pitchFamily="18" charset="0"/>
            </a:endParaRPr>
          </a:p>
        </p:txBody>
      </p:sp>
      <p:sp>
        <p:nvSpPr>
          <p:cNvPr id="19" name="Text 17"/>
          <p:cNvSpPr/>
          <p:nvPr/>
        </p:nvSpPr>
        <p:spPr>
          <a:xfrm>
            <a:off x="4791456" y="3383280"/>
            <a:ext cx="4096512" cy="1481328"/>
          </a:xfrm>
          <a:prstGeom prst="rect">
            <a:avLst/>
          </a:prstGeom>
          <a:noFill/>
          <a:ln/>
        </p:spPr>
        <p:txBody>
          <a:bodyPr wrap="square" rtlCol="0" anchor="ctr"/>
          <a:lstStyle/>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Conveyor and slurry pipeline systems to port</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Real-time fleet management (Wenco, Dispatch)</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Satellite-based production &amp; shipment monitoring</a:t>
            </a:r>
            <a:endParaRPr lang="en-US" sz="1050" dirty="0">
              <a:latin typeface="Footlight MT Light" panose="0204060206030A020304" pitchFamily="18" charset="0"/>
            </a:endParaRPr>
          </a:p>
          <a:p>
            <a:pPr marL="342900" indent="-342900">
              <a:spcAft>
                <a:spcPts val="400"/>
              </a:spcAft>
              <a:buSzPct val="100000"/>
              <a:buChar char="•"/>
            </a:pPr>
            <a:r>
              <a:rPr lang="en-US" sz="1050" dirty="0">
                <a:solidFill>
                  <a:srgbClr val="222222"/>
                </a:solidFill>
                <a:latin typeface="Footlight MT Light" panose="0204060206030A020304" pitchFamily="18" charset="0"/>
                <a:ea typeface="Calibri" pitchFamily="34" charset="-122"/>
                <a:cs typeface="Calibri" pitchFamily="34" charset="-120"/>
              </a:rPr>
              <a:t>Environmental sensors: water, dust, noise</a:t>
            </a:r>
            <a:endParaRPr lang="en-US" sz="1050" dirty="0">
              <a:latin typeface="Footlight MT Light" panose="0204060206030A020304" pitchFamily="18" charset="0"/>
            </a:endParaRPr>
          </a:p>
        </p:txBody>
      </p:sp>
      <p:sp>
        <p:nvSpPr>
          <p:cNvPr id="20" name="Text 18"/>
          <p:cNvSpPr/>
          <p:nvPr/>
        </p:nvSpPr>
        <p:spPr>
          <a:xfrm>
            <a:off x="201168" y="4684102"/>
            <a:ext cx="8741664" cy="201168"/>
          </a:xfrm>
          <a:prstGeom prst="rect">
            <a:avLst/>
          </a:prstGeom>
          <a:noFill/>
          <a:ln/>
        </p:spPr>
        <p:txBody>
          <a:bodyPr wrap="square" rtlCol="0" anchor="ctr"/>
          <a:lstStyle/>
          <a:p>
            <a:pPr marL="0" indent="0">
              <a:buNone/>
            </a:pPr>
            <a:r>
              <a:rPr lang="en-US" sz="950" i="1" dirty="0">
                <a:solidFill>
                  <a:srgbClr val="0B5563"/>
                </a:solidFill>
                <a:latin typeface="Footlight MT Light" panose="0204060206030A020304" pitchFamily="18" charset="0"/>
                <a:ea typeface="Calibri" pitchFamily="34" charset="-122"/>
                <a:cs typeface="Calibri" pitchFamily="34" charset="-120"/>
              </a:rPr>
              <a:t>▶  Simandou (upon completion) will deploy one of sub-Saharan Africa's most advanced integrated rail-to-port logistics systems with automated train management and real-time ore tracking.</a:t>
            </a:r>
            <a:endParaRPr lang="en-US" sz="950" dirty="0">
              <a:latin typeface="Footlight MT Light" panose="0204060206030A020304" pitchFamily="18" charset="0"/>
            </a:endParaRPr>
          </a:p>
        </p:txBody>
      </p:sp>
      <p:sp>
        <p:nvSpPr>
          <p:cNvPr id="21" name="Shape 19"/>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3D62"/>
        </a:solidFill>
        <a:effectLst/>
      </p:bgPr>
    </p:bg>
    <p:spTree>
      <p:nvGrpSpPr>
        <p:cNvPr id="1" name=""/>
        <p:cNvGrpSpPr/>
        <p:nvPr/>
      </p:nvGrpSpPr>
      <p:grpSpPr>
        <a:xfrm>
          <a:off x="0" y="0"/>
          <a:ext cx="0" cy="0"/>
          <a:chOff x="0" y="0"/>
          <a:chExt cx="0" cy="0"/>
        </a:xfrm>
      </p:grpSpPr>
      <p:sp>
        <p:nvSpPr>
          <p:cNvPr id="2" name="Shape 0"/>
          <p:cNvSpPr/>
          <p:nvPr/>
        </p:nvSpPr>
        <p:spPr>
          <a:xfrm>
            <a:off x="6400800" y="-1371600"/>
            <a:ext cx="4389120" cy="4389120"/>
          </a:xfrm>
          <a:prstGeom prst="ellipse">
            <a:avLst/>
          </a:prstGeom>
          <a:solidFill>
            <a:srgbClr val="0E7A8A">
              <a:alpha val="32000"/>
            </a:srgbClr>
          </a:solidFill>
          <a:ln w="12700">
            <a:solidFill>
              <a:srgbClr val="0E7A8A">
                <a:alpha val="32000"/>
              </a:srgbClr>
            </a:solidFill>
            <a:prstDash val="solid"/>
          </a:ln>
        </p:spPr>
      </p:sp>
      <p:sp>
        <p:nvSpPr>
          <p:cNvPr id="3" name="Shape 1"/>
          <p:cNvSpPr/>
          <p:nvPr/>
        </p:nvSpPr>
        <p:spPr>
          <a:xfrm>
            <a:off x="7498080" y="3474720"/>
            <a:ext cx="2743200" cy="2743200"/>
          </a:xfrm>
          <a:prstGeom prst="ellipse">
            <a:avLst/>
          </a:prstGeom>
          <a:solidFill>
            <a:srgbClr val="E8A020">
              <a:alpha val="22000"/>
            </a:srgbClr>
          </a:solidFill>
          <a:ln w="12700">
            <a:solidFill>
              <a:srgbClr val="E8A020">
                <a:alpha val="22000"/>
              </a:srgbClr>
            </a:solidFill>
            <a:prstDash val="solid"/>
          </a:ln>
        </p:spPr>
      </p:sp>
      <p:sp>
        <p:nvSpPr>
          <p:cNvPr id="4" name="Shape 2"/>
          <p:cNvSpPr/>
          <p:nvPr/>
        </p:nvSpPr>
        <p:spPr>
          <a:xfrm>
            <a:off x="0" y="0"/>
            <a:ext cx="201168" cy="5143500"/>
          </a:xfrm>
          <a:prstGeom prst="rect">
            <a:avLst/>
          </a:prstGeom>
          <a:solidFill>
            <a:srgbClr val="E8A020"/>
          </a:solidFill>
          <a:ln w="12700">
            <a:solidFill>
              <a:srgbClr val="E8A020"/>
            </a:solidFill>
            <a:prstDash val="solid"/>
          </a:ln>
        </p:spPr>
      </p:sp>
      <p:sp>
        <p:nvSpPr>
          <p:cNvPr id="5" name="Text 3"/>
          <p:cNvSpPr/>
          <p:nvPr/>
        </p:nvSpPr>
        <p:spPr>
          <a:xfrm>
            <a:off x="411480" y="347472"/>
            <a:ext cx="8229600" cy="292608"/>
          </a:xfrm>
          <a:prstGeom prst="rect">
            <a:avLst/>
          </a:prstGeom>
          <a:noFill/>
          <a:ln/>
        </p:spPr>
        <p:txBody>
          <a:bodyPr wrap="square" rtlCol="0" anchor="ctr"/>
          <a:lstStyle/>
          <a:p>
            <a:pPr marL="0" indent="0">
              <a:buNone/>
            </a:pPr>
            <a:r>
              <a:rPr lang="en-US" sz="1100" b="1" kern="0" spc="400" dirty="0">
                <a:solidFill>
                  <a:srgbClr val="E8A020"/>
                </a:solidFill>
                <a:latin typeface="Footlight MT Light" panose="0204060206030A020304" pitchFamily="18" charset="0"/>
                <a:ea typeface="Trebuchet MS" pitchFamily="34" charset="-122"/>
                <a:cs typeface="Trebuchet MS" pitchFamily="34" charset="-120"/>
              </a:rPr>
              <a:t>SMART INNOVATIONS GHANA LIMITED</a:t>
            </a:r>
            <a:endParaRPr lang="en-US" sz="1100" dirty="0">
              <a:latin typeface="Footlight MT Light" panose="0204060206030A020304" pitchFamily="18" charset="0"/>
            </a:endParaRPr>
          </a:p>
        </p:txBody>
      </p:sp>
      <p:sp>
        <p:nvSpPr>
          <p:cNvPr id="6" name="Text 4"/>
          <p:cNvSpPr/>
          <p:nvPr/>
        </p:nvSpPr>
        <p:spPr>
          <a:xfrm>
            <a:off x="411480" y="713232"/>
            <a:ext cx="8046720" cy="1554480"/>
          </a:xfrm>
          <a:prstGeom prst="rect">
            <a:avLst/>
          </a:prstGeom>
          <a:noFill/>
          <a:ln/>
        </p:spPr>
        <p:txBody>
          <a:bodyPr wrap="square" rtlCol="0" anchor="ctr"/>
          <a:lstStyle/>
          <a:p>
            <a:pPr marL="0" indent="0">
              <a:buNone/>
            </a:pPr>
            <a:r>
              <a:rPr lang="en-US" sz="4800" b="1" dirty="0">
                <a:solidFill>
                  <a:srgbClr val="FFFFFF"/>
                </a:solidFill>
                <a:latin typeface="Footlight MT Light" panose="0204060206030A020304" pitchFamily="18" charset="0"/>
                <a:ea typeface="Georgia" pitchFamily="34" charset="-122"/>
                <a:cs typeface="Georgia" pitchFamily="34" charset="-120"/>
              </a:rPr>
              <a:t>4 Proven Digital</a:t>
            </a:r>
            <a:endParaRPr lang="en-US" sz="4800" dirty="0">
              <a:latin typeface="Footlight MT Light" panose="0204060206030A020304" pitchFamily="18" charset="0"/>
            </a:endParaRPr>
          </a:p>
          <a:p>
            <a:pPr marL="0" indent="0">
              <a:buNone/>
            </a:pPr>
            <a:r>
              <a:rPr lang="en-US" sz="4800" b="1" dirty="0">
                <a:solidFill>
                  <a:srgbClr val="FFFFFF"/>
                </a:solidFill>
                <a:latin typeface="Footlight MT Light" panose="0204060206030A020304" pitchFamily="18" charset="0"/>
                <a:ea typeface="Georgia" pitchFamily="34" charset="-122"/>
                <a:cs typeface="Georgia" pitchFamily="34" charset="-120"/>
              </a:rPr>
              <a:t>Mining Platforms</a:t>
            </a:r>
            <a:endParaRPr lang="en-US" sz="4800" dirty="0">
              <a:latin typeface="Footlight MT Light" panose="0204060206030A020304" pitchFamily="18" charset="0"/>
            </a:endParaRPr>
          </a:p>
        </p:txBody>
      </p:sp>
      <p:sp>
        <p:nvSpPr>
          <p:cNvPr id="7" name="Text 5"/>
          <p:cNvSpPr/>
          <p:nvPr/>
        </p:nvSpPr>
        <p:spPr>
          <a:xfrm>
            <a:off x="411480" y="2331720"/>
            <a:ext cx="8229600" cy="457200"/>
          </a:xfrm>
          <a:prstGeom prst="rect">
            <a:avLst/>
          </a:prstGeom>
          <a:noFill/>
          <a:ln/>
        </p:spPr>
        <p:txBody>
          <a:bodyPr wrap="square" rtlCol="0" anchor="ctr"/>
          <a:lstStyle/>
          <a:p>
            <a:pPr marL="0" indent="0">
              <a:buNone/>
            </a:pPr>
            <a:r>
              <a:rPr lang="en-US" sz="2000" dirty="0">
                <a:solidFill>
                  <a:srgbClr val="E8A020"/>
                </a:solidFill>
                <a:latin typeface="Footlight MT Light" panose="0204060206030A020304" pitchFamily="18" charset="0"/>
                <a:ea typeface="Georgia" pitchFamily="34" charset="-122"/>
                <a:cs typeface="Georgia" pitchFamily="34" charset="-120"/>
              </a:rPr>
              <a:t>Deployed &amp; Operational in Ghana  ·  Ready for Deployment in Guinea</a:t>
            </a:r>
            <a:endParaRPr lang="en-US" sz="2000" dirty="0">
              <a:latin typeface="Footlight MT Light" panose="0204060206030A020304" pitchFamily="18" charset="0"/>
            </a:endParaRPr>
          </a:p>
        </p:txBody>
      </p:sp>
      <p:sp>
        <p:nvSpPr>
          <p:cNvPr id="8" name="Text 6"/>
          <p:cNvSpPr/>
          <p:nvPr/>
        </p:nvSpPr>
        <p:spPr>
          <a:xfrm>
            <a:off x="411480" y="2926080"/>
            <a:ext cx="8321040" cy="1051560"/>
          </a:xfrm>
          <a:prstGeom prst="rect">
            <a:avLst/>
          </a:prstGeom>
          <a:noFill/>
          <a:ln/>
        </p:spPr>
        <p:txBody>
          <a:bodyPr wrap="square" rtlCol="0" anchor="ctr"/>
          <a:lstStyle/>
          <a:p>
            <a:pPr marL="0" indent="0">
              <a:buNone/>
            </a:pPr>
            <a:r>
              <a:rPr lang="en-US" sz="1300" dirty="0">
                <a:solidFill>
                  <a:srgbClr val="BBCCEE"/>
                </a:solidFill>
                <a:latin typeface="Footlight MT Light" panose="0204060206030A020304" pitchFamily="18" charset="0"/>
                <a:ea typeface="Calibri" pitchFamily="34" charset="-122"/>
                <a:cs typeface="Calibri" pitchFamily="34" charset="-120"/>
              </a:rPr>
              <a:t>Smart Innovations Ghana Limited has successfully designed, deployed, and operates four nationally-scaled digital mining governance platforms across Ghana. These systems directly address the exact challenges Guinea faces: unregistered equipment, untraceable mineral flows, absent sector management, and unmonitored illegal mining sites — combining physical AI drone surveillance with a 24/7 manned control room.</a:t>
            </a:r>
            <a:endParaRPr lang="en-US" sz="1300" dirty="0">
              <a:latin typeface="Footlight MT Light" panose="0204060206030A020304" pitchFamily="18" charset="0"/>
            </a:endParaRPr>
          </a:p>
        </p:txBody>
      </p:sp>
      <p:sp>
        <p:nvSpPr>
          <p:cNvPr id="9" name="Shape 7"/>
          <p:cNvSpPr/>
          <p:nvPr/>
        </p:nvSpPr>
        <p:spPr>
          <a:xfrm>
            <a:off x="411480" y="4059936"/>
            <a:ext cx="1993392" cy="658368"/>
          </a:xfrm>
          <a:prstGeom prst="rect">
            <a:avLst/>
          </a:prstGeom>
          <a:solidFill>
            <a:srgbClr val="1A5C5C"/>
          </a:solidFill>
          <a:ln w="12700">
            <a:solidFill>
              <a:srgbClr val="1A5C5C"/>
            </a:solidFill>
            <a:prstDash val="solid"/>
          </a:ln>
          <a:effectLst>
            <a:outerShdw blurRad="101600" dist="38100" dir="8100000" algn="bl" rotWithShape="0">
              <a:srgbClr val="000000">
                <a:alpha val="15000"/>
              </a:srgbClr>
            </a:outerShdw>
          </a:effectLst>
        </p:spPr>
      </p:sp>
      <p:sp>
        <p:nvSpPr>
          <p:cNvPr id="10" name="Text 8"/>
          <p:cNvSpPr/>
          <p:nvPr/>
        </p:nvSpPr>
        <p:spPr>
          <a:xfrm>
            <a:off x="411480" y="4059936"/>
            <a:ext cx="1993392" cy="658368"/>
          </a:xfrm>
          <a:prstGeom prst="rect">
            <a:avLst/>
          </a:prstGeom>
          <a:noFill/>
          <a:ln/>
        </p:spPr>
        <p:txBody>
          <a:bodyPr wrap="square" rtlCol="0" anchor="ctr"/>
          <a:lstStyle/>
          <a:p>
            <a:pPr marL="0" indent="0" algn="ctr">
              <a:buNone/>
            </a:pPr>
            <a:r>
              <a:rPr lang="en-US" sz="1100" b="1" dirty="0">
                <a:solidFill>
                  <a:srgbClr val="FFFFFF"/>
                </a:solidFill>
                <a:latin typeface="Footlight MT Light" panose="0204060206030A020304" pitchFamily="18" charset="0"/>
                <a:ea typeface="Calibri" pitchFamily="34" charset="-122"/>
                <a:cs typeface="Calibri" pitchFamily="34" charset="-120"/>
              </a:rPr>
              <a:t>Equipment</a:t>
            </a:r>
            <a:endParaRPr lang="en-US" sz="1100" dirty="0">
              <a:latin typeface="Footlight MT Light" panose="0204060206030A020304" pitchFamily="18" charset="0"/>
            </a:endParaRPr>
          </a:p>
          <a:p>
            <a:pPr marL="0" indent="0" algn="ctr">
              <a:buNone/>
            </a:pPr>
            <a:r>
              <a:rPr lang="en-US" sz="1100" b="1" dirty="0">
                <a:solidFill>
                  <a:srgbClr val="FFFFFF"/>
                </a:solidFill>
                <a:latin typeface="Footlight MT Light" panose="0204060206030A020304" pitchFamily="18" charset="0"/>
                <a:ea typeface="Calibri" pitchFamily="34" charset="-122"/>
                <a:cs typeface="Calibri" pitchFamily="34" charset="-120"/>
              </a:rPr>
              <a:t>Registry</a:t>
            </a:r>
            <a:endParaRPr lang="en-US" sz="1100" dirty="0">
              <a:latin typeface="Footlight MT Light" panose="0204060206030A020304" pitchFamily="18" charset="0"/>
            </a:endParaRPr>
          </a:p>
        </p:txBody>
      </p:sp>
      <p:sp>
        <p:nvSpPr>
          <p:cNvPr id="11" name="Shape 9"/>
          <p:cNvSpPr/>
          <p:nvPr/>
        </p:nvSpPr>
        <p:spPr>
          <a:xfrm>
            <a:off x="2587752" y="4059936"/>
            <a:ext cx="1993392" cy="658368"/>
          </a:xfrm>
          <a:prstGeom prst="rect">
            <a:avLst/>
          </a:prstGeom>
          <a:solidFill>
            <a:srgbClr val="7D4E00"/>
          </a:solidFill>
          <a:ln w="12700">
            <a:solidFill>
              <a:srgbClr val="7D4E00"/>
            </a:solidFill>
            <a:prstDash val="solid"/>
          </a:ln>
          <a:effectLst>
            <a:outerShdw blurRad="101600" dist="38100" dir="8100000" algn="bl" rotWithShape="0">
              <a:srgbClr val="000000">
                <a:alpha val="15000"/>
              </a:srgbClr>
            </a:outerShdw>
          </a:effectLst>
        </p:spPr>
      </p:sp>
      <p:sp>
        <p:nvSpPr>
          <p:cNvPr id="12" name="Text 10"/>
          <p:cNvSpPr/>
          <p:nvPr/>
        </p:nvSpPr>
        <p:spPr>
          <a:xfrm>
            <a:off x="2587752" y="4059936"/>
            <a:ext cx="1993392" cy="658368"/>
          </a:xfrm>
          <a:prstGeom prst="rect">
            <a:avLst/>
          </a:prstGeom>
          <a:noFill/>
          <a:ln/>
        </p:spPr>
        <p:txBody>
          <a:bodyPr wrap="square" rtlCol="0" anchor="ctr"/>
          <a:lstStyle/>
          <a:p>
            <a:pPr marL="0" indent="0" algn="ctr">
              <a:buNone/>
            </a:pPr>
            <a:r>
              <a:rPr lang="en-US" sz="1100" b="1" dirty="0">
                <a:solidFill>
                  <a:srgbClr val="FFFFFF"/>
                </a:solidFill>
                <a:latin typeface="Footlight MT Light" panose="0204060206030A020304" pitchFamily="18" charset="0"/>
                <a:ea typeface="Calibri" pitchFamily="34" charset="-122"/>
                <a:cs typeface="Calibri" pitchFamily="34" charset="-120"/>
              </a:rPr>
              <a:t>Gold</a:t>
            </a:r>
            <a:endParaRPr lang="en-US" sz="1100" dirty="0">
              <a:latin typeface="Footlight MT Light" panose="0204060206030A020304" pitchFamily="18" charset="0"/>
            </a:endParaRPr>
          </a:p>
          <a:p>
            <a:pPr marL="0" indent="0" algn="ctr">
              <a:buNone/>
            </a:pPr>
            <a:r>
              <a:rPr lang="en-US" sz="1100" b="1" dirty="0">
                <a:solidFill>
                  <a:srgbClr val="FFFFFF"/>
                </a:solidFill>
                <a:latin typeface="Footlight MT Light" panose="0204060206030A020304" pitchFamily="18" charset="0"/>
                <a:ea typeface="Calibri" pitchFamily="34" charset="-122"/>
                <a:cs typeface="Calibri" pitchFamily="34" charset="-120"/>
              </a:rPr>
              <a:t>Traceability</a:t>
            </a:r>
            <a:endParaRPr lang="en-US" sz="1100" dirty="0">
              <a:latin typeface="Footlight MT Light" panose="0204060206030A020304" pitchFamily="18" charset="0"/>
            </a:endParaRPr>
          </a:p>
        </p:txBody>
      </p:sp>
      <p:sp>
        <p:nvSpPr>
          <p:cNvPr id="13" name="Shape 11"/>
          <p:cNvSpPr/>
          <p:nvPr/>
        </p:nvSpPr>
        <p:spPr>
          <a:xfrm>
            <a:off x="4764024" y="4059936"/>
            <a:ext cx="1993392" cy="658368"/>
          </a:xfrm>
          <a:prstGeom prst="rect">
            <a:avLst/>
          </a:prstGeom>
          <a:solidFill>
            <a:srgbClr val="1E6B3C"/>
          </a:solidFill>
          <a:ln w="12700">
            <a:solidFill>
              <a:srgbClr val="1E6B3C"/>
            </a:solidFill>
            <a:prstDash val="solid"/>
          </a:ln>
          <a:effectLst>
            <a:outerShdw blurRad="101600" dist="38100" dir="8100000" algn="bl" rotWithShape="0">
              <a:srgbClr val="000000">
                <a:alpha val="15000"/>
              </a:srgbClr>
            </a:outerShdw>
          </a:effectLst>
        </p:spPr>
      </p:sp>
      <p:sp>
        <p:nvSpPr>
          <p:cNvPr id="14" name="Text 12"/>
          <p:cNvSpPr/>
          <p:nvPr/>
        </p:nvSpPr>
        <p:spPr>
          <a:xfrm>
            <a:off x="4764024" y="4059936"/>
            <a:ext cx="1993392" cy="658368"/>
          </a:xfrm>
          <a:prstGeom prst="rect">
            <a:avLst/>
          </a:prstGeom>
          <a:noFill/>
          <a:ln/>
        </p:spPr>
        <p:txBody>
          <a:bodyPr wrap="square" rtlCol="0" anchor="ctr"/>
          <a:lstStyle/>
          <a:p>
            <a:pPr marL="0" indent="0" algn="ctr">
              <a:buNone/>
            </a:pPr>
            <a:r>
              <a:rPr lang="en-US" sz="1100" b="1" dirty="0">
                <a:solidFill>
                  <a:srgbClr val="FFFFFF"/>
                </a:solidFill>
                <a:latin typeface="Footlight MT Light" panose="0204060206030A020304" pitchFamily="18" charset="0"/>
                <a:ea typeface="Calibri" pitchFamily="34" charset="-122"/>
                <a:cs typeface="Calibri" pitchFamily="34" charset="-120"/>
              </a:rPr>
              <a:t>Chamber of Mines</a:t>
            </a:r>
            <a:endParaRPr lang="en-US" sz="1100" dirty="0">
              <a:latin typeface="Footlight MT Light" panose="0204060206030A020304" pitchFamily="18" charset="0"/>
            </a:endParaRPr>
          </a:p>
          <a:p>
            <a:pPr marL="0" indent="0" algn="ctr">
              <a:buNone/>
            </a:pPr>
            <a:r>
              <a:rPr lang="en-US" sz="1100" b="1" dirty="0">
                <a:solidFill>
                  <a:srgbClr val="FFFFFF"/>
                </a:solidFill>
                <a:latin typeface="Footlight MT Light" panose="0204060206030A020304" pitchFamily="18" charset="0"/>
                <a:ea typeface="Calibri" pitchFamily="34" charset="-122"/>
                <a:cs typeface="Calibri" pitchFamily="34" charset="-120"/>
              </a:rPr>
              <a:t>Portal</a:t>
            </a:r>
            <a:endParaRPr lang="en-US" sz="1100" dirty="0">
              <a:latin typeface="Footlight MT Light" panose="0204060206030A020304" pitchFamily="18" charset="0"/>
            </a:endParaRPr>
          </a:p>
        </p:txBody>
      </p:sp>
      <p:sp>
        <p:nvSpPr>
          <p:cNvPr id="15" name="Shape 13"/>
          <p:cNvSpPr/>
          <p:nvPr/>
        </p:nvSpPr>
        <p:spPr>
          <a:xfrm>
            <a:off x="6940296" y="4059936"/>
            <a:ext cx="1993392" cy="658368"/>
          </a:xfrm>
          <a:prstGeom prst="rect">
            <a:avLst/>
          </a:prstGeom>
          <a:solidFill>
            <a:srgbClr val="12234F"/>
          </a:solidFill>
          <a:ln w="12700">
            <a:solidFill>
              <a:srgbClr val="12234F"/>
            </a:solidFill>
            <a:prstDash val="solid"/>
          </a:ln>
          <a:effectLst>
            <a:outerShdw blurRad="101600" dist="38100" dir="8100000" algn="bl" rotWithShape="0">
              <a:srgbClr val="000000">
                <a:alpha val="15000"/>
              </a:srgbClr>
            </a:outerShdw>
          </a:effectLst>
        </p:spPr>
      </p:sp>
      <p:sp>
        <p:nvSpPr>
          <p:cNvPr id="16" name="Text 14"/>
          <p:cNvSpPr/>
          <p:nvPr/>
        </p:nvSpPr>
        <p:spPr>
          <a:xfrm>
            <a:off x="6940296" y="4059936"/>
            <a:ext cx="1993392" cy="658368"/>
          </a:xfrm>
          <a:prstGeom prst="rect">
            <a:avLst/>
          </a:prstGeom>
          <a:noFill/>
          <a:ln/>
        </p:spPr>
        <p:txBody>
          <a:bodyPr wrap="square" rtlCol="0" anchor="ctr"/>
          <a:lstStyle/>
          <a:p>
            <a:pPr marL="0" indent="0" algn="ctr">
              <a:buNone/>
            </a:pPr>
            <a:r>
              <a:rPr lang="en-US" sz="1100" b="1" dirty="0">
                <a:solidFill>
                  <a:srgbClr val="FFFFFF"/>
                </a:solidFill>
                <a:latin typeface="Footlight MT Light" panose="0204060206030A020304" pitchFamily="18" charset="0"/>
                <a:ea typeface="Calibri" pitchFamily="34" charset="-122"/>
                <a:cs typeface="Calibri" pitchFamily="34" charset="-120"/>
              </a:rPr>
              <a:t>AI Drone</a:t>
            </a:r>
            <a:endParaRPr lang="en-US" sz="1100" dirty="0">
              <a:latin typeface="Footlight MT Light" panose="0204060206030A020304" pitchFamily="18" charset="0"/>
            </a:endParaRPr>
          </a:p>
          <a:p>
            <a:pPr marL="0" indent="0" algn="ctr">
              <a:buNone/>
            </a:pPr>
            <a:r>
              <a:rPr lang="en-US" sz="1100" b="1" dirty="0">
                <a:solidFill>
                  <a:srgbClr val="FFFFFF"/>
                </a:solidFill>
                <a:latin typeface="Footlight MT Light" panose="0204060206030A020304" pitchFamily="18" charset="0"/>
                <a:ea typeface="Calibri" pitchFamily="34" charset="-122"/>
                <a:cs typeface="Calibri" pitchFamily="34" charset="-120"/>
              </a:rPr>
              <a:t>Control Room</a:t>
            </a:r>
            <a:endParaRPr lang="en-US" sz="1100" dirty="0">
              <a:latin typeface="Footlight MT Light" panose="0204060206030A020304" pitchFamily="18" charset="0"/>
            </a:endParaRPr>
          </a:p>
        </p:txBody>
      </p:sp>
      <p:sp>
        <p:nvSpPr>
          <p:cNvPr id="17" name="Shape 15"/>
          <p:cNvSpPr/>
          <p:nvPr/>
        </p:nvSpPr>
        <p:spPr>
          <a:xfrm>
            <a:off x="0" y="4773168"/>
            <a:ext cx="9144000" cy="365760"/>
          </a:xfrm>
          <a:prstGeom prst="rect">
            <a:avLst/>
          </a:prstGeom>
          <a:solidFill>
            <a:srgbClr val="07294A"/>
          </a:solidFill>
          <a:ln w="12700">
            <a:solidFill>
              <a:srgbClr val="07294A"/>
            </a:solidFill>
            <a:prstDash val="solid"/>
          </a:ln>
        </p:spPr>
      </p:sp>
      <p:sp>
        <p:nvSpPr>
          <p:cNvPr id="18" name="Text 16"/>
          <p:cNvSpPr/>
          <p:nvPr/>
        </p:nvSpPr>
        <p:spPr>
          <a:xfrm>
            <a:off x="0" y="4773168"/>
            <a:ext cx="9144000" cy="365760"/>
          </a:xfrm>
          <a:prstGeom prst="rect">
            <a:avLst/>
          </a:prstGeom>
          <a:noFill/>
          <a:ln/>
        </p:spPr>
        <p:txBody>
          <a:bodyPr wrap="square" rtlCol="0" anchor="ctr"/>
          <a:lstStyle/>
          <a:p>
            <a:pPr marL="0" indent="0" algn="ctr">
              <a:buNone/>
            </a:pPr>
            <a:r>
              <a:rPr lang="en-US" sz="1050" dirty="0">
                <a:solidFill>
                  <a:srgbClr val="E8A020"/>
                </a:solidFill>
                <a:latin typeface="Footlight MT Light" panose="0204060206030A020304" pitchFamily="18" charset="0"/>
                <a:ea typeface="Calibri" pitchFamily="34" charset="-122"/>
                <a:cs typeface="Calibri" pitchFamily="34" charset="-120"/>
              </a:rPr>
              <a:t>Smart Innovations Ghana Limited  |  www.smartinnovationsgh.com  |  2026</a:t>
            </a:r>
            <a:endParaRPr lang="en-US" sz="1050" dirty="0">
              <a:latin typeface="Footlight MT Light" panose="0204060206030A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A3D62"/>
          </a:solidFill>
          <a:ln w="12700">
            <a:solidFill>
              <a:srgbClr val="0A3D62"/>
            </a:solidFill>
            <a:prstDash val="solid"/>
          </a:ln>
        </p:spPr>
      </p:sp>
      <p:sp>
        <p:nvSpPr>
          <p:cNvPr id="3" name="Text 1"/>
          <p:cNvSpPr/>
          <p:nvPr/>
        </p:nvSpPr>
        <p:spPr>
          <a:xfrm>
            <a:off x="347472" y="64008"/>
            <a:ext cx="8412480" cy="274320"/>
          </a:xfrm>
          <a:prstGeom prst="rect">
            <a:avLst/>
          </a:prstGeom>
          <a:noFill/>
          <a:ln/>
        </p:spPr>
        <p:txBody>
          <a:bodyPr wrap="square" rtlCol="0" anchor="ctr"/>
          <a:lstStyle/>
          <a:p>
            <a:pPr marL="0" indent="0">
              <a:buNone/>
            </a:pPr>
            <a:r>
              <a:rPr lang="en-US" sz="1050" b="1" kern="0" spc="200" dirty="0">
                <a:solidFill>
                  <a:srgbClr val="AAAAAA"/>
                </a:solidFill>
                <a:latin typeface="Footlight MT Light" panose="0204060206030A020304" pitchFamily="18" charset="0"/>
                <a:ea typeface="Trebuchet MS" pitchFamily="34" charset="-122"/>
                <a:cs typeface="Trebuchet MS" pitchFamily="34" charset="-120"/>
              </a:rPr>
              <a:t>SOLUTION 1 OF 4  |  National Equipment Registration &amp; Tracking</a:t>
            </a:r>
            <a:endParaRPr lang="en-US" sz="1050" dirty="0">
              <a:latin typeface="Footlight MT Light" panose="0204060206030A020304" pitchFamily="18" charset="0"/>
            </a:endParaRPr>
          </a:p>
        </p:txBody>
      </p:sp>
      <p:sp>
        <p:nvSpPr>
          <p:cNvPr id="4" name="Text 2"/>
          <p:cNvSpPr/>
          <p:nvPr/>
        </p:nvSpPr>
        <p:spPr>
          <a:xfrm>
            <a:off x="88053" y="347472"/>
            <a:ext cx="9055947" cy="420624"/>
          </a:xfrm>
          <a:prstGeom prst="rect">
            <a:avLst/>
          </a:prstGeom>
          <a:noFill/>
          <a:ln/>
        </p:spPr>
        <p:txBody>
          <a:bodyPr wrap="square" rtlCol="0" anchor="ctr"/>
          <a:lstStyle/>
          <a:p>
            <a:pPr marL="0" indent="0">
              <a:buNone/>
            </a:pPr>
            <a:r>
              <a:rPr lang="en-US" sz="2000" b="1" dirty="0">
                <a:solidFill>
                  <a:srgbClr val="FFFFFF"/>
                </a:solidFill>
                <a:latin typeface="Footlight MT Light" panose="0204060206030A020304" pitchFamily="18" charset="0"/>
                <a:ea typeface="Georgia" pitchFamily="34" charset="-122"/>
                <a:cs typeface="Georgia" pitchFamily="34" charset="-120"/>
              </a:rPr>
              <a:t>Nationwide Registration &amp; Tracking of Earth-Moving &amp; Mining Equipment — Ghana</a:t>
            </a:r>
            <a:endParaRPr lang="en-US" sz="2000" dirty="0">
              <a:latin typeface="Footlight MT Light" panose="0204060206030A020304" pitchFamily="18" charset="0"/>
            </a:endParaRPr>
          </a:p>
        </p:txBody>
      </p:sp>
      <p:sp>
        <p:nvSpPr>
          <p:cNvPr id="5" name="Shape 3"/>
          <p:cNvSpPr/>
          <p:nvPr/>
        </p:nvSpPr>
        <p:spPr>
          <a:xfrm>
            <a:off x="228600" y="896112"/>
            <a:ext cx="4206240" cy="310896"/>
          </a:xfrm>
          <a:prstGeom prst="rect">
            <a:avLst/>
          </a:prstGeom>
          <a:solidFill>
            <a:srgbClr val="0A3D62"/>
          </a:solidFill>
          <a:ln w="12700">
            <a:solidFill>
              <a:srgbClr val="0A3D62"/>
            </a:solidFill>
            <a:prstDash val="solid"/>
          </a:ln>
        </p:spPr>
      </p:sp>
      <p:sp>
        <p:nvSpPr>
          <p:cNvPr id="6" name="Text 4"/>
          <p:cNvSpPr/>
          <p:nvPr/>
        </p:nvSpPr>
        <p:spPr>
          <a:xfrm>
            <a:off x="228600" y="896112"/>
            <a:ext cx="4206240" cy="310896"/>
          </a:xfrm>
          <a:prstGeom prst="rect">
            <a:avLst/>
          </a:prstGeom>
          <a:noFill/>
          <a:ln/>
        </p:spPr>
        <p:txBody>
          <a:bodyPr wrap="square" rtlCol="0" anchor="ctr"/>
          <a:lstStyle/>
          <a:p>
            <a:pPr marL="0" indent="0" algn="ctr">
              <a:buNone/>
            </a:pPr>
            <a:r>
              <a:rPr lang="en-US" sz="1000" b="1" kern="0" spc="100" dirty="0">
                <a:solidFill>
                  <a:srgbClr val="FFFFFF"/>
                </a:solidFill>
                <a:latin typeface="Footlight MT Light" panose="0204060206030A020304" pitchFamily="18" charset="0"/>
                <a:ea typeface="Trebuchet MS" pitchFamily="34" charset="-122"/>
                <a:cs typeface="Trebuchet MS" pitchFamily="34" charset="-120"/>
              </a:rPr>
              <a:t>WHAT THE GHANA SYSTEM DOES</a:t>
            </a:r>
            <a:endParaRPr lang="en-US" sz="1000" dirty="0">
              <a:latin typeface="Footlight MT Light" panose="0204060206030A020304" pitchFamily="18" charset="0"/>
            </a:endParaRPr>
          </a:p>
        </p:txBody>
      </p:sp>
      <p:sp>
        <p:nvSpPr>
          <p:cNvPr id="7" name="Shape 5"/>
          <p:cNvSpPr/>
          <p:nvPr/>
        </p:nvSpPr>
        <p:spPr>
          <a:xfrm>
            <a:off x="228600" y="1261872"/>
            <a:ext cx="4206240" cy="804672"/>
          </a:xfrm>
          <a:prstGeom prst="rect">
            <a:avLst/>
          </a:prstGeom>
          <a:solidFill>
            <a:srgbClr val="EEF3FA"/>
          </a:solidFill>
          <a:ln w="6350">
            <a:solidFill>
              <a:srgbClr val="D0DDEE"/>
            </a:solidFill>
            <a:prstDash val="solid"/>
          </a:ln>
          <a:effectLst>
            <a:outerShdw blurRad="50800" dist="25400" dir="8100000" algn="bl" rotWithShape="0">
              <a:srgbClr val="000000">
                <a:alpha val="10000"/>
              </a:srgbClr>
            </a:outerShdw>
          </a:effectLst>
        </p:spPr>
      </p:sp>
      <p:sp>
        <p:nvSpPr>
          <p:cNvPr id="8" name="Shape 6"/>
          <p:cNvSpPr/>
          <p:nvPr/>
        </p:nvSpPr>
        <p:spPr>
          <a:xfrm>
            <a:off x="228600" y="1261872"/>
            <a:ext cx="64008" cy="804672"/>
          </a:xfrm>
          <a:prstGeom prst="rect">
            <a:avLst/>
          </a:prstGeom>
          <a:solidFill>
            <a:srgbClr val="0A3D62"/>
          </a:solidFill>
          <a:ln w="12700">
            <a:solidFill>
              <a:srgbClr val="0A3D62"/>
            </a:solidFill>
            <a:prstDash val="solid"/>
          </a:ln>
        </p:spPr>
      </p:sp>
      <p:sp>
        <p:nvSpPr>
          <p:cNvPr id="9" name="Text 7"/>
          <p:cNvSpPr/>
          <p:nvPr/>
        </p:nvSpPr>
        <p:spPr>
          <a:xfrm>
            <a:off x="347472" y="1316736"/>
            <a:ext cx="4005072" cy="219456"/>
          </a:xfrm>
          <a:prstGeom prst="rect">
            <a:avLst/>
          </a:prstGeom>
          <a:noFill/>
          <a:ln/>
        </p:spPr>
        <p:txBody>
          <a:bodyPr wrap="square" rtlCol="0" anchor="ctr"/>
          <a:lstStyle/>
          <a:p>
            <a:pPr marL="0" indent="0">
              <a:buNone/>
            </a:pPr>
            <a:r>
              <a:rPr lang="en-US" sz="1100" b="1" dirty="0">
                <a:solidFill>
                  <a:srgbClr val="0A3D62"/>
                </a:solidFill>
                <a:latin typeface="Footlight MT Light" panose="0204060206030A020304" pitchFamily="18" charset="0"/>
                <a:ea typeface="Calibri" pitchFamily="34" charset="-122"/>
                <a:cs typeface="Calibri" pitchFamily="34" charset="-120"/>
              </a:rPr>
              <a:t>National Equipment Database</a:t>
            </a:r>
            <a:endParaRPr lang="en-US" sz="1100" dirty="0">
              <a:latin typeface="Footlight MT Light" panose="0204060206030A020304" pitchFamily="18" charset="0"/>
            </a:endParaRPr>
          </a:p>
        </p:txBody>
      </p:sp>
      <p:sp>
        <p:nvSpPr>
          <p:cNvPr id="10" name="Text 8"/>
          <p:cNvSpPr/>
          <p:nvPr/>
        </p:nvSpPr>
        <p:spPr>
          <a:xfrm>
            <a:off x="347472" y="1554480"/>
            <a:ext cx="4005072" cy="45720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End-to-end registration of all excavators, bulldozers, wheel loaders, and other earth-moving machinery operating in Ghana's mining sector — linked to a central government database.</a:t>
            </a:r>
            <a:endParaRPr lang="en-US" sz="950" dirty="0">
              <a:latin typeface="Footlight MT Light" panose="0204060206030A020304" pitchFamily="18" charset="0"/>
            </a:endParaRPr>
          </a:p>
        </p:txBody>
      </p:sp>
      <p:sp>
        <p:nvSpPr>
          <p:cNvPr id="11" name="Shape 9"/>
          <p:cNvSpPr/>
          <p:nvPr/>
        </p:nvSpPr>
        <p:spPr>
          <a:xfrm>
            <a:off x="228600" y="2157984"/>
            <a:ext cx="4206240" cy="804672"/>
          </a:xfrm>
          <a:prstGeom prst="rect">
            <a:avLst/>
          </a:prstGeom>
          <a:solidFill>
            <a:srgbClr val="FFFFFF"/>
          </a:solidFill>
          <a:ln w="6350">
            <a:solidFill>
              <a:srgbClr val="D0DDEE"/>
            </a:solidFill>
            <a:prstDash val="solid"/>
          </a:ln>
          <a:effectLst>
            <a:outerShdw blurRad="50800" dist="25400" dir="8100000" algn="bl" rotWithShape="0">
              <a:srgbClr val="000000">
                <a:alpha val="10000"/>
              </a:srgbClr>
            </a:outerShdw>
          </a:effectLst>
        </p:spPr>
      </p:sp>
      <p:sp>
        <p:nvSpPr>
          <p:cNvPr id="12" name="Shape 10"/>
          <p:cNvSpPr/>
          <p:nvPr/>
        </p:nvSpPr>
        <p:spPr>
          <a:xfrm>
            <a:off x="228600" y="2157984"/>
            <a:ext cx="64008" cy="804672"/>
          </a:xfrm>
          <a:prstGeom prst="rect">
            <a:avLst/>
          </a:prstGeom>
          <a:solidFill>
            <a:srgbClr val="0A3D62"/>
          </a:solidFill>
          <a:ln w="12700">
            <a:solidFill>
              <a:srgbClr val="0A3D62"/>
            </a:solidFill>
            <a:prstDash val="solid"/>
          </a:ln>
        </p:spPr>
      </p:sp>
      <p:sp>
        <p:nvSpPr>
          <p:cNvPr id="13" name="Text 11"/>
          <p:cNvSpPr/>
          <p:nvPr/>
        </p:nvSpPr>
        <p:spPr>
          <a:xfrm>
            <a:off x="347472" y="2212848"/>
            <a:ext cx="4005072" cy="219456"/>
          </a:xfrm>
          <a:prstGeom prst="rect">
            <a:avLst/>
          </a:prstGeom>
          <a:noFill/>
          <a:ln/>
        </p:spPr>
        <p:txBody>
          <a:bodyPr wrap="square" rtlCol="0" anchor="ctr"/>
          <a:lstStyle/>
          <a:p>
            <a:pPr marL="0" indent="0">
              <a:buNone/>
            </a:pPr>
            <a:r>
              <a:rPr lang="en-US" sz="1100" b="1" dirty="0">
                <a:solidFill>
                  <a:srgbClr val="0A3D62"/>
                </a:solidFill>
                <a:latin typeface="Footlight MT Light" panose="0204060206030A020304" pitchFamily="18" charset="0"/>
                <a:ea typeface="Calibri" pitchFamily="34" charset="-122"/>
                <a:cs typeface="Calibri" pitchFamily="34" charset="-120"/>
              </a:rPr>
              <a:t>Digital ID &amp; Tagging</a:t>
            </a:r>
            <a:endParaRPr lang="en-US" sz="1100" dirty="0">
              <a:latin typeface="Footlight MT Light" panose="0204060206030A020304" pitchFamily="18" charset="0"/>
            </a:endParaRPr>
          </a:p>
        </p:txBody>
      </p:sp>
      <p:sp>
        <p:nvSpPr>
          <p:cNvPr id="14" name="Text 12"/>
          <p:cNvSpPr/>
          <p:nvPr/>
        </p:nvSpPr>
        <p:spPr>
          <a:xfrm>
            <a:off x="347472" y="2450592"/>
            <a:ext cx="4005072" cy="45720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Each machine assigned a unique digital ID with verified ownership, operator details, and site assignment. Physical and digital tracking markers affixed to all registered units.</a:t>
            </a:r>
            <a:endParaRPr lang="en-US" sz="950" dirty="0">
              <a:latin typeface="Footlight MT Light" panose="0204060206030A020304" pitchFamily="18" charset="0"/>
            </a:endParaRPr>
          </a:p>
        </p:txBody>
      </p:sp>
      <p:sp>
        <p:nvSpPr>
          <p:cNvPr id="15" name="Shape 13"/>
          <p:cNvSpPr/>
          <p:nvPr/>
        </p:nvSpPr>
        <p:spPr>
          <a:xfrm>
            <a:off x="228600" y="3054096"/>
            <a:ext cx="4206240" cy="804672"/>
          </a:xfrm>
          <a:prstGeom prst="rect">
            <a:avLst/>
          </a:prstGeom>
          <a:solidFill>
            <a:srgbClr val="EEF3FA"/>
          </a:solidFill>
          <a:ln w="6350">
            <a:solidFill>
              <a:srgbClr val="D0DDEE"/>
            </a:solidFill>
            <a:prstDash val="solid"/>
          </a:ln>
          <a:effectLst>
            <a:outerShdw blurRad="50800" dist="25400" dir="8100000" algn="bl" rotWithShape="0">
              <a:srgbClr val="000000">
                <a:alpha val="10000"/>
              </a:srgbClr>
            </a:outerShdw>
          </a:effectLst>
        </p:spPr>
      </p:sp>
      <p:sp>
        <p:nvSpPr>
          <p:cNvPr id="16" name="Shape 14"/>
          <p:cNvSpPr/>
          <p:nvPr/>
        </p:nvSpPr>
        <p:spPr>
          <a:xfrm>
            <a:off x="228600" y="3054096"/>
            <a:ext cx="64008" cy="804672"/>
          </a:xfrm>
          <a:prstGeom prst="rect">
            <a:avLst/>
          </a:prstGeom>
          <a:solidFill>
            <a:srgbClr val="0A3D62"/>
          </a:solidFill>
          <a:ln w="12700">
            <a:solidFill>
              <a:srgbClr val="0A3D62"/>
            </a:solidFill>
            <a:prstDash val="solid"/>
          </a:ln>
        </p:spPr>
      </p:sp>
      <p:sp>
        <p:nvSpPr>
          <p:cNvPr id="17" name="Text 15"/>
          <p:cNvSpPr/>
          <p:nvPr/>
        </p:nvSpPr>
        <p:spPr>
          <a:xfrm>
            <a:off x="347472" y="3108960"/>
            <a:ext cx="4005072" cy="219456"/>
          </a:xfrm>
          <a:prstGeom prst="rect">
            <a:avLst/>
          </a:prstGeom>
          <a:noFill/>
          <a:ln/>
        </p:spPr>
        <p:txBody>
          <a:bodyPr wrap="square" rtlCol="0" anchor="ctr"/>
          <a:lstStyle/>
          <a:p>
            <a:pPr marL="0" indent="0">
              <a:buNone/>
            </a:pPr>
            <a:r>
              <a:rPr lang="en-US" sz="1100" b="1" dirty="0">
                <a:solidFill>
                  <a:srgbClr val="0A3D62"/>
                </a:solidFill>
                <a:latin typeface="Footlight MT Light" panose="0204060206030A020304" pitchFamily="18" charset="0"/>
                <a:ea typeface="Calibri" pitchFamily="34" charset="-122"/>
                <a:cs typeface="Calibri" pitchFamily="34" charset="-120"/>
              </a:rPr>
              <a:t>Real-Time GPS Location Tracking</a:t>
            </a:r>
            <a:endParaRPr lang="en-US" sz="1100" dirty="0">
              <a:latin typeface="Footlight MT Light" panose="0204060206030A020304" pitchFamily="18" charset="0"/>
            </a:endParaRPr>
          </a:p>
        </p:txBody>
      </p:sp>
      <p:sp>
        <p:nvSpPr>
          <p:cNvPr id="18" name="Text 16"/>
          <p:cNvSpPr/>
          <p:nvPr/>
        </p:nvSpPr>
        <p:spPr>
          <a:xfrm>
            <a:off x="347472" y="3346704"/>
            <a:ext cx="4005072" cy="45720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Live geofencing and location monitoring. Alerts generated when equipment leaves designated mining concessions — preventing illegal use on unauthorised sites.</a:t>
            </a:r>
            <a:endParaRPr lang="en-US" sz="950" dirty="0">
              <a:latin typeface="Footlight MT Light" panose="0204060206030A020304" pitchFamily="18" charset="0"/>
            </a:endParaRPr>
          </a:p>
        </p:txBody>
      </p:sp>
      <p:sp>
        <p:nvSpPr>
          <p:cNvPr id="19" name="Shape 17"/>
          <p:cNvSpPr/>
          <p:nvPr/>
        </p:nvSpPr>
        <p:spPr>
          <a:xfrm>
            <a:off x="228600" y="3950208"/>
            <a:ext cx="4206240" cy="804672"/>
          </a:xfrm>
          <a:prstGeom prst="rect">
            <a:avLst/>
          </a:prstGeom>
          <a:solidFill>
            <a:srgbClr val="FFFFFF"/>
          </a:solidFill>
          <a:ln w="6350">
            <a:solidFill>
              <a:srgbClr val="D0DDEE"/>
            </a:solidFill>
            <a:prstDash val="solid"/>
          </a:ln>
          <a:effectLst>
            <a:outerShdw blurRad="50800" dist="25400" dir="8100000" algn="bl" rotWithShape="0">
              <a:srgbClr val="000000">
                <a:alpha val="10000"/>
              </a:srgbClr>
            </a:outerShdw>
          </a:effectLst>
        </p:spPr>
      </p:sp>
      <p:sp>
        <p:nvSpPr>
          <p:cNvPr id="20" name="Shape 18"/>
          <p:cNvSpPr/>
          <p:nvPr/>
        </p:nvSpPr>
        <p:spPr>
          <a:xfrm>
            <a:off x="228600" y="3950208"/>
            <a:ext cx="64008" cy="804672"/>
          </a:xfrm>
          <a:prstGeom prst="rect">
            <a:avLst/>
          </a:prstGeom>
          <a:solidFill>
            <a:srgbClr val="0A3D62"/>
          </a:solidFill>
          <a:ln w="12700">
            <a:solidFill>
              <a:srgbClr val="0A3D62"/>
            </a:solidFill>
            <a:prstDash val="solid"/>
          </a:ln>
        </p:spPr>
      </p:sp>
      <p:sp>
        <p:nvSpPr>
          <p:cNvPr id="21" name="Text 19"/>
          <p:cNvSpPr/>
          <p:nvPr/>
        </p:nvSpPr>
        <p:spPr>
          <a:xfrm>
            <a:off x="347472" y="4005072"/>
            <a:ext cx="4005072" cy="219456"/>
          </a:xfrm>
          <a:prstGeom prst="rect">
            <a:avLst/>
          </a:prstGeom>
          <a:noFill/>
          <a:ln/>
        </p:spPr>
        <p:txBody>
          <a:bodyPr wrap="square" rtlCol="0" anchor="ctr"/>
          <a:lstStyle/>
          <a:p>
            <a:pPr marL="0" indent="0">
              <a:buNone/>
            </a:pPr>
            <a:r>
              <a:rPr lang="en-US" sz="1100" b="1" dirty="0">
                <a:solidFill>
                  <a:srgbClr val="0A3D62"/>
                </a:solidFill>
                <a:latin typeface="Footlight MT Light" panose="0204060206030A020304" pitchFamily="18" charset="0"/>
                <a:ea typeface="Calibri" pitchFamily="34" charset="-122"/>
                <a:cs typeface="Calibri" pitchFamily="34" charset="-120"/>
              </a:rPr>
              <a:t>Compliance &amp; Permit Linkage</a:t>
            </a:r>
            <a:endParaRPr lang="en-US" sz="1100" dirty="0">
              <a:latin typeface="Footlight MT Light" panose="0204060206030A020304" pitchFamily="18" charset="0"/>
            </a:endParaRPr>
          </a:p>
        </p:txBody>
      </p:sp>
      <p:sp>
        <p:nvSpPr>
          <p:cNvPr id="22" name="Text 20"/>
          <p:cNvSpPr/>
          <p:nvPr/>
        </p:nvSpPr>
        <p:spPr>
          <a:xfrm>
            <a:off x="347472" y="4242816"/>
            <a:ext cx="4005072" cy="45720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Equipment registration linked to valid permits, insurance, and operator licences. Non-compliant machines flagged automatically for inspectorate action.</a:t>
            </a:r>
            <a:endParaRPr lang="en-US" sz="950" dirty="0">
              <a:latin typeface="Footlight MT Light" panose="0204060206030A020304" pitchFamily="18" charset="0"/>
            </a:endParaRPr>
          </a:p>
        </p:txBody>
      </p:sp>
      <p:sp>
        <p:nvSpPr>
          <p:cNvPr id="23" name="Shape 21"/>
          <p:cNvSpPr/>
          <p:nvPr/>
        </p:nvSpPr>
        <p:spPr>
          <a:xfrm>
            <a:off x="4709160" y="896112"/>
            <a:ext cx="4206240" cy="310896"/>
          </a:xfrm>
          <a:prstGeom prst="rect">
            <a:avLst/>
          </a:prstGeom>
          <a:solidFill>
            <a:srgbClr val="1E6B3C"/>
          </a:solidFill>
          <a:ln w="12700">
            <a:solidFill>
              <a:srgbClr val="1E6B3C"/>
            </a:solidFill>
            <a:prstDash val="solid"/>
          </a:ln>
        </p:spPr>
      </p:sp>
      <p:sp>
        <p:nvSpPr>
          <p:cNvPr id="24" name="Text 22"/>
          <p:cNvSpPr/>
          <p:nvPr/>
        </p:nvSpPr>
        <p:spPr>
          <a:xfrm>
            <a:off x="4709160" y="896112"/>
            <a:ext cx="4206240" cy="310896"/>
          </a:xfrm>
          <a:prstGeom prst="rect">
            <a:avLst/>
          </a:prstGeom>
          <a:noFill/>
          <a:ln/>
        </p:spPr>
        <p:txBody>
          <a:bodyPr wrap="square" rtlCol="0" anchor="ctr"/>
          <a:lstStyle/>
          <a:p>
            <a:pPr marL="0" indent="0" algn="ctr">
              <a:buNone/>
            </a:pPr>
            <a:r>
              <a:rPr lang="en-US" sz="1000" b="1" kern="0" spc="100" dirty="0">
                <a:solidFill>
                  <a:srgbClr val="FFFFFF"/>
                </a:solidFill>
                <a:latin typeface="Footlight MT Light" panose="0204060206030A020304" pitchFamily="18" charset="0"/>
                <a:ea typeface="Trebuchet MS" pitchFamily="34" charset="-122"/>
                <a:cs typeface="Trebuchet MS" pitchFamily="34" charset="-120"/>
              </a:rPr>
              <a:t>HOW THIS HELPS GUINEA</a:t>
            </a:r>
            <a:endParaRPr lang="en-US" sz="1000" dirty="0">
              <a:latin typeface="Footlight MT Light" panose="0204060206030A020304" pitchFamily="18" charset="0"/>
            </a:endParaRPr>
          </a:p>
        </p:txBody>
      </p:sp>
      <p:sp>
        <p:nvSpPr>
          <p:cNvPr id="25" name="Shape 23"/>
          <p:cNvSpPr/>
          <p:nvPr/>
        </p:nvSpPr>
        <p:spPr>
          <a:xfrm>
            <a:off x="4709160" y="1261872"/>
            <a:ext cx="4206240" cy="804672"/>
          </a:xfrm>
          <a:prstGeom prst="rect">
            <a:avLst/>
          </a:prstGeom>
          <a:solidFill>
            <a:srgbClr val="EEF6EE"/>
          </a:solidFill>
          <a:ln w="6350">
            <a:solidFill>
              <a:srgbClr val="BDDEC0"/>
            </a:solidFill>
            <a:prstDash val="solid"/>
          </a:ln>
          <a:effectLst>
            <a:outerShdw blurRad="50800" dist="25400" dir="8100000" algn="bl" rotWithShape="0">
              <a:srgbClr val="000000">
                <a:alpha val="10000"/>
              </a:srgbClr>
            </a:outerShdw>
          </a:effectLst>
        </p:spPr>
      </p:sp>
      <p:sp>
        <p:nvSpPr>
          <p:cNvPr id="26" name="Shape 24"/>
          <p:cNvSpPr/>
          <p:nvPr/>
        </p:nvSpPr>
        <p:spPr>
          <a:xfrm>
            <a:off x="4709160" y="1261872"/>
            <a:ext cx="64008" cy="804672"/>
          </a:xfrm>
          <a:prstGeom prst="rect">
            <a:avLst/>
          </a:prstGeom>
          <a:solidFill>
            <a:srgbClr val="1E6B3C"/>
          </a:solidFill>
          <a:ln w="12700">
            <a:solidFill>
              <a:srgbClr val="1E6B3C"/>
            </a:solidFill>
            <a:prstDash val="solid"/>
          </a:ln>
        </p:spPr>
      </p:sp>
      <p:sp>
        <p:nvSpPr>
          <p:cNvPr id="27" name="Text 25"/>
          <p:cNvSpPr/>
          <p:nvPr/>
        </p:nvSpPr>
        <p:spPr>
          <a:xfrm>
            <a:off x="4828032" y="1316736"/>
            <a:ext cx="4005072" cy="219456"/>
          </a:xfrm>
          <a:prstGeom prst="rect">
            <a:avLst/>
          </a:prstGeom>
          <a:noFill/>
          <a:ln/>
        </p:spPr>
        <p:txBody>
          <a:bodyPr wrap="square" rtlCol="0" anchor="ctr"/>
          <a:lstStyle/>
          <a:p>
            <a:pPr marL="0" indent="0">
              <a:buNone/>
            </a:pPr>
            <a:r>
              <a:rPr lang="en-US" sz="1100" b="1" dirty="0">
                <a:solidFill>
                  <a:srgbClr val="1E6B3C"/>
                </a:solidFill>
                <a:latin typeface="Footlight MT Light" panose="0204060206030A020304" pitchFamily="18" charset="0"/>
                <a:ea typeface="Calibri" pitchFamily="34" charset="-122"/>
                <a:cs typeface="Calibri" pitchFamily="34" charset="-120"/>
              </a:rPr>
              <a:t>Control Illegal ASM Equipment</a:t>
            </a:r>
            <a:endParaRPr lang="en-US" sz="1100" dirty="0">
              <a:latin typeface="Footlight MT Light" panose="0204060206030A020304" pitchFamily="18" charset="0"/>
            </a:endParaRPr>
          </a:p>
        </p:txBody>
      </p:sp>
      <p:sp>
        <p:nvSpPr>
          <p:cNvPr id="28" name="Text 26"/>
          <p:cNvSpPr/>
          <p:nvPr/>
        </p:nvSpPr>
        <p:spPr>
          <a:xfrm>
            <a:off x="4828032" y="1554480"/>
            <a:ext cx="4005072" cy="45720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Guinea has thousands of unregistered excavators and dredges in protected waterways and forest reserves. A national registry identifies, tracks, and controls every machine.</a:t>
            </a:r>
            <a:endParaRPr lang="en-US" sz="950" dirty="0">
              <a:latin typeface="Footlight MT Light" panose="0204060206030A020304" pitchFamily="18" charset="0"/>
            </a:endParaRPr>
          </a:p>
        </p:txBody>
      </p:sp>
      <p:sp>
        <p:nvSpPr>
          <p:cNvPr id="29" name="Shape 27"/>
          <p:cNvSpPr/>
          <p:nvPr/>
        </p:nvSpPr>
        <p:spPr>
          <a:xfrm>
            <a:off x="4709160" y="2157984"/>
            <a:ext cx="4206240" cy="804672"/>
          </a:xfrm>
          <a:prstGeom prst="rect">
            <a:avLst/>
          </a:prstGeom>
          <a:solidFill>
            <a:srgbClr val="FFFFFF"/>
          </a:solidFill>
          <a:ln w="6350">
            <a:solidFill>
              <a:srgbClr val="BDDEC0"/>
            </a:solidFill>
            <a:prstDash val="solid"/>
          </a:ln>
          <a:effectLst>
            <a:outerShdw blurRad="50800" dist="25400" dir="8100000" algn="bl" rotWithShape="0">
              <a:srgbClr val="000000">
                <a:alpha val="10000"/>
              </a:srgbClr>
            </a:outerShdw>
          </a:effectLst>
        </p:spPr>
      </p:sp>
      <p:sp>
        <p:nvSpPr>
          <p:cNvPr id="30" name="Shape 28"/>
          <p:cNvSpPr/>
          <p:nvPr/>
        </p:nvSpPr>
        <p:spPr>
          <a:xfrm>
            <a:off x="4709160" y="2157984"/>
            <a:ext cx="64008" cy="804672"/>
          </a:xfrm>
          <a:prstGeom prst="rect">
            <a:avLst/>
          </a:prstGeom>
          <a:solidFill>
            <a:srgbClr val="1E6B3C"/>
          </a:solidFill>
          <a:ln w="12700">
            <a:solidFill>
              <a:srgbClr val="1E6B3C"/>
            </a:solidFill>
            <a:prstDash val="solid"/>
          </a:ln>
        </p:spPr>
      </p:sp>
      <p:sp>
        <p:nvSpPr>
          <p:cNvPr id="31" name="Text 29"/>
          <p:cNvSpPr/>
          <p:nvPr/>
        </p:nvSpPr>
        <p:spPr>
          <a:xfrm>
            <a:off x="4828032" y="2212848"/>
            <a:ext cx="4005072" cy="219456"/>
          </a:xfrm>
          <a:prstGeom prst="rect">
            <a:avLst/>
          </a:prstGeom>
          <a:noFill/>
          <a:ln/>
        </p:spPr>
        <p:txBody>
          <a:bodyPr wrap="square" rtlCol="0" anchor="ctr"/>
          <a:lstStyle/>
          <a:p>
            <a:pPr marL="0" indent="0">
              <a:buNone/>
            </a:pPr>
            <a:r>
              <a:rPr lang="en-US" sz="1100" b="1" dirty="0">
                <a:solidFill>
                  <a:srgbClr val="1E6B3C"/>
                </a:solidFill>
                <a:latin typeface="Footlight MT Light" panose="0204060206030A020304" pitchFamily="18" charset="0"/>
                <a:ea typeface="Calibri" pitchFamily="34" charset="-122"/>
                <a:cs typeface="Calibri" pitchFamily="34" charset="-120"/>
              </a:rPr>
              <a:t>Enforce Site Boundaries</a:t>
            </a:r>
            <a:endParaRPr lang="en-US" sz="1100" dirty="0">
              <a:latin typeface="Footlight MT Light" panose="0204060206030A020304" pitchFamily="18" charset="0"/>
            </a:endParaRPr>
          </a:p>
        </p:txBody>
      </p:sp>
      <p:sp>
        <p:nvSpPr>
          <p:cNvPr id="32" name="Text 30"/>
          <p:cNvSpPr/>
          <p:nvPr/>
        </p:nvSpPr>
        <p:spPr>
          <a:xfrm>
            <a:off x="4828032" y="2450592"/>
            <a:ext cx="4005072" cy="45720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Geofencing alerts prevent equipment use outside licensed concessions — directly curbing illegal operations and protecting community and environmental buffer zones.</a:t>
            </a:r>
            <a:endParaRPr lang="en-US" sz="950" dirty="0">
              <a:latin typeface="Footlight MT Light" panose="0204060206030A020304" pitchFamily="18" charset="0"/>
            </a:endParaRPr>
          </a:p>
        </p:txBody>
      </p:sp>
      <p:sp>
        <p:nvSpPr>
          <p:cNvPr id="33" name="Shape 31"/>
          <p:cNvSpPr/>
          <p:nvPr/>
        </p:nvSpPr>
        <p:spPr>
          <a:xfrm>
            <a:off x="4709160" y="3054096"/>
            <a:ext cx="4206240" cy="804672"/>
          </a:xfrm>
          <a:prstGeom prst="rect">
            <a:avLst/>
          </a:prstGeom>
          <a:solidFill>
            <a:srgbClr val="EEF6EE"/>
          </a:solidFill>
          <a:ln w="6350">
            <a:solidFill>
              <a:srgbClr val="BDDEC0"/>
            </a:solidFill>
            <a:prstDash val="solid"/>
          </a:ln>
          <a:effectLst>
            <a:outerShdw blurRad="50800" dist="25400" dir="8100000" algn="bl" rotWithShape="0">
              <a:srgbClr val="000000">
                <a:alpha val="10000"/>
              </a:srgbClr>
            </a:outerShdw>
          </a:effectLst>
        </p:spPr>
      </p:sp>
      <p:sp>
        <p:nvSpPr>
          <p:cNvPr id="34" name="Shape 32"/>
          <p:cNvSpPr/>
          <p:nvPr/>
        </p:nvSpPr>
        <p:spPr>
          <a:xfrm>
            <a:off x="4709160" y="3054096"/>
            <a:ext cx="64008" cy="804672"/>
          </a:xfrm>
          <a:prstGeom prst="rect">
            <a:avLst/>
          </a:prstGeom>
          <a:solidFill>
            <a:srgbClr val="1E6B3C"/>
          </a:solidFill>
          <a:ln w="12700">
            <a:solidFill>
              <a:srgbClr val="1E6B3C"/>
            </a:solidFill>
            <a:prstDash val="solid"/>
          </a:ln>
        </p:spPr>
      </p:sp>
      <p:sp>
        <p:nvSpPr>
          <p:cNvPr id="35" name="Text 33"/>
          <p:cNvSpPr/>
          <p:nvPr/>
        </p:nvSpPr>
        <p:spPr>
          <a:xfrm>
            <a:off x="4828032" y="3108960"/>
            <a:ext cx="4005072" cy="219456"/>
          </a:xfrm>
          <a:prstGeom prst="rect">
            <a:avLst/>
          </a:prstGeom>
          <a:noFill/>
          <a:ln/>
        </p:spPr>
        <p:txBody>
          <a:bodyPr wrap="square" rtlCol="0" anchor="ctr"/>
          <a:lstStyle/>
          <a:p>
            <a:pPr marL="0" indent="0">
              <a:buNone/>
            </a:pPr>
            <a:r>
              <a:rPr lang="en-US" sz="1100" b="1" dirty="0">
                <a:solidFill>
                  <a:srgbClr val="1E6B3C"/>
                </a:solidFill>
                <a:latin typeface="Footlight MT Light" panose="0204060206030A020304" pitchFamily="18" charset="0"/>
                <a:ea typeface="Calibri" pitchFamily="34" charset="-122"/>
                <a:cs typeface="Calibri" pitchFamily="34" charset="-120"/>
              </a:rPr>
              <a:t>Formalise the ASM Equipment Economy</a:t>
            </a:r>
            <a:endParaRPr lang="en-US" sz="1100" dirty="0">
              <a:latin typeface="Footlight MT Light" panose="0204060206030A020304" pitchFamily="18" charset="0"/>
            </a:endParaRPr>
          </a:p>
        </p:txBody>
      </p:sp>
      <p:sp>
        <p:nvSpPr>
          <p:cNvPr id="36" name="Text 34"/>
          <p:cNvSpPr/>
          <p:nvPr/>
        </p:nvSpPr>
        <p:spPr>
          <a:xfrm>
            <a:off x="4828032" y="3346704"/>
            <a:ext cx="4005072" cy="45720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Registered machinery links to permit, tax, and royalty records — creating a transparent chain from equipment operator to government revenue. ASM operators enter the formal economy.</a:t>
            </a:r>
            <a:endParaRPr lang="en-US" sz="950" dirty="0">
              <a:latin typeface="Footlight MT Light" panose="0204060206030A020304" pitchFamily="18" charset="0"/>
            </a:endParaRPr>
          </a:p>
        </p:txBody>
      </p:sp>
      <p:sp>
        <p:nvSpPr>
          <p:cNvPr id="37" name="Shape 35"/>
          <p:cNvSpPr/>
          <p:nvPr/>
        </p:nvSpPr>
        <p:spPr>
          <a:xfrm>
            <a:off x="4709160" y="3950208"/>
            <a:ext cx="4206240" cy="804672"/>
          </a:xfrm>
          <a:prstGeom prst="rect">
            <a:avLst/>
          </a:prstGeom>
          <a:solidFill>
            <a:srgbClr val="FFFFFF"/>
          </a:solidFill>
          <a:ln w="6350">
            <a:solidFill>
              <a:srgbClr val="BDDEC0"/>
            </a:solidFill>
            <a:prstDash val="solid"/>
          </a:ln>
          <a:effectLst>
            <a:outerShdw blurRad="50800" dist="25400" dir="8100000" algn="bl" rotWithShape="0">
              <a:srgbClr val="000000">
                <a:alpha val="10000"/>
              </a:srgbClr>
            </a:outerShdw>
          </a:effectLst>
        </p:spPr>
      </p:sp>
      <p:sp>
        <p:nvSpPr>
          <p:cNvPr id="38" name="Shape 36"/>
          <p:cNvSpPr/>
          <p:nvPr/>
        </p:nvSpPr>
        <p:spPr>
          <a:xfrm>
            <a:off x="4709160" y="3950208"/>
            <a:ext cx="64008" cy="804672"/>
          </a:xfrm>
          <a:prstGeom prst="rect">
            <a:avLst/>
          </a:prstGeom>
          <a:solidFill>
            <a:srgbClr val="1E6B3C"/>
          </a:solidFill>
          <a:ln w="12700">
            <a:solidFill>
              <a:srgbClr val="1E6B3C"/>
            </a:solidFill>
            <a:prstDash val="solid"/>
          </a:ln>
        </p:spPr>
      </p:sp>
      <p:sp>
        <p:nvSpPr>
          <p:cNvPr id="39" name="Text 37"/>
          <p:cNvSpPr/>
          <p:nvPr/>
        </p:nvSpPr>
        <p:spPr>
          <a:xfrm>
            <a:off x="4828032" y="4005072"/>
            <a:ext cx="4005072" cy="219456"/>
          </a:xfrm>
          <a:prstGeom prst="rect">
            <a:avLst/>
          </a:prstGeom>
          <a:noFill/>
          <a:ln/>
        </p:spPr>
        <p:txBody>
          <a:bodyPr wrap="square" rtlCol="0" anchor="ctr"/>
          <a:lstStyle/>
          <a:p>
            <a:pPr marL="0" indent="0">
              <a:buNone/>
            </a:pPr>
            <a:r>
              <a:rPr lang="en-US" sz="1100" b="1" dirty="0">
                <a:solidFill>
                  <a:srgbClr val="1E6B3C"/>
                </a:solidFill>
                <a:latin typeface="Footlight MT Light" panose="0204060206030A020304" pitchFamily="18" charset="0"/>
                <a:ea typeface="Calibri" pitchFamily="34" charset="-122"/>
                <a:cs typeface="Calibri" pitchFamily="34" charset="-120"/>
              </a:rPr>
              <a:t>Support Law Enforcement</a:t>
            </a:r>
            <a:endParaRPr lang="en-US" sz="1100" dirty="0">
              <a:latin typeface="Footlight MT Light" panose="0204060206030A020304" pitchFamily="18" charset="0"/>
            </a:endParaRPr>
          </a:p>
        </p:txBody>
      </p:sp>
      <p:sp>
        <p:nvSpPr>
          <p:cNvPr id="40" name="Text 38"/>
          <p:cNvSpPr/>
          <p:nvPr/>
        </p:nvSpPr>
        <p:spPr>
          <a:xfrm>
            <a:off x="4828032" y="4242816"/>
            <a:ext cx="4005072" cy="457200"/>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Inspectorates, SOGUIPAMI, and Ministry of Mines gain a live operational picture of all equipment across Guinea — enabling targeted enforcement without expensive manual surveys.</a:t>
            </a:r>
            <a:endParaRPr lang="en-US" sz="950" dirty="0">
              <a:latin typeface="Footlight MT Light" panose="0204060206030A020304" pitchFamily="18" charset="0"/>
            </a:endParaRPr>
          </a:p>
        </p:txBody>
      </p:sp>
      <p:sp>
        <p:nvSpPr>
          <p:cNvPr id="41" name="Shape 39"/>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C8920A"/>
          </a:solidFill>
          <a:ln w="12700">
            <a:solidFill>
              <a:srgbClr val="C8920A"/>
            </a:solidFill>
            <a:prstDash val="solid"/>
          </a:ln>
        </p:spPr>
      </p:sp>
      <p:sp>
        <p:nvSpPr>
          <p:cNvPr id="3" name="Text 1"/>
          <p:cNvSpPr/>
          <p:nvPr/>
        </p:nvSpPr>
        <p:spPr>
          <a:xfrm>
            <a:off x="347472" y="64008"/>
            <a:ext cx="8412480" cy="274320"/>
          </a:xfrm>
          <a:prstGeom prst="rect">
            <a:avLst/>
          </a:prstGeom>
          <a:noFill/>
          <a:ln/>
        </p:spPr>
        <p:txBody>
          <a:bodyPr wrap="square" rtlCol="0" anchor="ctr"/>
          <a:lstStyle/>
          <a:p>
            <a:pPr marL="0" indent="0">
              <a:buNone/>
            </a:pPr>
            <a:r>
              <a:rPr lang="en-US" sz="1100" b="1" kern="0" spc="200" dirty="0">
                <a:latin typeface="Footlight MT Light" panose="0204060206030A020304" pitchFamily="18" charset="0"/>
                <a:ea typeface="Trebuchet MS" pitchFamily="34" charset="-122"/>
                <a:cs typeface="Trebuchet MS" pitchFamily="34" charset="-120"/>
              </a:rPr>
              <a:t>SOLUTION 2 OF 4  |  End-to-End Gold Traceability Platform</a:t>
            </a:r>
            <a:endParaRPr lang="en-US" sz="1100" dirty="0">
              <a:latin typeface="Footlight MT Light" panose="0204060206030A020304" pitchFamily="18" charset="0"/>
            </a:endParaRPr>
          </a:p>
        </p:txBody>
      </p:sp>
      <p:sp>
        <p:nvSpPr>
          <p:cNvPr id="4" name="Text 2"/>
          <p:cNvSpPr/>
          <p:nvPr/>
        </p:nvSpPr>
        <p:spPr>
          <a:xfrm>
            <a:off x="347472" y="347472"/>
            <a:ext cx="8412480" cy="420624"/>
          </a:xfrm>
          <a:prstGeom prst="rect">
            <a:avLst/>
          </a:prstGeom>
          <a:noFill/>
          <a:ln/>
        </p:spPr>
        <p:txBody>
          <a:bodyPr wrap="square" rtlCol="0" anchor="ctr"/>
          <a:lstStyle/>
          <a:p>
            <a:pPr marL="0" indent="0">
              <a:buNone/>
            </a:pPr>
            <a:r>
              <a:rPr lang="en-US" sz="2000" b="1" dirty="0">
                <a:solidFill>
                  <a:srgbClr val="FFFFFF"/>
                </a:solidFill>
                <a:latin typeface="Footlight MT Light" panose="0204060206030A020304" pitchFamily="18" charset="0"/>
                <a:ea typeface="Georgia" pitchFamily="34" charset="-122"/>
                <a:cs typeface="Georgia" pitchFamily="34" charset="-120"/>
              </a:rPr>
              <a:t>Gold Traceability: Mine Site to Export — Ghana Goldbod &amp; Chamber of Mines</a:t>
            </a:r>
            <a:endParaRPr lang="en-US" sz="2000" dirty="0">
              <a:latin typeface="Footlight MT Light" panose="0204060206030A020304" pitchFamily="18" charset="0"/>
            </a:endParaRPr>
          </a:p>
        </p:txBody>
      </p:sp>
      <p:sp>
        <p:nvSpPr>
          <p:cNvPr id="5" name="Shape 3"/>
          <p:cNvSpPr/>
          <p:nvPr/>
        </p:nvSpPr>
        <p:spPr>
          <a:xfrm>
            <a:off x="512064" y="950976"/>
            <a:ext cx="1078992" cy="1078992"/>
          </a:xfrm>
          <a:prstGeom prst="ellipse">
            <a:avLst/>
          </a:prstGeom>
          <a:solidFill>
            <a:srgbClr val="2D5A1B"/>
          </a:solidFill>
          <a:ln w="12700">
            <a:solidFill>
              <a:srgbClr val="2D5A1B"/>
            </a:solidFill>
            <a:prstDash val="solid"/>
          </a:ln>
          <a:effectLst>
            <a:outerShdw blurRad="101600" dist="38100" dir="8100000" algn="bl" rotWithShape="0">
              <a:srgbClr val="000000">
                <a:alpha val="15000"/>
              </a:srgbClr>
            </a:outerShdw>
          </a:effectLst>
        </p:spPr>
      </p:sp>
      <p:sp>
        <p:nvSpPr>
          <p:cNvPr id="6" name="Text 4"/>
          <p:cNvSpPr/>
          <p:nvPr/>
        </p:nvSpPr>
        <p:spPr>
          <a:xfrm>
            <a:off x="512064" y="987552"/>
            <a:ext cx="1078992"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7" name="Text 5"/>
          <p:cNvSpPr/>
          <p:nvPr/>
        </p:nvSpPr>
        <p:spPr>
          <a:xfrm>
            <a:off x="274320" y="2084832"/>
            <a:ext cx="1536192" cy="457200"/>
          </a:xfrm>
          <a:prstGeom prst="rect">
            <a:avLst/>
          </a:prstGeom>
          <a:noFill/>
          <a:ln/>
        </p:spPr>
        <p:txBody>
          <a:bodyPr wrap="square" rtlCol="0" anchor="ctr"/>
          <a:lstStyle/>
          <a:p>
            <a:pPr marL="0" indent="0" algn="ctr">
              <a:buNone/>
            </a:pPr>
            <a:r>
              <a:rPr lang="en-US" sz="1000" b="1" dirty="0">
                <a:solidFill>
                  <a:srgbClr val="2D5A1B"/>
                </a:solidFill>
                <a:latin typeface="Footlight MT Light" panose="0204060206030A020304" pitchFamily="18" charset="0"/>
                <a:ea typeface="Calibri" pitchFamily="34" charset="-122"/>
                <a:cs typeface="Calibri" pitchFamily="34" charset="-120"/>
              </a:rPr>
              <a:t>Mine Site</a:t>
            </a:r>
            <a:endParaRPr lang="en-US" sz="1000" dirty="0">
              <a:latin typeface="Footlight MT Light" panose="0204060206030A020304" pitchFamily="18" charset="0"/>
            </a:endParaRPr>
          </a:p>
          <a:p>
            <a:pPr marL="0" indent="0" algn="ctr">
              <a:buNone/>
            </a:pPr>
            <a:r>
              <a:rPr lang="en-US" sz="1000" b="1" dirty="0">
                <a:solidFill>
                  <a:srgbClr val="2D5A1B"/>
                </a:solidFill>
                <a:latin typeface="Footlight MT Light" panose="0204060206030A020304" pitchFamily="18" charset="0"/>
                <a:ea typeface="Calibri" pitchFamily="34" charset="-122"/>
                <a:cs typeface="Calibri" pitchFamily="34" charset="-120"/>
              </a:rPr>
              <a:t>Production</a:t>
            </a:r>
            <a:endParaRPr lang="en-US" sz="1000" dirty="0">
              <a:latin typeface="Footlight MT Light" panose="0204060206030A020304" pitchFamily="18" charset="0"/>
            </a:endParaRPr>
          </a:p>
        </p:txBody>
      </p:sp>
      <p:sp>
        <p:nvSpPr>
          <p:cNvPr id="8" name="Text 6"/>
          <p:cNvSpPr/>
          <p:nvPr/>
        </p:nvSpPr>
        <p:spPr>
          <a:xfrm>
            <a:off x="1645920" y="1316736"/>
            <a:ext cx="329184" cy="329184"/>
          </a:xfrm>
          <a:prstGeom prst="rect">
            <a:avLst/>
          </a:prstGeom>
          <a:noFill/>
          <a:ln/>
        </p:spPr>
        <p:txBody>
          <a:bodyPr wrap="square" rtlCol="0" anchor="ctr"/>
          <a:lstStyle/>
          <a:p>
            <a:pPr marL="0" indent="0" algn="ctr">
              <a:buNone/>
            </a:pPr>
            <a:r>
              <a:rPr lang="en-US" sz="1800" b="1" dirty="0">
                <a:solidFill>
                  <a:srgbClr val="C8920A"/>
                </a:solidFill>
              </a:rPr>
              <a:t>▶</a:t>
            </a:r>
            <a:endParaRPr lang="en-US" sz="1800" dirty="0"/>
          </a:p>
        </p:txBody>
      </p:sp>
      <p:sp>
        <p:nvSpPr>
          <p:cNvPr id="9" name="Shape 7"/>
          <p:cNvSpPr/>
          <p:nvPr/>
        </p:nvSpPr>
        <p:spPr>
          <a:xfrm>
            <a:off x="2267712" y="950976"/>
            <a:ext cx="1078992" cy="1078992"/>
          </a:xfrm>
          <a:prstGeom prst="ellipse">
            <a:avLst/>
          </a:prstGeom>
          <a:solidFill>
            <a:srgbClr val="1A5C5C"/>
          </a:solidFill>
          <a:ln w="12700">
            <a:solidFill>
              <a:srgbClr val="1A5C5C"/>
            </a:solidFill>
            <a:prstDash val="solid"/>
          </a:ln>
          <a:effectLst>
            <a:outerShdw blurRad="101600" dist="38100" dir="8100000" algn="bl" rotWithShape="0">
              <a:srgbClr val="000000">
                <a:alpha val="15000"/>
              </a:srgbClr>
            </a:outerShdw>
          </a:effectLst>
        </p:spPr>
      </p:sp>
      <p:sp>
        <p:nvSpPr>
          <p:cNvPr id="10" name="Text 8"/>
          <p:cNvSpPr/>
          <p:nvPr/>
        </p:nvSpPr>
        <p:spPr>
          <a:xfrm>
            <a:off x="2267712" y="987552"/>
            <a:ext cx="1078992"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1" name="Text 9"/>
          <p:cNvSpPr/>
          <p:nvPr/>
        </p:nvSpPr>
        <p:spPr>
          <a:xfrm>
            <a:off x="2029968" y="2084832"/>
            <a:ext cx="1536192" cy="457200"/>
          </a:xfrm>
          <a:prstGeom prst="rect">
            <a:avLst/>
          </a:prstGeom>
          <a:noFill/>
          <a:ln/>
        </p:spPr>
        <p:txBody>
          <a:bodyPr wrap="square" rtlCol="0" anchor="ctr"/>
          <a:lstStyle/>
          <a:p>
            <a:pPr marL="0" indent="0" algn="ctr">
              <a:buNone/>
            </a:pPr>
            <a:r>
              <a:rPr lang="en-US" sz="1000" b="1" dirty="0">
                <a:solidFill>
                  <a:srgbClr val="1A5C5C"/>
                </a:solidFill>
                <a:latin typeface="Footlight MT Light" panose="0204060206030A020304" pitchFamily="18" charset="0"/>
                <a:ea typeface="Calibri" pitchFamily="34" charset="-122"/>
                <a:cs typeface="Calibri" pitchFamily="34" charset="-120"/>
              </a:rPr>
              <a:t>Weighing &amp;</a:t>
            </a:r>
            <a:endParaRPr lang="en-US" sz="1000" dirty="0">
              <a:latin typeface="Footlight MT Light" panose="0204060206030A020304" pitchFamily="18" charset="0"/>
            </a:endParaRPr>
          </a:p>
          <a:p>
            <a:pPr marL="0" indent="0" algn="ctr">
              <a:buNone/>
            </a:pPr>
            <a:r>
              <a:rPr lang="en-US" sz="1000" b="1" dirty="0">
                <a:solidFill>
                  <a:srgbClr val="1A5C5C"/>
                </a:solidFill>
                <a:latin typeface="Footlight MT Light" panose="0204060206030A020304" pitchFamily="18" charset="0"/>
                <a:ea typeface="Calibri" pitchFamily="34" charset="-122"/>
                <a:cs typeface="Calibri" pitchFamily="34" charset="-120"/>
              </a:rPr>
              <a:t>Assaying</a:t>
            </a:r>
            <a:endParaRPr lang="en-US" sz="1000" dirty="0">
              <a:latin typeface="Footlight MT Light" panose="0204060206030A020304" pitchFamily="18" charset="0"/>
            </a:endParaRPr>
          </a:p>
        </p:txBody>
      </p:sp>
      <p:sp>
        <p:nvSpPr>
          <p:cNvPr id="12" name="Text 10"/>
          <p:cNvSpPr/>
          <p:nvPr/>
        </p:nvSpPr>
        <p:spPr>
          <a:xfrm>
            <a:off x="3401568" y="1316736"/>
            <a:ext cx="329184" cy="329184"/>
          </a:xfrm>
          <a:prstGeom prst="rect">
            <a:avLst/>
          </a:prstGeom>
          <a:noFill/>
          <a:ln/>
        </p:spPr>
        <p:txBody>
          <a:bodyPr wrap="square" rtlCol="0" anchor="ctr"/>
          <a:lstStyle/>
          <a:p>
            <a:pPr marL="0" indent="0" algn="ctr">
              <a:buNone/>
            </a:pPr>
            <a:r>
              <a:rPr lang="en-US" sz="1800" b="1" dirty="0">
                <a:solidFill>
                  <a:srgbClr val="C8920A"/>
                </a:solidFill>
              </a:rPr>
              <a:t>▶</a:t>
            </a:r>
            <a:endParaRPr lang="en-US" sz="1800" dirty="0"/>
          </a:p>
        </p:txBody>
      </p:sp>
      <p:sp>
        <p:nvSpPr>
          <p:cNvPr id="13" name="Shape 11"/>
          <p:cNvSpPr/>
          <p:nvPr/>
        </p:nvSpPr>
        <p:spPr>
          <a:xfrm>
            <a:off x="4023360" y="950976"/>
            <a:ext cx="1078992" cy="1078992"/>
          </a:xfrm>
          <a:prstGeom prst="ellipse">
            <a:avLst/>
          </a:prstGeom>
          <a:solidFill>
            <a:srgbClr val="0A3D62"/>
          </a:solidFill>
          <a:ln w="12700">
            <a:solidFill>
              <a:srgbClr val="0A3D62"/>
            </a:solidFill>
            <a:prstDash val="solid"/>
          </a:ln>
          <a:effectLst>
            <a:outerShdw blurRad="101600" dist="38100" dir="8100000" algn="bl" rotWithShape="0">
              <a:srgbClr val="000000">
                <a:alpha val="15000"/>
              </a:srgbClr>
            </a:outerShdw>
          </a:effectLst>
        </p:spPr>
      </p:sp>
      <p:sp>
        <p:nvSpPr>
          <p:cNvPr id="14" name="Text 12"/>
          <p:cNvSpPr/>
          <p:nvPr/>
        </p:nvSpPr>
        <p:spPr>
          <a:xfrm>
            <a:off x="4023360" y="987552"/>
            <a:ext cx="1078992"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3785616" y="2084832"/>
            <a:ext cx="1536192" cy="457200"/>
          </a:xfrm>
          <a:prstGeom prst="rect">
            <a:avLst/>
          </a:prstGeom>
          <a:noFill/>
          <a:ln/>
        </p:spPr>
        <p:txBody>
          <a:bodyPr wrap="square" rtlCol="0" anchor="ctr"/>
          <a:lstStyle/>
          <a:p>
            <a:pPr marL="0" indent="0" algn="ctr">
              <a:buNone/>
            </a:pPr>
            <a:r>
              <a:rPr lang="en-US" sz="1000" b="1" dirty="0">
                <a:solidFill>
                  <a:srgbClr val="0A3D62"/>
                </a:solidFill>
                <a:latin typeface="Footlight MT Light" panose="0204060206030A020304" pitchFamily="18" charset="0"/>
                <a:ea typeface="Calibri" pitchFamily="34" charset="-122"/>
                <a:cs typeface="Calibri" pitchFamily="34" charset="-120"/>
              </a:rPr>
              <a:t>Aggregator /</a:t>
            </a:r>
            <a:endParaRPr lang="en-US" sz="1000" dirty="0">
              <a:latin typeface="Footlight MT Light" panose="0204060206030A020304" pitchFamily="18" charset="0"/>
            </a:endParaRPr>
          </a:p>
          <a:p>
            <a:pPr marL="0" indent="0" algn="ctr">
              <a:buNone/>
            </a:pPr>
            <a:r>
              <a:rPr lang="en-US" sz="1000" b="1" dirty="0">
                <a:solidFill>
                  <a:srgbClr val="0A3D62"/>
                </a:solidFill>
                <a:latin typeface="Footlight MT Light" panose="0204060206030A020304" pitchFamily="18" charset="0"/>
                <a:ea typeface="Calibri" pitchFamily="34" charset="-122"/>
                <a:cs typeface="Calibri" pitchFamily="34" charset="-120"/>
              </a:rPr>
              <a:t>Buyer</a:t>
            </a:r>
            <a:endParaRPr lang="en-US" sz="1000" dirty="0">
              <a:latin typeface="Footlight MT Light" panose="0204060206030A020304" pitchFamily="18" charset="0"/>
            </a:endParaRPr>
          </a:p>
        </p:txBody>
      </p:sp>
      <p:sp>
        <p:nvSpPr>
          <p:cNvPr id="16" name="Text 14"/>
          <p:cNvSpPr/>
          <p:nvPr/>
        </p:nvSpPr>
        <p:spPr>
          <a:xfrm>
            <a:off x="5157216" y="1316736"/>
            <a:ext cx="329184" cy="329184"/>
          </a:xfrm>
          <a:prstGeom prst="rect">
            <a:avLst/>
          </a:prstGeom>
          <a:noFill/>
          <a:ln/>
        </p:spPr>
        <p:txBody>
          <a:bodyPr wrap="square" rtlCol="0" anchor="ctr"/>
          <a:lstStyle/>
          <a:p>
            <a:pPr marL="0" indent="0" algn="ctr">
              <a:buNone/>
            </a:pPr>
            <a:r>
              <a:rPr lang="en-US" sz="1800" b="1" dirty="0">
                <a:solidFill>
                  <a:srgbClr val="C8920A"/>
                </a:solidFill>
              </a:rPr>
              <a:t>▶</a:t>
            </a:r>
            <a:endParaRPr lang="en-US" sz="1800" dirty="0"/>
          </a:p>
        </p:txBody>
      </p:sp>
      <p:sp>
        <p:nvSpPr>
          <p:cNvPr id="17" name="Shape 15"/>
          <p:cNvSpPr/>
          <p:nvPr/>
        </p:nvSpPr>
        <p:spPr>
          <a:xfrm>
            <a:off x="5779008" y="950976"/>
            <a:ext cx="1078992" cy="1078992"/>
          </a:xfrm>
          <a:prstGeom prst="ellipse">
            <a:avLst/>
          </a:prstGeom>
          <a:solidFill>
            <a:srgbClr val="7D4E00"/>
          </a:solidFill>
          <a:ln w="12700">
            <a:solidFill>
              <a:srgbClr val="7D4E00"/>
            </a:solidFill>
            <a:prstDash val="solid"/>
          </a:ln>
          <a:effectLst>
            <a:outerShdw blurRad="101600" dist="38100" dir="8100000" algn="bl" rotWithShape="0">
              <a:srgbClr val="000000">
                <a:alpha val="15000"/>
              </a:srgbClr>
            </a:outerShdw>
          </a:effectLst>
        </p:spPr>
      </p:sp>
      <p:sp>
        <p:nvSpPr>
          <p:cNvPr id="18" name="Text 16"/>
          <p:cNvSpPr/>
          <p:nvPr/>
        </p:nvSpPr>
        <p:spPr>
          <a:xfrm>
            <a:off x="5779008" y="987552"/>
            <a:ext cx="1078992"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9" name="Text 17"/>
          <p:cNvSpPr/>
          <p:nvPr/>
        </p:nvSpPr>
        <p:spPr>
          <a:xfrm>
            <a:off x="5541264" y="2084832"/>
            <a:ext cx="1536192" cy="457200"/>
          </a:xfrm>
          <a:prstGeom prst="rect">
            <a:avLst/>
          </a:prstGeom>
          <a:noFill/>
          <a:ln/>
        </p:spPr>
        <p:txBody>
          <a:bodyPr wrap="square" rtlCol="0" anchor="ctr"/>
          <a:lstStyle/>
          <a:p>
            <a:pPr marL="0" indent="0" algn="ctr">
              <a:buNone/>
            </a:pPr>
            <a:r>
              <a:rPr lang="en-US" sz="1000" b="1" dirty="0">
                <a:solidFill>
                  <a:srgbClr val="7D4E00"/>
                </a:solidFill>
                <a:latin typeface="Footlight MT Light" panose="0204060206030A020304" pitchFamily="18" charset="0"/>
                <a:ea typeface="Calibri" pitchFamily="34" charset="-122"/>
                <a:cs typeface="Calibri" pitchFamily="34" charset="-120"/>
              </a:rPr>
              <a:t>Goldbod</a:t>
            </a:r>
            <a:endParaRPr lang="en-US" sz="1000" dirty="0">
              <a:latin typeface="Footlight MT Light" panose="0204060206030A020304" pitchFamily="18" charset="0"/>
            </a:endParaRPr>
          </a:p>
          <a:p>
            <a:pPr marL="0" indent="0" algn="ctr">
              <a:buNone/>
            </a:pPr>
            <a:r>
              <a:rPr lang="en-US" sz="1000" b="1" dirty="0">
                <a:solidFill>
                  <a:srgbClr val="7D4E00"/>
                </a:solidFill>
                <a:latin typeface="Footlight MT Light" panose="0204060206030A020304" pitchFamily="18" charset="0"/>
                <a:ea typeface="Calibri" pitchFamily="34" charset="-122"/>
                <a:cs typeface="Calibri" pitchFamily="34" charset="-120"/>
              </a:rPr>
              <a:t>Certification</a:t>
            </a:r>
            <a:endParaRPr lang="en-US" sz="1000" dirty="0">
              <a:latin typeface="Footlight MT Light" panose="0204060206030A020304" pitchFamily="18" charset="0"/>
            </a:endParaRPr>
          </a:p>
        </p:txBody>
      </p:sp>
      <p:sp>
        <p:nvSpPr>
          <p:cNvPr id="20" name="Text 18"/>
          <p:cNvSpPr/>
          <p:nvPr/>
        </p:nvSpPr>
        <p:spPr>
          <a:xfrm>
            <a:off x="6912864" y="1316736"/>
            <a:ext cx="329184" cy="329184"/>
          </a:xfrm>
          <a:prstGeom prst="rect">
            <a:avLst/>
          </a:prstGeom>
          <a:noFill/>
          <a:ln/>
        </p:spPr>
        <p:txBody>
          <a:bodyPr wrap="square" rtlCol="0" anchor="ctr"/>
          <a:lstStyle/>
          <a:p>
            <a:pPr marL="0" indent="0" algn="ctr">
              <a:buNone/>
            </a:pPr>
            <a:r>
              <a:rPr lang="en-US" sz="1800" b="1" dirty="0">
                <a:solidFill>
                  <a:srgbClr val="C8920A"/>
                </a:solidFill>
              </a:rPr>
              <a:t>▶</a:t>
            </a:r>
            <a:endParaRPr lang="en-US" sz="1800" dirty="0"/>
          </a:p>
        </p:txBody>
      </p:sp>
      <p:sp>
        <p:nvSpPr>
          <p:cNvPr id="21" name="Shape 19"/>
          <p:cNvSpPr/>
          <p:nvPr/>
        </p:nvSpPr>
        <p:spPr>
          <a:xfrm>
            <a:off x="7534656" y="950976"/>
            <a:ext cx="1078992" cy="1078992"/>
          </a:xfrm>
          <a:prstGeom prst="ellipse">
            <a:avLst/>
          </a:prstGeom>
          <a:solidFill>
            <a:srgbClr val="8B1A1A"/>
          </a:solidFill>
          <a:ln w="12700">
            <a:solidFill>
              <a:srgbClr val="8B1A1A"/>
            </a:solidFill>
            <a:prstDash val="solid"/>
          </a:ln>
          <a:effectLst>
            <a:outerShdw blurRad="101600" dist="38100" dir="8100000" algn="bl" rotWithShape="0">
              <a:srgbClr val="000000">
                <a:alpha val="15000"/>
              </a:srgbClr>
            </a:outerShdw>
          </a:effectLst>
        </p:spPr>
      </p:sp>
      <p:sp>
        <p:nvSpPr>
          <p:cNvPr id="22" name="Text 20"/>
          <p:cNvSpPr/>
          <p:nvPr/>
        </p:nvSpPr>
        <p:spPr>
          <a:xfrm>
            <a:off x="7534656" y="987552"/>
            <a:ext cx="1078992" cy="9144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3" name="Text 21"/>
          <p:cNvSpPr/>
          <p:nvPr/>
        </p:nvSpPr>
        <p:spPr>
          <a:xfrm>
            <a:off x="7296912" y="2084832"/>
            <a:ext cx="1536192" cy="457200"/>
          </a:xfrm>
          <a:prstGeom prst="rect">
            <a:avLst/>
          </a:prstGeom>
          <a:noFill/>
          <a:ln/>
        </p:spPr>
        <p:txBody>
          <a:bodyPr wrap="square" rtlCol="0" anchor="ctr"/>
          <a:lstStyle/>
          <a:p>
            <a:pPr marL="0" indent="0" algn="ctr">
              <a:buNone/>
            </a:pPr>
            <a:r>
              <a:rPr lang="en-US" sz="1000" b="1" dirty="0">
                <a:solidFill>
                  <a:srgbClr val="8B1A1A"/>
                </a:solidFill>
                <a:latin typeface="Footlight MT Light" panose="0204060206030A020304" pitchFamily="18" charset="0"/>
                <a:ea typeface="Calibri" pitchFamily="34" charset="-122"/>
                <a:cs typeface="Calibri" pitchFamily="34" charset="-120"/>
              </a:rPr>
              <a:t>Export</a:t>
            </a:r>
            <a:endParaRPr lang="en-US" sz="1000" dirty="0">
              <a:latin typeface="Footlight MT Light" panose="0204060206030A020304" pitchFamily="18" charset="0"/>
            </a:endParaRPr>
          </a:p>
          <a:p>
            <a:pPr marL="0" indent="0" algn="ctr">
              <a:buNone/>
            </a:pPr>
            <a:r>
              <a:rPr lang="en-US" sz="1000" b="1" dirty="0">
                <a:solidFill>
                  <a:srgbClr val="8B1A1A"/>
                </a:solidFill>
                <a:latin typeface="Footlight MT Light" panose="0204060206030A020304" pitchFamily="18" charset="0"/>
                <a:ea typeface="Calibri" pitchFamily="34" charset="-122"/>
                <a:cs typeface="Calibri" pitchFamily="34" charset="-120"/>
              </a:rPr>
              <a:t>Approval</a:t>
            </a:r>
            <a:endParaRPr lang="en-US" sz="1000" dirty="0">
              <a:latin typeface="Footlight MT Light" panose="0204060206030A020304" pitchFamily="18" charset="0"/>
            </a:endParaRPr>
          </a:p>
        </p:txBody>
      </p:sp>
      <p:sp>
        <p:nvSpPr>
          <p:cNvPr id="24" name="Text 22"/>
          <p:cNvSpPr/>
          <p:nvPr/>
        </p:nvSpPr>
        <p:spPr>
          <a:xfrm>
            <a:off x="274320" y="2596896"/>
            <a:ext cx="8595360" cy="256032"/>
          </a:xfrm>
          <a:prstGeom prst="rect">
            <a:avLst/>
          </a:prstGeom>
          <a:noFill/>
          <a:ln/>
        </p:spPr>
        <p:txBody>
          <a:bodyPr wrap="square" rtlCol="0" anchor="ctr"/>
          <a:lstStyle/>
          <a:p>
            <a:pPr marL="0" indent="0" algn="ctr">
              <a:buNone/>
            </a:pPr>
            <a:r>
              <a:rPr lang="en-US" sz="1000" b="1" i="1" dirty="0">
                <a:solidFill>
                  <a:srgbClr val="4A4A4A"/>
                </a:solidFill>
                <a:latin typeface="Footlight MT Light" panose="0204060206030A020304" pitchFamily="18" charset="0"/>
                <a:ea typeface="Calibri" pitchFamily="34" charset="-122"/>
                <a:cs typeface="Calibri" pitchFamily="34" charset="-120"/>
              </a:rPr>
              <a:t>Each step digitally recorded, timestamped, and linked to operator/site licence — creating an immutable chain of custody from ore face to export certificate.</a:t>
            </a:r>
            <a:endParaRPr lang="en-US" sz="1000" b="1" dirty="0">
              <a:latin typeface="Footlight MT Light" panose="0204060206030A020304" pitchFamily="18" charset="0"/>
            </a:endParaRPr>
          </a:p>
        </p:txBody>
      </p:sp>
      <p:sp>
        <p:nvSpPr>
          <p:cNvPr id="25" name="Shape 23"/>
          <p:cNvSpPr/>
          <p:nvPr/>
        </p:nvSpPr>
        <p:spPr>
          <a:xfrm>
            <a:off x="228600" y="2944368"/>
            <a:ext cx="4206240" cy="310896"/>
          </a:xfrm>
          <a:prstGeom prst="rect">
            <a:avLst/>
          </a:prstGeom>
          <a:solidFill>
            <a:srgbClr val="7D4E00"/>
          </a:solidFill>
          <a:ln w="12700">
            <a:solidFill>
              <a:srgbClr val="7D4E00"/>
            </a:solidFill>
            <a:prstDash val="solid"/>
          </a:ln>
        </p:spPr>
      </p:sp>
      <p:sp>
        <p:nvSpPr>
          <p:cNvPr id="26" name="Text 24"/>
          <p:cNvSpPr/>
          <p:nvPr/>
        </p:nvSpPr>
        <p:spPr>
          <a:xfrm>
            <a:off x="228600" y="2944368"/>
            <a:ext cx="4206240" cy="310896"/>
          </a:xfrm>
          <a:prstGeom prst="rect">
            <a:avLst/>
          </a:prstGeom>
          <a:noFill/>
          <a:ln/>
        </p:spPr>
        <p:txBody>
          <a:bodyPr wrap="square" rtlCol="0" anchor="ctr"/>
          <a:lstStyle/>
          <a:p>
            <a:pPr marL="0" indent="0" algn="ctr">
              <a:buNone/>
            </a:pPr>
            <a:r>
              <a:rPr lang="en-US" sz="1050" b="1" kern="0" spc="100" dirty="0">
                <a:solidFill>
                  <a:srgbClr val="FFFFFF"/>
                </a:solidFill>
                <a:latin typeface="Footlight MT Light" panose="0204060206030A020304" pitchFamily="18" charset="0"/>
                <a:ea typeface="Trebuchet MS" pitchFamily="34" charset="-122"/>
                <a:cs typeface="Trebuchet MS" pitchFamily="34" charset="-120"/>
              </a:rPr>
              <a:t>GHANA GOLDBOD SYSTEM FEATURES</a:t>
            </a:r>
            <a:endParaRPr lang="en-US" sz="1050" dirty="0">
              <a:latin typeface="Footlight MT Light" panose="0204060206030A020304" pitchFamily="18" charset="0"/>
            </a:endParaRPr>
          </a:p>
        </p:txBody>
      </p:sp>
      <p:sp>
        <p:nvSpPr>
          <p:cNvPr id="27" name="Text 25"/>
          <p:cNvSpPr/>
          <p:nvPr/>
        </p:nvSpPr>
        <p:spPr>
          <a:xfrm>
            <a:off x="274320" y="3310128"/>
            <a:ext cx="4114800" cy="1572768"/>
          </a:xfrm>
          <a:prstGeom prst="rect">
            <a:avLst/>
          </a:prstGeom>
          <a:noFill/>
          <a:ln/>
        </p:spPr>
        <p:txBody>
          <a:bodyPr wrap="square" rtlCol="0" anchor="ctr"/>
          <a:lstStyle/>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Digital production logs at mine site linked to concession licence</a:t>
            </a:r>
            <a:endParaRPr lang="en-US" sz="1000" dirty="0">
              <a:latin typeface="Footlight MT Light" panose="0204060206030A020304" pitchFamily="18" charset="0"/>
            </a:endParaRPr>
          </a:p>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Mandatory weigh-in and assay recording at certified aggregation centres</a:t>
            </a:r>
            <a:endParaRPr lang="en-US" sz="1000" dirty="0">
              <a:latin typeface="Footlight MT Light" panose="0204060206030A020304" pitchFamily="18" charset="0"/>
            </a:endParaRPr>
          </a:p>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Chain of custody documentation from buyer through to export certificate</a:t>
            </a:r>
            <a:endParaRPr lang="en-US" sz="1000" dirty="0">
              <a:latin typeface="Footlight MT Light" panose="0204060206030A020304" pitchFamily="18" charset="0"/>
            </a:endParaRPr>
          </a:p>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Real-time dashboard for Goldbod: production vs. declared volumes</a:t>
            </a:r>
            <a:endParaRPr lang="en-US" sz="1000" dirty="0">
              <a:latin typeface="Footlight MT Light" panose="0204060206030A020304" pitchFamily="18" charset="0"/>
            </a:endParaRPr>
          </a:p>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Smuggling alerts when declared volumes don't match site activity data</a:t>
            </a:r>
            <a:endParaRPr lang="en-US" sz="1000" dirty="0">
              <a:latin typeface="Footlight MT Light" panose="0204060206030A020304" pitchFamily="18" charset="0"/>
            </a:endParaRPr>
          </a:p>
        </p:txBody>
      </p:sp>
      <p:sp>
        <p:nvSpPr>
          <p:cNvPr id="28" name="Shape 26"/>
          <p:cNvSpPr/>
          <p:nvPr/>
        </p:nvSpPr>
        <p:spPr>
          <a:xfrm>
            <a:off x="4709160" y="2944368"/>
            <a:ext cx="4206240" cy="310896"/>
          </a:xfrm>
          <a:prstGeom prst="rect">
            <a:avLst/>
          </a:prstGeom>
          <a:solidFill>
            <a:srgbClr val="1E6B3C"/>
          </a:solidFill>
          <a:ln w="12700">
            <a:solidFill>
              <a:srgbClr val="1E6B3C"/>
            </a:solidFill>
            <a:prstDash val="solid"/>
          </a:ln>
        </p:spPr>
      </p:sp>
      <p:sp>
        <p:nvSpPr>
          <p:cNvPr id="29" name="Text 27"/>
          <p:cNvSpPr/>
          <p:nvPr/>
        </p:nvSpPr>
        <p:spPr>
          <a:xfrm>
            <a:off x="4709160" y="2944368"/>
            <a:ext cx="4206240" cy="310896"/>
          </a:xfrm>
          <a:prstGeom prst="rect">
            <a:avLst/>
          </a:prstGeom>
          <a:noFill/>
          <a:ln/>
        </p:spPr>
        <p:txBody>
          <a:bodyPr wrap="square" rtlCol="0" anchor="ctr"/>
          <a:lstStyle/>
          <a:p>
            <a:pPr marL="0" indent="0" algn="ctr">
              <a:buNone/>
            </a:pPr>
            <a:r>
              <a:rPr lang="en-US" sz="1050" b="1" kern="0" spc="100" dirty="0">
                <a:solidFill>
                  <a:srgbClr val="FFFFFF"/>
                </a:solidFill>
                <a:latin typeface="Footlight MT Light" panose="0204060206030A020304" pitchFamily="18" charset="0"/>
                <a:ea typeface="Trebuchet MS" pitchFamily="34" charset="-122"/>
                <a:cs typeface="Trebuchet MS" pitchFamily="34" charset="-120"/>
              </a:rPr>
              <a:t>HOW THIS HELPS GUINEA</a:t>
            </a:r>
            <a:endParaRPr lang="en-US" sz="1050" dirty="0">
              <a:latin typeface="Footlight MT Light" panose="0204060206030A020304" pitchFamily="18" charset="0"/>
            </a:endParaRPr>
          </a:p>
        </p:txBody>
      </p:sp>
      <p:sp>
        <p:nvSpPr>
          <p:cNvPr id="30" name="Text 28"/>
          <p:cNvSpPr/>
          <p:nvPr/>
        </p:nvSpPr>
        <p:spPr>
          <a:xfrm>
            <a:off x="4572001" y="3310128"/>
            <a:ext cx="4456852" cy="1572768"/>
          </a:xfrm>
          <a:prstGeom prst="rect">
            <a:avLst/>
          </a:prstGeom>
          <a:noFill/>
          <a:ln/>
        </p:spPr>
        <p:txBody>
          <a:bodyPr wrap="square" rtlCol="0" anchor="ctr"/>
          <a:lstStyle/>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Guinea loses US$500M+ annually in gold revenues to smuggling via Mali, Senegal, Cote d'Ivoire — traceability closes this leak</a:t>
            </a:r>
            <a:endParaRPr lang="en-US" sz="1000" dirty="0">
              <a:latin typeface="Footlight MT Light" panose="0204060206030A020304" pitchFamily="18" charset="0"/>
            </a:endParaRPr>
          </a:p>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Every gram mined by ASM or LSM is digitally recorded, enabling accurate royalty and tax computation</a:t>
            </a:r>
            <a:endParaRPr lang="en-US" sz="1000" dirty="0">
              <a:latin typeface="Footlight MT Light" panose="0204060206030A020304" pitchFamily="18" charset="0"/>
            </a:endParaRPr>
          </a:p>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BCRG (Central Bank) and Ministry of Mines gain live visibility of all national gold flows in real time</a:t>
            </a:r>
            <a:endParaRPr lang="en-US" sz="1000" dirty="0">
              <a:latin typeface="Footlight MT Light" panose="0204060206030A020304" pitchFamily="18" charset="0"/>
            </a:endParaRPr>
          </a:p>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Enables Guinea to meet LBMA and OECD responsible sourcing standards — opening premium export markets</a:t>
            </a:r>
            <a:endParaRPr lang="en-US" sz="1000" dirty="0">
              <a:latin typeface="Footlight MT Light" panose="0204060206030A020304" pitchFamily="18" charset="0"/>
            </a:endParaRPr>
          </a:p>
          <a:p>
            <a:pPr marL="342900" indent="-342900">
              <a:spcAft>
                <a:spcPts val="400"/>
              </a:spcAft>
              <a:buSzPct val="100000"/>
              <a:buChar char="•"/>
            </a:pPr>
            <a:r>
              <a:rPr lang="en-US" sz="1000" dirty="0">
                <a:solidFill>
                  <a:srgbClr val="222222"/>
                </a:solidFill>
                <a:latin typeface="Footlight MT Light" panose="0204060206030A020304" pitchFamily="18" charset="0"/>
                <a:ea typeface="Calibri" pitchFamily="34" charset="-122"/>
                <a:cs typeface="Calibri" pitchFamily="34" charset="-120"/>
              </a:rPr>
              <a:t>Deters fraud: declared volumes cross-matched against GPS site activity, equipment data, and energy use</a:t>
            </a:r>
            <a:endParaRPr lang="en-US" sz="1000" dirty="0">
              <a:latin typeface="Footlight MT Light" panose="0204060206030A020304" pitchFamily="18" charset="0"/>
            </a:endParaRPr>
          </a:p>
        </p:txBody>
      </p:sp>
      <p:sp>
        <p:nvSpPr>
          <p:cNvPr id="31" name="Shape 29"/>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0E7A8A"/>
          </a:solidFill>
          <a:ln w="12700">
            <a:solidFill>
              <a:srgbClr val="0E7A8A"/>
            </a:solidFill>
            <a:prstDash val="solid"/>
          </a:ln>
        </p:spPr>
      </p:sp>
      <p:sp>
        <p:nvSpPr>
          <p:cNvPr id="3" name="Text 1"/>
          <p:cNvSpPr/>
          <p:nvPr/>
        </p:nvSpPr>
        <p:spPr>
          <a:xfrm>
            <a:off x="347472" y="64008"/>
            <a:ext cx="8412480" cy="274320"/>
          </a:xfrm>
          <a:prstGeom prst="rect">
            <a:avLst/>
          </a:prstGeom>
          <a:noFill/>
          <a:ln/>
        </p:spPr>
        <p:txBody>
          <a:bodyPr wrap="square" rtlCol="0" anchor="ctr"/>
          <a:lstStyle/>
          <a:p>
            <a:pPr marL="0" indent="0">
              <a:buNone/>
            </a:pPr>
            <a:r>
              <a:rPr lang="en-US" sz="1050" b="1" kern="0" spc="200" dirty="0">
                <a:latin typeface="Footlight MT Light" panose="0204060206030A020304" pitchFamily="18" charset="0"/>
                <a:ea typeface="Trebuchet MS" pitchFamily="34" charset="-122"/>
                <a:cs typeface="Trebuchet MS" pitchFamily="34" charset="-120"/>
              </a:rPr>
              <a:t>SOLUTION 3 OF 4  |  Ghana Chamber of Mines Sector Management Portal</a:t>
            </a:r>
            <a:endParaRPr lang="en-US" sz="1050" dirty="0">
              <a:latin typeface="Footlight MT Light" panose="0204060206030A020304" pitchFamily="18" charset="0"/>
            </a:endParaRPr>
          </a:p>
        </p:txBody>
      </p:sp>
      <p:sp>
        <p:nvSpPr>
          <p:cNvPr id="4" name="Text 2"/>
          <p:cNvSpPr/>
          <p:nvPr/>
        </p:nvSpPr>
        <p:spPr>
          <a:xfrm>
            <a:off x="347472" y="347472"/>
            <a:ext cx="8796528" cy="420624"/>
          </a:xfrm>
          <a:prstGeom prst="rect">
            <a:avLst/>
          </a:prstGeom>
          <a:noFill/>
          <a:ln/>
        </p:spPr>
        <p:txBody>
          <a:bodyPr wrap="square" rtlCol="0" anchor="ctr"/>
          <a:lstStyle/>
          <a:p>
            <a:pPr marL="0" indent="0">
              <a:buNone/>
            </a:pPr>
            <a:r>
              <a:rPr lang="en-US" sz="2000" b="1" dirty="0">
                <a:solidFill>
                  <a:srgbClr val="FFFFFF"/>
                </a:solidFill>
                <a:latin typeface="Footlight MT Light" panose="0204060206030A020304" pitchFamily="18" charset="0"/>
                <a:ea typeface="Georgia" pitchFamily="34" charset="-122"/>
                <a:cs typeface="Georgia" pitchFamily="34" charset="-120"/>
              </a:rPr>
              <a:t>Mining Company Membership Portal — Production, Incidents, HR &amp; Compliance</a:t>
            </a:r>
            <a:endParaRPr lang="en-US" sz="2000" dirty="0">
              <a:latin typeface="Footlight MT Light" panose="0204060206030A020304" pitchFamily="18" charset="0"/>
            </a:endParaRPr>
          </a:p>
        </p:txBody>
      </p:sp>
      <p:sp>
        <p:nvSpPr>
          <p:cNvPr id="5" name="Shape 3"/>
          <p:cNvSpPr/>
          <p:nvPr/>
        </p:nvSpPr>
        <p:spPr>
          <a:xfrm>
            <a:off x="201168" y="932688"/>
            <a:ext cx="2761488" cy="1810512"/>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6" name="Shape 4"/>
          <p:cNvSpPr/>
          <p:nvPr/>
        </p:nvSpPr>
        <p:spPr>
          <a:xfrm>
            <a:off x="310896" y="1042416"/>
            <a:ext cx="530352" cy="530352"/>
          </a:xfrm>
          <a:prstGeom prst="ellipse">
            <a:avLst/>
          </a:prstGeom>
          <a:solidFill>
            <a:srgbClr val="0A3D62"/>
          </a:solidFill>
          <a:ln w="12700">
            <a:solidFill>
              <a:srgbClr val="0A3D62"/>
            </a:solidFill>
            <a:prstDash val="solid"/>
          </a:ln>
        </p:spPr>
      </p:sp>
      <p:sp>
        <p:nvSpPr>
          <p:cNvPr id="7" name="Text 5"/>
          <p:cNvSpPr/>
          <p:nvPr/>
        </p:nvSpPr>
        <p:spPr>
          <a:xfrm>
            <a:off x="310896" y="1042416"/>
            <a:ext cx="530352" cy="530352"/>
          </a:xfrm>
          <a:prstGeom prst="rect">
            <a:avLst/>
          </a:prstGeom>
          <a:noFill/>
          <a:ln/>
        </p:spPr>
        <p:txBody>
          <a:bodyPr wrap="square" rtlCol="0" anchor="ctr"/>
          <a:lstStyle/>
          <a:p>
            <a:pPr marL="0" indent="0" algn="ctr">
              <a:buNone/>
            </a:pPr>
            <a:r>
              <a:rPr lang="en-US" dirty="0">
                <a:solidFill>
                  <a:srgbClr val="000000"/>
                </a:solidFill>
                <a:latin typeface="Footlight MT Light" panose="0204060206030A020304" pitchFamily="18" charset="0"/>
              </a:rPr>
              <a:t>📊</a:t>
            </a:r>
            <a:endParaRPr lang="en-US" dirty="0">
              <a:latin typeface="Footlight MT Light" panose="0204060206030A020304" pitchFamily="18" charset="0"/>
            </a:endParaRPr>
          </a:p>
        </p:txBody>
      </p:sp>
      <p:sp>
        <p:nvSpPr>
          <p:cNvPr id="8" name="Text 6"/>
          <p:cNvSpPr/>
          <p:nvPr/>
        </p:nvSpPr>
        <p:spPr>
          <a:xfrm>
            <a:off x="950976" y="1060704"/>
            <a:ext cx="1938528" cy="420624"/>
          </a:xfrm>
          <a:prstGeom prst="rect">
            <a:avLst/>
          </a:prstGeom>
          <a:noFill/>
          <a:ln/>
        </p:spPr>
        <p:txBody>
          <a:bodyPr wrap="square" rtlCol="0" anchor="ctr"/>
          <a:lstStyle/>
          <a:p>
            <a:pPr marL="0" indent="0">
              <a:buNone/>
            </a:pPr>
            <a:r>
              <a:rPr lang="en-US" sz="1100" b="1" dirty="0">
                <a:solidFill>
                  <a:srgbClr val="0A3D62"/>
                </a:solidFill>
                <a:latin typeface="Footlight MT Light" panose="0204060206030A020304" pitchFamily="18" charset="0"/>
                <a:ea typeface="Trebuchet MS" pitchFamily="34" charset="-122"/>
                <a:cs typeface="Trebuchet MS" pitchFamily="34" charset="-120"/>
              </a:rPr>
              <a:t>Production Monitoring</a:t>
            </a:r>
            <a:endParaRPr lang="en-US" sz="1100" dirty="0">
              <a:latin typeface="Footlight MT Light" panose="0204060206030A020304" pitchFamily="18" charset="0"/>
            </a:endParaRPr>
          </a:p>
        </p:txBody>
      </p:sp>
      <p:sp>
        <p:nvSpPr>
          <p:cNvPr id="9" name="Text 7"/>
          <p:cNvSpPr/>
          <p:nvPr/>
        </p:nvSpPr>
        <p:spPr>
          <a:xfrm>
            <a:off x="292608" y="1627632"/>
            <a:ext cx="2596896" cy="1024128"/>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Real-time and periodic production reporting by all large-scale member companies. Aggregated sector dashboard for Chamber and regulator oversight.</a:t>
            </a:r>
            <a:endParaRPr lang="en-US" sz="900" dirty="0">
              <a:latin typeface="Footlight MT Light" panose="0204060206030A020304" pitchFamily="18" charset="0"/>
            </a:endParaRPr>
          </a:p>
        </p:txBody>
      </p:sp>
      <p:sp>
        <p:nvSpPr>
          <p:cNvPr id="10" name="Shape 8"/>
          <p:cNvSpPr/>
          <p:nvPr/>
        </p:nvSpPr>
        <p:spPr>
          <a:xfrm>
            <a:off x="3145536" y="932688"/>
            <a:ext cx="2761488" cy="1810512"/>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11" name="Shape 9"/>
          <p:cNvSpPr/>
          <p:nvPr/>
        </p:nvSpPr>
        <p:spPr>
          <a:xfrm>
            <a:off x="3255264" y="1042416"/>
            <a:ext cx="530352" cy="530352"/>
          </a:xfrm>
          <a:prstGeom prst="ellipse">
            <a:avLst/>
          </a:prstGeom>
          <a:solidFill>
            <a:srgbClr val="8B1A1A"/>
          </a:solidFill>
          <a:ln w="12700">
            <a:solidFill>
              <a:srgbClr val="8B1A1A"/>
            </a:solidFill>
            <a:prstDash val="solid"/>
          </a:ln>
        </p:spPr>
      </p:sp>
      <p:sp>
        <p:nvSpPr>
          <p:cNvPr id="12" name="Text 10"/>
          <p:cNvSpPr/>
          <p:nvPr/>
        </p:nvSpPr>
        <p:spPr>
          <a:xfrm>
            <a:off x="3255264" y="1042416"/>
            <a:ext cx="530352" cy="530352"/>
          </a:xfrm>
          <a:prstGeom prst="rect">
            <a:avLst/>
          </a:prstGeom>
          <a:noFill/>
          <a:ln/>
        </p:spPr>
        <p:txBody>
          <a:bodyPr wrap="square" rtlCol="0" anchor="ctr"/>
          <a:lstStyle/>
          <a:p>
            <a:pPr marL="0" indent="0" algn="ctr">
              <a:buNone/>
            </a:pPr>
            <a:r>
              <a:rPr lang="en-US" dirty="0">
                <a:solidFill>
                  <a:srgbClr val="000000"/>
                </a:solidFill>
                <a:latin typeface="Footlight MT Light" panose="0204060206030A020304" pitchFamily="18" charset="0"/>
              </a:rPr>
              <a:t>⚠️</a:t>
            </a:r>
            <a:endParaRPr lang="en-US" dirty="0">
              <a:latin typeface="Footlight MT Light" panose="0204060206030A020304" pitchFamily="18" charset="0"/>
            </a:endParaRPr>
          </a:p>
        </p:txBody>
      </p:sp>
      <p:sp>
        <p:nvSpPr>
          <p:cNvPr id="13" name="Text 11"/>
          <p:cNvSpPr/>
          <p:nvPr/>
        </p:nvSpPr>
        <p:spPr>
          <a:xfrm>
            <a:off x="3895344" y="1060704"/>
            <a:ext cx="1938528" cy="420624"/>
          </a:xfrm>
          <a:prstGeom prst="rect">
            <a:avLst/>
          </a:prstGeom>
          <a:noFill/>
          <a:ln/>
        </p:spPr>
        <p:txBody>
          <a:bodyPr wrap="square" rtlCol="0" anchor="ctr"/>
          <a:lstStyle/>
          <a:p>
            <a:pPr marL="0" indent="0">
              <a:buNone/>
            </a:pPr>
            <a:r>
              <a:rPr lang="en-US" sz="1100" b="1" dirty="0">
                <a:solidFill>
                  <a:srgbClr val="8B1A1A"/>
                </a:solidFill>
                <a:latin typeface="Footlight MT Light" panose="0204060206030A020304" pitchFamily="18" charset="0"/>
                <a:ea typeface="Trebuchet MS" pitchFamily="34" charset="-122"/>
                <a:cs typeface="Trebuchet MS" pitchFamily="34" charset="-120"/>
              </a:rPr>
              <a:t>Mine Site Incident Tracking</a:t>
            </a:r>
            <a:endParaRPr lang="en-US" sz="1100" dirty="0">
              <a:latin typeface="Footlight MT Light" panose="0204060206030A020304" pitchFamily="18" charset="0"/>
            </a:endParaRPr>
          </a:p>
        </p:txBody>
      </p:sp>
      <p:sp>
        <p:nvSpPr>
          <p:cNvPr id="14" name="Text 12"/>
          <p:cNvSpPr/>
          <p:nvPr/>
        </p:nvSpPr>
        <p:spPr>
          <a:xfrm>
            <a:off x="3236976" y="1627632"/>
            <a:ext cx="2596896" cy="1024128"/>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Digital incident log for accidents, near-misses, spills, and equipment failures. Mandatory reporting, investigation workflows, and corrective action tracking.</a:t>
            </a:r>
            <a:endParaRPr lang="en-US" sz="900" dirty="0">
              <a:latin typeface="Footlight MT Light" panose="0204060206030A020304" pitchFamily="18" charset="0"/>
            </a:endParaRPr>
          </a:p>
        </p:txBody>
      </p:sp>
      <p:sp>
        <p:nvSpPr>
          <p:cNvPr id="15" name="Shape 13"/>
          <p:cNvSpPr/>
          <p:nvPr/>
        </p:nvSpPr>
        <p:spPr>
          <a:xfrm>
            <a:off x="6089904" y="932688"/>
            <a:ext cx="2761488" cy="1810512"/>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16" name="Shape 14"/>
          <p:cNvSpPr/>
          <p:nvPr/>
        </p:nvSpPr>
        <p:spPr>
          <a:xfrm>
            <a:off x="6199632" y="1042416"/>
            <a:ext cx="530352" cy="530352"/>
          </a:xfrm>
          <a:prstGeom prst="ellipse">
            <a:avLst/>
          </a:prstGeom>
          <a:solidFill>
            <a:srgbClr val="2D5A1B"/>
          </a:solidFill>
          <a:ln w="12700">
            <a:solidFill>
              <a:srgbClr val="2D5A1B"/>
            </a:solidFill>
            <a:prstDash val="solid"/>
          </a:ln>
        </p:spPr>
      </p:sp>
      <p:sp>
        <p:nvSpPr>
          <p:cNvPr id="17" name="Text 15"/>
          <p:cNvSpPr/>
          <p:nvPr/>
        </p:nvSpPr>
        <p:spPr>
          <a:xfrm>
            <a:off x="6199632" y="1042416"/>
            <a:ext cx="530352" cy="530352"/>
          </a:xfrm>
          <a:prstGeom prst="rect">
            <a:avLst/>
          </a:prstGeom>
          <a:noFill/>
          <a:ln/>
        </p:spPr>
        <p:txBody>
          <a:bodyPr wrap="square" rtlCol="0" anchor="ctr"/>
          <a:lstStyle/>
          <a:p>
            <a:pPr marL="0" indent="0" algn="ctr">
              <a:buNone/>
            </a:pPr>
            <a:r>
              <a:rPr lang="en-US" dirty="0">
                <a:solidFill>
                  <a:srgbClr val="000000"/>
                </a:solidFill>
                <a:latin typeface="Footlight MT Light" panose="0204060206030A020304" pitchFamily="18" charset="0"/>
              </a:rPr>
              <a:t>👷</a:t>
            </a:r>
            <a:endParaRPr lang="en-US" dirty="0">
              <a:latin typeface="Footlight MT Light" panose="0204060206030A020304" pitchFamily="18" charset="0"/>
            </a:endParaRPr>
          </a:p>
        </p:txBody>
      </p:sp>
      <p:sp>
        <p:nvSpPr>
          <p:cNvPr id="18" name="Text 16"/>
          <p:cNvSpPr/>
          <p:nvPr/>
        </p:nvSpPr>
        <p:spPr>
          <a:xfrm>
            <a:off x="6839712" y="1060704"/>
            <a:ext cx="1938528" cy="420624"/>
          </a:xfrm>
          <a:prstGeom prst="rect">
            <a:avLst/>
          </a:prstGeom>
          <a:noFill/>
          <a:ln/>
        </p:spPr>
        <p:txBody>
          <a:bodyPr wrap="square" rtlCol="0" anchor="ctr"/>
          <a:lstStyle/>
          <a:p>
            <a:pPr marL="0" indent="0">
              <a:buNone/>
            </a:pPr>
            <a:r>
              <a:rPr lang="en-US" sz="1100" b="1" dirty="0">
                <a:solidFill>
                  <a:srgbClr val="2D5A1B"/>
                </a:solidFill>
                <a:latin typeface="Footlight MT Light" panose="0204060206030A020304" pitchFamily="18" charset="0"/>
                <a:ea typeface="Trebuchet MS" pitchFamily="34" charset="-122"/>
                <a:cs typeface="Trebuchet MS" pitchFamily="34" charset="-120"/>
              </a:rPr>
              <a:t>HR &amp; Workforce Management</a:t>
            </a:r>
            <a:endParaRPr lang="en-US" sz="1100" dirty="0">
              <a:latin typeface="Footlight MT Light" panose="0204060206030A020304" pitchFamily="18" charset="0"/>
            </a:endParaRPr>
          </a:p>
        </p:txBody>
      </p:sp>
      <p:sp>
        <p:nvSpPr>
          <p:cNvPr id="19" name="Text 17"/>
          <p:cNvSpPr/>
          <p:nvPr/>
        </p:nvSpPr>
        <p:spPr>
          <a:xfrm>
            <a:off x="6181344" y="1627632"/>
            <a:ext cx="2596896" cy="1024128"/>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Headcount, contractor records, skills certification, union compliance. Enables sector-wide workforce analytics and local employment monitoring.</a:t>
            </a:r>
            <a:endParaRPr lang="en-US" sz="900" dirty="0">
              <a:latin typeface="Footlight MT Light" panose="0204060206030A020304" pitchFamily="18" charset="0"/>
            </a:endParaRPr>
          </a:p>
        </p:txBody>
      </p:sp>
      <p:sp>
        <p:nvSpPr>
          <p:cNvPr id="20" name="Shape 18"/>
          <p:cNvSpPr/>
          <p:nvPr/>
        </p:nvSpPr>
        <p:spPr>
          <a:xfrm>
            <a:off x="201168" y="2852928"/>
            <a:ext cx="2761488" cy="1810512"/>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21" name="Shape 19"/>
          <p:cNvSpPr/>
          <p:nvPr/>
        </p:nvSpPr>
        <p:spPr>
          <a:xfrm>
            <a:off x="310896" y="2962656"/>
            <a:ext cx="530352" cy="530352"/>
          </a:xfrm>
          <a:prstGeom prst="ellipse">
            <a:avLst/>
          </a:prstGeom>
          <a:solidFill>
            <a:srgbClr val="1A5C5C"/>
          </a:solidFill>
          <a:ln w="12700">
            <a:solidFill>
              <a:srgbClr val="1A5C5C"/>
            </a:solidFill>
            <a:prstDash val="solid"/>
          </a:ln>
        </p:spPr>
      </p:sp>
      <p:sp>
        <p:nvSpPr>
          <p:cNvPr id="22" name="Text 20"/>
          <p:cNvSpPr/>
          <p:nvPr/>
        </p:nvSpPr>
        <p:spPr>
          <a:xfrm>
            <a:off x="310896" y="2962656"/>
            <a:ext cx="530352" cy="530352"/>
          </a:xfrm>
          <a:prstGeom prst="rect">
            <a:avLst/>
          </a:prstGeom>
          <a:noFill/>
          <a:ln/>
        </p:spPr>
        <p:txBody>
          <a:bodyPr wrap="square" rtlCol="0" anchor="ctr"/>
          <a:lstStyle/>
          <a:p>
            <a:pPr marL="0" indent="0" algn="ctr">
              <a:buNone/>
            </a:pPr>
            <a:r>
              <a:rPr lang="en-US" dirty="0">
                <a:solidFill>
                  <a:srgbClr val="000000"/>
                </a:solidFill>
                <a:latin typeface="Footlight MT Light" panose="0204060206030A020304" pitchFamily="18" charset="0"/>
              </a:rPr>
              <a:t>📋</a:t>
            </a:r>
            <a:endParaRPr lang="en-US" dirty="0">
              <a:latin typeface="Footlight MT Light" panose="0204060206030A020304" pitchFamily="18" charset="0"/>
            </a:endParaRPr>
          </a:p>
        </p:txBody>
      </p:sp>
      <p:sp>
        <p:nvSpPr>
          <p:cNvPr id="23" name="Text 21"/>
          <p:cNvSpPr/>
          <p:nvPr/>
        </p:nvSpPr>
        <p:spPr>
          <a:xfrm>
            <a:off x="950976" y="2980944"/>
            <a:ext cx="1938528" cy="420624"/>
          </a:xfrm>
          <a:prstGeom prst="rect">
            <a:avLst/>
          </a:prstGeom>
          <a:noFill/>
          <a:ln/>
        </p:spPr>
        <p:txBody>
          <a:bodyPr wrap="square" rtlCol="0" anchor="ctr"/>
          <a:lstStyle/>
          <a:p>
            <a:pPr marL="0" indent="0">
              <a:buNone/>
            </a:pPr>
            <a:r>
              <a:rPr lang="en-US" sz="1100" b="1" dirty="0">
                <a:solidFill>
                  <a:srgbClr val="1A5C5C"/>
                </a:solidFill>
                <a:latin typeface="Footlight MT Light" panose="0204060206030A020304" pitchFamily="18" charset="0"/>
                <a:ea typeface="Trebuchet MS" pitchFamily="34" charset="-122"/>
                <a:cs typeface="Trebuchet MS" pitchFamily="34" charset="-120"/>
              </a:rPr>
              <a:t>Regulatory Compliance</a:t>
            </a:r>
            <a:endParaRPr lang="en-US" sz="1100" dirty="0">
              <a:latin typeface="Footlight MT Light" panose="0204060206030A020304" pitchFamily="18" charset="0"/>
            </a:endParaRPr>
          </a:p>
        </p:txBody>
      </p:sp>
      <p:sp>
        <p:nvSpPr>
          <p:cNvPr id="24" name="Text 22"/>
          <p:cNvSpPr/>
          <p:nvPr/>
        </p:nvSpPr>
        <p:spPr>
          <a:xfrm>
            <a:off x="292608" y="3547872"/>
            <a:ext cx="2596896" cy="1024128"/>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Permit status, royalty declarations, environmental monitoring, and community development obligations — all tracked and visible to regulators.</a:t>
            </a:r>
            <a:endParaRPr lang="en-US" sz="900" dirty="0">
              <a:latin typeface="Footlight MT Light" panose="0204060206030A020304" pitchFamily="18" charset="0"/>
            </a:endParaRPr>
          </a:p>
        </p:txBody>
      </p:sp>
      <p:sp>
        <p:nvSpPr>
          <p:cNvPr id="25" name="Shape 23"/>
          <p:cNvSpPr/>
          <p:nvPr/>
        </p:nvSpPr>
        <p:spPr>
          <a:xfrm>
            <a:off x="3145536" y="2852928"/>
            <a:ext cx="2761488" cy="1810512"/>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26" name="Shape 24"/>
          <p:cNvSpPr/>
          <p:nvPr/>
        </p:nvSpPr>
        <p:spPr>
          <a:xfrm>
            <a:off x="3255264" y="2962656"/>
            <a:ext cx="530352" cy="530352"/>
          </a:xfrm>
          <a:prstGeom prst="ellipse">
            <a:avLst/>
          </a:prstGeom>
          <a:solidFill>
            <a:srgbClr val="1E6B3C"/>
          </a:solidFill>
          <a:ln w="12700">
            <a:solidFill>
              <a:srgbClr val="1E6B3C"/>
            </a:solidFill>
            <a:prstDash val="solid"/>
          </a:ln>
        </p:spPr>
      </p:sp>
      <p:sp>
        <p:nvSpPr>
          <p:cNvPr id="27" name="Text 25"/>
          <p:cNvSpPr/>
          <p:nvPr/>
        </p:nvSpPr>
        <p:spPr>
          <a:xfrm>
            <a:off x="3255264" y="2962656"/>
            <a:ext cx="530352" cy="530352"/>
          </a:xfrm>
          <a:prstGeom prst="rect">
            <a:avLst/>
          </a:prstGeom>
          <a:noFill/>
          <a:ln/>
        </p:spPr>
        <p:txBody>
          <a:bodyPr wrap="square" rtlCol="0" anchor="ctr"/>
          <a:lstStyle/>
          <a:p>
            <a:pPr marL="0" indent="0" algn="ctr">
              <a:buNone/>
            </a:pPr>
            <a:r>
              <a:rPr lang="en-US" dirty="0">
                <a:solidFill>
                  <a:srgbClr val="000000"/>
                </a:solidFill>
                <a:latin typeface="Footlight MT Light" panose="0204060206030A020304" pitchFamily="18" charset="0"/>
              </a:rPr>
              <a:t>🌿</a:t>
            </a:r>
            <a:endParaRPr lang="en-US" dirty="0">
              <a:latin typeface="Footlight MT Light" panose="0204060206030A020304" pitchFamily="18" charset="0"/>
            </a:endParaRPr>
          </a:p>
        </p:txBody>
      </p:sp>
      <p:sp>
        <p:nvSpPr>
          <p:cNvPr id="28" name="Text 26"/>
          <p:cNvSpPr/>
          <p:nvPr/>
        </p:nvSpPr>
        <p:spPr>
          <a:xfrm>
            <a:off x="3895344" y="2980944"/>
            <a:ext cx="1938528" cy="420624"/>
          </a:xfrm>
          <a:prstGeom prst="rect">
            <a:avLst/>
          </a:prstGeom>
          <a:noFill/>
          <a:ln/>
        </p:spPr>
        <p:txBody>
          <a:bodyPr wrap="square" rtlCol="0" anchor="ctr"/>
          <a:lstStyle/>
          <a:p>
            <a:pPr marL="0" indent="0">
              <a:buNone/>
            </a:pPr>
            <a:r>
              <a:rPr lang="en-US" sz="1100" b="1" dirty="0">
                <a:solidFill>
                  <a:srgbClr val="1E6B3C"/>
                </a:solidFill>
                <a:latin typeface="Footlight MT Light" panose="0204060206030A020304" pitchFamily="18" charset="0"/>
                <a:ea typeface="Trebuchet MS" pitchFamily="34" charset="-122"/>
                <a:cs typeface="Trebuchet MS" pitchFamily="34" charset="-120"/>
              </a:rPr>
              <a:t>Environmental Monitoring</a:t>
            </a:r>
            <a:endParaRPr lang="en-US" sz="1100" dirty="0">
              <a:latin typeface="Footlight MT Light" panose="0204060206030A020304" pitchFamily="18" charset="0"/>
            </a:endParaRPr>
          </a:p>
        </p:txBody>
      </p:sp>
      <p:sp>
        <p:nvSpPr>
          <p:cNvPr id="29" name="Text 27"/>
          <p:cNvSpPr/>
          <p:nvPr/>
        </p:nvSpPr>
        <p:spPr>
          <a:xfrm>
            <a:off x="3236976" y="3547872"/>
            <a:ext cx="2596896" cy="1024128"/>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Water, air and land impact reporting integrated with sensor data. Rehabilitation fund tracking and environmental bond management by site.</a:t>
            </a:r>
            <a:endParaRPr lang="en-US" sz="900" dirty="0">
              <a:latin typeface="Footlight MT Light" panose="0204060206030A020304" pitchFamily="18" charset="0"/>
            </a:endParaRPr>
          </a:p>
        </p:txBody>
      </p:sp>
      <p:sp>
        <p:nvSpPr>
          <p:cNvPr id="30" name="Shape 28"/>
          <p:cNvSpPr/>
          <p:nvPr/>
        </p:nvSpPr>
        <p:spPr>
          <a:xfrm>
            <a:off x="6089904" y="2852928"/>
            <a:ext cx="2761488" cy="1810512"/>
          </a:xfrm>
          <a:prstGeom prst="rect">
            <a:avLst/>
          </a:prstGeom>
          <a:solidFill>
            <a:srgbClr val="F7F9FA"/>
          </a:solidFill>
          <a:ln w="6350">
            <a:solidFill>
              <a:srgbClr val="E0E0E0"/>
            </a:solidFill>
            <a:prstDash val="solid"/>
          </a:ln>
          <a:effectLst>
            <a:outerShdw blurRad="101600" dist="38100" dir="8100000" algn="bl" rotWithShape="0">
              <a:srgbClr val="000000">
                <a:alpha val="15000"/>
              </a:srgbClr>
            </a:outerShdw>
          </a:effectLst>
        </p:spPr>
      </p:sp>
      <p:sp>
        <p:nvSpPr>
          <p:cNvPr id="31" name="Shape 29"/>
          <p:cNvSpPr/>
          <p:nvPr/>
        </p:nvSpPr>
        <p:spPr>
          <a:xfrm>
            <a:off x="6199632" y="2962656"/>
            <a:ext cx="530352" cy="530352"/>
          </a:xfrm>
          <a:prstGeom prst="ellipse">
            <a:avLst/>
          </a:prstGeom>
          <a:solidFill>
            <a:srgbClr val="7D4E00"/>
          </a:solidFill>
          <a:ln w="12700">
            <a:solidFill>
              <a:srgbClr val="7D4E00"/>
            </a:solidFill>
            <a:prstDash val="solid"/>
          </a:ln>
        </p:spPr>
      </p:sp>
      <p:sp>
        <p:nvSpPr>
          <p:cNvPr id="32" name="Text 30"/>
          <p:cNvSpPr/>
          <p:nvPr/>
        </p:nvSpPr>
        <p:spPr>
          <a:xfrm>
            <a:off x="6199632" y="2962656"/>
            <a:ext cx="530352" cy="530352"/>
          </a:xfrm>
          <a:prstGeom prst="rect">
            <a:avLst/>
          </a:prstGeom>
          <a:noFill/>
          <a:ln/>
        </p:spPr>
        <p:txBody>
          <a:bodyPr wrap="square" rtlCol="0" anchor="ctr"/>
          <a:lstStyle/>
          <a:p>
            <a:pPr marL="0" indent="0" algn="ctr">
              <a:buNone/>
            </a:pPr>
            <a:r>
              <a:rPr lang="en-US" dirty="0">
                <a:solidFill>
                  <a:srgbClr val="000000"/>
                </a:solidFill>
                <a:latin typeface="Footlight MT Light" panose="0204060206030A020304" pitchFamily="18" charset="0"/>
              </a:rPr>
              <a:t>🤝</a:t>
            </a:r>
            <a:endParaRPr lang="en-US" dirty="0">
              <a:latin typeface="Footlight MT Light" panose="0204060206030A020304" pitchFamily="18" charset="0"/>
            </a:endParaRPr>
          </a:p>
        </p:txBody>
      </p:sp>
      <p:sp>
        <p:nvSpPr>
          <p:cNvPr id="33" name="Text 31"/>
          <p:cNvSpPr/>
          <p:nvPr/>
        </p:nvSpPr>
        <p:spPr>
          <a:xfrm>
            <a:off x="6839712" y="2980944"/>
            <a:ext cx="1938528" cy="420624"/>
          </a:xfrm>
          <a:prstGeom prst="rect">
            <a:avLst/>
          </a:prstGeom>
          <a:noFill/>
          <a:ln/>
        </p:spPr>
        <p:txBody>
          <a:bodyPr wrap="square" rtlCol="0" anchor="ctr"/>
          <a:lstStyle/>
          <a:p>
            <a:pPr marL="0" indent="0">
              <a:buNone/>
            </a:pPr>
            <a:r>
              <a:rPr lang="en-US" sz="1100" b="1" dirty="0">
                <a:solidFill>
                  <a:srgbClr val="7D4E00"/>
                </a:solidFill>
                <a:latin typeface="Footlight MT Light" panose="0204060206030A020304" pitchFamily="18" charset="0"/>
                <a:ea typeface="Trebuchet MS" pitchFamily="34" charset="-122"/>
                <a:cs typeface="Trebuchet MS" pitchFamily="34" charset="-120"/>
              </a:rPr>
              <a:t>Community &amp; CSR Tracking</a:t>
            </a:r>
            <a:endParaRPr lang="en-US" sz="1100" dirty="0">
              <a:latin typeface="Footlight MT Light" panose="0204060206030A020304" pitchFamily="18" charset="0"/>
            </a:endParaRPr>
          </a:p>
        </p:txBody>
      </p:sp>
      <p:sp>
        <p:nvSpPr>
          <p:cNvPr id="34" name="Text 32"/>
          <p:cNvSpPr/>
          <p:nvPr/>
        </p:nvSpPr>
        <p:spPr>
          <a:xfrm>
            <a:off x="6181344" y="3547872"/>
            <a:ext cx="2596896" cy="1024128"/>
          </a:xfrm>
          <a:prstGeom prst="rect">
            <a:avLst/>
          </a:prstGeom>
          <a:noFill/>
          <a:ln/>
        </p:spPr>
        <p:txBody>
          <a:bodyPr wrap="square" rtlCol="0" anchor="ctr"/>
          <a:lstStyle/>
          <a:p>
            <a:pPr marL="0" indent="0">
              <a:buNone/>
            </a:pPr>
            <a:r>
              <a:rPr lang="en-US" sz="900" dirty="0">
                <a:solidFill>
                  <a:srgbClr val="4A4A4A"/>
                </a:solidFill>
                <a:latin typeface="Footlight MT Light" panose="0204060206030A020304" pitchFamily="18" charset="0"/>
                <a:ea typeface="Calibri" pitchFamily="34" charset="-122"/>
                <a:cs typeface="Calibri" pitchFamily="34" charset="-120"/>
              </a:rPr>
              <a:t>CSR commitments, community development fund disbursements, and social impact reporting across all member companies in one dashboard.</a:t>
            </a:r>
            <a:endParaRPr lang="en-US" sz="900" dirty="0">
              <a:latin typeface="Footlight MT Light" panose="0204060206030A020304" pitchFamily="18" charset="0"/>
            </a:endParaRPr>
          </a:p>
        </p:txBody>
      </p:sp>
      <p:sp>
        <p:nvSpPr>
          <p:cNvPr id="35" name="Shape 33"/>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234F"/>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077B6">
              <a:alpha val="28000"/>
            </a:srgbClr>
          </a:solidFill>
          <a:ln w="12700">
            <a:solidFill>
              <a:srgbClr val="0077B6">
                <a:alpha val="28000"/>
              </a:srgbClr>
            </a:solidFill>
            <a:prstDash val="solid"/>
          </a:ln>
        </p:spPr>
      </p:sp>
      <p:sp>
        <p:nvSpPr>
          <p:cNvPr id="3" name="Shape 1"/>
          <p:cNvSpPr/>
          <p:nvPr/>
        </p:nvSpPr>
        <p:spPr>
          <a:xfrm>
            <a:off x="7772400" y="3200400"/>
            <a:ext cx="2286000" cy="2286000"/>
          </a:xfrm>
          <a:prstGeom prst="ellipse">
            <a:avLst/>
          </a:prstGeom>
          <a:solidFill>
            <a:srgbClr val="00B4D8">
              <a:alpha val="22000"/>
            </a:srgbClr>
          </a:solidFill>
          <a:ln w="12700">
            <a:solidFill>
              <a:srgbClr val="00B4D8">
                <a:alpha val="22000"/>
              </a:srgbClr>
            </a:solidFill>
            <a:prstDash val="solid"/>
          </a:ln>
        </p:spPr>
      </p:sp>
      <p:sp>
        <p:nvSpPr>
          <p:cNvPr id="4" name="Shape 2"/>
          <p:cNvSpPr/>
          <p:nvPr/>
        </p:nvSpPr>
        <p:spPr>
          <a:xfrm>
            <a:off x="0" y="0"/>
            <a:ext cx="9144000" cy="804672"/>
          </a:xfrm>
          <a:prstGeom prst="rect">
            <a:avLst/>
          </a:prstGeom>
          <a:solidFill>
            <a:srgbClr val="00B4D8"/>
          </a:solidFill>
          <a:ln w="12700">
            <a:solidFill>
              <a:srgbClr val="00B4D8"/>
            </a:solidFill>
            <a:prstDash val="solid"/>
          </a:ln>
        </p:spPr>
      </p:sp>
      <p:sp>
        <p:nvSpPr>
          <p:cNvPr id="5" name="Text 3"/>
          <p:cNvSpPr/>
          <p:nvPr/>
        </p:nvSpPr>
        <p:spPr>
          <a:xfrm>
            <a:off x="347472" y="54864"/>
            <a:ext cx="8412480" cy="292608"/>
          </a:xfrm>
          <a:prstGeom prst="rect">
            <a:avLst/>
          </a:prstGeom>
          <a:noFill/>
          <a:ln/>
        </p:spPr>
        <p:txBody>
          <a:bodyPr wrap="square" rtlCol="0" anchor="ctr"/>
          <a:lstStyle/>
          <a:p>
            <a:pPr marL="0" indent="0">
              <a:buNone/>
            </a:pPr>
            <a:r>
              <a:rPr lang="en-US" sz="1050" b="1" kern="0" spc="100" dirty="0">
                <a:solidFill>
                  <a:srgbClr val="12234F"/>
                </a:solidFill>
                <a:latin typeface="Footlight MT Light" panose="0204060206030A020304" pitchFamily="18" charset="0"/>
                <a:ea typeface="Trebuchet MS" pitchFamily="34" charset="-122"/>
                <a:cs typeface="Trebuchet MS" pitchFamily="34" charset="-120"/>
              </a:rPr>
              <a:t>SOLUTION 4 OF 4  |  AI-Based Drone Technology &amp; Aerial Monitoring</a:t>
            </a:r>
            <a:endParaRPr lang="en-US" sz="1050" dirty="0">
              <a:latin typeface="Footlight MT Light" panose="0204060206030A020304" pitchFamily="18" charset="0"/>
            </a:endParaRPr>
          </a:p>
        </p:txBody>
      </p:sp>
      <p:sp>
        <p:nvSpPr>
          <p:cNvPr id="6" name="Text 4"/>
          <p:cNvSpPr/>
          <p:nvPr/>
        </p:nvSpPr>
        <p:spPr>
          <a:xfrm>
            <a:off x="124691" y="347472"/>
            <a:ext cx="8915399" cy="402336"/>
          </a:xfrm>
          <a:prstGeom prst="rect">
            <a:avLst/>
          </a:prstGeom>
          <a:noFill/>
          <a:ln/>
        </p:spPr>
        <p:txBody>
          <a:bodyPr wrap="square" rtlCol="0" anchor="ctr"/>
          <a:lstStyle/>
          <a:p>
            <a:pPr marL="0" indent="0">
              <a:buNone/>
            </a:pPr>
            <a:r>
              <a:rPr lang="en-US" b="1" dirty="0">
                <a:solidFill>
                  <a:srgbClr val="12234F"/>
                </a:solidFill>
                <a:latin typeface="Footlight MT Light" panose="0204060206030A020304" pitchFamily="18" charset="0"/>
                <a:ea typeface="Georgia" pitchFamily="34" charset="-122"/>
                <a:cs typeface="Georgia" pitchFamily="34" charset="-120"/>
              </a:rPr>
              <a:t>AI Drone Monitoring of Small-Scale Mining Sites — Object Detection &amp; Classification</a:t>
            </a:r>
            <a:endParaRPr lang="en-US" dirty="0">
              <a:latin typeface="Footlight MT Light" panose="0204060206030A020304" pitchFamily="18" charset="0"/>
            </a:endParaRPr>
          </a:p>
        </p:txBody>
      </p:sp>
      <p:sp>
        <p:nvSpPr>
          <p:cNvPr id="7" name="Shape 5"/>
          <p:cNvSpPr/>
          <p:nvPr/>
        </p:nvSpPr>
        <p:spPr>
          <a:xfrm>
            <a:off x="201168" y="932688"/>
            <a:ext cx="2761488" cy="1920240"/>
          </a:xfrm>
          <a:prstGeom prst="rect">
            <a:avLst/>
          </a:prstGeom>
          <a:solidFill>
            <a:srgbClr val="0E1C3A"/>
          </a:solidFill>
          <a:ln w="6350">
            <a:solidFill>
              <a:srgbClr val="00B4D8"/>
            </a:solidFill>
            <a:prstDash val="solid"/>
          </a:ln>
          <a:effectLst>
            <a:outerShdw blurRad="101600" dist="38100" dir="8100000" algn="bl" rotWithShape="0">
              <a:srgbClr val="000000">
                <a:alpha val="15000"/>
              </a:srgbClr>
            </a:outerShdw>
          </a:effectLst>
        </p:spPr>
      </p:sp>
      <p:sp>
        <p:nvSpPr>
          <p:cNvPr id="8" name="Shape 6"/>
          <p:cNvSpPr/>
          <p:nvPr/>
        </p:nvSpPr>
        <p:spPr>
          <a:xfrm>
            <a:off x="310896" y="1024128"/>
            <a:ext cx="502920" cy="502920"/>
          </a:xfrm>
          <a:prstGeom prst="ellipse">
            <a:avLst/>
          </a:prstGeom>
          <a:solidFill>
            <a:srgbClr val="0077B6"/>
          </a:solidFill>
          <a:ln w="12700">
            <a:solidFill>
              <a:srgbClr val="0077B6"/>
            </a:solidFill>
            <a:prstDash val="solid"/>
          </a:ln>
        </p:spPr>
      </p:sp>
      <p:sp>
        <p:nvSpPr>
          <p:cNvPr id="9" name="Text 7"/>
          <p:cNvSpPr/>
          <p:nvPr/>
        </p:nvSpPr>
        <p:spPr>
          <a:xfrm>
            <a:off x="310896" y="1024128"/>
            <a:ext cx="502920" cy="502920"/>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10" name="Text 8"/>
          <p:cNvSpPr/>
          <p:nvPr/>
        </p:nvSpPr>
        <p:spPr>
          <a:xfrm>
            <a:off x="914400" y="1042416"/>
            <a:ext cx="1993392" cy="402336"/>
          </a:xfrm>
          <a:prstGeom prst="rect">
            <a:avLst/>
          </a:prstGeom>
          <a:noFill/>
          <a:ln/>
        </p:spPr>
        <p:txBody>
          <a:bodyPr wrap="square" rtlCol="0" anchor="ctr"/>
          <a:lstStyle/>
          <a:p>
            <a:pPr marL="0" indent="0">
              <a:buNone/>
            </a:pPr>
            <a:r>
              <a:rPr lang="en-US" sz="1100" b="1" dirty="0">
                <a:solidFill>
                  <a:srgbClr val="00B4D8"/>
                </a:solidFill>
                <a:latin typeface="Footlight MT Light" panose="0204060206030A020304" pitchFamily="18" charset="0"/>
                <a:ea typeface="Trebuchet MS" pitchFamily="34" charset="-122"/>
                <a:cs typeface="Trebuchet MS" pitchFamily="34" charset="-120"/>
              </a:rPr>
              <a:t>Aerial Survey Flights</a:t>
            </a:r>
            <a:endParaRPr lang="en-US" sz="1100" dirty="0">
              <a:latin typeface="Footlight MT Light" panose="0204060206030A020304" pitchFamily="18" charset="0"/>
            </a:endParaRPr>
          </a:p>
        </p:txBody>
      </p:sp>
      <p:sp>
        <p:nvSpPr>
          <p:cNvPr id="11" name="Text 9"/>
          <p:cNvSpPr/>
          <p:nvPr/>
        </p:nvSpPr>
        <p:spPr>
          <a:xfrm>
            <a:off x="292608" y="1591056"/>
            <a:ext cx="2596896" cy="1170432"/>
          </a:xfrm>
          <a:prstGeom prst="rect">
            <a:avLst/>
          </a:prstGeom>
          <a:noFill/>
          <a:ln/>
        </p:spPr>
        <p:txBody>
          <a:bodyPr wrap="square" rtlCol="0" anchor="ctr"/>
          <a:lstStyle/>
          <a:p>
            <a:pPr marL="0" indent="0">
              <a:buNone/>
            </a:pPr>
            <a:r>
              <a:rPr lang="en-US" sz="950" dirty="0">
                <a:solidFill>
                  <a:srgbClr val="AACCDD"/>
                </a:solidFill>
                <a:latin typeface="Footlight MT Light" panose="0204060206030A020304" pitchFamily="18" charset="0"/>
                <a:ea typeface="Calibri" pitchFamily="34" charset="-122"/>
                <a:cs typeface="Calibri" pitchFamily="34" charset="-120"/>
              </a:rPr>
              <a:t>Autonomous drone flights over designated ASM sites on scheduled and ad hoc basis. Coverage of areas inaccessible by road. Real-time video and imagery transmitted to control room.</a:t>
            </a:r>
            <a:endParaRPr lang="en-US" sz="950" dirty="0">
              <a:latin typeface="Footlight MT Light" panose="0204060206030A020304" pitchFamily="18" charset="0"/>
            </a:endParaRPr>
          </a:p>
        </p:txBody>
      </p:sp>
      <p:sp>
        <p:nvSpPr>
          <p:cNvPr id="12" name="Shape 10"/>
          <p:cNvSpPr/>
          <p:nvPr/>
        </p:nvSpPr>
        <p:spPr>
          <a:xfrm>
            <a:off x="201168" y="2980944"/>
            <a:ext cx="2761488" cy="1920240"/>
          </a:xfrm>
          <a:prstGeom prst="rect">
            <a:avLst/>
          </a:prstGeom>
          <a:solidFill>
            <a:srgbClr val="0E1C3A"/>
          </a:solidFill>
          <a:ln w="6350">
            <a:solidFill>
              <a:srgbClr val="00B4D8"/>
            </a:solidFill>
            <a:prstDash val="solid"/>
          </a:ln>
          <a:effectLst>
            <a:outerShdw blurRad="101600" dist="38100" dir="8100000" algn="bl" rotWithShape="0">
              <a:srgbClr val="000000">
                <a:alpha val="15000"/>
              </a:srgbClr>
            </a:outerShdw>
          </a:effectLst>
        </p:spPr>
      </p:sp>
      <p:sp>
        <p:nvSpPr>
          <p:cNvPr id="13" name="Shape 11"/>
          <p:cNvSpPr/>
          <p:nvPr/>
        </p:nvSpPr>
        <p:spPr>
          <a:xfrm>
            <a:off x="310896" y="3072384"/>
            <a:ext cx="502920" cy="502920"/>
          </a:xfrm>
          <a:prstGeom prst="ellipse">
            <a:avLst/>
          </a:prstGeom>
          <a:solidFill>
            <a:srgbClr val="0096C7"/>
          </a:solidFill>
          <a:ln w="12700">
            <a:solidFill>
              <a:srgbClr val="0096C7"/>
            </a:solidFill>
            <a:prstDash val="solid"/>
          </a:ln>
        </p:spPr>
      </p:sp>
      <p:sp>
        <p:nvSpPr>
          <p:cNvPr id="14" name="Text 12"/>
          <p:cNvSpPr/>
          <p:nvPr/>
        </p:nvSpPr>
        <p:spPr>
          <a:xfrm>
            <a:off x="310896" y="3072384"/>
            <a:ext cx="502920" cy="502920"/>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15" name="Text 13"/>
          <p:cNvSpPr/>
          <p:nvPr/>
        </p:nvSpPr>
        <p:spPr>
          <a:xfrm>
            <a:off x="914400" y="3090672"/>
            <a:ext cx="1993392" cy="402336"/>
          </a:xfrm>
          <a:prstGeom prst="rect">
            <a:avLst/>
          </a:prstGeom>
          <a:noFill/>
          <a:ln/>
        </p:spPr>
        <p:txBody>
          <a:bodyPr wrap="square" rtlCol="0" anchor="ctr"/>
          <a:lstStyle/>
          <a:p>
            <a:pPr marL="0" indent="0">
              <a:buNone/>
            </a:pPr>
            <a:r>
              <a:rPr lang="en-US" sz="1100" b="1" dirty="0">
                <a:solidFill>
                  <a:srgbClr val="00B4D8"/>
                </a:solidFill>
                <a:latin typeface="Footlight MT Light" panose="0204060206030A020304" pitchFamily="18" charset="0"/>
                <a:ea typeface="Trebuchet MS" pitchFamily="34" charset="-122"/>
                <a:cs typeface="Trebuchet MS" pitchFamily="34" charset="-120"/>
              </a:rPr>
              <a:t>AI Object Detection</a:t>
            </a:r>
            <a:endParaRPr lang="en-US" sz="1100" dirty="0">
              <a:latin typeface="Footlight MT Light" panose="0204060206030A020304" pitchFamily="18" charset="0"/>
            </a:endParaRPr>
          </a:p>
        </p:txBody>
      </p:sp>
      <p:sp>
        <p:nvSpPr>
          <p:cNvPr id="16" name="Text 14"/>
          <p:cNvSpPr/>
          <p:nvPr/>
        </p:nvSpPr>
        <p:spPr>
          <a:xfrm>
            <a:off x="292608" y="3639312"/>
            <a:ext cx="2596896" cy="1170432"/>
          </a:xfrm>
          <a:prstGeom prst="rect">
            <a:avLst/>
          </a:prstGeom>
          <a:noFill/>
          <a:ln/>
        </p:spPr>
        <p:txBody>
          <a:bodyPr wrap="square" rtlCol="0" anchor="ctr"/>
          <a:lstStyle/>
          <a:p>
            <a:pPr marL="0" indent="0">
              <a:buNone/>
            </a:pPr>
            <a:r>
              <a:rPr lang="en-US" sz="950" dirty="0">
                <a:solidFill>
                  <a:srgbClr val="AACCDD"/>
                </a:solidFill>
                <a:latin typeface="Footlight MT Light" panose="0204060206030A020304" pitchFamily="18" charset="0"/>
                <a:ea typeface="Calibri" pitchFamily="34" charset="-122"/>
                <a:cs typeface="Calibri" pitchFamily="34" charset="-120"/>
              </a:rPr>
              <a:t>On-board and cloud AI models detect and classify objects: excavators, dredges, sluice boxes, illegal structures, water diversion. Updated detection libraries trained on Guinea site conditions.</a:t>
            </a:r>
            <a:endParaRPr lang="en-US" sz="950" dirty="0">
              <a:latin typeface="Footlight MT Light" panose="0204060206030A020304" pitchFamily="18" charset="0"/>
            </a:endParaRPr>
          </a:p>
        </p:txBody>
      </p:sp>
      <p:sp>
        <p:nvSpPr>
          <p:cNvPr id="17" name="Shape 15"/>
          <p:cNvSpPr/>
          <p:nvPr/>
        </p:nvSpPr>
        <p:spPr>
          <a:xfrm>
            <a:off x="3145536" y="932688"/>
            <a:ext cx="2761488" cy="1920240"/>
          </a:xfrm>
          <a:prstGeom prst="rect">
            <a:avLst/>
          </a:prstGeom>
          <a:solidFill>
            <a:srgbClr val="0E1C3A"/>
          </a:solidFill>
          <a:ln w="6350">
            <a:solidFill>
              <a:srgbClr val="00B4D8"/>
            </a:solidFill>
            <a:prstDash val="solid"/>
          </a:ln>
          <a:effectLst>
            <a:outerShdw blurRad="101600" dist="38100" dir="8100000" algn="bl" rotWithShape="0">
              <a:srgbClr val="000000">
                <a:alpha val="15000"/>
              </a:srgbClr>
            </a:outerShdw>
          </a:effectLst>
        </p:spPr>
      </p:sp>
      <p:sp>
        <p:nvSpPr>
          <p:cNvPr id="18" name="Shape 16"/>
          <p:cNvSpPr/>
          <p:nvPr/>
        </p:nvSpPr>
        <p:spPr>
          <a:xfrm>
            <a:off x="3255264" y="1024128"/>
            <a:ext cx="502920" cy="502920"/>
          </a:xfrm>
          <a:prstGeom prst="ellipse">
            <a:avLst/>
          </a:prstGeom>
          <a:solidFill>
            <a:srgbClr val="00B4D8"/>
          </a:solidFill>
          <a:ln w="12700">
            <a:solidFill>
              <a:srgbClr val="00B4D8"/>
            </a:solidFill>
            <a:prstDash val="solid"/>
          </a:ln>
        </p:spPr>
      </p:sp>
      <p:sp>
        <p:nvSpPr>
          <p:cNvPr id="19" name="Text 17"/>
          <p:cNvSpPr/>
          <p:nvPr/>
        </p:nvSpPr>
        <p:spPr>
          <a:xfrm>
            <a:off x="3255264" y="1024128"/>
            <a:ext cx="502920" cy="502920"/>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20" name="Text 18"/>
          <p:cNvSpPr/>
          <p:nvPr/>
        </p:nvSpPr>
        <p:spPr>
          <a:xfrm>
            <a:off x="3858768" y="1042416"/>
            <a:ext cx="1993392" cy="402336"/>
          </a:xfrm>
          <a:prstGeom prst="rect">
            <a:avLst/>
          </a:prstGeom>
          <a:noFill/>
          <a:ln/>
        </p:spPr>
        <p:txBody>
          <a:bodyPr wrap="square" rtlCol="0" anchor="ctr"/>
          <a:lstStyle/>
          <a:p>
            <a:pPr marL="0" indent="0">
              <a:buNone/>
            </a:pPr>
            <a:r>
              <a:rPr lang="en-US" sz="1100" b="1" dirty="0">
                <a:solidFill>
                  <a:srgbClr val="00B4D8"/>
                </a:solidFill>
                <a:latin typeface="Footlight MT Light" panose="0204060206030A020304" pitchFamily="18" charset="0"/>
                <a:ea typeface="Trebuchet MS" pitchFamily="34" charset="-122"/>
                <a:cs typeface="Trebuchet MS" pitchFamily="34" charset="-120"/>
              </a:rPr>
              <a:t>Change Detection &amp; Alerts</a:t>
            </a:r>
            <a:endParaRPr lang="en-US" sz="1100" dirty="0">
              <a:latin typeface="Footlight MT Light" panose="0204060206030A020304" pitchFamily="18" charset="0"/>
            </a:endParaRPr>
          </a:p>
        </p:txBody>
      </p:sp>
      <p:sp>
        <p:nvSpPr>
          <p:cNvPr id="21" name="Text 19"/>
          <p:cNvSpPr/>
          <p:nvPr/>
        </p:nvSpPr>
        <p:spPr>
          <a:xfrm>
            <a:off x="3236976" y="1591056"/>
            <a:ext cx="2596896" cy="1170432"/>
          </a:xfrm>
          <a:prstGeom prst="rect">
            <a:avLst/>
          </a:prstGeom>
          <a:noFill/>
          <a:ln/>
        </p:spPr>
        <p:txBody>
          <a:bodyPr wrap="square" rtlCol="0" anchor="ctr"/>
          <a:lstStyle/>
          <a:p>
            <a:pPr marL="0" indent="0">
              <a:buNone/>
            </a:pPr>
            <a:r>
              <a:rPr lang="en-US" sz="950" dirty="0">
                <a:solidFill>
                  <a:srgbClr val="AACCDD"/>
                </a:solidFill>
                <a:latin typeface="Footlight MT Light" panose="0204060206030A020304" pitchFamily="18" charset="0"/>
                <a:ea typeface="Calibri" pitchFamily="34" charset="-122"/>
                <a:cs typeface="Calibri" pitchFamily="34" charset="-120"/>
              </a:rPr>
              <a:t>AI compares successive imagery to detect land disturbance, new illegal pits, deforestation, and water body encroachment. Automatic alerts sent to control room operators and field enforcement.</a:t>
            </a:r>
            <a:endParaRPr lang="en-US" sz="950" dirty="0">
              <a:latin typeface="Footlight MT Light" panose="0204060206030A020304" pitchFamily="18" charset="0"/>
            </a:endParaRPr>
          </a:p>
        </p:txBody>
      </p:sp>
      <p:sp>
        <p:nvSpPr>
          <p:cNvPr id="22" name="Shape 20"/>
          <p:cNvSpPr/>
          <p:nvPr/>
        </p:nvSpPr>
        <p:spPr>
          <a:xfrm>
            <a:off x="3145536" y="2980944"/>
            <a:ext cx="2761488" cy="1920240"/>
          </a:xfrm>
          <a:prstGeom prst="rect">
            <a:avLst/>
          </a:prstGeom>
          <a:solidFill>
            <a:srgbClr val="0E1C3A"/>
          </a:solidFill>
          <a:ln w="6350">
            <a:solidFill>
              <a:srgbClr val="00B4D8"/>
            </a:solidFill>
            <a:prstDash val="solid"/>
          </a:ln>
          <a:effectLst>
            <a:outerShdw blurRad="101600" dist="38100" dir="8100000" algn="bl" rotWithShape="0">
              <a:srgbClr val="000000">
                <a:alpha val="15000"/>
              </a:srgbClr>
            </a:outerShdw>
          </a:effectLst>
        </p:spPr>
      </p:sp>
      <p:sp>
        <p:nvSpPr>
          <p:cNvPr id="23" name="Shape 21"/>
          <p:cNvSpPr/>
          <p:nvPr/>
        </p:nvSpPr>
        <p:spPr>
          <a:xfrm>
            <a:off x="3255264" y="3072384"/>
            <a:ext cx="502920" cy="502920"/>
          </a:xfrm>
          <a:prstGeom prst="ellipse">
            <a:avLst/>
          </a:prstGeom>
          <a:solidFill>
            <a:srgbClr val="023E8A"/>
          </a:solidFill>
          <a:ln w="12700">
            <a:solidFill>
              <a:srgbClr val="023E8A"/>
            </a:solidFill>
            <a:prstDash val="solid"/>
          </a:ln>
        </p:spPr>
      </p:sp>
      <p:sp>
        <p:nvSpPr>
          <p:cNvPr id="24" name="Text 22"/>
          <p:cNvSpPr/>
          <p:nvPr/>
        </p:nvSpPr>
        <p:spPr>
          <a:xfrm>
            <a:off x="3255264" y="3072384"/>
            <a:ext cx="502920" cy="502920"/>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25" name="Text 23"/>
          <p:cNvSpPr/>
          <p:nvPr/>
        </p:nvSpPr>
        <p:spPr>
          <a:xfrm>
            <a:off x="3858768" y="3090672"/>
            <a:ext cx="1993392" cy="402336"/>
          </a:xfrm>
          <a:prstGeom prst="rect">
            <a:avLst/>
          </a:prstGeom>
          <a:noFill/>
          <a:ln/>
        </p:spPr>
        <p:txBody>
          <a:bodyPr wrap="square" rtlCol="0" anchor="ctr"/>
          <a:lstStyle/>
          <a:p>
            <a:pPr marL="0" indent="0">
              <a:buNone/>
            </a:pPr>
            <a:r>
              <a:rPr lang="en-US" sz="1100" b="1" dirty="0">
                <a:solidFill>
                  <a:srgbClr val="00B4D8"/>
                </a:solidFill>
                <a:latin typeface="Footlight MT Light" panose="0204060206030A020304" pitchFamily="18" charset="0"/>
                <a:ea typeface="Trebuchet MS" pitchFamily="34" charset="-122"/>
                <a:cs typeface="Trebuchet MS" pitchFamily="34" charset="-120"/>
              </a:rPr>
              <a:t>Geospatial Mapping &amp; Reporting</a:t>
            </a:r>
            <a:endParaRPr lang="en-US" sz="1100" dirty="0">
              <a:latin typeface="Footlight MT Light" panose="0204060206030A020304" pitchFamily="18" charset="0"/>
            </a:endParaRPr>
          </a:p>
        </p:txBody>
      </p:sp>
      <p:sp>
        <p:nvSpPr>
          <p:cNvPr id="26" name="Text 24"/>
          <p:cNvSpPr/>
          <p:nvPr/>
        </p:nvSpPr>
        <p:spPr>
          <a:xfrm>
            <a:off x="3236976" y="3639312"/>
            <a:ext cx="2596896" cy="1170432"/>
          </a:xfrm>
          <a:prstGeom prst="rect">
            <a:avLst/>
          </a:prstGeom>
          <a:noFill/>
          <a:ln/>
        </p:spPr>
        <p:txBody>
          <a:bodyPr wrap="square" rtlCol="0" anchor="ctr"/>
          <a:lstStyle/>
          <a:p>
            <a:pPr marL="0" indent="0">
              <a:buNone/>
            </a:pPr>
            <a:r>
              <a:rPr lang="en-US" sz="950" dirty="0">
                <a:solidFill>
                  <a:srgbClr val="AACCDD"/>
                </a:solidFill>
                <a:latin typeface="Footlight MT Light" panose="0204060206030A020304" pitchFamily="18" charset="0"/>
                <a:ea typeface="Calibri" pitchFamily="34" charset="-122"/>
                <a:cs typeface="Calibri" pitchFamily="34" charset="-120"/>
              </a:rPr>
              <a:t>Drone data processed into high-resolution orthomosaic maps and 3D terrain models. Illegal activity mapped against concession boundaries for evidence-based enforcement.</a:t>
            </a:r>
            <a:endParaRPr lang="en-US" sz="950" dirty="0">
              <a:latin typeface="Footlight MT Light" panose="0204060206030A020304" pitchFamily="18" charset="0"/>
            </a:endParaRPr>
          </a:p>
        </p:txBody>
      </p:sp>
      <p:sp>
        <p:nvSpPr>
          <p:cNvPr id="27" name="Shape 25"/>
          <p:cNvSpPr/>
          <p:nvPr/>
        </p:nvSpPr>
        <p:spPr>
          <a:xfrm>
            <a:off x="6089904" y="932688"/>
            <a:ext cx="2761488" cy="1920240"/>
          </a:xfrm>
          <a:prstGeom prst="rect">
            <a:avLst/>
          </a:prstGeom>
          <a:solidFill>
            <a:srgbClr val="0E1C3A"/>
          </a:solidFill>
          <a:ln w="6350">
            <a:solidFill>
              <a:srgbClr val="00B4D8"/>
            </a:solidFill>
            <a:prstDash val="solid"/>
          </a:ln>
          <a:effectLst>
            <a:outerShdw blurRad="101600" dist="38100" dir="8100000" algn="bl" rotWithShape="0">
              <a:srgbClr val="000000">
                <a:alpha val="15000"/>
              </a:srgbClr>
            </a:outerShdw>
          </a:effectLst>
        </p:spPr>
      </p:sp>
      <p:sp>
        <p:nvSpPr>
          <p:cNvPr id="28" name="Shape 26"/>
          <p:cNvSpPr/>
          <p:nvPr/>
        </p:nvSpPr>
        <p:spPr>
          <a:xfrm>
            <a:off x="6199632" y="1024128"/>
            <a:ext cx="502920" cy="502920"/>
          </a:xfrm>
          <a:prstGeom prst="ellipse">
            <a:avLst/>
          </a:prstGeom>
          <a:solidFill>
            <a:srgbClr val="03045E"/>
          </a:solidFill>
          <a:ln w="12700">
            <a:solidFill>
              <a:srgbClr val="03045E"/>
            </a:solidFill>
            <a:prstDash val="solid"/>
          </a:ln>
        </p:spPr>
      </p:sp>
      <p:sp>
        <p:nvSpPr>
          <p:cNvPr id="29" name="Text 27"/>
          <p:cNvSpPr/>
          <p:nvPr/>
        </p:nvSpPr>
        <p:spPr>
          <a:xfrm>
            <a:off x="6199632" y="1024128"/>
            <a:ext cx="502920" cy="502920"/>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30" name="Text 28"/>
          <p:cNvSpPr/>
          <p:nvPr/>
        </p:nvSpPr>
        <p:spPr>
          <a:xfrm>
            <a:off x="6803136" y="1042416"/>
            <a:ext cx="1993392" cy="402336"/>
          </a:xfrm>
          <a:prstGeom prst="rect">
            <a:avLst/>
          </a:prstGeom>
          <a:noFill/>
          <a:ln/>
        </p:spPr>
        <p:txBody>
          <a:bodyPr wrap="square" rtlCol="0" anchor="ctr"/>
          <a:lstStyle/>
          <a:p>
            <a:pPr marL="0" indent="0">
              <a:buNone/>
            </a:pPr>
            <a:r>
              <a:rPr lang="en-US" sz="1100" b="1" dirty="0">
                <a:solidFill>
                  <a:srgbClr val="00B4D8"/>
                </a:solidFill>
                <a:latin typeface="Footlight MT Light" panose="0204060206030A020304" pitchFamily="18" charset="0"/>
                <a:ea typeface="Trebuchet MS" pitchFamily="34" charset="-122"/>
                <a:cs typeface="Trebuchet MS" pitchFamily="34" charset="-120"/>
              </a:rPr>
              <a:t>Activity Classification</a:t>
            </a:r>
            <a:endParaRPr lang="en-US" sz="1100" dirty="0">
              <a:latin typeface="Footlight MT Light" panose="0204060206030A020304" pitchFamily="18" charset="0"/>
            </a:endParaRPr>
          </a:p>
        </p:txBody>
      </p:sp>
      <p:sp>
        <p:nvSpPr>
          <p:cNvPr id="31" name="Text 29"/>
          <p:cNvSpPr/>
          <p:nvPr/>
        </p:nvSpPr>
        <p:spPr>
          <a:xfrm>
            <a:off x="6181344" y="1591056"/>
            <a:ext cx="2596896" cy="1170432"/>
          </a:xfrm>
          <a:prstGeom prst="rect">
            <a:avLst/>
          </a:prstGeom>
          <a:noFill/>
          <a:ln/>
        </p:spPr>
        <p:txBody>
          <a:bodyPr wrap="square" rtlCol="0" anchor="ctr"/>
          <a:lstStyle/>
          <a:p>
            <a:pPr marL="0" indent="0">
              <a:buNone/>
            </a:pPr>
            <a:r>
              <a:rPr lang="en-US" sz="950" dirty="0">
                <a:solidFill>
                  <a:srgbClr val="AACCDD"/>
                </a:solidFill>
                <a:latin typeface="Footlight MT Light" panose="0204060206030A020304" pitchFamily="18" charset="0"/>
                <a:ea typeface="Calibri" pitchFamily="34" charset="-122"/>
                <a:cs typeface="Calibri" pitchFamily="34" charset="-120"/>
              </a:rPr>
              <a:t>AI classifies site activity levels: active mining, abandoned, reclaimed. Tracks seasonal patterns and identifies new illegal encroachments before they escalate.</a:t>
            </a:r>
            <a:endParaRPr lang="en-US" sz="950" dirty="0">
              <a:latin typeface="Footlight MT Light" panose="0204060206030A020304" pitchFamily="18" charset="0"/>
            </a:endParaRPr>
          </a:p>
        </p:txBody>
      </p:sp>
      <p:sp>
        <p:nvSpPr>
          <p:cNvPr id="32" name="Shape 30"/>
          <p:cNvSpPr/>
          <p:nvPr/>
        </p:nvSpPr>
        <p:spPr>
          <a:xfrm>
            <a:off x="6089904" y="2980944"/>
            <a:ext cx="2761488" cy="1920240"/>
          </a:xfrm>
          <a:prstGeom prst="rect">
            <a:avLst/>
          </a:prstGeom>
          <a:solidFill>
            <a:srgbClr val="0E1C3A"/>
          </a:solidFill>
          <a:ln w="6350">
            <a:solidFill>
              <a:srgbClr val="00B4D8"/>
            </a:solidFill>
            <a:prstDash val="solid"/>
          </a:ln>
          <a:effectLst>
            <a:outerShdw blurRad="101600" dist="38100" dir="8100000" algn="bl" rotWithShape="0">
              <a:srgbClr val="000000">
                <a:alpha val="15000"/>
              </a:srgbClr>
            </a:outerShdw>
          </a:effectLst>
        </p:spPr>
      </p:sp>
      <p:sp>
        <p:nvSpPr>
          <p:cNvPr id="33" name="Shape 31"/>
          <p:cNvSpPr/>
          <p:nvPr/>
        </p:nvSpPr>
        <p:spPr>
          <a:xfrm>
            <a:off x="6199632" y="3072384"/>
            <a:ext cx="502920" cy="502920"/>
          </a:xfrm>
          <a:prstGeom prst="ellipse">
            <a:avLst/>
          </a:prstGeom>
          <a:solidFill>
            <a:srgbClr val="0077B6"/>
          </a:solidFill>
          <a:ln w="12700">
            <a:solidFill>
              <a:srgbClr val="0077B6"/>
            </a:solidFill>
            <a:prstDash val="solid"/>
          </a:ln>
        </p:spPr>
      </p:sp>
      <p:sp>
        <p:nvSpPr>
          <p:cNvPr id="34" name="Text 32"/>
          <p:cNvSpPr/>
          <p:nvPr/>
        </p:nvSpPr>
        <p:spPr>
          <a:xfrm>
            <a:off x="6199632" y="3072384"/>
            <a:ext cx="502920" cy="502920"/>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35" name="Text 33"/>
          <p:cNvSpPr/>
          <p:nvPr/>
        </p:nvSpPr>
        <p:spPr>
          <a:xfrm>
            <a:off x="6803136" y="3090672"/>
            <a:ext cx="1993392" cy="402336"/>
          </a:xfrm>
          <a:prstGeom prst="rect">
            <a:avLst/>
          </a:prstGeom>
          <a:noFill/>
          <a:ln/>
        </p:spPr>
        <p:txBody>
          <a:bodyPr wrap="square" rtlCol="0" anchor="ctr"/>
          <a:lstStyle/>
          <a:p>
            <a:pPr marL="0" indent="0">
              <a:buNone/>
            </a:pPr>
            <a:r>
              <a:rPr lang="en-US" sz="1100" b="1" dirty="0">
                <a:solidFill>
                  <a:srgbClr val="00B4D8"/>
                </a:solidFill>
                <a:latin typeface="Footlight MT Light" panose="0204060206030A020304" pitchFamily="18" charset="0"/>
                <a:ea typeface="Trebuchet MS" pitchFamily="34" charset="-122"/>
                <a:cs typeface="Trebuchet MS" pitchFamily="34" charset="-120"/>
              </a:rPr>
              <a:t>Rapid Response Integration</a:t>
            </a:r>
            <a:endParaRPr lang="en-US" sz="1100" dirty="0">
              <a:latin typeface="Footlight MT Light" panose="0204060206030A020304" pitchFamily="18" charset="0"/>
            </a:endParaRPr>
          </a:p>
        </p:txBody>
      </p:sp>
      <p:sp>
        <p:nvSpPr>
          <p:cNvPr id="36" name="Text 34"/>
          <p:cNvSpPr/>
          <p:nvPr/>
        </p:nvSpPr>
        <p:spPr>
          <a:xfrm>
            <a:off x="6181344" y="3639312"/>
            <a:ext cx="2596896" cy="1170432"/>
          </a:xfrm>
          <a:prstGeom prst="rect">
            <a:avLst/>
          </a:prstGeom>
          <a:noFill/>
          <a:ln/>
        </p:spPr>
        <p:txBody>
          <a:bodyPr wrap="square" rtlCol="0" anchor="ctr"/>
          <a:lstStyle/>
          <a:p>
            <a:pPr marL="0" indent="0">
              <a:buNone/>
            </a:pPr>
            <a:r>
              <a:rPr lang="en-US" sz="950" dirty="0">
                <a:solidFill>
                  <a:srgbClr val="AACCDD"/>
                </a:solidFill>
                <a:latin typeface="Footlight MT Light" panose="0204060206030A020304" pitchFamily="18" charset="0"/>
                <a:ea typeface="Calibri" pitchFamily="34" charset="-122"/>
                <a:cs typeface="Calibri" pitchFamily="34" charset="-120"/>
              </a:rPr>
              <a:t>Drone alerts integrated with control room dispatch system. Field teams notified via mobile app with GPS coordinates, drone footage, and recommended enforcement action.</a:t>
            </a:r>
            <a:endParaRPr lang="en-US" sz="950" dirty="0">
              <a:latin typeface="Footlight MT Light" panose="0204060206030A020304" pitchFamily="18" charset="0"/>
            </a:endParaRPr>
          </a:p>
        </p:txBody>
      </p:sp>
      <p:sp>
        <p:nvSpPr>
          <p:cNvPr id="37" name="Shape 35"/>
          <p:cNvSpPr/>
          <p:nvPr/>
        </p:nvSpPr>
        <p:spPr>
          <a:xfrm>
            <a:off x="0" y="4974336"/>
            <a:ext cx="9144000" cy="169164"/>
          </a:xfrm>
          <a:prstGeom prst="rect">
            <a:avLst/>
          </a:prstGeom>
          <a:solidFill>
            <a:srgbClr val="00B4D8"/>
          </a:solidFill>
          <a:ln w="12700">
            <a:solidFill>
              <a:srgbClr val="00B4D8"/>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7132320" y="-1097280"/>
            <a:ext cx="3657600" cy="3657600"/>
          </a:xfrm>
          <a:prstGeom prst="ellipse">
            <a:avLst/>
          </a:prstGeom>
          <a:solidFill>
            <a:srgbClr val="7B2FBE">
              <a:alpha val="30000"/>
            </a:srgbClr>
          </a:solidFill>
          <a:ln w="12700">
            <a:solidFill>
              <a:srgbClr val="7B2FBE">
                <a:alpha val="30000"/>
              </a:srgbClr>
            </a:solidFill>
            <a:prstDash val="solid"/>
          </a:ln>
        </p:spPr>
      </p:sp>
      <p:sp>
        <p:nvSpPr>
          <p:cNvPr id="3" name="Shape 1"/>
          <p:cNvSpPr/>
          <p:nvPr/>
        </p:nvSpPr>
        <p:spPr>
          <a:xfrm>
            <a:off x="-457200" y="3474720"/>
            <a:ext cx="2926080" cy="2926080"/>
          </a:xfrm>
          <a:prstGeom prst="ellipse">
            <a:avLst/>
          </a:prstGeom>
          <a:solidFill>
            <a:srgbClr val="00B4D8">
              <a:alpha val="20000"/>
            </a:srgbClr>
          </a:solidFill>
          <a:ln w="12700">
            <a:solidFill>
              <a:srgbClr val="00B4D8">
                <a:alpha val="20000"/>
              </a:srgbClr>
            </a:solidFill>
            <a:prstDash val="solid"/>
          </a:ln>
        </p:spPr>
      </p:sp>
      <p:sp>
        <p:nvSpPr>
          <p:cNvPr id="4" name="Shape 2"/>
          <p:cNvSpPr/>
          <p:nvPr/>
        </p:nvSpPr>
        <p:spPr>
          <a:xfrm>
            <a:off x="0" y="0"/>
            <a:ext cx="9144000" cy="804672"/>
          </a:xfrm>
          <a:prstGeom prst="rect">
            <a:avLst/>
          </a:prstGeom>
          <a:solidFill>
            <a:srgbClr val="7B2FBE"/>
          </a:solidFill>
          <a:ln w="12700">
            <a:solidFill>
              <a:srgbClr val="7B2FBE"/>
            </a:solidFill>
            <a:prstDash val="solid"/>
          </a:ln>
        </p:spPr>
      </p:sp>
      <p:sp>
        <p:nvSpPr>
          <p:cNvPr id="5" name="Text 3"/>
          <p:cNvSpPr/>
          <p:nvPr/>
        </p:nvSpPr>
        <p:spPr>
          <a:xfrm>
            <a:off x="347472" y="54864"/>
            <a:ext cx="8412480" cy="292608"/>
          </a:xfrm>
          <a:prstGeom prst="rect">
            <a:avLst/>
          </a:prstGeom>
          <a:noFill/>
          <a:ln/>
        </p:spPr>
        <p:txBody>
          <a:bodyPr wrap="square" rtlCol="0" anchor="ctr"/>
          <a:lstStyle/>
          <a:p>
            <a:pPr marL="0" indent="0">
              <a:buNone/>
            </a:pPr>
            <a:r>
              <a:rPr lang="en-US" sz="1050" b="1" kern="0" spc="100" dirty="0">
                <a:solidFill>
                  <a:schemeClr val="bg1"/>
                </a:solidFill>
                <a:latin typeface="Footlight MT Light" panose="0204060206030A020304" pitchFamily="18" charset="0"/>
                <a:ea typeface="Trebuchet MS" pitchFamily="34" charset="-122"/>
                <a:cs typeface="Trebuchet MS" pitchFamily="34" charset="-120"/>
              </a:rPr>
              <a:t>24/7 MONITORING CONTROL ROOM — LIVE FIELD OVERSIGHT</a:t>
            </a:r>
            <a:endParaRPr lang="en-US" sz="1050" dirty="0">
              <a:solidFill>
                <a:schemeClr val="bg1"/>
              </a:solidFill>
              <a:latin typeface="Footlight MT Light" panose="0204060206030A020304" pitchFamily="18" charset="0"/>
            </a:endParaRPr>
          </a:p>
        </p:txBody>
      </p:sp>
      <p:sp>
        <p:nvSpPr>
          <p:cNvPr id="6" name="Text 4"/>
          <p:cNvSpPr/>
          <p:nvPr/>
        </p:nvSpPr>
        <p:spPr>
          <a:xfrm>
            <a:off x="347472" y="347472"/>
            <a:ext cx="8412480" cy="402336"/>
          </a:xfrm>
          <a:prstGeom prst="rect">
            <a:avLst/>
          </a:prstGeom>
          <a:noFill/>
          <a:ln/>
        </p:spPr>
        <p:txBody>
          <a:bodyPr wrap="square" rtlCol="0" anchor="ctr"/>
          <a:lstStyle/>
          <a:p>
            <a:pPr marL="0" indent="0">
              <a:buNone/>
            </a:pPr>
            <a:r>
              <a:rPr lang="en-US" sz="1900" b="1" dirty="0">
                <a:solidFill>
                  <a:srgbClr val="FFFFFF"/>
                </a:solidFill>
                <a:latin typeface="Footlight MT Light" panose="0204060206030A020304" pitchFamily="18" charset="0"/>
                <a:ea typeface="Georgia" pitchFamily="34" charset="-122"/>
                <a:cs typeface="Georgia" pitchFamily="34" charset="-120"/>
              </a:rPr>
              <a:t>Established Control Room  ·  3-Shift Operations  ·  In-Country Capacity Building</a:t>
            </a:r>
            <a:endParaRPr lang="en-US" sz="1900" dirty="0">
              <a:latin typeface="Footlight MT Light" panose="0204060206030A020304" pitchFamily="18" charset="0"/>
            </a:endParaRPr>
          </a:p>
        </p:txBody>
      </p:sp>
      <p:sp>
        <p:nvSpPr>
          <p:cNvPr id="7" name="Shape 5"/>
          <p:cNvSpPr/>
          <p:nvPr/>
        </p:nvSpPr>
        <p:spPr>
          <a:xfrm>
            <a:off x="201168" y="950976"/>
            <a:ext cx="4663440" cy="914400"/>
          </a:xfrm>
          <a:prstGeom prst="rect">
            <a:avLst/>
          </a:prstGeom>
          <a:solidFill>
            <a:srgbClr val="1A0D3A"/>
          </a:solidFill>
          <a:ln w="6350">
            <a:solidFill>
              <a:srgbClr val="7B2FBE"/>
            </a:solidFill>
            <a:prstDash val="solid"/>
          </a:ln>
          <a:effectLst>
            <a:outerShdw blurRad="101600" dist="38100" dir="8100000" algn="bl" rotWithShape="0">
              <a:srgbClr val="000000">
                <a:alpha val="15000"/>
              </a:srgbClr>
            </a:outerShdw>
          </a:effectLst>
        </p:spPr>
      </p:sp>
      <p:sp>
        <p:nvSpPr>
          <p:cNvPr id="8" name="Shape 6"/>
          <p:cNvSpPr/>
          <p:nvPr/>
        </p:nvSpPr>
        <p:spPr>
          <a:xfrm>
            <a:off x="274320" y="1133856"/>
            <a:ext cx="530352" cy="530352"/>
          </a:xfrm>
          <a:prstGeom prst="ellipse">
            <a:avLst/>
          </a:prstGeom>
          <a:solidFill>
            <a:srgbClr val="7B2FBE"/>
          </a:solidFill>
          <a:ln w="12700">
            <a:solidFill>
              <a:srgbClr val="7B2FBE"/>
            </a:solidFill>
            <a:prstDash val="solid"/>
          </a:ln>
        </p:spPr>
      </p:sp>
      <p:sp>
        <p:nvSpPr>
          <p:cNvPr id="9" name="Text 7"/>
          <p:cNvSpPr/>
          <p:nvPr/>
        </p:nvSpPr>
        <p:spPr>
          <a:xfrm>
            <a:off x="274320" y="1133856"/>
            <a:ext cx="530352" cy="530352"/>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10" name="Text 8"/>
          <p:cNvSpPr/>
          <p:nvPr/>
        </p:nvSpPr>
        <p:spPr>
          <a:xfrm>
            <a:off x="914400" y="1005840"/>
            <a:ext cx="3886200" cy="256032"/>
          </a:xfrm>
          <a:prstGeom prst="rect">
            <a:avLst/>
          </a:prstGeom>
          <a:noFill/>
          <a:ln/>
        </p:spPr>
        <p:txBody>
          <a:bodyPr wrap="square" rtlCol="0" anchor="ctr"/>
          <a:lstStyle/>
          <a:p>
            <a:pPr marL="0" indent="0">
              <a:buNone/>
            </a:pPr>
            <a:r>
              <a:rPr lang="en-US" sz="1150" b="1" dirty="0">
                <a:solidFill>
                  <a:srgbClr val="00F5D4"/>
                </a:solidFill>
                <a:latin typeface="Footlight MT Light" panose="0204060206030A020304" pitchFamily="18" charset="0"/>
                <a:ea typeface="Trebuchet MS" pitchFamily="34" charset="-122"/>
                <a:cs typeface="Trebuchet MS" pitchFamily="34" charset="-120"/>
              </a:rPr>
              <a:t>Multi-Screen Operations Centre</a:t>
            </a:r>
            <a:endParaRPr lang="en-US" sz="1150" dirty="0">
              <a:latin typeface="Footlight MT Light" panose="0204060206030A020304" pitchFamily="18" charset="0"/>
            </a:endParaRPr>
          </a:p>
        </p:txBody>
      </p:sp>
      <p:sp>
        <p:nvSpPr>
          <p:cNvPr id="11" name="Text 9"/>
          <p:cNvSpPr/>
          <p:nvPr/>
        </p:nvSpPr>
        <p:spPr>
          <a:xfrm>
            <a:off x="914400" y="1280160"/>
            <a:ext cx="3886200" cy="512064"/>
          </a:xfrm>
          <a:prstGeom prst="rect">
            <a:avLst/>
          </a:prstGeom>
          <a:noFill/>
          <a:ln/>
        </p:spPr>
        <p:txBody>
          <a:bodyPr wrap="square" rtlCol="0" anchor="ctr"/>
          <a:lstStyle/>
          <a:p>
            <a:pPr marL="0" indent="0">
              <a:buNone/>
            </a:pPr>
            <a:r>
              <a:rPr lang="en-US" sz="950" dirty="0">
                <a:solidFill>
                  <a:srgbClr val="CCBBEE"/>
                </a:solidFill>
                <a:latin typeface="Footlight MT Light" panose="0204060206030A020304" pitchFamily="18" charset="0"/>
                <a:ea typeface="Calibri" pitchFamily="34" charset="-122"/>
                <a:cs typeface="Calibri" pitchFamily="34" charset="-120"/>
              </a:rPr>
              <a:t>Purpose-built 24/7 monitoring facility with wall-to-wall video displays showing live drone feeds, GPS equipment maps, gold flow dashboards, and incident alerts from all field sites simultaneously.</a:t>
            </a:r>
            <a:endParaRPr lang="en-US" sz="950" dirty="0">
              <a:latin typeface="Footlight MT Light" panose="0204060206030A020304" pitchFamily="18" charset="0"/>
            </a:endParaRPr>
          </a:p>
        </p:txBody>
      </p:sp>
      <p:sp>
        <p:nvSpPr>
          <p:cNvPr id="12" name="Shape 10"/>
          <p:cNvSpPr/>
          <p:nvPr/>
        </p:nvSpPr>
        <p:spPr>
          <a:xfrm>
            <a:off x="201168" y="1956816"/>
            <a:ext cx="4663440" cy="914400"/>
          </a:xfrm>
          <a:prstGeom prst="rect">
            <a:avLst/>
          </a:prstGeom>
          <a:solidFill>
            <a:srgbClr val="1A0D3A"/>
          </a:solidFill>
          <a:ln w="6350">
            <a:solidFill>
              <a:srgbClr val="7B2FBE"/>
            </a:solidFill>
            <a:prstDash val="solid"/>
          </a:ln>
          <a:effectLst>
            <a:outerShdw blurRad="101600" dist="38100" dir="8100000" algn="bl" rotWithShape="0">
              <a:srgbClr val="000000">
                <a:alpha val="15000"/>
              </a:srgbClr>
            </a:outerShdw>
          </a:effectLst>
        </p:spPr>
      </p:sp>
      <p:sp>
        <p:nvSpPr>
          <p:cNvPr id="13" name="Shape 11"/>
          <p:cNvSpPr/>
          <p:nvPr/>
        </p:nvSpPr>
        <p:spPr>
          <a:xfrm>
            <a:off x="274320" y="2139696"/>
            <a:ext cx="530352" cy="530352"/>
          </a:xfrm>
          <a:prstGeom prst="ellipse">
            <a:avLst/>
          </a:prstGeom>
          <a:solidFill>
            <a:srgbClr val="7B2FBE"/>
          </a:solidFill>
          <a:ln w="12700">
            <a:solidFill>
              <a:srgbClr val="7B2FBE"/>
            </a:solidFill>
            <a:prstDash val="solid"/>
          </a:ln>
        </p:spPr>
      </p:sp>
      <p:sp>
        <p:nvSpPr>
          <p:cNvPr id="14" name="Text 12"/>
          <p:cNvSpPr/>
          <p:nvPr/>
        </p:nvSpPr>
        <p:spPr>
          <a:xfrm>
            <a:off x="274320" y="2139696"/>
            <a:ext cx="530352" cy="530352"/>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15" name="Text 13"/>
          <p:cNvSpPr/>
          <p:nvPr/>
        </p:nvSpPr>
        <p:spPr>
          <a:xfrm>
            <a:off x="914400" y="2011680"/>
            <a:ext cx="3886200" cy="256032"/>
          </a:xfrm>
          <a:prstGeom prst="rect">
            <a:avLst/>
          </a:prstGeom>
          <a:noFill/>
          <a:ln/>
        </p:spPr>
        <p:txBody>
          <a:bodyPr wrap="square" rtlCol="0" anchor="ctr"/>
          <a:lstStyle/>
          <a:p>
            <a:pPr marL="0" indent="0">
              <a:buNone/>
            </a:pPr>
            <a:r>
              <a:rPr lang="en-US" sz="1150" b="1" dirty="0">
                <a:solidFill>
                  <a:srgbClr val="00F5D4"/>
                </a:solidFill>
                <a:latin typeface="Footlight MT Light" panose="0204060206030A020304" pitchFamily="18" charset="0"/>
                <a:ea typeface="Trebuchet MS" pitchFamily="34" charset="-122"/>
                <a:cs typeface="Trebuchet MS" pitchFamily="34" charset="-120"/>
              </a:rPr>
              <a:t>Live Field Data Integration</a:t>
            </a:r>
            <a:endParaRPr lang="en-US" sz="1150" dirty="0">
              <a:latin typeface="Footlight MT Light" panose="0204060206030A020304" pitchFamily="18" charset="0"/>
            </a:endParaRPr>
          </a:p>
        </p:txBody>
      </p:sp>
      <p:sp>
        <p:nvSpPr>
          <p:cNvPr id="16" name="Text 14"/>
          <p:cNvSpPr/>
          <p:nvPr/>
        </p:nvSpPr>
        <p:spPr>
          <a:xfrm>
            <a:off x="914400" y="2286000"/>
            <a:ext cx="3886200" cy="512064"/>
          </a:xfrm>
          <a:prstGeom prst="rect">
            <a:avLst/>
          </a:prstGeom>
          <a:noFill/>
          <a:ln/>
        </p:spPr>
        <p:txBody>
          <a:bodyPr wrap="square" rtlCol="0" anchor="ctr"/>
          <a:lstStyle/>
          <a:p>
            <a:pPr marL="0" indent="0">
              <a:buNone/>
            </a:pPr>
            <a:r>
              <a:rPr lang="en-US" sz="950" dirty="0">
                <a:solidFill>
                  <a:srgbClr val="CCBBEE"/>
                </a:solidFill>
                <a:latin typeface="Footlight MT Light" panose="0204060206030A020304" pitchFamily="18" charset="0"/>
                <a:ea typeface="Calibri" pitchFamily="34" charset="-122"/>
                <a:cs typeface="Calibri" pitchFamily="34" charset="-120"/>
              </a:rPr>
              <a:t>All four SI platforms feed into the control room in real time: equipment GPS positions, drone video streams, gold transaction data, environmental sensors, and incident reports.</a:t>
            </a:r>
            <a:endParaRPr lang="en-US" sz="950" dirty="0">
              <a:latin typeface="Footlight MT Light" panose="0204060206030A020304" pitchFamily="18" charset="0"/>
            </a:endParaRPr>
          </a:p>
        </p:txBody>
      </p:sp>
      <p:sp>
        <p:nvSpPr>
          <p:cNvPr id="17" name="Shape 15"/>
          <p:cNvSpPr/>
          <p:nvPr/>
        </p:nvSpPr>
        <p:spPr>
          <a:xfrm>
            <a:off x="201168" y="2962656"/>
            <a:ext cx="4663440" cy="914400"/>
          </a:xfrm>
          <a:prstGeom prst="rect">
            <a:avLst/>
          </a:prstGeom>
          <a:solidFill>
            <a:srgbClr val="1A0D3A"/>
          </a:solidFill>
          <a:ln w="6350">
            <a:solidFill>
              <a:srgbClr val="7B2FBE"/>
            </a:solidFill>
            <a:prstDash val="solid"/>
          </a:ln>
          <a:effectLst>
            <a:outerShdw blurRad="101600" dist="38100" dir="8100000" algn="bl" rotWithShape="0">
              <a:srgbClr val="000000">
                <a:alpha val="15000"/>
              </a:srgbClr>
            </a:outerShdw>
          </a:effectLst>
        </p:spPr>
      </p:sp>
      <p:sp>
        <p:nvSpPr>
          <p:cNvPr id="18" name="Shape 16"/>
          <p:cNvSpPr/>
          <p:nvPr/>
        </p:nvSpPr>
        <p:spPr>
          <a:xfrm>
            <a:off x="274320" y="3145536"/>
            <a:ext cx="530352" cy="530352"/>
          </a:xfrm>
          <a:prstGeom prst="ellipse">
            <a:avLst/>
          </a:prstGeom>
          <a:solidFill>
            <a:srgbClr val="7B2FBE"/>
          </a:solidFill>
          <a:ln w="12700">
            <a:solidFill>
              <a:srgbClr val="7B2FBE"/>
            </a:solidFill>
            <a:prstDash val="solid"/>
          </a:ln>
        </p:spPr>
      </p:sp>
      <p:sp>
        <p:nvSpPr>
          <p:cNvPr id="19" name="Text 17"/>
          <p:cNvSpPr/>
          <p:nvPr/>
        </p:nvSpPr>
        <p:spPr>
          <a:xfrm>
            <a:off x="274320" y="3145536"/>
            <a:ext cx="530352" cy="530352"/>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20" name="Text 18"/>
          <p:cNvSpPr/>
          <p:nvPr/>
        </p:nvSpPr>
        <p:spPr>
          <a:xfrm>
            <a:off x="914400" y="3017520"/>
            <a:ext cx="3886200" cy="256032"/>
          </a:xfrm>
          <a:prstGeom prst="rect">
            <a:avLst/>
          </a:prstGeom>
          <a:noFill/>
          <a:ln/>
        </p:spPr>
        <p:txBody>
          <a:bodyPr wrap="square" rtlCol="0" anchor="ctr"/>
          <a:lstStyle/>
          <a:p>
            <a:pPr marL="0" indent="0">
              <a:buNone/>
            </a:pPr>
            <a:r>
              <a:rPr lang="en-US" sz="1150" b="1" dirty="0">
                <a:solidFill>
                  <a:srgbClr val="00F5D4"/>
                </a:solidFill>
                <a:latin typeface="Footlight MT Light" panose="0204060206030A020304" pitchFamily="18" charset="0"/>
                <a:ea typeface="Trebuchet MS" pitchFamily="34" charset="-122"/>
                <a:cs typeface="Trebuchet MS" pitchFamily="34" charset="-120"/>
              </a:rPr>
              <a:t>Alert Management &amp; Dispatch</a:t>
            </a:r>
            <a:endParaRPr lang="en-US" sz="1150" dirty="0">
              <a:latin typeface="Footlight MT Light" panose="0204060206030A020304" pitchFamily="18" charset="0"/>
            </a:endParaRPr>
          </a:p>
        </p:txBody>
      </p:sp>
      <p:sp>
        <p:nvSpPr>
          <p:cNvPr id="21" name="Text 19"/>
          <p:cNvSpPr/>
          <p:nvPr/>
        </p:nvSpPr>
        <p:spPr>
          <a:xfrm>
            <a:off x="914400" y="3291840"/>
            <a:ext cx="3886200" cy="512064"/>
          </a:xfrm>
          <a:prstGeom prst="rect">
            <a:avLst/>
          </a:prstGeom>
          <a:noFill/>
          <a:ln/>
        </p:spPr>
        <p:txBody>
          <a:bodyPr wrap="square" rtlCol="0" anchor="ctr"/>
          <a:lstStyle/>
          <a:p>
            <a:pPr marL="0" indent="0">
              <a:buNone/>
            </a:pPr>
            <a:r>
              <a:rPr lang="en-US" sz="950" dirty="0">
                <a:solidFill>
                  <a:srgbClr val="CCBBEE"/>
                </a:solidFill>
                <a:latin typeface="Footlight MT Light" panose="0204060206030A020304" pitchFamily="18" charset="0"/>
                <a:ea typeface="Calibri" pitchFamily="34" charset="-122"/>
                <a:cs typeface="Calibri" pitchFamily="34" charset="-120"/>
              </a:rPr>
              <a:t>Operators receive, triage, and respond to automated alerts. Illegal mining detected by drone → operator verifies → field enforcement team dispatched with GPS coordinates and video evidence.</a:t>
            </a:r>
            <a:endParaRPr lang="en-US" sz="950" dirty="0">
              <a:latin typeface="Footlight MT Light" panose="0204060206030A020304" pitchFamily="18" charset="0"/>
            </a:endParaRPr>
          </a:p>
        </p:txBody>
      </p:sp>
      <p:sp>
        <p:nvSpPr>
          <p:cNvPr id="22" name="Shape 20"/>
          <p:cNvSpPr/>
          <p:nvPr/>
        </p:nvSpPr>
        <p:spPr>
          <a:xfrm>
            <a:off x="201168" y="3968496"/>
            <a:ext cx="4663440" cy="914400"/>
          </a:xfrm>
          <a:prstGeom prst="rect">
            <a:avLst/>
          </a:prstGeom>
          <a:solidFill>
            <a:srgbClr val="1A0D3A"/>
          </a:solidFill>
          <a:ln w="6350">
            <a:solidFill>
              <a:srgbClr val="7B2FBE"/>
            </a:solidFill>
            <a:prstDash val="solid"/>
          </a:ln>
          <a:effectLst>
            <a:outerShdw blurRad="101600" dist="38100" dir="8100000" algn="bl" rotWithShape="0">
              <a:srgbClr val="000000">
                <a:alpha val="15000"/>
              </a:srgbClr>
            </a:outerShdw>
          </a:effectLst>
        </p:spPr>
      </p:sp>
      <p:sp>
        <p:nvSpPr>
          <p:cNvPr id="23" name="Shape 21"/>
          <p:cNvSpPr/>
          <p:nvPr/>
        </p:nvSpPr>
        <p:spPr>
          <a:xfrm>
            <a:off x="274320" y="4151376"/>
            <a:ext cx="530352" cy="530352"/>
          </a:xfrm>
          <a:prstGeom prst="ellipse">
            <a:avLst/>
          </a:prstGeom>
          <a:solidFill>
            <a:srgbClr val="7B2FBE"/>
          </a:solidFill>
          <a:ln w="12700">
            <a:solidFill>
              <a:srgbClr val="7B2FBE"/>
            </a:solidFill>
            <a:prstDash val="solid"/>
          </a:ln>
        </p:spPr>
      </p:sp>
      <p:sp>
        <p:nvSpPr>
          <p:cNvPr id="24" name="Text 22"/>
          <p:cNvSpPr/>
          <p:nvPr/>
        </p:nvSpPr>
        <p:spPr>
          <a:xfrm>
            <a:off x="274320" y="4151376"/>
            <a:ext cx="530352" cy="530352"/>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25" name="Text 23"/>
          <p:cNvSpPr/>
          <p:nvPr/>
        </p:nvSpPr>
        <p:spPr>
          <a:xfrm>
            <a:off x="914400" y="4023360"/>
            <a:ext cx="3886200" cy="256032"/>
          </a:xfrm>
          <a:prstGeom prst="rect">
            <a:avLst/>
          </a:prstGeom>
          <a:noFill/>
          <a:ln/>
        </p:spPr>
        <p:txBody>
          <a:bodyPr wrap="square" rtlCol="0" anchor="ctr"/>
          <a:lstStyle/>
          <a:p>
            <a:pPr marL="0" indent="0">
              <a:buNone/>
            </a:pPr>
            <a:r>
              <a:rPr lang="en-US" sz="1150" b="1" dirty="0">
                <a:solidFill>
                  <a:srgbClr val="00F5D4"/>
                </a:solidFill>
                <a:latin typeface="Footlight MT Light" panose="0204060206030A020304" pitchFamily="18" charset="0"/>
                <a:ea typeface="Trebuchet MS" pitchFamily="34" charset="-122"/>
                <a:cs typeface="Trebuchet MS" pitchFamily="34" charset="-120"/>
              </a:rPr>
              <a:t>Evidence &amp; Reporting</a:t>
            </a:r>
            <a:endParaRPr lang="en-US" sz="1150" dirty="0">
              <a:latin typeface="Footlight MT Light" panose="0204060206030A020304" pitchFamily="18" charset="0"/>
            </a:endParaRPr>
          </a:p>
        </p:txBody>
      </p:sp>
      <p:sp>
        <p:nvSpPr>
          <p:cNvPr id="26" name="Text 24"/>
          <p:cNvSpPr/>
          <p:nvPr/>
        </p:nvSpPr>
        <p:spPr>
          <a:xfrm>
            <a:off x="914400" y="4297680"/>
            <a:ext cx="3886200" cy="512064"/>
          </a:xfrm>
          <a:prstGeom prst="rect">
            <a:avLst/>
          </a:prstGeom>
          <a:noFill/>
          <a:ln/>
        </p:spPr>
        <p:txBody>
          <a:bodyPr wrap="square" rtlCol="0" anchor="ctr"/>
          <a:lstStyle/>
          <a:p>
            <a:pPr marL="0" indent="0">
              <a:buNone/>
            </a:pPr>
            <a:r>
              <a:rPr lang="en-US" sz="950" dirty="0">
                <a:solidFill>
                  <a:srgbClr val="CCBBEE"/>
                </a:solidFill>
                <a:latin typeface="Footlight MT Light" panose="0204060206030A020304" pitchFamily="18" charset="0"/>
                <a:ea typeface="Calibri" pitchFamily="34" charset="-122"/>
                <a:cs typeface="Calibri" pitchFamily="34" charset="-120"/>
              </a:rPr>
              <a:t>All control room activity logged with timestamps, operator actions, and outcomes. Automated daily, weekly, and monthly reports generated for Ministry of Mines and SOGUIPAMI.</a:t>
            </a:r>
            <a:endParaRPr lang="en-US" sz="950" dirty="0">
              <a:latin typeface="Footlight MT Light" panose="0204060206030A020304" pitchFamily="18" charset="0"/>
            </a:endParaRPr>
          </a:p>
        </p:txBody>
      </p:sp>
      <p:sp>
        <p:nvSpPr>
          <p:cNvPr id="27" name="Shape 25"/>
          <p:cNvSpPr/>
          <p:nvPr/>
        </p:nvSpPr>
        <p:spPr>
          <a:xfrm>
            <a:off x="5166360" y="932688"/>
            <a:ext cx="3767328" cy="347472"/>
          </a:xfrm>
          <a:prstGeom prst="rect">
            <a:avLst/>
          </a:prstGeom>
          <a:solidFill>
            <a:srgbClr val="00F5D4"/>
          </a:solidFill>
          <a:ln w="12700">
            <a:solidFill>
              <a:srgbClr val="00F5D4"/>
            </a:solidFill>
            <a:prstDash val="solid"/>
          </a:ln>
        </p:spPr>
      </p:sp>
      <p:sp>
        <p:nvSpPr>
          <p:cNvPr id="28" name="Text 26"/>
          <p:cNvSpPr/>
          <p:nvPr/>
        </p:nvSpPr>
        <p:spPr>
          <a:xfrm>
            <a:off x="5166360" y="932688"/>
            <a:ext cx="3767328" cy="347472"/>
          </a:xfrm>
          <a:prstGeom prst="rect">
            <a:avLst/>
          </a:prstGeom>
          <a:noFill/>
          <a:ln/>
        </p:spPr>
        <p:txBody>
          <a:bodyPr wrap="square" rtlCol="0" anchor="ctr"/>
          <a:lstStyle/>
          <a:p>
            <a:pPr marL="0" indent="0" algn="ctr">
              <a:buNone/>
            </a:pPr>
            <a:r>
              <a:rPr lang="en-US" sz="950" b="1" kern="0" spc="100" dirty="0">
                <a:solidFill>
                  <a:srgbClr val="2D1B69"/>
                </a:solidFill>
                <a:latin typeface="Footlight MT Light" panose="0204060206030A020304" pitchFamily="18" charset="0"/>
                <a:ea typeface="Trebuchet MS" pitchFamily="34" charset="-122"/>
                <a:cs typeface="Trebuchet MS" pitchFamily="34" charset="-120"/>
              </a:rPr>
              <a:t>3-SHIFT CAPACITY BUILDING PROGRAMME</a:t>
            </a:r>
            <a:endParaRPr lang="en-US" sz="950" dirty="0">
              <a:latin typeface="Footlight MT Light" panose="0204060206030A020304" pitchFamily="18" charset="0"/>
            </a:endParaRPr>
          </a:p>
        </p:txBody>
      </p:sp>
      <p:sp>
        <p:nvSpPr>
          <p:cNvPr id="29" name="Shape 27"/>
          <p:cNvSpPr/>
          <p:nvPr/>
        </p:nvSpPr>
        <p:spPr>
          <a:xfrm>
            <a:off x="5166360" y="1335024"/>
            <a:ext cx="1170432" cy="658368"/>
          </a:xfrm>
          <a:prstGeom prst="rect">
            <a:avLst/>
          </a:prstGeom>
          <a:solidFill>
            <a:srgbClr val="0077B6"/>
          </a:solidFill>
          <a:ln w="12700">
            <a:solidFill>
              <a:srgbClr val="0077B6"/>
            </a:solidFill>
            <a:prstDash val="solid"/>
          </a:ln>
        </p:spPr>
      </p:sp>
      <p:sp>
        <p:nvSpPr>
          <p:cNvPr id="30" name="Text 28"/>
          <p:cNvSpPr/>
          <p:nvPr/>
        </p:nvSpPr>
        <p:spPr>
          <a:xfrm>
            <a:off x="5166360" y="1335024"/>
            <a:ext cx="1170432" cy="658368"/>
          </a:xfrm>
          <a:prstGeom prst="rect">
            <a:avLst/>
          </a:prstGeom>
          <a:noFill/>
          <a:ln/>
        </p:spPr>
        <p:txBody>
          <a:bodyPr wrap="square" rtlCol="0" anchor="ctr"/>
          <a:lstStyle/>
          <a:p>
            <a:pPr marL="0" indent="0" algn="ctr">
              <a:buNone/>
            </a:pPr>
            <a:r>
              <a:rPr lang="en-US" sz="950" b="1" dirty="0">
                <a:solidFill>
                  <a:srgbClr val="FFFFFF"/>
                </a:solidFill>
                <a:latin typeface="Footlight MT Light" panose="0204060206030A020304" pitchFamily="18" charset="0"/>
                <a:ea typeface="Calibri" pitchFamily="34" charset="-122"/>
                <a:cs typeface="Calibri" pitchFamily="34" charset="-120"/>
              </a:rPr>
              <a:t>Shift A</a:t>
            </a:r>
            <a:endParaRPr lang="en-US" sz="950" dirty="0">
              <a:latin typeface="Footlight MT Light" panose="0204060206030A020304" pitchFamily="18" charset="0"/>
            </a:endParaRPr>
          </a:p>
          <a:p>
            <a:pPr marL="0" indent="0" algn="ctr">
              <a:buNone/>
            </a:pPr>
            <a:r>
              <a:rPr lang="en-US" sz="950" b="1" dirty="0">
                <a:solidFill>
                  <a:srgbClr val="FFFFFF"/>
                </a:solidFill>
                <a:latin typeface="Footlight MT Light" panose="0204060206030A020304" pitchFamily="18" charset="0"/>
                <a:ea typeface="Calibri" pitchFamily="34" charset="-122"/>
                <a:cs typeface="Calibri" pitchFamily="34" charset="-120"/>
              </a:rPr>
              <a:t>06:00–14:00</a:t>
            </a:r>
            <a:endParaRPr lang="en-US" sz="950" dirty="0">
              <a:latin typeface="Footlight MT Light" panose="0204060206030A020304" pitchFamily="18" charset="0"/>
            </a:endParaRPr>
          </a:p>
        </p:txBody>
      </p:sp>
      <p:sp>
        <p:nvSpPr>
          <p:cNvPr id="31" name="Shape 29"/>
          <p:cNvSpPr/>
          <p:nvPr/>
        </p:nvSpPr>
        <p:spPr>
          <a:xfrm>
            <a:off x="6428232" y="1335024"/>
            <a:ext cx="1170432" cy="658368"/>
          </a:xfrm>
          <a:prstGeom prst="rect">
            <a:avLst/>
          </a:prstGeom>
          <a:solidFill>
            <a:srgbClr val="7B2FBE"/>
          </a:solidFill>
          <a:ln w="12700">
            <a:solidFill>
              <a:srgbClr val="7B2FBE"/>
            </a:solidFill>
            <a:prstDash val="solid"/>
          </a:ln>
        </p:spPr>
      </p:sp>
      <p:sp>
        <p:nvSpPr>
          <p:cNvPr id="32" name="Text 30"/>
          <p:cNvSpPr/>
          <p:nvPr/>
        </p:nvSpPr>
        <p:spPr>
          <a:xfrm>
            <a:off x="6428232" y="1335024"/>
            <a:ext cx="1170432" cy="658368"/>
          </a:xfrm>
          <a:prstGeom prst="rect">
            <a:avLst/>
          </a:prstGeom>
          <a:noFill/>
          <a:ln/>
        </p:spPr>
        <p:txBody>
          <a:bodyPr wrap="square" rtlCol="0" anchor="ctr"/>
          <a:lstStyle/>
          <a:p>
            <a:pPr marL="0" indent="0" algn="ctr">
              <a:buNone/>
            </a:pPr>
            <a:r>
              <a:rPr lang="en-US" sz="950" b="1" dirty="0">
                <a:solidFill>
                  <a:srgbClr val="FFFFFF"/>
                </a:solidFill>
                <a:latin typeface="Footlight MT Light" panose="0204060206030A020304" pitchFamily="18" charset="0"/>
                <a:ea typeface="Calibri" pitchFamily="34" charset="-122"/>
                <a:cs typeface="Calibri" pitchFamily="34" charset="-120"/>
              </a:rPr>
              <a:t>Shift B</a:t>
            </a:r>
            <a:endParaRPr lang="en-US" sz="950" dirty="0">
              <a:latin typeface="Footlight MT Light" panose="0204060206030A020304" pitchFamily="18" charset="0"/>
            </a:endParaRPr>
          </a:p>
          <a:p>
            <a:pPr marL="0" indent="0" algn="ctr">
              <a:buNone/>
            </a:pPr>
            <a:r>
              <a:rPr lang="en-US" sz="950" b="1" dirty="0">
                <a:solidFill>
                  <a:srgbClr val="FFFFFF"/>
                </a:solidFill>
                <a:latin typeface="Footlight MT Light" panose="0204060206030A020304" pitchFamily="18" charset="0"/>
                <a:ea typeface="Calibri" pitchFamily="34" charset="-122"/>
                <a:cs typeface="Calibri" pitchFamily="34" charset="-120"/>
              </a:rPr>
              <a:t>14:00–22:00</a:t>
            </a:r>
            <a:endParaRPr lang="en-US" sz="950" dirty="0">
              <a:latin typeface="Footlight MT Light" panose="0204060206030A020304" pitchFamily="18" charset="0"/>
            </a:endParaRPr>
          </a:p>
        </p:txBody>
      </p:sp>
      <p:sp>
        <p:nvSpPr>
          <p:cNvPr id="33" name="Shape 31"/>
          <p:cNvSpPr/>
          <p:nvPr/>
        </p:nvSpPr>
        <p:spPr>
          <a:xfrm>
            <a:off x="7690104" y="1335024"/>
            <a:ext cx="1170432" cy="658368"/>
          </a:xfrm>
          <a:prstGeom prst="rect">
            <a:avLst/>
          </a:prstGeom>
          <a:solidFill>
            <a:srgbClr val="2D1B69"/>
          </a:solidFill>
          <a:ln w="12700">
            <a:solidFill>
              <a:srgbClr val="2D1B69"/>
            </a:solidFill>
            <a:prstDash val="solid"/>
          </a:ln>
        </p:spPr>
      </p:sp>
      <p:sp>
        <p:nvSpPr>
          <p:cNvPr id="34" name="Text 32"/>
          <p:cNvSpPr/>
          <p:nvPr/>
        </p:nvSpPr>
        <p:spPr>
          <a:xfrm>
            <a:off x="7690104" y="1335024"/>
            <a:ext cx="1170432" cy="658368"/>
          </a:xfrm>
          <a:prstGeom prst="rect">
            <a:avLst/>
          </a:prstGeom>
          <a:noFill/>
          <a:ln/>
        </p:spPr>
        <p:txBody>
          <a:bodyPr wrap="square" rtlCol="0" anchor="ctr"/>
          <a:lstStyle/>
          <a:p>
            <a:pPr marL="0" indent="0" algn="ctr">
              <a:buNone/>
            </a:pPr>
            <a:r>
              <a:rPr lang="en-US" sz="950" b="1" dirty="0">
                <a:solidFill>
                  <a:srgbClr val="FFFFFF"/>
                </a:solidFill>
                <a:latin typeface="Footlight MT Light" panose="0204060206030A020304" pitchFamily="18" charset="0"/>
                <a:ea typeface="Calibri" pitchFamily="34" charset="-122"/>
                <a:cs typeface="Calibri" pitchFamily="34" charset="-120"/>
              </a:rPr>
              <a:t>Shift C</a:t>
            </a:r>
            <a:endParaRPr lang="en-US" sz="950" dirty="0">
              <a:latin typeface="Footlight MT Light" panose="0204060206030A020304" pitchFamily="18" charset="0"/>
            </a:endParaRPr>
          </a:p>
          <a:p>
            <a:pPr marL="0" indent="0" algn="ctr">
              <a:buNone/>
            </a:pPr>
            <a:r>
              <a:rPr lang="en-US" sz="950" b="1" dirty="0">
                <a:solidFill>
                  <a:srgbClr val="FFFFFF"/>
                </a:solidFill>
                <a:latin typeface="Footlight MT Light" panose="0204060206030A020304" pitchFamily="18" charset="0"/>
                <a:ea typeface="Calibri" pitchFamily="34" charset="-122"/>
                <a:cs typeface="Calibri" pitchFamily="34" charset="-120"/>
              </a:rPr>
              <a:t>22:00–06:00</a:t>
            </a:r>
            <a:endParaRPr lang="en-US" sz="950" dirty="0">
              <a:latin typeface="Footlight MT Light" panose="0204060206030A020304" pitchFamily="18" charset="0"/>
            </a:endParaRPr>
          </a:p>
        </p:txBody>
      </p:sp>
      <p:sp>
        <p:nvSpPr>
          <p:cNvPr id="35" name="Shape 33"/>
          <p:cNvSpPr/>
          <p:nvPr/>
        </p:nvSpPr>
        <p:spPr>
          <a:xfrm>
            <a:off x="5166360" y="2066544"/>
            <a:ext cx="3767328" cy="676656"/>
          </a:xfrm>
          <a:prstGeom prst="rect">
            <a:avLst/>
          </a:prstGeom>
          <a:solidFill>
            <a:srgbClr val="1A0A30"/>
          </a:solidFill>
          <a:ln w="6350">
            <a:solidFill>
              <a:srgbClr val="7B2FBE"/>
            </a:solidFill>
            <a:prstDash val="solid"/>
          </a:ln>
        </p:spPr>
      </p:sp>
      <p:sp>
        <p:nvSpPr>
          <p:cNvPr id="36" name="Shape 34"/>
          <p:cNvSpPr/>
          <p:nvPr/>
        </p:nvSpPr>
        <p:spPr>
          <a:xfrm>
            <a:off x="5230368" y="2167128"/>
            <a:ext cx="438912" cy="438912"/>
          </a:xfrm>
          <a:prstGeom prst="ellipse">
            <a:avLst/>
          </a:prstGeom>
          <a:solidFill>
            <a:srgbClr val="7B2FBE"/>
          </a:solidFill>
          <a:ln w="12700">
            <a:solidFill>
              <a:srgbClr val="7B2FBE"/>
            </a:solidFill>
            <a:prstDash val="solid"/>
          </a:ln>
        </p:spPr>
      </p:sp>
      <p:sp>
        <p:nvSpPr>
          <p:cNvPr id="37" name="Text 35"/>
          <p:cNvSpPr/>
          <p:nvPr/>
        </p:nvSpPr>
        <p:spPr>
          <a:xfrm>
            <a:off x="5230368" y="2167128"/>
            <a:ext cx="438912" cy="438912"/>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38" name="Text 36"/>
          <p:cNvSpPr/>
          <p:nvPr/>
        </p:nvSpPr>
        <p:spPr>
          <a:xfrm>
            <a:off x="5742432" y="2121408"/>
            <a:ext cx="3127248" cy="237744"/>
          </a:xfrm>
          <a:prstGeom prst="rect">
            <a:avLst/>
          </a:prstGeom>
          <a:noFill/>
          <a:ln/>
        </p:spPr>
        <p:txBody>
          <a:bodyPr wrap="square" rtlCol="0" anchor="ctr"/>
          <a:lstStyle/>
          <a:p>
            <a:pPr marL="0" indent="0">
              <a:buNone/>
            </a:pPr>
            <a:r>
              <a:rPr lang="en-US" sz="1050" b="1" dirty="0">
                <a:solidFill>
                  <a:srgbClr val="00F5D4"/>
                </a:solidFill>
                <a:latin typeface="Footlight MT Light" panose="0204060206030A020304" pitchFamily="18" charset="0"/>
                <a:ea typeface="Calibri" pitchFamily="34" charset="-122"/>
                <a:cs typeface="Calibri" pitchFamily="34" charset="-120"/>
              </a:rPr>
              <a:t>Structured Training Programme</a:t>
            </a:r>
            <a:endParaRPr lang="en-US" sz="1050" dirty="0">
              <a:latin typeface="Footlight MT Light" panose="0204060206030A020304" pitchFamily="18" charset="0"/>
            </a:endParaRPr>
          </a:p>
        </p:txBody>
      </p:sp>
      <p:sp>
        <p:nvSpPr>
          <p:cNvPr id="39" name="Text 37"/>
          <p:cNvSpPr/>
          <p:nvPr/>
        </p:nvSpPr>
        <p:spPr>
          <a:xfrm>
            <a:off x="5742432" y="2377440"/>
            <a:ext cx="3127248" cy="329184"/>
          </a:xfrm>
          <a:prstGeom prst="rect">
            <a:avLst/>
          </a:prstGeom>
          <a:noFill/>
          <a:ln/>
        </p:spPr>
        <p:txBody>
          <a:bodyPr wrap="square" rtlCol="0" anchor="ctr"/>
          <a:lstStyle/>
          <a:p>
            <a:pPr marL="0" indent="0">
              <a:buNone/>
            </a:pPr>
            <a:r>
              <a:rPr lang="en-US" sz="900" dirty="0">
                <a:solidFill>
                  <a:srgbClr val="CCBBEE"/>
                </a:solidFill>
                <a:latin typeface="Footlight MT Light" panose="0204060206030A020304" pitchFamily="18" charset="0"/>
                <a:ea typeface="Calibri" pitchFamily="34" charset="-122"/>
                <a:cs typeface="Calibri" pitchFamily="34" charset="-120"/>
              </a:rPr>
              <a:t>SI designs and delivers a full training curriculum for in-country operators covering drone operation, AI system interpretation, alert management, and reporting.</a:t>
            </a:r>
            <a:endParaRPr lang="en-US" sz="900" dirty="0">
              <a:latin typeface="Footlight MT Light" panose="0204060206030A020304" pitchFamily="18" charset="0"/>
            </a:endParaRPr>
          </a:p>
        </p:txBody>
      </p:sp>
      <p:sp>
        <p:nvSpPr>
          <p:cNvPr id="40" name="Shape 38"/>
          <p:cNvSpPr/>
          <p:nvPr/>
        </p:nvSpPr>
        <p:spPr>
          <a:xfrm>
            <a:off x="5166360" y="2816352"/>
            <a:ext cx="3767328" cy="676656"/>
          </a:xfrm>
          <a:prstGeom prst="rect">
            <a:avLst/>
          </a:prstGeom>
          <a:solidFill>
            <a:srgbClr val="1A0A30"/>
          </a:solidFill>
          <a:ln w="6350">
            <a:solidFill>
              <a:srgbClr val="7B2FBE"/>
            </a:solidFill>
            <a:prstDash val="solid"/>
          </a:ln>
        </p:spPr>
      </p:sp>
      <p:sp>
        <p:nvSpPr>
          <p:cNvPr id="41" name="Shape 39"/>
          <p:cNvSpPr/>
          <p:nvPr/>
        </p:nvSpPr>
        <p:spPr>
          <a:xfrm>
            <a:off x="5230368" y="2916936"/>
            <a:ext cx="438912" cy="438912"/>
          </a:xfrm>
          <a:prstGeom prst="ellipse">
            <a:avLst/>
          </a:prstGeom>
          <a:solidFill>
            <a:srgbClr val="7B2FBE"/>
          </a:solidFill>
          <a:ln w="12700">
            <a:solidFill>
              <a:srgbClr val="7B2FBE"/>
            </a:solidFill>
            <a:prstDash val="solid"/>
          </a:ln>
        </p:spPr>
      </p:sp>
      <p:sp>
        <p:nvSpPr>
          <p:cNvPr id="42" name="Text 40"/>
          <p:cNvSpPr/>
          <p:nvPr/>
        </p:nvSpPr>
        <p:spPr>
          <a:xfrm>
            <a:off x="5230368" y="2916936"/>
            <a:ext cx="438912" cy="438912"/>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43" name="Text 41"/>
          <p:cNvSpPr/>
          <p:nvPr/>
        </p:nvSpPr>
        <p:spPr>
          <a:xfrm>
            <a:off x="5742432" y="2871216"/>
            <a:ext cx="3127248" cy="237744"/>
          </a:xfrm>
          <a:prstGeom prst="rect">
            <a:avLst/>
          </a:prstGeom>
          <a:noFill/>
          <a:ln/>
        </p:spPr>
        <p:txBody>
          <a:bodyPr wrap="square" rtlCol="0" anchor="ctr"/>
          <a:lstStyle/>
          <a:p>
            <a:pPr marL="0" indent="0">
              <a:buNone/>
            </a:pPr>
            <a:r>
              <a:rPr lang="en-US" sz="1050" b="1" dirty="0">
                <a:solidFill>
                  <a:srgbClr val="00F5D4"/>
                </a:solidFill>
                <a:latin typeface="Footlight MT Light" panose="0204060206030A020304" pitchFamily="18" charset="0"/>
                <a:ea typeface="Calibri" pitchFamily="34" charset="-122"/>
                <a:cs typeface="Calibri" pitchFamily="34" charset="-120"/>
              </a:rPr>
              <a:t>Technical Skills Transfer</a:t>
            </a:r>
            <a:endParaRPr lang="en-US" sz="1050" dirty="0">
              <a:latin typeface="Footlight MT Light" panose="0204060206030A020304" pitchFamily="18" charset="0"/>
            </a:endParaRPr>
          </a:p>
        </p:txBody>
      </p:sp>
      <p:sp>
        <p:nvSpPr>
          <p:cNvPr id="44" name="Text 42"/>
          <p:cNvSpPr/>
          <p:nvPr/>
        </p:nvSpPr>
        <p:spPr>
          <a:xfrm>
            <a:off x="5742432" y="3127248"/>
            <a:ext cx="3127248" cy="329184"/>
          </a:xfrm>
          <a:prstGeom prst="rect">
            <a:avLst/>
          </a:prstGeom>
          <a:noFill/>
          <a:ln/>
        </p:spPr>
        <p:txBody>
          <a:bodyPr wrap="square" rtlCol="0" anchor="ctr"/>
          <a:lstStyle/>
          <a:p>
            <a:pPr marL="0" indent="0">
              <a:buNone/>
            </a:pPr>
            <a:r>
              <a:rPr lang="en-US" sz="900" dirty="0">
                <a:solidFill>
                  <a:srgbClr val="CCBBEE"/>
                </a:solidFill>
                <a:latin typeface="Footlight MT Light" panose="0204060206030A020304" pitchFamily="18" charset="0"/>
                <a:ea typeface="Calibri" pitchFamily="34" charset="-122"/>
                <a:cs typeface="Calibri" pitchFamily="34" charset="-120"/>
              </a:rPr>
              <a:t>Guinean technicians trained to maintain drone hardware, calibrate sensors, update AI detection libraries, and troubleshoot platform integrations.</a:t>
            </a:r>
            <a:endParaRPr lang="en-US" sz="900" dirty="0">
              <a:latin typeface="Footlight MT Light" panose="0204060206030A020304" pitchFamily="18" charset="0"/>
            </a:endParaRPr>
          </a:p>
        </p:txBody>
      </p:sp>
      <p:sp>
        <p:nvSpPr>
          <p:cNvPr id="45" name="Shape 43"/>
          <p:cNvSpPr/>
          <p:nvPr/>
        </p:nvSpPr>
        <p:spPr>
          <a:xfrm>
            <a:off x="5166360" y="3566160"/>
            <a:ext cx="3767328" cy="676656"/>
          </a:xfrm>
          <a:prstGeom prst="rect">
            <a:avLst/>
          </a:prstGeom>
          <a:solidFill>
            <a:srgbClr val="1A0A30"/>
          </a:solidFill>
          <a:ln w="6350">
            <a:solidFill>
              <a:srgbClr val="7B2FBE"/>
            </a:solidFill>
            <a:prstDash val="solid"/>
          </a:ln>
        </p:spPr>
      </p:sp>
      <p:sp>
        <p:nvSpPr>
          <p:cNvPr id="46" name="Shape 44"/>
          <p:cNvSpPr/>
          <p:nvPr/>
        </p:nvSpPr>
        <p:spPr>
          <a:xfrm>
            <a:off x="5230368" y="3666744"/>
            <a:ext cx="438912" cy="438912"/>
          </a:xfrm>
          <a:prstGeom prst="ellipse">
            <a:avLst/>
          </a:prstGeom>
          <a:solidFill>
            <a:srgbClr val="7B2FBE"/>
          </a:solidFill>
          <a:ln w="12700">
            <a:solidFill>
              <a:srgbClr val="7B2FBE"/>
            </a:solidFill>
            <a:prstDash val="solid"/>
          </a:ln>
        </p:spPr>
      </p:sp>
      <p:sp>
        <p:nvSpPr>
          <p:cNvPr id="47" name="Text 45"/>
          <p:cNvSpPr/>
          <p:nvPr/>
        </p:nvSpPr>
        <p:spPr>
          <a:xfrm>
            <a:off x="5230368" y="3666744"/>
            <a:ext cx="438912" cy="438912"/>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48" name="Text 46"/>
          <p:cNvSpPr/>
          <p:nvPr/>
        </p:nvSpPr>
        <p:spPr>
          <a:xfrm>
            <a:off x="5742432" y="3621024"/>
            <a:ext cx="3127248" cy="237744"/>
          </a:xfrm>
          <a:prstGeom prst="rect">
            <a:avLst/>
          </a:prstGeom>
          <a:noFill/>
          <a:ln/>
        </p:spPr>
        <p:txBody>
          <a:bodyPr wrap="square" rtlCol="0" anchor="ctr"/>
          <a:lstStyle/>
          <a:p>
            <a:pPr marL="0" indent="0">
              <a:buNone/>
            </a:pPr>
            <a:r>
              <a:rPr lang="en-US" sz="1050" b="1" dirty="0">
                <a:solidFill>
                  <a:srgbClr val="00F5D4"/>
                </a:solidFill>
                <a:latin typeface="Footlight MT Light" panose="0204060206030A020304" pitchFamily="18" charset="0"/>
                <a:ea typeface="Calibri" pitchFamily="34" charset="-122"/>
                <a:cs typeface="Calibri" pitchFamily="34" charset="-120"/>
              </a:rPr>
              <a:t>Supervisory &amp; Leadership Capacity</a:t>
            </a:r>
            <a:endParaRPr lang="en-US" sz="1050" dirty="0">
              <a:latin typeface="Footlight MT Light" panose="0204060206030A020304" pitchFamily="18" charset="0"/>
            </a:endParaRPr>
          </a:p>
        </p:txBody>
      </p:sp>
      <p:sp>
        <p:nvSpPr>
          <p:cNvPr id="49" name="Text 47"/>
          <p:cNvSpPr/>
          <p:nvPr/>
        </p:nvSpPr>
        <p:spPr>
          <a:xfrm>
            <a:off x="5742432" y="3877056"/>
            <a:ext cx="3127248" cy="329184"/>
          </a:xfrm>
          <a:prstGeom prst="rect">
            <a:avLst/>
          </a:prstGeom>
          <a:noFill/>
          <a:ln/>
        </p:spPr>
        <p:txBody>
          <a:bodyPr wrap="square" rtlCol="0" anchor="ctr"/>
          <a:lstStyle/>
          <a:p>
            <a:pPr marL="0" indent="0">
              <a:buNone/>
            </a:pPr>
            <a:r>
              <a:rPr lang="en-US" sz="900" dirty="0">
                <a:solidFill>
                  <a:srgbClr val="CCBBEE"/>
                </a:solidFill>
                <a:latin typeface="Footlight MT Light" panose="0204060206030A020304" pitchFamily="18" charset="0"/>
                <a:ea typeface="Calibri" pitchFamily="34" charset="-122"/>
                <a:cs typeface="Calibri" pitchFamily="34" charset="-120"/>
              </a:rPr>
              <a:t>Shift supervisors and control room managers developed through 6-month mentoring by SI Ghana's experienced operational staff.</a:t>
            </a:r>
            <a:endParaRPr lang="en-US" sz="900" dirty="0">
              <a:latin typeface="Footlight MT Light" panose="0204060206030A020304" pitchFamily="18" charset="0"/>
            </a:endParaRPr>
          </a:p>
        </p:txBody>
      </p:sp>
      <p:sp>
        <p:nvSpPr>
          <p:cNvPr id="50" name="Shape 48"/>
          <p:cNvSpPr/>
          <p:nvPr/>
        </p:nvSpPr>
        <p:spPr>
          <a:xfrm>
            <a:off x="5166360" y="4315968"/>
            <a:ext cx="3767328" cy="676656"/>
          </a:xfrm>
          <a:prstGeom prst="rect">
            <a:avLst/>
          </a:prstGeom>
          <a:solidFill>
            <a:srgbClr val="1A0A30"/>
          </a:solidFill>
          <a:ln w="6350">
            <a:solidFill>
              <a:srgbClr val="7B2FBE"/>
            </a:solidFill>
            <a:prstDash val="solid"/>
          </a:ln>
        </p:spPr>
      </p:sp>
      <p:sp>
        <p:nvSpPr>
          <p:cNvPr id="51" name="Shape 49"/>
          <p:cNvSpPr/>
          <p:nvPr/>
        </p:nvSpPr>
        <p:spPr>
          <a:xfrm>
            <a:off x="5230368" y="4416552"/>
            <a:ext cx="438912" cy="438912"/>
          </a:xfrm>
          <a:prstGeom prst="ellipse">
            <a:avLst/>
          </a:prstGeom>
          <a:solidFill>
            <a:srgbClr val="7B2FBE"/>
          </a:solidFill>
          <a:ln w="12700">
            <a:solidFill>
              <a:srgbClr val="7B2FBE"/>
            </a:solidFill>
            <a:prstDash val="solid"/>
          </a:ln>
        </p:spPr>
      </p:sp>
      <p:sp>
        <p:nvSpPr>
          <p:cNvPr id="52" name="Text 50"/>
          <p:cNvSpPr/>
          <p:nvPr/>
        </p:nvSpPr>
        <p:spPr>
          <a:xfrm>
            <a:off x="5230368" y="4416552"/>
            <a:ext cx="438912" cy="438912"/>
          </a:xfrm>
          <a:prstGeom prst="rect">
            <a:avLst/>
          </a:prstGeom>
          <a:noFill/>
          <a:ln/>
        </p:spPr>
        <p:txBody>
          <a:bodyPr wrap="square" rtlCol="0" anchor="ctr"/>
          <a:lstStyle/>
          <a:p>
            <a:pPr marL="0" indent="0" algn="ctr">
              <a:buNone/>
            </a:pPr>
            <a:r>
              <a:rPr lang="en-US" sz="1600" dirty="0">
                <a:solidFill>
                  <a:srgbClr val="000000"/>
                </a:solidFill>
                <a:latin typeface="Footlight MT Light" panose="0204060206030A020304" pitchFamily="18" charset="0"/>
              </a:rPr>
              <a:t>🏁</a:t>
            </a:r>
            <a:endParaRPr lang="en-US" sz="1600" dirty="0">
              <a:latin typeface="Footlight MT Light" panose="0204060206030A020304" pitchFamily="18" charset="0"/>
            </a:endParaRPr>
          </a:p>
        </p:txBody>
      </p:sp>
      <p:sp>
        <p:nvSpPr>
          <p:cNvPr id="53" name="Text 51"/>
          <p:cNvSpPr/>
          <p:nvPr/>
        </p:nvSpPr>
        <p:spPr>
          <a:xfrm>
            <a:off x="5742432" y="4370832"/>
            <a:ext cx="3127248" cy="237744"/>
          </a:xfrm>
          <a:prstGeom prst="rect">
            <a:avLst/>
          </a:prstGeom>
          <a:noFill/>
          <a:ln/>
        </p:spPr>
        <p:txBody>
          <a:bodyPr wrap="square" rtlCol="0" anchor="ctr"/>
          <a:lstStyle/>
          <a:p>
            <a:pPr marL="0" indent="0">
              <a:buNone/>
            </a:pPr>
            <a:r>
              <a:rPr lang="en-US" sz="1050" b="1" dirty="0">
                <a:solidFill>
                  <a:srgbClr val="00F5D4"/>
                </a:solidFill>
                <a:latin typeface="Footlight MT Light" panose="0204060206030A020304" pitchFamily="18" charset="0"/>
                <a:ea typeface="Calibri" pitchFamily="34" charset="-122"/>
                <a:cs typeface="Calibri" pitchFamily="34" charset="-120"/>
              </a:rPr>
              <a:t>Full In-Country Handover</a:t>
            </a:r>
            <a:endParaRPr lang="en-US" sz="1050" dirty="0">
              <a:latin typeface="Footlight MT Light" panose="0204060206030A020304" pitchFamily="18" charset="0"/>
            </a:endParaRPr>
          </a:p>
        </p:txBody>
      </p:sp>
      <p:sp>
        <p:nvSpPr>
          <p:cNvPr id="54" name="Text 52"/>
          <p:cNvSpPr/>
          <p:nvPr/>
        </p:nvSpPr>
        <p:spPr>
          <a:xfrm>
            <a:off x="5742432" y="4626864"/>
            <a:ext cx="3127248" cy="329184"/>
          </a:xfrm>
          <a:prstGeom prst="rect">
            <a:avLst/>
          </a:prstGeom>
          <a:noFill/>
          <a:ln/>
        </p:spPr>
        <p:txBody>
          <a:bodyPr wrap="square" rtlCol="0" anchor="ctr"/>
          <a:lstStyle/>
          <a:p>
            <a:pPr marL="0" indent="0">
              <a:buNone/>
            </a:pPr>
            <a:r>
              <a:rPr lang="en-US" sz="900" dirty="0">
                <a:solidFill>
                  <a:srgbClr val="CCBBEE"/>
                </a:solidFill>
                <a:latin typeface="Footlight MT Light" panose="0204060206030A020304" pitchFamily="18" charset="0"/>
                <a:ea typeface="Calibri" pitchFamily="34" charset="-122"/>
                <a:cs typeface="Calibri" pitchFamily="34" charset="-120"/>
              </a:rPr>
              <a:t>Progressive handover to Guinean-staffed team. SI retains remote technical support and annual system upgrade role post-transition.</a:t>
            </a:r>
            <a:endParaRPr lang="en-US" sz="900" dirty="0">
              <a:latin typeface="Footlight MT Light" panose="0204060206030A020304" pitchFamily="18" charset="0"/>
            </a:endParaRPr>
          </a:p>
        </p:txBody>
      </p:sp>
      <p:sp>
        <p:nvSpPr>
          <p:cNvPr id="55" name="Shape 53"/>
          <p:cNvSpPr/>
          <p:nvPr/>
        </p:nvSpPr>
        <p:spPr>
          <a:xfrm>
            <a:off x="0" y="4974336"/>
            <a:ext cx="9144000" cy="169164"/>
          </a:xfrm>
          <a:prstGeom prst="rect">
            <a:avLst/>
          </a:prstGeom>
          <a:solidFill>
            <a:srgbClr val="7B2FBE"/>
          </a:solidFill>
          <a:ln w="12700">
            <a:solidFill>
              <a:srgbClr val="7B2FBE"/>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E8A020"/>
          </a:solidFill>
          <a:ln w="12700">
            <a:solidFill>
              <a:srgbClr val="E8A020"/>
            </a:solidFill>
            <a:prstDash val="solid"/>
          </a:ln>
        </p:spPr>
      </p:sp>
      <p:sp>
        <p:nvSpPr>
          <p:cNvPr id="3" name="Text 1"/>
          <p:cNvSpPr/>
          <p:nvPr/>
        </p:nvSpPr>
        <p:spPr>
          <a:xfrm>
            <a:off x="347472" y="54864"/>
            <a:ext cx="8229600" cy="256032"/>
          </a:xfrm>
          <a:prstGeom prst="rect">
            <a:avLst/>
          </a:prstGeom>
          <a:noFill/>
          <a:ln/>
        </p:spPr>
        <p:txBody>
          <a:bodyPr wrap="square" rtlCol="0" anchor="ctr"/>
          <a:lstStyle/>
          <a:p>
            <a:pPr marL="0" indent="0">
              <a:buNone/>
            </a:pPr>
            <a:r>
              <a:rPr lang="en-US" sz="1100" b="1" kern="0" spc="200" dirty="0">
                <a:solidFill>
                  <a:srgbClr val="0A2540"/>
                </a:solidFill>
                <a:latin typeface="Footlight MT Light" panose="0204060206030A020304" pitchFamily="18" charset="0"/>
                <a:ea typeface="Trebuchet MS" pitchFamily="34" charset="-122"/>
                <a:cs typeface="Trebuchet MS" pitchFamily="34" charset="-120"/>
              </a:rPr>
              <a:t>INTEGRATED IMPACT</a:t>
            </a:r>
            <a:endParaRPr lang="en-US" sz="1100" dirty="0">
              <a:latin typeface="Footlight MT Light" panose="0204060206030A020304" pitchFamily="18" charset="0"/>
            </a:endParaRPr>
          </a:p>
        </p:txBody>
      </p:sp>
      <p:sp>
        <p:nvSpPr>
          <p:cNvPr id="4" name="Text 2"/>
          <p:cNvSpPr/>
          <p:nvPr/>
        </p:nvSpPr>
        <p:spPr>
          <a:xfrm>
            <a:off x="128693" y="329184"/>
            <a:ext cx="8961119" cy="420624"/>
          </a:xfrm>
          <a:prstGeom prst="rect">
            <a:avLst/>
          </a:prstGeom>
          <a:noFill/>
          <a:ln/>
        </p:spPr>
        <p:txBody>
          <a:bodyPr wrap="square" rtlCol="0" anchor="ctr"/>
          <a:lstStyle/>
          <a:p>
            <a:pPr marL="0" indent="0">
              <a:buNone/>
            </a:pPr>
            <a:r>
              <a:rPr lang="en-US" sz="1950" b="1" dirty="0">
                <a:solidFill>
                  <a:srgbClr val="0A2540"/>
                </a:solidFill>
                <a:latin typeface="Footlight MT Light" panose="0204060206030A020304" pitchFamily="18" charset="0"/>
                <a:ea typeface="Georgia" pitchFamily="34" charset="-122"/>
                <a:cs typeface="Georgia" pitchFamily="34" charset="-120"/>
              </a:rPr>
              <a:t>Revenue Assurance &amp; ASM Regularisation for Guinea — 4-Platform Combined Effect</a:t>
            </a:r>
            <a:endParaRPr lang="en-US" sz="1950" dirty="0">
              <a:latin typeface="Footlight MT Light" panose="0204060206030A020304" pitchFamily="18" charset="0"/>
            </a:endParaRPr>
          </a:p>
        </p:txBody>
      </p:sp>
      <p:sp>
        <p:nvSpPr>
          <p:cNvPr id="5" name="Shape 3"/>
          <p:cNvSpPr/>
          <p:nvPr/>
        </p:nvSpPr>
        <p:spPr>
          <a:xfrm>
            <a:off x="201168" y="877824"/>
            <a:ext cx="2724912" cy="274320"/>
          </a:xfrm>
          <a:prstGeom prst="rect">
            <a:avLst/>
          </a:prstGeom>
          <a:solidFill>
            <a:srgbClr val="8B1A1A"/>
          </a:solidFill>
          <a:ln w="12700">
            <a:solidFill>
              <a:srgbClr val="8B1A1A"/>
            </a:solidFill>
            <a:prstDash val="solid"/>
          </a:ln>
        </p:spPr>
      </p:sp>
      <p:sp>
        <p:nvSpPr>
          <p:cNvPr id="6" name="Text 4"/>
          <p:cNvSpPr/>
          <p:nvPr/>
        </p:nvSpPr>
        <p:spPr>
          <a:xfrm>
            <a:off x="201168" y="877824"/>
            <a:ext cx="2724912" cy="274320"/>
          </a:xfrm>
          <a:prstGeom prst="rect">
            <a:avLst/>
          </a:prstGeom>
          <a:noFill/>
          <a:ln/>
        </p:spPr>
        <p:txBody>
          <a:bodyPr wrap="square" rtlCol="0" anchor="ctr"/>
          <a:lstStyle/>
          <a:p>
            <a:pPr marL="0" indent="0" algn="ctr">
              <a:buNone/>
            </a:pPr>
            <a:r>
              <a:rPr lang="en-US" sz="950" b="1" dirty="0">
                <a:solidFill>
                  <a:srgbClr val="FFFFFF"/>
                </a:solidFill>
                <a:latin typeface="Footlight MT Light" panose="0204060206030A020304" pitchFamily="18" charset="0"/>
                <a:ea typeface="Trebuchet MS" pitchFamily="34" charset="-122"/>
                <a:cs typeface="Trebuchet MS" pitchFamily="34" charset="-120"/>
              </a:rPr>
              <a:t>GUINEA'S PROBLEM</a:t>
            </a:r>
            <a:endParaRPr lang="en-US" sz="950" dirty="0">
              <a:latin typeface="Footlight MT Light" panose="0204060206030A020304" pitchFamily="18" charset="0"/>
            </a:endParaRPr>
          </a:p>
        </p:txBody>
      </p:sp>
      <p:sp>
        <p:nvSpPr>
          <p:cNvPr id="7" name="Shape 5"/>
          <p:cNvSpPr/>
          <p:nvPr/>
        </p:nvSpPr>
        <p:spPr>
          <a:xfrm>
            <a:off x="3090672" y="877824"/>
            <a:ext cx="2962656" cy="274320"/>
          </a:xfrm>
          <a:prstGeom prst="rect">
            <a:avLst/>
          </a:prstGeom>
          <a:solidFill>
            <a:srgbClr val="0A3D62"/>
          </a:solidFill>
          <a:ln w="12700">
            <a:solidFill>
              <a:srgbClr val="0A3D62"/>
            </a:solidFill>
            <a:prstDash val="solid"/>
          </a:ln>
        </p:spPr>
      </p:sp>
      <p:sp>
        <p:nvSpPr>
          <p:cNvPr id="8" name="Text 6"/>
          <p:cNvSpPr/>
          <p:nvPr/>
        </p:nvSpPr>
        <p:spPr>
          <a:xfrm>
            <a:off x="3090672" y="877824"/>
            <a:ext cx="2962656" cy="274320"/>
          </a:xfrm>
          <a:prstGeom prst="rect">
            <a:avLst/>
          </a:prstGeom>
          <a:noFill/>
          <a:ln/>
        </p:spPr>
        <p:txBody>
          <a:bodyPr wrap="square" rtlCol="0" anchor="ctr"/>
          <a:lstStyle/>
          <a:p>
            <a:pPr marL="0" indent="0" algn="ctr">
              <a:buNone/>
            </a:pPr>
            <a:r>
              <a:rPr lang="en-US" sz="950" b="1" dirty="0">
                <a:solidFill>
                  <a:srgbClr val="FFFFFF"/>
                </a:solidFill>
                <a:latin typeface="Footlight MT Light" panose="0204060206030A020304" pitchFamily="18" charset="0"/>
                <a:ea typeface="Trebuchet MS" pitchFamily="34" charset="-122"/>
                <a:cs typeface="Trebuchet MS" pitchFamily="34" charset="-120"/>
              </a:rPr>
              <a:t>SMART INNOVATIONS SOLUTION</a:t>
            </a:r>
            <a:endParaRPr lang="en-US" sz="950" dirty="0">
              <a:latin typeface="Footlight MT Light" panose="0204060206030A020304" pitchFamily="18" charset="0"/>
            </a:endParaRPr>
          </a:p>
        </p:txBody>
      </p:sp>
      <p:sp>
        <p:nvSpPr>
          <p:cNvPr id="9" name="Shape 7"/>
          <p:cNvSpPr/>
          <p:nvPr/>
        </p:nvSpPr>
        <p:spPr>
          <a:xfrm>
            <a:off x="6217920" y="877824"/>
            <a:ext cx="2724912" cy="274320"/>
          </a:xfrm>
          <a:prstGeom prst="rect">
            <a:avLst/>
          </a:prstGeom>
          <a:solidFill>
            <a:srgbClr val="1E6B3C"/>
          </a:solidFill>
          <a:ln w="12700">
            <a:solidFill>
              <a:srgbClr val="1E6B3C"/>
            </a:solidFill>
            <a:prstDash val="solid"/>
          </a:ln>
        </p:spPr>
      </p:sp>
      <p:sp>
        <p:nvSpPr>
          <p:cNvPr id="10" name="Text 8"/>
          <p:cNvSpPr/>
          <p:nvPr/>
        </p:nvSpPr>
        <p:spPr>
          <a:xfrm>
            <a:off x="6217920" y="877824"/>
            <a:ext cx="2724912" cy="274320"/>
          </a:xfrm>
          <a:prstGeom prst="rect">
            <a:avLst/>
          </a:prstGeom>
          <a:noFill/>
          <a:ln/>
        </p:spPr>
        <p:txBody>
          <a:bodyPr wrap="square" rtlCol="0" anchor="ctr"/>
          <a:lstStyle/>
          <a:p>
            <a:pPr marL="0" indent="0" algn="ctr">
              <a:buNone/>
            </a:pPr>
            <a:r>
              <a:rPr lang="en-US" sz="950" b="1" dirty="0">
                <a:solidFill>
                  <a:srgbClr val="FFFFFF"/>
                </a:solidFill>
                <a:latin typeface="Footlight MT Light" panose="0204060206030A020304" pitchFamily="18" charset="0"/>
                <a:ea typeface="Trebuchet MS" pitchFamily="34" charset="-122"/>
                <a:cs typeface="Trebuchet MS" pitchFamily="34" charset="-120"/>
              </a:rPr>
              <a:t>GUINEA'S OUTCOME</a:t>
            </a:r>
            <a:endParaRPr lang="en-US" sz="950" dirty="0">
              <a:latin typeface="Footlight MT Light" panose="0204060206030A020304" pitchFamily="18" charset="0"/>
            </a:endParaRPr>
          </a:p>
        </p:txBody>
      </p:sp>
      <p:sp>
        <p:nvSpPr>
          <p:cNvPr id="11" name="Shape 9"/>
          <p:cNvSpPr/>
          <p:nvPr/>
        </p:nvSpPr>
        <p:spPr>
          <a:xfrm>
            <a:off x="201168" y="1207008"/>
            <a:ext cx="2724912" cy="822960"/>
          </a:xfrm>
          <a:prstGeom prst="rect">
            <a:avLst/>
          </a:prstGeom>
          <a:solidFill>
            <a:srgbClr val="1E0A0A"/>
          </a:solidFill>
          <a:ln w="6350">
            <a:solidFill>
              <a:srgbClr val="8B1A1A"/>
            </a:solidFill>
            <a:prstDash val="solid"/>
          </a:ln>
        </p:spPr>
      </p:sp>
      <p:sp>
        <p:nvSpPr>
          <p:cNvPr id="12" name="Text 10"/>
          <p:cNvSpPr/>
          <p:nvPr/>
        </p:nvSpPr>
        <p:spPr>
          <a:xfrm>
            <a:off x="274320" y="1261872"/>
            <a:ext cx="2578608" cy="713232"/>
          </a:xfrm>
          <a:prstGeom prst="rect">
            <a:avLst/>
          </a:prstGeom>
          <a:noFill/>
          <a:ln/>
        </p:spPr>
        <p:txBody>
          <a:bodyPr wrap="square" rtlCol="0" anchor="ctr"/>
          <a:lstStyle/>
          <a:p>
            <a:pPr marL="0" indent="0">
              <a:buNone/>
            </a:pPr>
            <a:r>
              <a:rPr lang="en-US" sz="950" dirty="0">
                <a:solidFill>
                  <a:srgbClr val="FFAAAA"/>
                </a:solidFill>
                <a:latin typeface="Footlight MT Light" panose="0204060206030A020304" pitchFamily="18" charset="0"/>
                <a:ea typeface="Calibri" pitchFamily="34" charset="-122"/>
                <a:cs typeface="Calibri" pitchFamily="34" charset="-120"/>
              </a:rPr>
              <a:t>80%+ ASM miners unregistered — no royalties, no taxes, no oversight</a:t>
            </a:r>
            <a:endParaRPr lang="en-US" sz="950" dirty="0">
              <a:latin typeface="Footlight MT Light" panose="0204060206030A020304" pitchFamily="18" charset="0"/>
            </a:endParaRPr>
          </a:p>
        </p:txBody>
      </p:sp>
      <p:sp>
        <p:nvSpPr>
          <p:cNvPr id="13" name="Text 11"/>
          <p:cNvSpPr/>
          <p:nvPr/>
        </p:nvSpPr>
        <p:spPr>
          <a:xfrm>
            <a:off x="2944368" y="1481328"/>
            <a:ext cx="182880" cy="310896"/>
          </a:xfrm>
          <a:prstGeom prst="rect">
            <a:avLst/>
          </a:prstGeom>
          <a:noFill/>
          <a:ln/>
        </p:spPr>
        <p:txBody>
          <a:bodyPr wrap="square" rtlCol="0" anchor="ctr"/>
          <a:lstStyle/>
          <a:p>
            <a:pPr marL="0" indent="0" algn="ctr">
              <a:buNone/>
            </a:pPr>
            <a:r>
              <a:rPr lang="en-US" sz="2000" b="1" dirty="0">
                <a:solidFill>
                  <a:srgbClr val="E8A020"/>
                </a:solidFill>
                <a:latin typeface="Footlight MT Light" panose="0204060206030A020304" pitchFamily="18" charset="0"/>
              </a:rPr>
              <a:t>→</a:t>
            </a:r>
            <a:endParaRPr lang="en-US" sz="2000" dirty="0">
              <a:latin typeface="Footlight MT Light" panose="0204060206030A020304" pitchFamily="18" charset="0"/>
            </a:endParaRPr>
          </a:p>
        </p:txBody>
      </p:sp>
      <p:sp>
        <p:nvSpPr>
          <p:cNvPr id="14" name="Shape 12"/>
          <p:cNvSpPr/>
          <p:nvPr/>
        </p:nvSpPr>
        <p:spPr>
          <a:xfrm>
            <a:off x="3090672" y="1207008"/>
            <a:ext cx="2962656" cy="822960"/>
          </a:xfrm>
          <a:prstGeom prst="rect">
            <a:avLst/>
          </a:prstGeom>
          <a:solidFill>
            <a:srgbClr val="071830"/>
          </a:solidFill>
          <a:ln w="6350">
            <a:solidFill>
              <a:srgbClr val="0A3D62"/>
            </a:solidFill>
            <a:prstDash val="solid"/>
          </a:ln>
        </p:spPr>
      </p:sp>
      <p:sp>
        <p:nvSpPr>
          <p:cNvPr id="15" name="Text 13"/>
          <p:cNvSpPr/>
          <p:nvPr/>
        </p:nvSpPr>
        <p:spPr>
          <a:xfrm>
            <a:off x="3163824" y="1261872"/>
            <a:ext cx="2816352" cy="713232"/>
          </a:xfrm>
          <a:prstGeom prst="rect">
            <a:avLst/>
          </a:prstGeom>
          <a:noFill/>
          <a:ln/>
        </p:spPr>
        <p:txBody>
          <a:bodyPr wrap="square" rtlCol="0" anchor="ctr"/>
          <a:lstStyle/>
          <a:p>
            <a:pPr marL="0" indent="0">
              <a:buNone/>
            </a:pPr>
            <a:r>
              <a:rPr lang="en-US" sz="950" dirty="0">
                <a:solidFill>
                  <a:srgbClr val="AACCFF"/>
                </a:solidFill>
                <a:latin typeface="Footlight MT Light" panose="0204060206030A020304" pitchFamily="18" charset="0"/>
                <a:ea typeface="Calibri" pitchFamily="34" charset="-122"/>
                <a:cs typeface="Calibri" pitchFamily="34" charset="-120"/>
              </a:rPr>
              <a:t>Equipment Registry links every operator and machine to a digital ID and compliance record</a:t>
            </a:r>
            <a:endParaRPr lang="en-US" sz="950" dirty="0">
              <a:latin typeface="Footlight MT Light" panose="0204060206030A020304" pitchFamily="18" charset="0"/>
            </a:endParaRPr>
          </a:p>
        </p:txBody>
      </p:sp>
      <p:sp>
        <p:nvSpPr>
          <p:cNvPr id="16" name="Text 14"/>
          <p:cNvSpPr/>
          <p:nvPr/>
        </p:nvSpPr>
        <p:spPr>
          <a:xfrm>
            <a:off x="6053328" y="1481328"/>
            <a:ext cx="182880" cy="310896"/>
          </a:xfrm>
          <a:prstGeom prst="rect">
            <a:avLst/>
          </a:prstGeom>
          <a:noFill/>
          <a:ln/>
        </p:spPr>
        <p:txBody>
          <a:bodyPr wrap="square" rtlCol="0" anchor="ctr"/>
          <a:lstStyle/>
          <a:p>
            <a:pPr marL="0" indent="0" algn="ctr">
              <a:buNone/>
            </a:pPr>
            <a:r>
              <a:rPr lang="en-US" sz="2000" b="1" dirty="0">
                <a:solidFill>
                  <a:srgbClr val="E8A020"/>
                </a:solidFill>
                <a:latin typeface="Footlight MT Light" panose="0204060206030A020304" pitchFamily="18" charset="0"/>
              </a:rPr>
              <a:t>→</a:t>
            </a:r>
            <a:endParaRPr lang="en-US" sz="2000" dirty="0">
              <a:latin typeface="Footlight MT Light" panose="0204060206030A020304" pitchFamily="18" charset="0"/>
            </a:endParaRPr>
          </a:p>
        </p:txBody>
      </p:sp>
      <p:sp>
        <p:nvSpPr>
          <p:cNvPr id="17" name="Shape 15"/>
          <p:cNvSpPr/>
          <p:nvPr/>
        </p:nvSpPr>
        <p:spPr>
          <a:xfrm>
            <a:off x="6217920" y="1207008"/>
            <a:ext cx="2724912" cy="822960"/>
          </a:xfrm>
          <a:prstGeom prst="rect">
            <a:avLst/>
          </a:prstGeom>
          <a:solidFill>
            <a:srgbClr val="081A0C"/>
          </a:solidFill>
          <a:ln w="6350">
            <a:solidFill>
              <a:srgbClr val="1E6B3C"/>
            </a:solidFill>
            <a:prstDash val="solid"/>
          </a:ln>
        </p:spPr>
      </p:sp>
      <p:sp>
        <p:nvSpPr>
          <p:cNvPr id="18" name="Text 16"/>
          <p:cNvSpPr/>
          <p:nvPr/>
        </p:nvSpPr>
        <p:spPr>
          <a:xfrm>
            <a:off x="6291072" y="1261872"/>
            <a:ext cx="2578608" cy="713232"/>
          </a:xfrm>
          <a:prstGeom prst="rect">
            <a:avLst/>
          </a:prstGeom>
          <a:noFill/>
          <a:ln/>
        </p:spPr>
        <p:txBody>
          <a:bodyPr wrap="square" rtlCol="0" anchor="ctr"/>
          <a:lstStyle/>
          <a:p>
            <a:pPr marL="0" indent="0">
              <a:buNone/>
            </a:pPr>
            <a:r>
              <a:rPr lang="en-US" sz="950" dirty="0">
                <a:solidFill>
                  <a:srgbClr val="AAFFBB"/>
                </a:solidFill>
                <a:latin typeface="Footlight MT Light" panose="0204060206030A020304" pitchFamily="18" charset="0"/>
                <a:ea typeface="Calibri" pitchFamily="34" charset="-122"/>
                <a:cs typeface="Calibri" pitchFamily="34" charset="-120"/>
              </a:rPr>
              <a:t>All active ASM operators captured in national registry; royalty collection begins at point of registration</a:t>
            </a:r>
            <a:endParaRPr lang="en-US" sz="950" dirty="0">
              <a:latin typeface="Footlight MT Light" panose="0204060206030A020304" pitchFamily="18" charset="0"/>
            </a:endParaRPr>
          </a:p>
        </p:txBody>
      </p:sp>
      <p:sp>
        <p:nvSpPr>
          <p:cNvPr id="19" name="Shape 17"/>
          <p:cNvSpPr/>
          <p:nvPr/>
        </p:nvSpPr>
        <p:spPr>
          <a:xfrm>
            <a:off x="201168" y="2139696"/>
            <a:ext cx="2724912" cy="822960"/>
          </a:xfrm>
          <a:prstGeom prst="rect">
            <a:avLst/>
          </a:prstGeom>
          <a:solidFill>
            <a:srgbClr val="1E0A0A"/>
          </a:solidFill>
          <a:ln w="6350">
            <a:solidFill>
              <a:srgbClr val="8B1A1A"/>
            </a:solidFill>
            <a:prstDash val="solid"/>
          </a:ln>
        </p:spPr>
      </p:sp>
      <p:sp>
        <p:nvSpPr>
          <p:cNvPr id="20" name="Text 18"/>
          <p:cNvSpPr/>
          <p:nvPr/>
        </p:nvSpPr>
        <p:spPr>
          <a:xfrm>
            <a:off x="274320" y="2194560"/>
            <a:ext cx="2578608" cy="713232"/>
          </a:xfrm>
          <a:prstGeom prst="rect">
            <a:avLst/>
          </a:prstGeom>
          <a:noFill/>
          <a:ln/>
        </p:spPr>
        <p:txBody>
          <a:bodyPr wrap="square" rtlCol="0" anchor="ctr"/>
          <a:lstStyle/>
          <a:p>
            <a:pPr marL="0" indent="0">
              <a:buNone/>
            </a:pPr>
            <a:r>
              <a:rPr lang="en-US" sz="950" dirty="0">
                <a:solidFill>
                  <a:srgbClr val="FFAAAA"/>
                </a:solidFill>
                <a:latin typeface="Footlight MT Light" panose="0204060206030A020304" pitchFamily="18" charset="0"/>
                <a:ea typeface="Calibri" pitchFamily="34" charset="-122"/>
                <a:cs typeface="Calibri" pitchFamily="34" charset="-120"/>
              </a:rPr>
              <a:t>Gold smuggled across borders — Guinea loses US$500M+ in annual revenues</a:t>
            </a:r>
            <a:endParaRPr lang="en-US" sz="950" dirty="0">
              <a:latin typeface="Footlight MT Light" panose="0204060206030A020304" pitchFamily="18" charset="0"/>
            </a:endParaRPr>
          </a:p>
        </p:txBody>
      </p:sp>
      <p:sp>
        <p:nvSpPr>
          <p:cNvPr id="21" name="Text 19"/>
          <p:cNvSpPr/>
          <p:nvPr/>
        </p:nvSpPr>
        <p:spPr>
          <a:xfrm>
            <a:off x="2944368" y="2414016"/>
            <a:ext cx="182880" cy="310896"/>
          </a:xfrm>
          <a:prstGeom prst="rect">
            <a:avLst/>
          </a:prstGeom>
          <a:noFill/>
          <a:ln/>
        </p:spPr>
        <p:txBody>
          <a:bodyPr wrap="square" rtlCol="0" anchor="ctr"/>
          <a:lstStyle/>
          <a:p>
            <a:pPr marL="0" indent="0" algn="ctr">
              <a:buNone/>
            </a:pPr>
            <a:r>
              <a:rPr lang="en-US" sz="2000" b="1" dirty="0">
                <a:solidFill>
                  <a:srgbClr val="E8A020"/>
                </a:solidFill>
                <a:latin typeface="Footlight MT Light" panose="0204060206030A020304" pitchFamily="18" charset="0"/>
              </a:rPr>
              <a:t>→</a:t>
            </a:r>
            <a:endParaRPr lang="en-US" sz="2000" dirty="0">
              <a:latin typeface="Footlight MT Light" panose="0204060206030A020304" pitchFamily="18" charset="0"/>
            </a:endParaRPr>
          </a:p>
        </p:txBody>
      </p:sp>
      <p:sp>
        <p:nvSpPr>
          <p:cNvPr id="22" name="Shape 20"/>
          <p:cNvSpPr/>
          <p:nvPr/>
        </p:nvSpPr>
        <p:spPr>
          <a:xfrm>
            <a:off x="3090672" y="2139696"/>
            <a:ext cx="2962656" cy="822960"/>
          </a:xfrm>
          <a:prstGeom prst="rect">
            <a:avLst/>
          </a:prstGeom>
          <a:solidFill>
            <a:srgbClr val="071830"/>
          </a:solidFill>
          <a:ln w="6350">
            <a:solidFill>
              <a:srgbClr val="0A3D62"/>
            </a:solidFill>
            <a:prstDash val="solid"/>
          </a:ln>
        </p:spPr>
      </p:sp>
      <p:sp>
        <p:nvSpPr>
          <p:cNvPr id="23" name="Text 21"/>
          <p:cNvSpPr/>
          <p:nvPr/>
        </p:nvSpPr>
        <p:spPr>
          <a:xfrm>
            <a:off x="3163824" y="2194560"/>
            <a:ext cx="2816352" cy="713232"/>
          </a:xfrm>
          <a:prstGeom prst="rect">
            <a:avLst/>
          </a:prstGeom>
          <a:noFill/>
          <a:ln/>
        </p:spPr>
        <p:txBody>
          <a:bodyPr wrap="square" rtlCol="0" anchor="ctr"/>
          <a:lstStyle/>
          <a:p>
            <a:pPr marL="0" indent="0">
              <a:buNone/>
            </a:pPr>
            <a:r>
              <a:rPr lang="en-US" sz="950" dirty="0">
                <a:solidFill>
                  <a:srgbClr val="AACCFF"/>
                </a:solidFill>
                <a:latin typeface="Footlight MT Light" panose="0204060206030A020304" pitchFamily="18" charset="0"/>
                <a:ea typeface="Calibri" pitchFamily="34" charset="-122"/>
                <a:cs typeface="Calibri" pitchFamily="34" charset="-120"/>
              </a:rPr>
              <a:t>End-to-end Gold Traceability: every gram tracked from mine face to export certificate with digital chain of custody</a:t>
            </a:r>
            <a:endParaRPr lang="en-US" sz="950" dirty="0">
              <a:latin typeface="Footlight MT Light" panose="0204060206030A020304" pitchFamily="18" charset="0"/>
            </a:endParaRPr>
          </a:p>
        </p:txBody>
      </p:sp>
      <p:sp>
        <p:nvSpPr>
          <p:cNvPr id="24" name="Text 22"/>
          <p:cNvSpPr/>
          <p:nvPr/>
        </p:nvSpPr>
        <p:spPr>
          <a:xfrm>
            <a:off x="6053328" y="2414016"/>
            <a:ext cx="182880" cy="310896"/>
          </a:xfrm>
          <a:prstGeom prst="rect">
            <a:avLst/>
          </a:prstGeom>
          <a:noFill/>
          <a:ln/>
        </p:spPr>
        <p:txBody>
          <a:bodyPr wrap="square" rtlCol="0" anchor="ctr"/>
          <a:lstStyle/>
          <a:p>
            <a:pPr marL="0" indent="0" algn="ctr">
              <a:buNone/>
            </a:pPr>
            <a:r>
              <a:rPr lang="en-US" sz="2000" b="1" dirty="0">
                <a:solidFill>
                  <a:srgbClr val="E8A020"/>
                </a:solidFill>
                <a:latin typeface="Footlight MT Light" panose="0204060206030A020304" pitchFamily="18" charset="0"/>
              </a:rPr>
              <a:t>→</a:t>
            </a:r>
            <a:endParaRPr lang="en-US" sz="2000" dirty="0">
              <a:latin typeface="Footlight MT Light" panose="0204060206030A020304" pitchFamily="18" charset="0"/>
            </a:endParaRPr>
          </a:p>
        </p:txBody>
      </p:sp>
      <p:sp>
        <p:nvSpPr>
          <p:cNvPr id="25" name="Shape 23"/>
          <p:cNvSpPr/>
          <p:nvPr/>
        </p:nvSpPr>
        <p:spPr>
          <a:xfrm>
            <a:off x="6217920" y="2139696"/>
            <a:ext cx="2724912" cy="822960"/>
          </a:xfrm>
          <a:prstGeom prst="rect">
            <a:avLst/>
          </a:prstGeom>
          <a:solidFill>
            <a:srgbClr val="081A0C"/>
          </a:solidFill>
          <a:ln w="6350">
            <a:solidFill>
              <a:srgbClr val="1E6B3C"/>
            </a:solidFill>
            <a:prstDash val="solid"/>
          </a:ln>
        </p:spPr>
      </p:sp>
      <p:sp>
        <p:nvSpPr>
          <p:cNvPr id="26" name="Text 24"/>
          <p:cNvSpPr/>
          <p:nvPr/>
        </p:nvSpPr>
        <p:spPr>
          <a:xfrm>
            <a:off x="6291072" y="2194560"/>
            <a:ext cx="2578608" cy="713232"/>
          </a:xfrm>
          <a:prstGeom prst="rect">
            <a:avLst/>
          </a:prstGeom>
          <a:noFill/>
          <a:ln/>
        </p:spPr>
        <p:txBody>
          <a:bodyPr wrap="square" rtlCol="0" anchor="ctr"/>
          <a:lstStyle/>
          <a:p>
            <a:pPr marL="0" indent="0">
              <a:buNone/>
            </a:pPr>
            <a:r>
              <a:rPr lang="en-US" sz="950" dirty="0">
                <a:solidFill>
                  <a:srgbClr val="AAFFBB"/>
                </a:solidFill>
                <a:latin typeface="Footlight MT Light" panose="0204060206030A020304" pitchFamily="18" charset="0"/>
                <a:ea typeface="Calibri" pitchFamily="34" charset="-122"/>
                <a:cs typeface="Calibri" pitchFamily="34" charset="-120"/>
              </a:rPr>
              <a:t>Smuggling routes closed; BCRG gains real-time national gold flow visibility; export volumes aligned to royalty receipts</a:t>
            </a:r>
            <a:endParaRPr lang="en-US" sz="950" dirty="0">
              <a:latin typeface="Footlight MT Light" panose="0204060206030A020304" pitchFamily="18" charset="0"/>
            </a:endParaRPr>
          </a:p>
        </p:txBody>
      </p:sp>
      <p:sp>
        <p:nvSpPr>
          <p:cNvPr id="27" name="Shape 25"/>
          <p:cNvSpPr/>
          <p:nvPr/>
        </p:nvSpPr>
        <p:spPr>
          <a:xfrm>
            <a:off x="201168" y="3072384"/>
            <a:ext cx="2724912" cy="822960"/>
          </a:xfrm>
          <a:prstGeom prst="rect">
            <a:avLst/>
          </a:prstGeom>
          <a:solidFill>
            <a:srgbClr val="1E0A0A"/>
          </a:solidFill>
          <a:ln w="6350">
            <a:solidFill>
              <a:srgbClr val="8B1A1A"/>
            </a:solidFill>
            <a:prstDash val="solid"/>
          </a:ln>
        </p:spPr>
      </p:sp>
      <p:sp>
        <p:nvSpPr>
          <p:cNvPr id="28" name="Text 26"/>
          <p:cNvSpPr/>
          <p:nvPr/>
        </p:nvSpPr>
        <p:spPr>
          <a:xfrm>
            <a:off x="274320" y="3127248"/>
            <a:ext cx="2578608" cy="713232"/>
          </a:xfrm>
          <a:prstGeom prst="rect">
            <a:avLst/>
          </a:prstGeom>
          <a:noFill/>
          <a:ln/>
        </p:spPr>
        <p:txBody>
          <a:bodyPr wrap="square" rtlCol="0" anchor="ctr"/>
          <a:lstStyle/>
          <a:p>
            <a:pPr marL="0" indent="0">
              <a:buNone/>
            </a:pPr>
            <a:r>
              <a:rPr lang="en-US" sz="950" dirty="0">
                <a:solidFill>
                  <a:srgbClr val="FFAAAA"/>
                </a:solidFill>
                <a:latin typeface="Footlight MT Light" panose="0204060206030A020304" pitchFamily="18" charset="0"/>
                <a:ea typeface="Calibri" pitchFamily="34" charset="-122"/>
                <a:cs typeface="Calibri" pitchFamily="34" charset="-120"/>
              </a:rPr>
              <a:t>LSM companies self-report production; government has no independent verification</a:t>
            </a:r>
            <a:endParaRPr lang="en-US" sz="950" dirty="0">
              <a:latin typeface="Footlight MT Light" panose="0204060206030A020304" pitchFamily="18" charset="0"/>
            </a:endParaRPr>
          </a:p>
        </p:txBody>
      </p:sp>
      <p:sp>
        <p:nvSpPr>
          <p:cNvPr id="29" name="Text 27"/>
          <p:cNvSpPr/>
          <p:nvPr/>
        </p:nvSpPr>
        <p:spPr>
          <a:xfrm>
            <a:off x="2944368" y="3346704"/>
            <a:ext cx="182880" cy="310896"/>
          </a:xfrm>
          <a:prstGeom prst="rect">
            <a:avLst/>
          </a:prstGeom>
          <a:noFill/>
          <a:ln/>
        </p:spPr>
        <p:txBody>
          <a:bodyPr wrap="square" rtlCol="0" anchor="ctr"/>
          <a:lstStyle/>
          <a:p>
            <a:pPr marL="0" indent="0" algn="ctr">
              <a:buNone/>
            </a:pPr>
            <a:r>
              <a:rPr lang="en-US" sz="2000" b="1" dirty="0">
                <a:solidFill>
                  <a:srgbClr val="E8A020"/>
                </a:solidFill>
                <a:latin typeface="Footlight MT Light" panose="0204060206030A020304" pitchFamily="18" charset="0"/>
              </a:rPr>
              <a:t>→</a:t>
            </a:r>
            <a:endParaRPr lang="en-US" sz="2000" dirty="0">
              <a:latin typeface="Footlight MT Light" panose="0204060206030A020304" pitchFamily="18" charset="0"/>
            </a:endParaRPr>
          </a:p>
        </p:txBody>
      </p:sp>
      <p:sp>
        <p:nvSpPr>
          <p:cNvPr id="30" name="Shape 28"/>
          <p:cNvSpPr/>
          <p:nvPr/>
        </p:nvSpPr>
        <p:spPr>
          <a:xfrm>
            <a:off x="3090672" y="3072384"/>
            <a:ext cx="2962656" cy="822960"/>
          </a:xfrm>
          <a:prstGeom prst="rect">
            <a:avLst/>
          </a:prstGeom>
          <a:solidFill>
            <a:srgbClr val="071830"/>
          </a:solidFill>
          <a:ln w="6350">
            <a:solidFill>
              <a:srgbClr val="0A3D62"/>
            </a:solidFill>
            <a:prstDash val="solid"/>
          </a:ln>
        </p:spPr>
      </p:sp>
      <p:sp>
        <p:nvSpPr>
          <p:cNvPr id="31" name="Text 29"/>
          <p:cNvSpPr/>
          <p:nvPr/>
        </p:nvSpPr>
        <p:spPr>
          <a:xfrm>
            <a:off x="3163824" y="3127248"/>
            <a:ext cx="2816352" cy="713232"/>
          </a:xfrm>
          <a:prstGeom prst="rect">
            <a:avLst/>
          </a:prstGeom>
          <a:noFill/>
          <a:ln/>
        </p:spPr>
        <p:txBody>
          <a:bodyPr wrap="square" rtlCol="0" anchor="ctr"/>
          <a:lstStyle/>
          <a:p>
            <a:pPr marL="0" indent="0">
              <a:buNone/>
            </a:pPr>
            <a:r>
              <a:rPr lang="en-US" sz="950" dirty="0">
                <a:solidFill>
                  <a:srgbClr val="AACCFF"/>
                </a:solidFill>
                <a:latin typeface="Footlight MT Light" panose="0204060206030A020304" pitchFamily="18" charset="0"/>
                <a:ea typeface="Calibri" pitchFamily="34" charset="-122"/>
                <a:cs typeface="Calibri" pitchFamily="34" charset="-120"/>
              </a:rPr>
              <a:t>Chamber Portal: independent digital production ledger cross-referenced against equipment data, energy use, and exports</a:t>
            </a:r>
            <a:endParaRPr lang="en-US" sz="950" dirty="0">
              <a:latin typeface="Footlight MT Light" panose="0204060206030A020304" pitchFamily="18" charset="0"/>
            </a:endParaRPr>
          </a:p>
        </p:txBody>
      </p:sp>
      <p:sp>
        <p:nvSpPr>
          <p:cNvPr id="32" name="Text 30"/>
          <p:cNvSpPr/>
          <p:nvPr/>
        </p:nvSpPr>
        <p:spPr>
          <a:xfrm>
            <a:off x="6053328" y="3346704"/>
            <a:ext cx="182880" cy="310896"/>
          </a:xfrm>
          <a:prstGeom prst="rect">
            <a:avLst/>
          </a:prstGeom>
          <a:noFill/>
          <a:ln/>
        </p:spPr>
        <p:txBody>
          <a:bodyPr wrap="square" rtlCol="0" anchor="ctr"/>
          <a:lstStyle/>
          <a:p>
            <a:pPr marL="0" indent="0" algn="ctr">
              <a:buNone/>
            </a:pPr>
            <a:r>
              <a:rPr lang="en-US" sz="2000" b="1" dirty="0">
                <a:solidFill>
                  <a:srgbClr val="E8A020"/>
                </a:solidFill>
                <a:latin typeface="Footlight MT Light" panose="0204060206030A020304" pitchFamily="18" charset="0"/>
              </a:rPr>
              <a:t>→</a:t>
            </a:r>
            <a:endParaRPr lang="en-US" sz="2000" dirty="0">
              <a:latin typeface="Footlight MT Light" panose="0204060206030A020304" pitchFamily="18" charset="0"/>
            </a:endParaRPr>
          </a:p>
        </p:txBody>
      </p:sp>
      <p:sp>
        <p:nvSpPr>
          <p:cNvPr id="33" name="Shape 31"/>
          <p:cNvSpPr/>
          <p:nvPr/>
        </p:nvSpPr>
        <p:spPr>
          <a:xfrm>
            <a:off x="6217920" y="3072384"/>
            <a:ext cx="2724912" cy="822960"/>
          </a:xfrm>
          <a:prstGeom prst="rect">
            <a:avLst/>
          </a:prstGeom>
          <a:solidFill>
            <a:srgbClr val="081A0C"/>
          </a:solidFill>
          <a:ln w="6350">
            <a:solidFill>
              <a:srgbClr val="1E6B3C"/>
            </a:solidFill>
            <a:prstDash val="solid"/>
          </a:ln>
        </p:spPr>
      </p:sp>
      <p:sp>
        <p:nvSpPr>
          <p:cNvPr id="34" name="Text 32"/>
          <p:cNvSpPr/>
          <p:nvPr/>
        </p:nvSpPr>
        <p:spPr>
          <a:xfrm>
            <a:off x="6291072" y="3127248"/>
            <a:ext cx="2578608" cy="713232"/>
          </a:xfrm>
          <a:prstGeom prst="rect">
            <a:avLst/>
          </a:prstGeom>
          <a:noFill/>
          <a:ln/>
        </p:spPr>
        <p:txBody>
          <a:bodyPr wrap="square" rtlCol="0" anchor="ctr"/>
          <a:lstStyle/>
          <a:p>
            <a:pPr marL="0" indent="0">
              <a:buNone/>
            </a:pPr>
            <a:r>
              <a:rPr lang="en-US" sz="950" dirty="0">
                <a:solidFill>
                  <a:srgbClr val="AAFFBB"/>
                </a:solidFill>
                <a:latin typeface="Footlight MT Light" panose="0204060206030A020304" pitchFamily="18" charset="0"/>
                <a:ea typeface="Calibri" pitchFamily="34" charset="-122"/>
                <a:cs typeface="Calibri" pitchFamily="34" charset="-120"/>
              </a:rPr>
              <a:t>Verified production data eliminates royalty disputes; estimated 15–30% uplift in mineral revenue collection</a:t>
            </a:r>
            <a:endParaRPr lang="en-US" sz="950" dirty="0">
              <a:latin typeface="Footlight MT Light" panose="0204060206030A020304" pitchFamily="18" charset="0"/>
            </a:endParaRPr>
          </a:p>
        </p:txBody>
      </p:sp>
      <p:sp>
        <p:nvSpPr>
          <p:cNvPr id="35" name="Shape 33"/>
          <p:cNvSpPr/>
          <p:nvPr/>
        </p:nvSpPr>
        <p:spPr>
          <a:xfrm>
            <a:off x="201168" y="4005072"/>
            <a:ext cx="2724912" cy="822960"/>
          </a:xfrm>
          <a:prstGeom prst="rect">
            <a:avLst/>
          </a:prstGeom>
          <a:solidFill>
            <a:srgbClr val="1E0A0A"/>
          </a:solidFill>
          <a:ln w="6350">
            <a:solidFill>
              <a:srgbClr val="8B1A1A"/>
            </a:solidFill>
            <a:prstDash val="solid"/>
          </a:ln>
        </p:spPr>
      </p:sp>
      <p:sp>
        <p:nvSpPr>
          <p:cNvPr id="36" name="Text 34"/>
          <p:cNvSpPr/>
          <p:nvPr/>
        </p:nvSpPr>
        <p:spPr>
          <a:xfrm>
            <a:off x="274320" y="4059936"/>
            <a:ext cx="2578608" cy="713232"/>
          </a:xfrm>
          <a:prstGeom prst="rect">
            <a:avLst/>
          </a:prstGeom>
          <a:noFill/>
          <a:ln/>
        </p:spPr>
        <p:txBody>
          <a:bodyPr wrap="square" rtlCol="0" anchor="ctr"/>
          <a:lstStyle/>
          <a:p>
            <a:pPr marL="0" indent="0">
              <a:buNone/>
            </a:pPr>
            <a:r>
              <a:rPr lang="en-US" sz="950" dirty="0">
                <a:solidFill>
                  <a:srgbClr val="FFAAAA"/>
                </a:solidFill>
                <a:latin typeface="Footlight MT Light" panose="0204060206030A020304" pitchFamily="18" charset="0"/>
                <a:ea typeface="Calibri" pitchFamily="34" charset="-122"/>
                <a:cs typeface="Calibri" pitchFamily="34" charset="-120"/>
              </a:rPr>
              <a:t>Illegal ASM sites undetected — enforcement reactive, expensive, and inconsistent</a:t>
            </a:r>
            <a:endParaRPr lang="en-US" sz="950" dirty="0">
              <a:latin typeface="Footlight MT Light" panose="0204060206030A020304" pitchFamily="18" charset="0"/>
            </a:endParaRPr>
          </a:p>
        </p:txBody>
      </p:sp>
      <p:sp>
        <p:nvSpPr>
          <p:cNvPr id="37" name="Text 35"/>
          <p:cNvSpPr/>
          <p:nvPr/>
        </p:nvSpPr>
        <p:spPr>
          <a:xfrm>
            <a:off x="2944368" y="4279392"/>
            <a:ext cx="182880" cy="310896"/>
          </a:xfrm>
          <a:prstGeom prst="rect">
            <a:avLst/>
          </a:prstGeom>
          <a:noFill/>
          <a:ln/>
        </p:spPr>
        <p:txBody>
          <a:bodyPr wrap="square" rtlCol="0" anchor="ctr"/>
          <a:lstStyle/>
          <a:p>
            <a:pPr marL="0" indent="0" algn="ctr">
              <a:buNone/>
            </a:pPr>
            <a:r>
              <a:rPr lang="en-US" sz="2000" b="1" dirty="0">
                <a:solidFill>
                  <a:srgbClr val="E8A020"/>
                </a:solidFill>
                <a:latin typeface="Footlight MT Light" panose="0204060206030A020304" pitchFamily="18" charset="0"/>
              </a:rPr>
              <a:t>→</a:t>
            </a:r>
            <a:endParaRPr lang="en-US" sz="2000" dirty="0">
              <a:latin typeface="Footlight MT Light" panose="0204060206030A020304" pitchFamily="18" charset="0"/>
            </a:endParaRPr>
          </a:p>
        </p:txBody>
      </p:sp>
      <p:sp>
        <p:nvSpPr>
          <p:cNvPr id="38" name="Shape 36"/>
          <p:cNvSpPr/>
          <p:nvPr/>
        </p:nvSpPr>
        <p:spPr>
          <a:xfrm>
            <a:off x="3090672" y="4005072"/>
            <a:ext cx="2962656" cy="822960"/>
          </a:xfrm>
          <a:prstGeom prst="rect">
            <a:avLst/>
          </a:prstGeom>
          <a:solidFill>
            <a:srgbClr val="071830"/>
          </a:solidFill>
          <a:ln w="6350">
            <a:solidFill>
              <a:srgbClr val="0A3D62"/>
            </a:solidFill>
            <a:prstDash val="solid"/>
          </a:ln>
        </p:spPr>
      </p:sp>
      <p:sp>
        <p:nvSpPr>
          <p:cNvPr id="39" name="Text 37"/>
          <p:cNvSpPr/>
          <p:nvPr/>
        </p:nvSpPr>
        <p:spPr>
          <a:xfrm>
            <a:off x="3163824" y="4059936"/>
            <a:ext cx="2816352" cy="713232"/>
          </a:xfrm>
          <a:prstGeom prst="rect">
            <a:avLst/>
          </a:prstGeom>
          <a:noFill/>
          <a:ln/>
        </p:spPr>
        <p:txBody>
          <a:bodyPr wrap="square" rtlCol="0" anchor="ctr"/>
          <a:lstStyle/>
          <a:p>
            <a:pPr marL="0" indent="0">
              <a:buNone/>
            </a:pPr>
            <a:r>
              <a:rPr lang="en-US" sz="950" dirty="0">
                <a:solidFill>
                  <a:srgbClr val="AACCFF"/>
                </a:solidFill>
                <a:latin typeface="Footlight MT Light" panose="0204060206030A020304" pitchFamily="18" charset="0"/>
                <a:ea typeface="Calibri" pitchFamily="34" charset="-122"/>
                <a:cs typeface="Calibri" pitchFamily="34" charset="-120"/>
              </a:rPr>
              <a:t>AI Drone Monitoring + 24/7 Control Room: every site surveilled, illegal activity detected in real time and dispatched</a:t>
            </a:r>
            <a:endParaRPr lang="en-US" sz="950" dirty="0">
              <a:latin typeface="Footlight MT Light" panose="0204060206030A020304" pitchFamily="18" charset="0"/>
            </a:endParaRPr>
          </a:p>
        </p:txBody>
      </p:sp>
      <p:sp>
        <p:nvSpPr>
          <p:cNvPr id="40" name="Text 38"/>
          <p:cNvSpPr/>
          <p:nvPr/>
        </p:nvSpPr>
        <p:spPr>
          <a:xfrm>
            <a:off x="6053328" y="4279392"/>
            <a:ext cx="182880" cy="310896"/>
          </a:xfrm>
          <a:prstGeom prst="rect">
            <a:avLst/>
          </a:prstGeom>
          <a:noFill/>
          <a:ln/>
        </p:spPr>
        <p:txBody>
          <a:bodyPr wrap="square" rtlCol="0" anchor="ctr"/>
          <a:lstStyle/>
          <a:p>
            <a:pPr marL="0" indent="0" algn="ctr">
              <a:buNone/>
            </a:pPr>
            <a:r>
              <a:rPr lang="en-US" sz="2000" b="1" dirty="0">
                <a:solidFill>
                  <a:srgbClr val="E8A020"/>
                </a:solidFill>
                <a:latin typeface="Footlight MT Light" panose="0204060206030A020304" pitchFamily="18" charset="0"/>
              </a:rPr>
              <a:t>→</a:t>
            </a:r>
            <a:endParaRPr lang="en-US" sz="2000" dirty="0">
              <a:latin typeface="Footlight MT Light" panose="0204060206030A020304" pitchFamily="18" charset="0"/>
            </a:endParaRPr>
          </a:p>
        </p:txBody>
      </p:sp>
      <p:sp>
        <p:nvSpPr>
          <p:cNvPr id="41" name="Shape 39"/>
          <p:cNvSpPr/>
          <p:nvPr/>
        </p:nvSpPr>
        <p:spPr>
          <a:xfrm>
            <a:off x="6217920" y="4005072"/>
            <a:ext cx="2724912" cy="822960"/>
          </a:xfrm>
          <a:prstGeom prst="rect">
            <a:avLst/>
          </a:prstGeom>
          <a:solidFill>
            <a:srgbClr val="081A0C"/>
          </a:solidFill>
          <a:ln w="6350">
            <a:solidFill>
              <a:srgbClr val="1E6B3C"/>
            </a:solidFill>
            <a:prstDash val="solid"/>
          </a:ln>
        </p:spPr>
      </p:sp>
      <p:sp>
        <p:nvSpPr>
          <p:cNvPr id="42" name="Text 40"/>
          <p:cNvSpPr/>
          <p:nvPr/>
        </p:nvSpPr>
        <p:spPr>
          <a:xfrm>
            <a:off x="6291072" y="4059936"/>
            <a:ext cx="2578608" cy="713232"/>
          </a:xfrm>
          <a:prstGeom prst="rect">
            <a:avLst/>
          </a:prstGeom>
          <a:noFill/>
          <a:ln/>
        </p:spPr>
        <p:txBody>
          <a:bodyPr wrap="square" rtlCol="0" anchor="ctr"/>
          <a:lstStyle/>
          <a:p>
            <a:pPr marL="0" indent="0">
              <a:buNone/>
            </a:pPr>
            <a:r>
              <a:rPr lang="en-US" sz="950" dirty="0">
                <a:solidFill>
                  <a:srgbClr val="AAFFBB"/>
                </a:solidFill>
                <a:latin typeface="Footlight MT Light" panose="0204060206030A020304" pitchFamily="18" charset="0"/>
                <a:ea typeface="Calibri" pitchFamily="34" charset="-122"/>
                <a:cs typeface="Calibri" pitchFamily="34" charset="-120"/>
              </a:rPr>
              <a:t>Proactive enforcement; illegal operations intercepted within hours; drone evidence supports successful prosecution</a:t>
            </a:r>
            <a:endParaRPr lang="en-US" sz="950" dirty="0">
              <a:latin typeface="Footlight MT Light" panose="0204060206030A020304" pitchFamily="18" charset="0"/>
            </a:endParaRPr>
          </a:p>
        </p:txBody>
      </p:sp>
      <p:sp>
        <p:nvSpPr>
          <p:cNvPr id="43" name="Shape 41"/>
          <p:cNvSpPr/>
          <p:nvPr/>
        </p:nvSpPr>
        <p:spPr>
          <a:xfrm>
            <a:off x="201168" y="4681728"/>
            <a:ext cx="8741664" cy="219456"/>
          </a:xfrm>
          <a:prstGeom prst="rect">
            <a:avLst/>
          </a:prstGeom>
          <a:solidFill>
            <a:srgbClr val="0E3A60"/>
          </a:solidFill>
          <a:ln w="6350">
            <a:solidFill>
              <a:srgbClr val="E8A020"/>
            </a:solidFill>
            <a:prstDash val="solid"/>
          </a:ln>
        </p:spPr>
      </p:sp>
      <p:sp>
        <p:nvSpPr>
          <p:cNvPr id="44" name="Text 42"/>
          <p:cNvSpPr/>
          <p:nvPr/>
        </p:nvSpPr>
        <p:spPr>
          <a:xfrm>
            <a:off x="256032" y="4681728"/>
            <a:ext cx="8631936" cy="256032"/>
          </a:xfrm>
          <a:prstGeom prst="rect">
            <a:avLst/>
          </a:prstGeom>
          <a:noFill/>
          <a:ln/>
        </p:spPr>
        <p:txBody>
          <a:bodyPr wrap="square" rtlCol="0" anchor="ctr"/>
          <a:lstStyle/>
          <a:p>
            <a:pPr marL="0" indent="0" algn="ctr">
              <a:buNone/>
            </a:pPr>
            <a:r>
              <a:rPr lang="en-US" sz="1000" b="1" dirty="0">
                <a:solidFill>
                  <a:srgbClr val="E8A020"/>
                </a:solidFill>
                <a:latin typeface="Footlight MT Light" panose="0204060206030A020304" pitchFamily="18" charset="0"/>
                <a:ea typeface="Calibri" pitchFamily="34" charset="-122"/>
                <a:cs typeface="Calibri" pitchFamily="34" charset="-120"/>
              </a:rPr>
              <a:t>Combined 4-Platform Revenue Impact Estimate:  US$300M–US$800M additional annual revenue assurance for the Government of Guinea</a:t>
            </a:r>
            <a:endParaRPr lang="en-US" sz="1000" dirty="0">
              <a:latin typeface="Footlight MT Light" panose="0204060206030A020304" pitchFamily="18" charset="0"/>
            </a:endParaRPr>
          </a:p>
        </p:txBody>
      </p:sp>
      <p:sp>
        <p:nvSpPr>
          <p:cNvPr id="45" name="Shape 43"/>
          <p:cNvSpPr/>
          <p:nvPr/>
        </p:nvSpPr>
        <p:spPr>
          <a:xfrm>
            <a:off x="0" y="4974336"/>
            <a:ext cx="9144000" cy="169164"/>
          </a:xfrm>
          <a:prstGeom prst="rect">
            <a:avLst/>
          </a:prstGeom>
          <a:solidFill>
            <a:srgbClr val="E8A020"/>
          </a:solidFill>
          <a:ln w="12700">
            <a:solidFill>
              <a:srgbClr val="E8A020"/>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2C3E50"/>
          </a:solidFill>
          <a:ln w="12700">
            <a:solidFill>
              <a:srgbClr val="2C3E50"/>
            </a:solidFill>
            <a:prstDash val="solid"/>
          </a:ln>
        </p:spPr>
      </p:sp>
      <p:sp>
        <p:nvSpPr>
          <p:cNvPr id="3" name="Text 1"/>
          <p:cNvSpPr/>
          <p:nvPr/>
        </p:nvSpPr>
        <p:spPr>
          <a:xfrm>
            <a:off x="347472" y="128016"/>
            <a:ext cx="8412480" cy="566928"/>
          </a:xfrm>
          <a:prstGeom prst="rect">
            <a:avLst/>
          </a:prstGeom>
          <a:noFill/>
          <a:ln/>
        </p:spPr>
        <p:txBody>
          <a:bodyPr wrap="square" rtlCol="0" anchor="ctr"/>
          <a:lstStyle/>
          <a:p>
            <a:pPr marL="0" indent="0">
              <a:buNone/>
            </a:pPr>
            <a:r>
              <a:rPr lang="en-US" sz="2600" b="1" dirty="0">
                <a:solidFill>
                  <a:srgbClr val="FFFFFF"/>
                </a:solidFill>
                <a:latin typeface="Footlight MT Light" panose="0204060206030A020304" pitchFamily="18" charset="0"/>
                <a:ea typeface="Georgia" pitchFamily="34" charset="-122"/>
                <a:cs typeface="Georgia" pitchFamily="34" charset="-120"/>
              </a:rPr>
              <a:t>Implementation Roadmap for Guinea — Phased Deployment</a:t>
            </a:r>
            <a:endParaRPr lang="en-US" sz="2600" dirty="0">
              <a:latin typeface="Footlight MT Light" panose="0204060206030A020304" pitchFamily="18" charset="0"/>
            </a:endParaRPr>
          </a:p>
        </p:txBody>
      </p:sp>
      <p:sp>
        <p:nvSpPr>
          <p:cNvPr id="4" name="Shape 2"/>
          <p:cNvSpPr/>
          <p:nvPr/>
        </p:nvSpPr>
        <p:spPr>
          <a:xfrm>
            <a:off x="201168" y="932688"/>
            <a:ext cx="2761488" cy="621792"/>
          </a:xfrm>
          <a:prstGeom prst="rect">
            <a:avLst/>
          </a:prstGeom>
          <a:solidFill>
            <a:srgbClr val="0A3D62"/>
          </a:solidFill>
          <a:ln w="12700">
            <a:solidFill>
              <a:srgbClr val="0A3D62"/>
            </a:solidFill>
            <a:prstDash val="solid"/>
          </a:ln>
        </p:spPr>
      </p:sp>
      <p:sp>
        <p:nvSpPr>
          <p:cNvPr id="5" name="Text 3"/>
          <p:cNvSpPr/>
          <p:nvPr/>
        </p:nvSpPr>
        <p:spPr>
          <a:xfrm>
            <a:off x="201168" y="932688"/>
            <a:ext cx="2761488" cy="292608"/>
          </a:xfrm>
          <a:prstGeom prst="rect">
            <a:avLst/>
          </a:prstGeom>
          <a:noFill/>
          <a:ln/>
        </p:spPr>
        <p:txBody>
          <a:bodyPr wrap="square" rtlCol="0" anchor="ctr"/>
          <a:lstStyle/>
          <a:p>
            <a:pPr marL="0" indent="0" algn="ctr">
              <a:buNone/>
            </a:pPr>
            <a:r>
              <a:rPr lang="en-US" sz="1600" b="1" dirty="0">
                <a:solidFill>
                  <a:srgbClr val="FFFFFF"/>
                </a:solidFill>
                <a:latin typeface="Footlight MT Light" panose="0204060206030A020304" pitchFamily="18" charset="0"/>
                <a:ea typeface="Georgia" pitchFamily="34" charset="-122"/>
                <a:cs typeface="Georgia" pitchFamily="34" charset="-120"/>
              </a:rPr>
              <a:t>Phase 1</a:t>
            </a:r>
            <a:endParaRPr lang="en-US" sz="1600" dirty="0">
              <a:latin typeface="Footlight MT Light" panose="0204060206030A020304" pitchFamily="18" charset="0"/>
            </a:endParaRPr>
          </a:p>
        </p:txBody>
      </p:sp>
      <p:sp>
        <p:nvSpPr>
          <p:cNvPr id="6" name="Text 4"/>
          <p:cNvSpPr/>
          <p:nvPr/>
        </p:nvSpPr>
        <p:spPr>
          <a:xfrm>
            <a:off x="201168" y="1225296"/>
            <a:ext cx="2761488" cy="256032"/>
          </a:xfrm>
          <a:prstGeom prst="rect">
            <a:avLst/>
          </a:prstGeom>
          <a:noFill/>
          <a:ln/>
        </p:spPr>
        <p:txBody>
          <a:bodyPr wrap="square" rtlCol="0" anchor="ctr"/>
          <a:lstStyle/>
          <a:p>
            <a:pPr marL="0" indent="0" algn="ctr">
              <a:buNone/>
            </a:pPr>
            <a:r>
              <a:rPr lang="en-US" sz="1050" dirty="0">
                <a:solidFill>
                  <a:schemeClr val="bg1"/>
                </a:solidFill>
                <a:latin typeface="Footlight MT Light" panose="0204060206030A020304" pitchFamily="18" charset="0"/>
                <a:ea typeface="Calibri" pitchFamily="34" charset="-122"/>
                <a:cs typeface="Calibri" pitchFamily="34" charset="-120"/>
              </a:rPr>
              <a:t>Months 1–6</a:t>
            </a:r>
            <a:endParaRPr lang="en-US" sz="1050" dirty="0">
              <a:solidFill>
                <a:schemeClr val="bg1"/>
              </a:solidFill>
              <a:latin typeface="Footlight MT Light" panose="0204060206030A020304" pitchFamily="18" charset="0"/>
            </a:endParaRPr>
          </a:p>
        </p:txBody>
      </p:sp>
      <p:sp>
        <p:nvSpPr>
          <p:cNvPr id="7" name="Shape 5"/>
          <p:cNvSpPr/>
          <p:nvPr/>
        </p:nvSpPr>
        <p:spPr>
          <a:xfrm>
            <a:off x="201168" y="1572768"/>
            <a:ext cx="2761488" cy="310896"/>
          </a:xfrm>
          <a:prstGeom prst="rect">
            <a:avLst/>
          </a:prstGeom>
          <a:solidFill>
            <a:srgbClr val="F0F0F0"/>
          </a:solidFill>
          <a:ln w="6350">
            <a:solidFill>
              <a:srgbClr val="0A3D62"/>
            </a:solidFill>
            <a:prstDash val="solid"/>
          </a:ln>
          <a:effectLst>
            <a:outerShdw blurRad="50800" dist="25400" dir="8100000" algn="bl" rotWithShape="0">
              <a:srgbClr val="000000">
                <a:alpha val="10000"/>
              </a:srgbClr>
            </a:outerShdw>
          </a:effectLst>
        </p:spPr>
      </p:sp>
      <p:sp>
        <p:nvSpPr>
          <p:cNvPr id="8" name="Text 6"/>
          <p:cNvSpPr/>
          <p:nvPr/>
        </p:nvSpPr>
        <p:spPr>
          <a:xfrm>
            <a:off x="292608" y="1609344"/>
            <a:ext cx="2578608" cy="237744"/>
          </a:xfrm>
          <a:prstGeom prst="rect">
            <a:avLst/>
          </a:prstGeom>
          <a:noFill/>
          <a:ln/>
        </p:spPr>
        <p:txBody>
          <a:bodyPr wrap="square" rtlCol="0" anchor="ctr"/>
          <a:lstStyle/>
          <a:p>
            <a:pPr marL="0" indent="0" algn="ctr">
              <a:buNone/>
            </a:pPr>
            <a:r>
              <a:rPr lang="en-US" sz="1150" b="1" dirty="0">
                <a:solidFill>
                  <a:srgbClr val="0A3D62"/>
                </a:solidFill>
                <a:latin typeface="Footlight MT Light" panose="0204060206030A020304" pitchFamily="18" charset="0"/>
                <a:ea typeface="Trebuchet MS" pitchFamily="34" charset="-122"/>
                <a:cs typeface="Trebuchet MS" pitchFamily="34" charset="-120"/>
              </a:rPr>
              <a:t>Assessment &amp; Foundation</a:t>
            </a:r>
            <a:endParaRPr lang="en-US" sz="1150" dirty="0">
              <a:latin typeface="Footlight MT Light" panose="0204060206030A020304" pitchFamily="18" charset="0"/>
            </a:endParaRPr>
          </a:p>
        </p:txBody>
      </p:sp>
      <p:sp>
        <p:nvSpPr>
          <p:cNvPr id="9" name="Shape 7"/>
          <p:cNvSpPr/>
          <p:nvPr/>
        </p:nvSpPr>
        <p:spPr>
          <a:xfrm>
            <a:off x="310896" y="2029968"/>
            <a:ext cx="256032" cy="256032"/>
          </a:xfrm>
          <a:prstGeom prst="ellipse">
            <a:avLst/>
          </a:prstGeom>
          <a:solidFill>
            <a:srgbClr val="0A3D62"/>
          </a:solidFill>
          <a:ln w="12700">
            <a:solidFill>
              <a:srgbClr val="0A3D62"/>
            </a:solidFill>
            <a:prstDash val="solid"/>
          </a:ln>
        </p:spPr>
      </p:sp>
      <p:sp>
        <p:nvSpPr>
          <p:cNvPr id="10" name="Text 8"/>
          <p:cNvSpPr/>
          <p:nvPr/>
        </p:nvSpPr>
        <p:spPr>
          <a:xfrm>
            <a:off x="310896" y="2029968"/>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1</a:t>
            </a:r>
            <a:endParaRPr lang="en-US" sz="900" dirty="0">
              <a:latin typeface="Footlight MT Light" panose="0204060206030A020304" pitchFamily="18" charset="0"/>
            </a:endParaRPr>
          </a:p>
        </p:txBody>
      </p:sp>
      <p:sp>
        <p:nvSpPr>
          <p:cNvPr id="11" name="Text 9"/>
          <p:cNvSpPr/>
          <p:nvPr/>
        </p:nvSpPr>
        <p:spPr>
          <a:xfrm>
            <a:off x="640080" y="1993392"/>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Regulatory and legal framework review with Ministry of Mines &amp; SOGUIPAMI</a:t>
            </a:r>
            <a:endParaRPr lang="en-US" sz="950" dirty="0">
              <a:latin typeface="Footlight MT Light" panose="0204060206030A020304" pitchFamily="18" charset="0"/>
            </a:endParaRPr>
          </a:p>
        </p:txBody>
      </p:sp>
      <p:sp>
        <p:nvSpPr>
          <p:cNvPr id="12" name="Shape 10"/>
          <p:cNvSpPr/>
          <p:nvPr/>
        </p:nvSpPr>
        <p:spPr>
          <a:xfrm>
            <a:off x="310896" y="2596896"/>
            <a:ext cx="256032" cy="256032"/>
          </a:xfrm>
          <a:prstGeom prst="ellipse">
            <a:avLst/>
          </a:prstGeom>
          <a:solidFill>
            <a:srgbClr val="0A3D62"/>
          </a:solidFill>
          <a:ln w="12700">
            <a:solidFill>
              <a:srgbClr val="0A3D62"/>
            </a:solidFill>
            <a:prstDash val="solid"/>
          </a:ln>
        </p:spPr>
      </p:sp>
      <p:sp>
        <p:nvSpPr>
          <p:cNvPr id="13" name="Text 11"/>
          <p:cNvSpPr/>
          <p:nvPr/>
        </p:nvSpPr>
        <p:spPr>
          <a:xfrm>
            <a:off x="310896" y="2596896"/>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2</a:t>
            </a:r>
            <a:endParaRPr lang="en-US" sz="900" dirty="0">
              <a:latin typeface="Footlight MT Light" panose="0204060206030A020304" pitchFamily="18" charset="0"/>
            </a:endParaRPr>
          </a:p>
        </p:txBody>
      </p:sp>
      <p:sp>
        <p:nvSpPr>
          <p:cNvPr id="14" name="Text 12"/>
          <p:cNvSpPr/>
          <p:nvPr/>
        </p:nvSpPr>
        <p:spPr>
          <a:xfrm>
            <a:off x="640080" y="2560320"/>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Site scoping surveys: Boké bauxite corridor, Haute-Guinée ASM gold zones</a:t>
            </a:r>
            <a:endParaRPr lang="en-US" sz="950" dirty="0">
              <a:latin typeface="Footlight MT Light" panose="0204060206030A020304" pitchFamily="18" charset="0"/>
            </a:endParaRPr>
          </a:p>
        </p:txBody>
      </p:sp>
      <p:sp>
        <p:nvSpPr>
          <p:cNvPr id="15" name="Shape 13"/>
          <p:cNvSpPr/>
          <p:nvPr/>
        </p:nvSpPr>
        <p:spPr>
          <a:xfrm>
            <a:off x="310896" y="3163824"/>
            <a:ext cx="256032" cy="256032"/>
          </a:xfrm>
          <a:prstGeom prst="ellipse">
            <a:avLst/>
          </a:prstGeom>
          <a:solidFill>
            <a:srgbClr val="0A3D62"/>
          </a:solidFill>
          <a:ln w="12700">
            <a:solidFill>
              <a:srgbClr val="0A3D62"/>
            </a:solidFill>
            <a:prstDash val="solid"/>
          </a:ln>
        </p:spPr>
      </p:sp>
      <p:sp>
        <p:nvSpPr>
          <p:cNvPr id="16" name="Text 14"/>
          <p:cNvSpPr/>
          <p:nvPr/>
        </p:nvSpPr>
        <p:spPr>
          <a:xfrm>
            <a:off x="310896" y="3163824"/>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3</a:t>
            </a:r>
            <a:endParaRPr lang="en-US" sz="900" dirty="0">
              <a:latin typeface="Footlight MT Light" panose="0204060206030A020304" pitchFamily="18" charset="0"/>
            </a:endParaRPr>
          </a:p>
        </p:txBody>
      </p:sp>
      <p:sp>
        <p:nvSpPr>
          <p:cNvPr id="17" name="Text 15"/>
          <p:cNvSpPr/>
          <p:nvPr/>
        </p:nvSpPr>
        <p:spPr>
          <a:xfrm>
            <a:off x="640080" y="3127248"/>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Control room facility selection, design, and fit-out in Conakry</a:t>
            </a:r>
            <a:endParaRPr lang="en-US" sz="950" dirty="0">
              <a:latin typeface="Footlight MT Light" panose="0204060206030A020304" pitchFamily="18" charset="0"/>
            </a:endParaRPr>
          </a:p>
        </p:txBody>
      </p:sp>
      <p:sp>
        <p:nvSpPr>
          <p:cNvPr id="18" name="Shape 16"/>
          <p:cNvSpPr/>
          <p:nvPr/>
        </p:nvSpPr>
        <p:spPr>
          <a:xfrm>
            <a:off x="310896" y="3730752"/>
            <a:ext cx="256032" cy="256032"/>
          </a:xfrm>
          <a:prstGeom prst="ellipse">
            <a:avLst/>
          </a:prstGeom>
          <a:solidFill>
            <a:srgbClr val="0A3D62"/>
          </a:solidFill>
          <a:ln w="12700">
            <a:solidFill>
              <a:srgbClr val="0A3D62"/>
            </a:solidFill>
            <a:prstDash val="solid"/>
          </a:ln>
        </p:spPr>
      </p:sp>
      <p:sp>
        <p:nvSpPr>
          <p:cNvPr id="19" name="Text 17"/>
          <p:cNvSpPr/>
          <p:nvPr/>
        </p:nvSpPr>
        <p:spPr>
          <a:xfrm>
            <a:off x="310896" y="3730752"/>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4</a:t>
            </a:r>
            <a:endParaRPr lang="en-US" sz="900" dirty="0">
              <a:latin typeface="Footlight MT Light" panose="0204060206030A020304" pitchFamily="18" charset="0"/>
            </a:endParaRPr>
          </a:p>
        </p:txBody>
      </p:sp>
      <p:sp>
        <p:nvSpPr>
          <p:cNvPr id="20" name="Text 18"/>
          <p:cNvSpPr/>
          <p:nvPr/>
        </p:nvSpPr>
        <p:spPr>
          <a:xfrm>
            <a:off x="640080" y="3694176"/>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Initial drone fleet deployment and AI model training on Guinean site conditions</a:t>
            </a:r>
            <a:endParaRPr lang="en-US" sz="950" dirty="0">
              <a:latin typeface="Footlight MT Light" panose="0204060206030A020304" pitchFamily="18" charset="0"/>
            </a:endParaRPr>
          </a:p>
        </p:txBody>
      </p:sp>
      <p:sp>
        <p:nvSpPr>
          <p:cNvPr id="21" name="Shape 19"/>
          <p:cNvSpPr/>
          <p:nvPr/>
        </p:nvSpPr>
        <p:spPr>
          <a:xfrm>
            <a:off x="310896" y="4297680"/>
            <a:ext cx="256032" cy="256032"/>
          </a:xfrm>
          <a:prstGeom prst="ellipse">
            <a:avLst/>
          </a:prstGeom>
          <a:solidFill>
            <a:srgbClr val="0A3D62"/>
          </a:solidFill>
          <a:ln w="12700">
            <a:solidFill>
              <a:srgbClr val="0A3D62"/>
            </a:solidFill>
            <a:prstDash val="solid"/>
          </a:ln>
        </p:spPr>
      </p:sp>
      <p:sp>
        <p:nvSpPr>
          <p:cNvPr id="22" name="Text 20"/>
          <p:cNvSpPr/>
          <p:nvPr/>
        </p:nvSpPr>
        <p:spPr>
          <a:xfrm>
            <a:off x="310896" y="4297680"/>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5</a:t>
            </a:r>
            <a:endParaRPr lang="en-US" sz="900" dirty="0">
              <a:latin typeface="Footlight MT Light" panose="0204060206030A020304" pitchFamily="18" charset="0"/>
            </a:endParaRPr>
          </a:p>
        </p:txBody>
      </p:sp>
      <p:sp>
        <p:nvSpPr>
          <p:cNvPr id="23" name="Text 21"/>
          <p:cNvSpPr/>
          <p:nvPr/>
        </p:nvSpPr>
        <p:spPr>
          <a:xfrm>
            <a:off x="640080" y="4261104"/>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Stakeholder engagement: government, mining companies, ASM communities</a:t>
            </a:r>
            <a:endParaRPr lang="en-US" sz="950" dirty="0">
              <a:latin typeface="Footlight MT Light" panose="0204060206030A020304" pitchFamily="18" charset="0"/>
            </a:endParaRPr>
          </a:p>
        </p:txBody>
      </p:sp>
      <p:sp>
        <p:nvSpPr>
          <p:cNvPr id="24" name="Shape 22"/>
          <p:cNvSpPr/>
          <p:nvPr/>
        </p:nvSpPr>
        <p:spPr>
          <a:xfrm>
            <a:off x="3145536" y="932688"/>
            <a:ext cx="2761488" cy="621792"/>
          </a:xfrm>
          <a:prstGeom prst="rect">
            <a:avLst/>
          </a:prstGeom>
          <a:solidFill>
            <a:srgbClr val="1E6B3C"/>
          </a:solidFill>
          <a:ln w="12700">
            <a:solidFill>
              <a:srgbClr val="1E6B3C"/>
            </a:solidFill>
            <a:prstDash val="solid"/>
          </a:ln>
        </p:spPr>
      </p:sp>
      <p:sp>
        <p:nvSpPr>
          <p:cNvPr id="25" name="Text 23"/>
          <p:cNvSpPr/>
          <p:nvPr/>
        </p:nvSpPr>
        <p:spPr>
          <a:xfrm>
            <a:off x="3145536" y="932688"/>
            <a:ext cx="2761488" cy="292608"/>
          </a:xfrm>
          <a:prstGeom prst="rect">
            <a:avLst/>
          </a:prstGeom>
          <a:noFill/>
          <a:ln/>
        </p:spPr>
        <p:txBody>
          <a:bodyPr wrap="square" rtlCol="0" anchor="ctr"/>
          <a:lstStyle/>
          <a:p>
            <a:pPr marL="0" indent="0" algn="ctr">
              <a:buNone/>
            </a:pPr>
            <a:r>
              <a:rPr lang="en-US" sz="1600" b="1" dirty="0">
                <a:solidFill>
                  <a:srgbClr val="FFFFFF"/>
                </a:solidFill>
                <a:latin typeface="Footlight MT Light" panose="0204060206030A020304" pitchFamily="18" charset="0"/>
                <a:ea typeface="Georgia" pitchFamily="34" charset="-122"/>
                <a:cs typeface="Georgia" pitchFamily="34" charset="-120"/>
              </a:rPr>
              <a:t>Phase 2</a:t>
            </a:r>
            <a:endParaRPr lang="en-US" sz="1600" dirty="0">
              <a:latin typeface="Footlight MT Light" panose="0204060206030A020304" pitchFamily="18" charset="0"/>
            </a:endParaRPr>
          </a:p>
        </p:txBody>
      </p:sp>
      <p:sp>
        <p:nvSpPr>
          <p:cNvPr id="26" name="Text 24"/>
          <p:cNvSpPr/>
          <p:nvPr/>
        </p:nvSpPr>
        <p:spPr>
          <a:xfrm>
            <a:off x="3145536" y="1225296"/>
            <a:ext cx="2761488" cy="256032"/>
          </a:xfrm>
          <a:prstGeom prst="rect">
            <a:avLst/>
          </a:prstGeom>
          <a:noFill/>
          <a:ln/>
        </p:spPr>
        <p:txBody>
          <a:bodyPr wrap="square" rtlCol="0" anchor="ctr"/>
          <a:lstStyle/>
          <a:p>
            <a:pPr marL="0" indent="0" algn="ctr">
              <a:buNone/>
            </a:pPr>
            <a:r>
              <a:rPr lang="en-US" sz="1050" dirty="0">
                <a:solidFill>
                  <a:schemeClr val="bg1"/>
                </a:solidFill>
                <a:latin typeface="Footlight MT Light" panose="0204060206030A020304" pitchFamily="18" charset="0"/>
                <a:ea typeface="Calibri" pitchFamily="34" charset="-122"/>
                <a:cs typeface="Calibri" pitchFamily="34" charset="-120"/>
              </a:rPr>
              <a:t>Months 7–12</a:t>
            </a:r>
            <a:endParaRPr lang="en-US" sz="1050" dirty="0">
              <a:solidFill>
                <a:schemeClr val="bg1"/>
              </a:solidFill>
              <a:latin typeface="Footlight MT Light" panose="0204060206030A020304" pitchFamily="18" charset="0"/>
            </a:endParaRPr>
          </a:p>
        </p:txBody>
      </p:sp>
      <p:sp>
        <p:nvSpPr>
          <p:cNvPr id="27" name="Shape 25"/>
          <p:cNvSpPr/>
          <p:nvPr/>
        </p:nvSpPr>
        <p:spPr>
          <a:xfrm>
            <a:off x="3145536" y="1572768"/>
            <a:ext cx="2761488" cy="310896"/>
          </a:xfrm>
          <a:prstGeom prst="rect">
            <a:avLst/>
          </a:prstGeom>
          <a:solidFill>
            <a:srgbClr val="F0F0F0"/>
          </a:solidFill>
          <a:ln w="6350">
            <a:solidFill>
              <a:srgbClr val="1E6B3C"/>
            </a:solidFill>
            <a:prstDash val="solid"/>
          </a:ln>
          <a:effectLst>
            <a:outerShdw blurRad="50800" dist="25400" dir="8100000" algn="bl" rotWithShape="0">
              <a:srgbClr val="000000">
                <a:alpha val="10000"/>
              </a:srgbClr>
            </a:outerShdw>
          </a:effectLst>
        </p:spPr>
      </p:sp>
      <p:sp>
        <p:nvSpPr>
          <p:cNvPr id="28" name="Text 26"/>
          <p:cNvSpPr/>
          <p:nvPr/>
        </p:nvSpPr>
        <p:spPr>
          <a:xfrm>
            <a:off x="3236976" y="1609344"/>
            <a:ext cx="2578608" cy="237744"/>
          </a:xfrm>
          <a:prstGeom prst="rect">
            <a:avLst/>
          </a:prstGeom>
          <a:noFill/>
          <a:ln/>
        </p:spPr>
        <p:txBody>
          <a:bodyPr wrap="square" rtlCol="0" anchor="ctr"/>
          <a:lstStyle/>
          <a:p>
            <a:pPr marL="0" indent="0" algn="ctr">
              <a:buNone/>
            </a:pPr>
            <a:r>
              <a:rPr lang="en-US" sz="1150" b="1" dirty="0">
                <a:solidFill>
                  <a:srgbClr val="1E6B3C"/>
                </a:solidFill>
                <a:latin typeface="Footlight MT Light" panose="0204060206030A020304" pitchFamily="18" charset="0"/>
                <a:ea typeface="Trebuchet MS" pitchFamily="34" charset="-122"/>
                <a:cs typeface="Trebuchet MS" pitchFamily="34" charset="-120"/>
              </a:rPr>
              <a:t>Platform Rollout &amp; Pilot</a:t>
            </a:r>
            <a:endParaRPr lang="en-US" sz="1150" dirty="0">
              <a:latin typeface="Footlight MT Light" panose="0204060206030A020304" pitchFamily="18" charset="0"/>
            </a:endParaRPr>
          </a:p>
        </p:txBody>
      </p:sp>
      <p:sp>
        <p:nvSpPr>
          <p:cNvPr id="29" name="Shape 27"/>
          <p:cNvSpPr/>
          <p:nvPr/>
        </p:nvSpPr>
        <p:spPr>
          <a:xfrm>
            <a:off x="3255264" y="2029968"/>
            <a:ext cx="256032" cy="256032"/>
          </a:xfrm>
          <a:prstGeom prst="ellipse">
            <a:avLst/>
          </a:prstGeom>
          <a:solidFill>
            <a:srgbClr val="1E6B3C"/>
          </a:solidFill>
          <a:ln w="12700">
            <a:solidFill>
              <a:srgbClr val="1E6B3C"/>
            </a:solidFill>
            <a:prstDash val="solid"/>
          </a:ln>
        </p:spPr>
      </p:sp>
      <p:sp>
        <p:nvSpPr>
          <p:cNvPr id="30" name="Text 28"/>
          <p:cNvSpPr/>
          <p:nvPr/>
        </p:nvSpPr>
        <p:spPr>
          <a:xfrm>
            <a:off x="3255264" y="2029968"/>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1</a:t>
            </a:r>
            <a:endParaRPr lang="en-US" sz="900" dirty="0">
              <a:latin typeface="Footlight MT Light" panose="0204060206030A020304" pitchFamily="18" charset="0"/>
            </a:endParaRPr>
          </a:p>
        </p:txBody>
      </p:sp>
      <p:sp>
        <p:nvSpPr>
          <p:cNvPr id="31" name="Text 29"/>
          <p:cNvSpPr/>
          <p:nvPr/>
        </p:nvSpPr>
        <p:spPr>
          <a:xfrm>
            <a:off x="3584448" y="1993392"/>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Equipment Registry: pilot registration drive — 500+ machines in Boké region</a:t>
            </a:r>
            <a:endParaRPr lang="en-US" sz="950" dirty="0">
              <a:latin typeface="Footlight MT Light" panose="0204060206030A020304" pitchFamily="18" charset="0"/>
            </a:endParaRPr>
          </a:p>
        </p:txBody>
      </p:sp>
      <p:sp>
        <p:nvSpPr>
          <p:cNvPr id="32" name="Shape 30"/>
          <p:cNvSpPr/>
          <p:nvPr/>
        </p:nvSpPr>
        <p:spPr>
          <a:xfrm>
            <a:off x="3255264" y="2596896"/>
            <a:ext cx="256032" cy="256032"/>
          </a:xfrm>
          <a:prstGeom prst="ellipse">
            <a:avLst/>
          </a:prstGeom>
          <a:solidFill>
            <a:srgbClr val="1E6B3C"/>
          </a:solidFill>
          <a:ln w="12700">
            <a:solidFill>
              <a:srgbClr val="1E6B3C"/>
            </a:solidFill>
            <a:prstDash val="solid"/>
          </a:ln>
        </p:spPr>
      </p:sp>
      <p:sp>
        <p:nvSpPr>
          <p:cNvPr id="33" name="Text 31"/>
          <p:cNvSpPr/>
          <p:nvPr/>
        </p:nvSpPr>
        <p:spPr>
          <a:xfrm>
            <a:off x="3255264" y="2596896"/>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2</a:t>
            </a:r>
            <a:endParaRPr lang="en-US" sz="900" dirty="0">
              <a:latin typeface="Footlight MT Light" panose="0204060206030A020304" pitchFamily="18" charset="0"/>
            </a:endParaRPr>
          </a:p>
        </p:txBody>
      </p:sp>
      <p:sp>
        <p:nvSpPr>
          <p:cNvPr id="34" name="Text 32"/>
          <p:cNvSpPr/>
          <p:nvPr/>
        </p:nvSpPr>
        <p:spPr>
          <a:xfrm>
            <a:off x="3584448" y="2560320"/>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Gold Traceability: pilot with 3 LSM operators and 5 ASM aggregation centres</a:t>
            </a:r>
            <a:endParaRPr lang="en-US" sz="950" dirty="0">
              <a:latin typeface="Footlight MT Light" panose="0204060206030A020304" pitchFamily="18" charset="0"/>
            </a:endParaRPr>
          </a:p>
        </p:txBody>
      </p:sp>
      <p:sp>
        <p:nvSpPr>
          <p:cNvPr id="35" name="Shape 33"/>
          <p:cNvSpPr/>
          <p:nvPr/>
        </p:nvSpPr>
        <p:spPr>
          <a:xfrm>
            <a:off x="3255264" y="3163824"/>
            <a:ext cx="256032" cy="256032"/>
          </a:xfrm>
          <a:prstGeom prst="ellipse">
            <a:avLst/>
          </a:prstGeom>
          <a:solidFill>
            <a:srgbClr val="1E6B3C"/>
          </a:solidFill>
          <a:ln w="12700">
            <a:solidFill>
              <a:srgbClr val="1E6B3C"/>
            </a:solidFill>
            <a:prstDash val="solid"/>
          </a:ln>
        </p:spPr>
      </p:sp>
      <p:sp>
        <p:nvSpPr>
          <p:cNvPr id="36" name="Text 34"/>
          <p:cNvSpPr/>
          <p:nvPr/>
        </p:nvSpPr>
        <p:spPr>
          <a:xfrm>
            <a:off x="3255264" y="3163824"/>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3</a:t>
            </a:r>
            <a:endParaRPr lang="en-US" sz="900" dirty="0">
              <a:latin typeface="Footlight MT Light" panose="0204060206030A020304" pitchFamily="18" charset="0"/>
            </a:endParaRPr>
          </a:p>
        </p:txBody>
      </p:sp>
      <p:sp>
        <p:nvSpPr>
          <p:cNvPr id="37" name="Text 35"/>
          <p:cNvSpPr/>
          <p:nvPr/>
        </p:nvSpPr>
        <p:spPr>
          <a:xfrm>
            <a:off x="3584448" y="3127248"/>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Chamber Portal: onboard top 10 large-scale mining company members</a:t>
            </a:r>
            <a:endParaRPr lang="en-US" sz="950" dirty="0">
              <a:latin typeface="Footlight MT Light" panose="0204060206030A020304" pitchFamily="18" charset="0"/>
            </a:endParaRPr>
          </a:p>
        </p:txBody>
      </p:sp>
      <p:sp>
        <p:nvSpPr>
          <p:cNvPr id="38" name="Shape 36"/>
          <p:cNvSpPr/>
          <p:nvPr/>
        </p:nvSpPr>
        <p:spPr>
          <a:xfrm>
            <a:off x="3255264" y="3730752"/>
            <a:ext cx="256032" cy="256032"/>
          </a:xfrm>
          <a:prstGeom prst="ellipse">
            <a:avLst/>
          </a:prstGeom>
          <a:solidFill>
            <a:srgbClr val="1E6B3C"/>
          </a:solidFill>
          <a:ln w="12700">
            <a:solidFill>
              <a:srgbClr val="1E6B3C"/>
            </a:solidFill>
            <a:prstDash val="solid"/>
          </a:ln>
        </p:spPr>
      </p:sp>
      <p:sp>
        <p:nvSpPr>
          <p:cNvPr id="39" name="Text 37"/>
          <p:cNvSpPr/>
          <p:nvPr/>
        </p:nvSpPr>
        <p:spPr>
          <a:xfrm>
            <a:off x="3255264" y="3730752"/>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4</a:t>
            </a:r>
            <a:endParaRPr lang="en-US" sz="900" dirty="0">
              <a:latin typeface="Footlight MT Light" panose="0204060206030A020304" pitchFamily="18" charset="0"/>
            </a:endParaRPr>
          </a:p>
        </p:txBody>
      </p:sp>
      <p:sp>
        <p:nvSpPr>
          <p:cNvPr id="40" name="Text 38"/>
          <p:cNvSpPr/>
          <p:nvPr/>
        </p:nvSpPr>
        <p:spPr>
          <a:xfrm>
            <a:off x="3584448" y="3694176"/>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Control room operational with SI staff — 24/7 3-shift coverage begins</a:t>
            </a:r>
            <a:endParaRPr lang="en-US" sz="950" dirty="0">
              <a:latin typeface="Footlight MT Light" panose="0204060206030A020304" pitchFamily="18" charset="0"/>
            </a:endParaRPr>
          </a:p>
        </p:txBody>
      </p:sp>
      <p:sp>
        <p:nvSpPr>
          <p:cNvPr id="41" name="Shape 39"/>
          <p:cNvSpPr/>
          <p:nvPr/>
        </p:nvSpPr>
        <p:spPr>
          <a:xfrm>
            <a:off x="3255264" y="4297680"/>
            <a:ext cx="256032" cy="256032"/>
          </a:xfrm>
          <a:prstGeom prst="ellipse">
            <a:avLst/>
          </a:prstGeom>
          <a:solidFill>
            <a:srgbClr val="1E6B3C"/>
          </a:solidFill>
          <a:ln w="12700">
            <a:solidFill>
              <a:srgbClr val="1E6B3C"/>
            </a:solidFill>
            <a:prstDash val="solid"/>
          </a:ln>
        </p:spPr>
      </p:sp>
      <p:sp>
        <p:nvSpPr>
          <p:cNvPr id="42" name="Text 40"/>
          <p:cNvSpPr/>
          <p:nvPr/>
        </p:nvSpPr>
        <p:spPr>
          <a:xfrm>
            <a:off x="3255264" y="4297680"/>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5</a:t>
            </a:r>
            <a:endParaRPr lang="en-US" sz="900" dirty="0">
              <a:latin typeface="Footlight MT Light" panose="0204060206030A020304" pitchFamily="18" charset="0"/>
            </a:endParaRPr>
          </a:p>
        </p:txBody>
      </p:sp>
      <p:sp>
        <p:nvSpPr>
          <p:cNvPr id="43" name="Text 41"/>
          <p:cNvSpPr/>
          <p:nvPr/>
        </p:nvSpPr>
        <p:spPr>
          <a:xfrm>
            <a:off x="3584448" y="4261104"/>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First drone surveillance grid operational over high-risk ASM areas</a:t>
            </a:r>
            <a:endParaRPr lang="en-US" sz="950" dirty="0">
              <a:latin typeface="Footlight MT Light" panose="0204060206030A020304" pitchFamily="18" charset="0"/>
            </a:endParaRPr>
          </a:p>
        </p:txBody>
      </p:sp>
      <p:sp>
        <p:nvSpPr>
          <p:cNvPr id="44" name="Shape 42"/>
          <p:cNvSpPr/>
          <p:nvPr/>
        </p:nvSpPr>
        <p:spPr>
          <a:xfrm>
            <a:off x="6089904" y="932688"/>
            <a:ext cx="2761488" cy="621792"/>
          </a:xfrm>
          <a:prstGeom prst="rect">
            <a:avLst/>
          </a:prstGeom>
          <a:solidFill>
            <a:srgbClr val="7D4E00"/>
          </a:solidFill>
          <a:ln w="12700">
            <a:solidFill>
              <a:srgbClr val="7D4E00"/>
            </a:solidFill>
            <a:prstDash val="solid"/>
          </a:ln>
        </p:spPr>
      </p:sp>
      <p:sp>
        <p:nvSpPr>
          <p:cNvPr id="45" name="Text 43"/>
          <p:cNvSpPr/>
          <p:nvPr/>
        </p:nvSpPr>
        <p:spPr>
          <a:xfrm>
            <a:off x="6089904" y="932688"/>
            <a:ext cx="2761488" cy="292608"/>
          </a:xfrm>
          <a:prstGeom prst="rect">
            <a:avLst/>
          </a:prstGeom>
          <a:noFill/>
          <a:ln/>
        </p:spPr>
        <p:txBody>
          <a:bodyPr wrap="square" rtlCol="0" anchor="ctr"/>
          <a:lstStyle/>
          <a:p>
            <a:pPr marL="0" indent="0" algn="ctr">
              <a:buNone/>
            </a:pPr>
            <a:r>
              <a:rPr lang="en-US" sz="1600" b="1" dirty="0">
                <a:solidFill>
                  <a:srgbClr val="FFFFFF"/>
                </a:solidFill>
                <a:latin typeface="Footlight MT Light" panose="0204060206030A020304" pitchFamily="18" charset="0"/>
                <a:ea typeface="Georgia" pitchFamily="34" charset="-122"/>
                <a:cs typeface="Georgia" pitchFamily="34" charset="-120"/>
              </a:rPr>
              <a:t>Phase 3</a:t>
            </a:r>
            <a:endParaRPr lang="en-US" sz="1600" dirty="0">
              <a:latin typeface="Footlight MT Light" panose="0204060206030A020304" pitchFamily="18" charset="0"/>
            </a:endParaRPr>
          </a:p>
        </p:txBody>
      </p:sp>
      <p:sp>
        <p:nvSpPr>
          <p:cNvPr id="46" name="Text 44"/>
          <p:cNvSpPr/>
          <p:nvPr/>
        </p:nvSpPr>
        <p:spPr>
          <a:xfrm>
            <a:off x="6089904" y="1225296"/>
            <a:ext cx="2761488" cy="256032"/>
          </a:xfrm>
          <a:prstGeom prst="rect">
            <a:avLst/>
          </a:prstGeom>
          <a:noFill/>
          <a:ln/>
        </p:spPr>
        <p:txBody>
          <a:bodyPr wrap="square" rtlCol="0" anchor="ctr"/>
          <a:lstStyle/>
          <a:p>
            <a:pPr marL="0" indent="0" algn="ctr">
              <a:buNone/>
            </a:pPr>
            <a:r>
              <a:rPr lang="en-US" sz="1050" dirty="0">
                <a:solidFill>
                  <a:schemeClr val="bg1"/>
                </a:solidFill>
                <a:latin typeface="Footlight MT Light" panose="0204060206030A020304" pitchFamily="18" charset="0"/>
                <a:ea typeface="Calibri" pitchFamily="34" charset="-122"/>
                <a:cs typeface="Calibri" pitchFamily="34" charset="-120"/>
              </a:rPr>
              <a:t>Months 13–24</a:t>
            </a:r>
            <a:endParaRPr lang="en-US" sz="1050" dirty="0">
              <a:solidFill>
                <a:schemeClr val="bg1"/>
              </a:solidFill>
              <a:latin typeface="Footlight MT Light" panose="0204060206030A020304" pitchFamily="18" charset="0"/>
            </a:endParaRPr>
          </a:p>
        </p:txBody>
      </p:sp>
      <p:sp>
        <p:nvSpPr>
          <p:cNvPr id="47" name="Shape 45"/>
          <p:cNvSpPr/>
          <p:nvPr/>
        </p:nvSpPr>
        <p:spPr>
          <a:xfrm>
            <a:off x="6089904" y="1572768"/>
            <a:ext cx="2761488" cy="310896"/>
          </a:xfrm>
          <a:prstGeom prst="rect">
            <a:avLst/>
          </a:prstGeom>
          <a:solidFill>
            <a:srgbClr val="F0F0F0"/>
          </a:solidFill>
          <a:ln w="6350">
            <a:solidFill>
              <a:srgbClr val="7D4E00"/>
            </a:solidFill>
            <a:prstDash val="solid"/>
          </a:ln>
          <a:effectLst>
            <a:outerShdw blurRad="50800" dist="25400" dir="8100000" algn="bl" rotWithShape="0">
              <a:srgbClr val="000000">
                <a:alpha val="10000"/>
              </a:srgbClr>
            </a:outerShdw>
          </a:effectLst>
        </p:spPr>
      </p:sp>
      <p:sp>
        <p:nvSpPr>
          <p:cNvPr id="48" name="Text 46"/>
          <p:cNvSpPr/>
          <p:nvPr/>
        </p:nvSpPr>
        <p:spPr>
          <a:xfrm>
            <a:off x="6181344" y="1609344"/>
            <a:ext cx="2578608" cy="237744"/>
          </a:xfrm>
          <a:prstGeom prst="rect">
            <a:avLst/>
          </a:prstGeom>
          <a:noFill/>
          <a:ln/>
        </p:spPr>
        <p:txBody>
          <a:bodyPr wrap="square" rtlCol="0" anchor="ctr"/>
          <a:lstStyle/>
          <a:p>
            <a:pPr marL="0" indent="0" algn="ctr">
              <a:buNone/>
            </a:pPr>
            <a:r>
              <a:rPr lang="en-US" sz="1150" b="1" dirty="0">
                <a:solidFill>
                  <a:srgbClr val="7D4E00"/>
                </a:solidFill>
                <a:latin typeface="Footlight MT Light" panose="0204060206030A020304" pitchFamily="18" charset="0"/>
                <a:ea typeface="Trebuchet MS" pitchFamily="34" charset="-122"/>
                <a:cs typeface="Trebuchet MS" pitchFamily="34" charset="-120"/>
              </a:rPr>
              <a:t>National Scale &amp; Handover</a:t>
            </a:r>
            <a:endParaRPr lang="en-US" sz="1150" dirty="0">
              <a:latin typeface="Footlight MT Light" panose="0204060206030A020304" pitchFamily="18" charset="0"/>
            </a:endParaRPr>
          </a:p>
        </p:txBody>
      </p:sp>
      <p:sp>
        <p:nvSpPr>
          <p:cNvPr id="49" name="Shape 47"/>
          <p:cNvSpPr/>
          <p:nvPr/>
        </p:nvSpPr>
        <p:spPr>
          <a:xfrm>
            <a:off x="6199632" y="2029968"/>
            <a:ext cx="256032" cy="256032"/>
          </a:xfrm>
          <a:prstGeom prst="ellipse">
            <a:avLst/>
          </a:prstGeom>
          <a:solidFill>
            <a:srgbClr val="7D4E00"/>
          </a:solidFill>
          <a:ln w="12700">
            <a:solidFill>
              <a:srgbClr val="7D4E00"/>
            </a:solidFill>
            <a:prstDash val="solid"/>
          </a:ln>
        </p:spPr>
      </p:sp>
      <p:sp>
        <p:nvSpPr>
          <p:cNvPr id="50" name="Text 48"/>
          <p:cNvSpPr/>
          <p:nvPr/>
        </p:nvSpPr>
        <p:spPr>
          <a:xfrm>
            <a:off x="6199632" y="2029968"/>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1</a:t>
            </a:r>
            <a:endParaRPr lang="en-US" sz="900" dirty="0">
              <a:latin typeface="Footlight MT Light" panose="0204060206030A020304" pitchFamily="18" charset="0"/>
            </a:endParaRPr>
          </a:p>
        </p:txBody>
      </p:sp>
      <p:sp>
        <p:nvSpPr>
          <p:cNvPr id="51" name="Text 49"/>
          <p:cNvSpPr/>
          <p:nvPr/>
        </p:nvSpPr>
        <p:spPr>
          <a:xfrm>
            <a:off x="6528816" y="1993392"/>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National rollout: all licensed equipment registered across all regions</a:t>
            </a:r>
            <a:endParaRPr lang="en-US" sz="950" dirty="0">
              <a:latin typeface="Footlight MT Light" panose="0204060206030A020304" pitchFamily="18" charset="0"/>
            </a:endParaRPr>
          </a:p>
        </p:txBody>
      </p:sp>
      <p:sp>
        <p:nvSpPr>
          <p:cNvPr id="52" name="Shape 50"/>
          <p:cNvSpPr/>
          <p:nvPr/>
        </p:nvSpPr>
        <p:spPr>
          <a:xfrm>
            <a:off x="6199632" y="2596896"/>
            <a:ext cx="256032" cy="256032"/>
          </a:xfrm>
          <a:prstGeom prst="ellipse">
            <a:avLst/>
          </a:prstGeom>
          <a:solidFill>
            <a:srgbClr val="7D4E00"/>
          </a:solidFill>
          <a:ln w="12700">
            <a:solidFill>
              <a:srgbClr val="7D4E00"/>
            </a:solidFill>
            <a:prstDash val="solid"/>
          </a:ln>
        </p:spPr>
      </p:sp>
      <p:sp>
        <p:nvSpPr>
          <p:cNvPr id="53" name="Text 51"/>
          <p:cNvSpPr/>
          <p:nvPr/>
        </p:nvSpPr>
        <p:spPr>
          <a:xfrm>
            <a:off x="6199632" y="2596896"/>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2</a:t>
            </a:r>
            <a:endParaRPr lang="en-US" sz="900" dirty="0">
              <a:latin typeface="Footlight MT Light" panose="0204060206030A020304" pitchFamily="18" charset="0"/>
            </a:endParaRPr>
          </a:p>
        </p:txBody>
      </p:sp>
      <p:sp>
        <p:nvSpPr>
          <p:cNvPr id="54" name="Text 52"/>
          <p:cNvSpPr/>
          <p:nvPr/>
        </p:nvSpPr>
        <p:spPr>
          <a:xfrm>
            <a:off x="6528816" y="2560320"/>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Gold Traceability extended to all ASM aggregators and export points</a:t>
            </a:r>
            <a:endParaRPr lang="en-US" sz="950" dirty="0">
              <a:latin typeface="Footlight MT Light" panose="0204060206030A020304" pitchFamily="18" charset="0"/>
            </a:endParaRPr>
          </a:p>
        </p:txBody>
      </p:sp>
      <p:sp>
        <p:nvSpPr>
          <p:cNvPr id="55" name="Shape 53"/>
          <p:cNvSpPr/>
          <p:nvPr/>
        </p:nvSpPr>
        <p:spPr>
          <a:xfrm>
            <a:off x="6199632" y="3163824"/>
            <a:ext cx="256032" cy="256032"/>
          </a:xfrm>
          <a:prstGeom prst="ellipse">
            <a:avLst/>
          </a:prstGeom>
          <a:solidFill>
            <a:srgbClr val="7D4E00"/>
          </a:solidFill>
          <a:ln w="12700">
            <a:solidFill>
              <a:srgbClr val="7D4E00"/>
            </a:solidFill>
            <a:prstDash val="solid"/>
          </a:ln>
        </p:spPr>
      </p:sp>
      <p:sp>
        <p:nvSpPr>
          <p:cNvPr id="56" name="Text 54"/>
          <p:cNvSpPr/>
          <p:nvPr/>
        </p:nvSpPr>
        <p:spPr>
          <a:xfrm>
            <a:off x="6199632" y="3163824"/>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3</a:t>
            </a:r>
            <a:endParaRPr lang="en-US" sz="900" dirty="0">
              <a:latin typeface="Footlight MT Light" panose="0204060206030A020304" pitchFamily="18" charset="0"/>
            </a:endParaRPr>
          </a:p>
        </p:txBody>
      </p:sp>
      <p:sp>
        <p:nvSpPr>
          <p:cNvPr id="57" name="Text 55"/>
          <p:cNvSpPr/>
          <p:nvPr/>
        </p:nvSpPr>
        <p:spPr>
          <a:xfrm>
            <a:off x="6528816" y="3127248"/>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Full Chamber Portal adoption by all LSM and medium-scale operators</a:t>
            </a:r>
            <a:endParaRPr lang="en-US" sz="950" dirty="0">
              <a:latin typeface="Footlight MT Light" panose="0204060206030A020304" pitchFamily="18" charset="0"/>
            </a:endParaRPr>
          </a:p>
        </p:txBody>
      </p:sp>
      <p:sp>
        <p:nvSpPr>
          <p:cNvPr id="58" name="Shape 56"/>
          <p:cNvSpPr/>
          <p:nvPr/>
        </p:nvSpPr>
        <p:spPr>
          <a:xfrm>
            <a:off x="6199632" y="3730752"/>
            <a:ext cx="256032" cy="256032"/>
          </a:xfrm>
          <a:prstGeom prst="ellipse">
            <a:avLst/>
          </a:prstGeom>
          <a:solidFill>
            <a:srgbClr val="7D4E00"/>
          </a:solidFill>
          <a:ln w="12700">
            <a:solidFill>
              <a:srgbClr val="7D4E00"/>
            </a:solidFill>
            <a:prstDash val="solid"/>
          </a:ln>
        </p:spPr>
      </p:sp>
      <p:sp>
        <p:nvSpPr>
          <p:cNvPr id="59" name="Text 57"/>
          <p:cNvSpPr/>
          <p:nvPr/>
        </p:nvSpPr>
        <p:spPr>
          <a:xfrm>
            <a:off x="6199632" y="3730752"/>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4</a:t>
            </a:r>
            <a:endParaRPr lang="en-US" sz="900" dirty="0">
              <a:latin typeface="Footlight MT Light" panose="0204060206030A020304" pitchFamily="18" charset="0"/>
            </a:endParaRPr>
          </a:p>
        </p:txBody>
      </p:sp>
      <p:sp>
        <p:nvSpPr>
          <p:cNvPr id="60" name="Text 58"/>
          <p:cNvSpPr/>
          <p:nvPr/>
        </p:nvSpPr>
        <p:spPr>
          <a:xfrm>
            <a:off x="6528816" y="3694176"/>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Guinean personnel take primary control room operations — SI in support</a:t>
            </a:r>
            <a:endParaRPr lang="en-US" sz="950" dirty="0">
              <a:latin typeface="Footlight MT Light" panose="0204060206030A020304" pitchFamily="18" charset="0"/>
            </a:endParaRPr>
          </a:p>
        </p:txBody>
      </p:sp>
      <p:sp>
        <p:nvSpPr>
          <p:cNvPr id="61" name="Shape 59"/>
          <p:cNvSpPr/>
          <p:nvPr/>
        </p:nvSpPr>
        <p:spPr>
          <a:xfrm>
            <a:off x="6199632" y="4297680"/>
            <a:ext cx="256032" cy="256032"/>
          </a:xfrm>
          <a:prstGeom prst="ellipse">
            <a:avLst/>
          </a:prstGeom>
          <a:solidFill>
            <a:srgbClr val="7D4E00"/>
          </a:solidFill>
          <a:ln w="12700">
            <a:solidFill>
              <a:srgbClr val="7D4E00"/>
            </a:solidFill>
            <a:prstDash val="solid"/>
          </a:ln>
        </p:spPr>
      </p:sp>
      <p:sp>
        <p:nvSpPr>
          <p:cNvPr id="62" name="Text 60"/>
          <p:cNvSpPr/>
          <p:nvPr/>
        </p:nvSpPr>
        <p:spPr>
          <a:xfrm>
            <a:off x="6199632" y="4297680"/>
            <a:ext cx="256032" cy="256032"/>
          </a:xfrm>
          <a:prstGeom prst="rect">
            <a:avLst/>
          </a:prstGeom>
          <a:noFill/>
          <a:ln/>
        </p:spPr>
        <p:txBody>
          <a:bodyPr wrap="square" rtlCol="0" anchor="ctr"/>
          <a:lstStyle/>
          <a:p>
            <a:pPr marL="0" indent="0" algn="ctr">
              <a:buNone/>
            </a:pPr>
            <a:r>
              <a:rPr lang="en-US" sz="900" b="1" dirty="0">
                <a:solidFill>
                  <a:srgbClr val="FFFFFF"/>
                </a:solidFill>
                <a:latin typeface="Footlight MT Light" panose="0204060206030A020304" pitchFamily="18" charset="0"/>
                <a:ea typeface="Calibri" pitchFamily="34" charset="-122"/>
                <a:cs typeface="Calibri" pitchFamily="34" charset="-120"/>
              </a:rPr>
              <a:t>5</a:t>
            </a:r>
            <a:endParaRPr lang="en-US" sz="900" dirty="0">
              <a:latin typeface="Footlight MT Light" panose="0204060206030A020304" pitchFamily="18" charset="0"/>
            </a:endParaRPr>
          </a:p>
        </p:txBody>
      </p:sp>
      <p:sp>
        <p:nvSpPr>
          <p:cNvPr id="63" name="Text 61"/>
          <p:cNvSpPr/>
          <p:nvPr/>
        </p:nvSpPr>
        <p:spPr>
          <a:xfrm>
            <a:off x="6528816" y="4261104"/>
            <a:ext cx="2267712" cy="438912"/>
          </a:xfrm>
          <a:prstGeom prst="rect">
            <a:avLst/>
          </a:prstGeom>
          <a:noFill/>
          <a:ln/>
        </p:spPr>
        <p:txBody>
          <a:bodyPr wrap="square" rtlCol="0" anchor="ctr"/>
          <a:lstStyle/>
          <a:p>
            <a:pPr marL="0" indent="0">
              <a:buNone/>
            </a:pPr>
            <a:r>
              <a:rPr lang="en-US" sz="950" dirty="0">
                <a:solidFill>
                  <a:srgbClr val="4A4A4A"/>
                </a:solidFill>
                <a:latin typeface="Footlight MT Light" panose="0204060206030A020304" pitchFamily="18" charset="0"/>
                <a:ea typeface="Calibri" pitchFamily="34" charset="-122"/>
                <a:cs typeface="Calibri" pitchFamily="34" charset="-120"/>
              </a:rPr>
              <a:t>Revenue assurance reporting commenced; first royalty uplift measured</a:t>
            </a:r>
            <a:endParaRPr lang="en-US" sz="950" dirty="0">
              <a:latin typeface="Footlight MT Light" panose="0204060206030A020304" pitchFamily="18" charset="0"/>
            </a:endParaRPr>
          </a:p>
        </p:txBody>
      </p:sp>
      <p:sp>
        <p:nvSpPr>
          <p:cNvPr id="64" name="Text 62"/>
          <p:cNvSpPr/>
          <p:nvPr/>
        </p:nvSpPr>
        <p:spPr>
          <a:xfrm>
            <a:off x="201168" y="4754203"/>
            <a:ext cx="8741664" cy="201168"/>
          </a:xfrm>
          <a:prstGeom prst="rect">
            <a:avLst/>
          </a:prstGeom>
          <a:noFill/>
          <a:ln/>
        </p:spPr>
        <p:txBody>
          <a:bodyPr wrap="square" rtlCol="0" anchor="ctr"/>
          <a:lstStyle/>
          <a:p>
            <a:pPr marL="0" indent="0" algn="ctr">
              <a:buNone/>
            </a:pPr>
            <a:r>
              <a:rPr lang="en-US" sz="950" i="1" dirty="0">
                <a:solidFill>
                  <a:srgbClr val="2C3E50"/>
                </a:solidFill>
                <a:latin typeface="Footlight MT Light" panose="0204060206030A020304" pitchFamily="18" charset="0"/>
                <a:ea typeface="Calibri" pitchFamily="34" charset="-122"/>
                <a:cs typeface="Calibri" pitchFamily="34" charset="-120"/>
              </a:rPr>
              <a:t>▶  Smart Innovation provides full implementation support, technology transfer, and post-handover remote maintenance throughout all phases.</a:t>
            </a:r>
            <a:endParaRPr lang="en-US" sz="950" dirty="0">
              <a:latin typeface="Footlight MT Light" panose="0204060206030A020304" pitchFamily="18" charset="0"/>
            </a:endParaRPr>
          </a:p>
        </p:txBody>
      </p:sp>
      <p:sp>
        <p:nvSpPr>
          <p:cNvPr id="65" name="Shape 63"/>
          <p:cNvSpPr/>
          <p:nvPr/>
        </p:nvSpPr>
        <p:spPr>
          <a:xfrm>
            <a:off x="0" y="4974336"/>
            <a:ext cx="9144000" cy="169164"/>
          </a:xfrm>
          <a:prstGeom prst="rect">
            <a:avLst/>
          </a:prstGeom>
          <a:solidFill>
            <a:srgbClr val="0A3D62"/>
          </a:solidFill>
          <a:ln w="12700">
            <a:solidFill>
              <a:srgbClr val="0A3D62"/>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F08"/>
        </a:solidFill>
        <a:effectLst/>
      </p:bgPr>
    </p:bg>
    <p:spTree>
      <p:nvGrpSpPr>
        <p:cNvPr id="1" name=""/>
        <p:cNvGrpSpPr/>
        <p:nvPr/>
      </p:nvGrpSpPr>
      <p:grpSpPr>
        <a:xfrm>
          <a:off x="0" y="0"/>
          <a:ext cx="0" cy="0"/>
          <a:chOff x="0" y="0"/>
          <a:chExt cx="0" cy="0"/>
        </a:xfrm>
      </p:grpSpPr>
      <p:sp>
        <p:nvSpPr>
          <p:cNvPr id="2" name="Shape 0"/>
          <p:cNvSpPr/>
          <p:nvPr/>
        </p:nvSpPr>
        <p:spPr>
          <a:xfrm>
            <a:off x="6583680" y="-1645920"/>
            <a:ext cx="4572000" cy="4572000"/>
          </a:xfrm>
          <a:prstGeom prst="ellipse">
            <a:avLst/>
          </a:prstGeom>
          <a:solidFill>
            <a:srgbClr val="2D5A1B">
              <a:alpha val="32000"/>
            </a:srgbClr>
          </a:solidFill>
          <a:ln w="12700">
            <a:solidFill>
              <a:srgbClr val="2D5A1B">
                <a:alpha val="32000"/>
              </a:srgbClr>
            </a:solidFill>
            <a:prstDash val="solid"/>
          </a:ln>
        </p:spPr>
      </p:sp>
      <p:sp>
        <p:nvSpPr>
          <p:cNvPr id="3" name="Shape 1"/>
          <p:cNvSpPr/>
          <p:nvPr/>
        </p:nvSpPr>
        <p:spPr>
          <a:xfrm>
            <a:off x="-914400" y="3200400"/>
            <a:ext cx="3200400" cy="3200400"/>
          </a:xfrm>
          <a:prstGeom prst="ellipse">
            <a:avLst/>
          </a:prstGeom>
          <a:solidFill>
            <a:srgbClr val="0A3D62">
              <a:alpha val="28000"/>
            </a:srgbClr>
          </a:solidFill>
          <a:ln w="12700">
            <a:solidFill>
              <a:srgbClr val="0A3D62">
                <a:alpha val="28000"/>
              </a:srgbClr>
            </a:solidFill>
            <a:prstDash val="solid"/>
          </a:ln>
        </p:spPr>
      </p:sp>
      <p:sp>
        <p:nvSpPr>
          <p:cNvPr id="4" name="Shape 2"/>
          <p:cNvSpPr/>
          <p:nvPr/>
        </p:nvSpPr>
        <p:spPr>
          <a:xfrm>
            <a:off x="3200400" y="4114800"/>
            <a:ext cx="2286000" cy="2286000"/>
          </a:xfrm>
          <a:prstGeom prst="ellipse">
            <a:avLst/>
          </a:prstGeom>
          <a:solidFill>
            <a:srgbClr val="00B4D8">
              <a:alpha val="18000"/>
            </a:srgbClr>
          </a:solidFill>
          <a:ln w="12700">
            <a:solidFill>
              <a:srgbClr val="00B4D8">
                <a:alpha val="18000"/>
              </a:srgbClr>
            </a:solidFill>
            <a:prstDash val="solid"/>
          </a:ln>
        </p:spPr>
      </p:sp>
      <p:sp>
        <p:nvSpPr>
          <p:cNvPr id="5" name="Shape 3"/>
          <p:cNvSpPr/>
          <p:nvPr/>
        </p:nvSpPr>
        <p:spPr>
          <a:xfrm>
            <a:off x="0" y="0"/>
            <a:ext cx="201168" cy="5143500"/>
          </a:xfrm>
          <a:prstGeom prst="rect">
            <a:avLst/>
          </a:prstGeom>
          <a:solidFill>
            <a:srgbClr val="E8A020"/>
          </a:solidFill>
          <a:ln w="12700">
            <a:solidFill>
              <a:srgbClr val="E8A020"/>
            </a:solidFill>
            <a:prstDash val="solid"/>
          </a:ln>
        </p:spPr>
      </p:sp>
      <p:sp>
        <p:nvSpPr>
          <p:cNvPr id="6" name="Text 4"/>
          <p:cNvSpPr/>
          <p:nvPr/>
        </p:nvSpPr>
        <p:spPr>
          <a:xfrm>
            <a:off x="411480" y="274320"/>
            <a:ext cx="8229600" cy="292608"/>
          </a:xfrm>
          <a:prstGeom prst="rect">
            <a:avLst/>
          </a:prstGeom>
          <a:noFill/>
          <a:ln/>
        </p:spPr>
        <p:txBody>
          <a:bodyPr wrap="square" rtlCol="0" anchor="ctr"/>
          <a:lstStyle/>
          <a:p>
            <a:pPr marL="0" indent="0">
              <a:buNone/>
            </a:pPr>
            <a:r>
              <a:rPr lang="en-US" sz="1200" b="1" kern="0" spc="400" dirty="0">
                <a:solidFill>
                  <a:srgbClr val="E8A020"/>
                </a:solidFill>
                <a:latin typeface="Footlight MT Light" panose="0204060206030A020304" pitchFamily="18" charset="0"/>
                <a:ea typeface="Trebuchet MS" pitchFamily="34" charset="-122"/>
                <a:cs typeface="Trebuchet MS" pitchFamily="34" charset="-120"/>
              </a:rPr>
              <a:t>CONCLUSION &amp; CALL TO ACTION</a:t>
            </a:r>
            <a:endParaRPr lang="en-US" sz="1200" dirty="0">
              <a:latin typeface="Footlight MT Light" panose="0204060206030A020304" pitchFamily="18" charset="0"/>
            </a:endParaRPr>
          </a:p>
        </p:txBody>
      </p:sp>
      <p:sp>
        <p:nvSpPr>
          <p:cNvPr id="7" name="Text 5"/>
          <p:cNvSpPr/>
          <p:nvPr/>
        </p:nvSpPr>
        <p:spPr>
          <a:xfrm>
            <a:off x="411480" y="640080"/>
            <a:ext cx="8229600" cy="1463040"/>
          </a:xfrm>
          <a:prstGeom prst="rect">
            <a:avLst/>
          </a:prstGeom>
          <a:noFill/>
          <a:ln/>
        </p:spPr>
        <p:txBody>
          <a:bodyPr wrap="square" rtlCol="0" anchor="ctr"/>
          <a:lstStyle/>
          <a:p>
            <a:pPr marL="0" indent="0">
              <a:buNone/>
            </a:pPr>
            <a:r>
              <a:rPr lang="en-US" sz="3800" b="1" dirty="0">
                <a:solidFill>
                  <a:srgbClr val="FFFFFF"/>
                </a:solidFill>
                <a:latin typeface="Footlight MT Light" panose="0204060206030A020304" pitchFamily="18" charset="0"/>
                <a:ea typeface="Georgia" pitchFamily="34" charset="-122"/>
                <a:cs typeface="Georgia" pitchFamily="34" charset="-120"/>
              </a:rPr>
              <a:t>Guinea Has the Resources.</a:t>
            </a:r>
            <a:endParaRPr lang="en-US" sz="3800" dirty="0">
              <a:latin typeface="Footlight MT Light" panose="0204060206030A020304" pitchFamily="18" charset="0"/>
            </a:endParaRPr>
          </a:p>
          <a:p>
            <a:pPr marL="0" indent="0">
              <a:buNone/>
            </a:pPr>
            <a:r>
              <a:rPr lang="en-US" sz="3800" b="1" dirty="0">
                <a:solidFill>
                  <a:srgbClr val="FFFFFF"/>
                </a:solidFill>
                <a:latin typeface="Footlight MT Light" panose="0204060206030A020304" pitchFamily="18" charset="0"/>
                <a:ea typeface="Georgia" pitchFamily="34" charset="-122"/>
                <a:cs typeface="Georgia" pitchFamily="34" charset="-120"/>
              </a:rPr>
              <a:t>Smart Innovations Has the Solution.</a:t>
            </a:r>
            <a:endParaRPr lang="en-US" sz="3800" dirty="0">
              <a:latin typeface="Footlight MT Light" panose="0204060206030A020304" pitchFamily="18" charset="0"/>
            </a:endParaRPr>
          </a:p>
        </p:txBody>
      </p:sp>
      <p:sp>
        <p:nvSpPr>
          <p:cNvPr id="8" name="Text 6"/>
          <p:cNvSpPr/>
          <p:nvPr/>
        </p:nvSpPr>
        <p:spPr>
          <a:xfrm>
            <a:off x="411480" y="2194560"/>
            <a:ext cx="384048" cy="475488"/>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9" name="Text 7"/>
          <p:cNvSpPr/>
          <p:nvPr/>
        </p:nvSpPr>
        <p:spPr>
          <a:xfrm>
            <a:off x="877824" y="2231136"/>
            <a:ext cx="8229600" cy="457200"/>
          </a:xfrm>
          <a:prstGeom prst="rect">
            <a:avLst/>
          </a:prstGeom>
          <a:noFill/>
          <a:ln/>
        </p:spPr>
        <p:txBody>
          <a:bodyPr wrap="square" rtlCol="0" anchor="ctr"/>
          <a:lstStyle/>
          <a:p>
            <a:pPr marL="0" indent="0" algn="just">
              <a:buNone/>
            </a:pPr>
            <a:r>
              <a:rPr lang="en-US" sz="1200" dirty="0">
                <a:solidFill>
                  <a:srgbClr val="CCEECC"/>
                </a:solidFill>
                <a:latin typeface="Footlight MT Light" panose="0204060206030A020304" pitchFamily="18" charset="0"/>
                <a:ea typeface="Calibri" pitchFamily="34" charset="-122"/>
                <a:cs typeface="Calibri" pitchFamily="34" charset="-120"/>
              </a:rPr>
              <a:t>Guinea's mineral wealth is extraordinary — but unregistered equipment, untracked gold, illegal ASM sites, and absent governance systems mean billions in revenues never reach the government or its people.</a:t>
            </a:r>
            <a:endParaRPr lang="en-US" sz="1200" dirty="0">
              <a:latin typeface="Footlight MT Light" panose="0204060206030A020304" pitchFamily="18" charset="0"/>
            </a:endParaRPr>
          </a:p>
        </p:txBody>
      </p:sp>
      <p:sp>
        <p:nvSpPr>
          <p:cNvPr id="10" name="Text 8"/>
          <p:cNvSpPr/>
          <p:nvPr/>
        </p:nvSpPr>
        <p:spPr>
          <a:xfrm>
            <a:off x="411480" y="2743200"/>
            <a:ext cx="384048" cy="475488"/>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11" name="Text 9"/>
          <p:cNvSpPr/>
          <p:nvPr/>
        </p:nvSpPr>
        <p:spPr>
          <a:xfrm>
            <a:off x="877824" y="2779776"/>
            <a:ext cx="7955280" cy="457200"/>
          </a:xfrm>
          <a:prstGeom prst="rect">
            <a:avLst/>
          </a:prstGeom>
          <a:noFill/>
          <a:ln/>
        </p:spPr>
        <p:txBody>
          <a:bodyPr wrap="square" rtlCol="0" anchor="ctr"/>
          <a:lstStyle/>
          <a:p>
            <a:pPr marL="0" indent="0" algn="just">
              <a:buNone/>
            </a:pPr>
            <a:r>
              <a:rPr lang="en-US" sz="1200" dirty="0">
                <a:solidFill>
                  <a:srgbClr val="CCEECC"/>
                </a:solidFill>
                <a:latin typeface="Footlight MT Light" panose="0204060206030A020304" pitchFamily="18" charset="0"/>
                <a:ea typeface="Calibri" pitchFamily="34" charset="-122"/>
                <a:cs typeface="Calibri" pitchFamily="34" charset="-120"/>
              </a:rPr>
              <a:t>Smart Innovations' four Ghana-proven platforms are immediately deployable in Guinea — adapted to local regulatory structures, with proven technology and experienced implementation teams ready.</a:t>
            </a:r>
            <a:endParaRPr lang="en-US" sz="1200" dirty="0">
              <a:latin typeface="Footlight MT Light" panose="0204060206030A020304" pitchFamily="18" charset="0"/>
            </a:endParaRPr>
          </a:p>
        </p:txBody>
      </p:sp>
      <p:sp>
        <p:nvSpPr>
          <p:cNvPr id="12" name="Text 10"/>
          <p:cNvSpPr/>
          <p:nvPr/>
        </p:nvSpPr>
        <p:spPr>
          <a:xfrm>
            <a:off x="411480" y="3291840"/>
            <a:ext cx="384048" cy="475488"/>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13" name="Text 11"/>
          <p:cNvSpPr/>
          <p:nvPr/>
        </p:nvSpPr>
        <p:spPr>
          <a:xfrm>
            <a:off x="877824" y="3328416"/>
            <a:ext cx="8229600" cy="457200"/>
          </a:xfrm>
          <a:prstGeom prst="rect">
            <a:avLst/>
          </a:prstGeom>
          <a:noFill/>
          <a:ln/>
        </p:spPr>
        <p:txBody>
          <a:bodyPr wrap="square" rtlCol="0" anchor="ctr"/>
          <a:lstStyle/>
          <a:p>
            <a:pPr marL="0" indent="0" algn="just">
              <a:buNone/>
            </a:pPr>
            <a:r>
              <a:rPr lang="en-US" sz="1200" dirty="0">
                <a:solidFill>
                  <a:srgbClr val="CCEECC"/>
                </a:solidFill>
                <a:latin typeface="Footlight MT Light" panose="0204060206030A020304" pitchFamily="18" charset="0"/>
                <a:ea typeface="Calibri" pitchFamily="34" charset="-122"/>
                <a:cs typeface="Calibri" pitchFamily="34" charset="-120"/>
              </a:rPr>
              <a:t>AI drone monitoring and a 24/7 control room add a physical surveillance layer that no other solution offers — closing the gap between paper regulation and real-world enforcement on the ground.</a:t>
            </a:r>
            <a:endParaRPr lang="en-US" sz="1200" dirty="0">
              <a:latin typeface="Footlight MT Light" panose="0204060206030A020304" pitchFamily="18" charset="0"/>
            </a:endParaRPr>
          </a:p>
        </p:txBody>
      </p:sp>
      <p:sp>
        <p:nvSpPr>
          <p:cNvPr id="14" name="Text 12"/>
          <p:cNvSpPr/>
          <p:nvPr/>
        </p:nvSpPr>
        <p:spPr>
          <a:xfrm>
            <a:off x="411480" y="3840480"/>
            <a:ext cx="384048" cy="475488"/>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15" name="Text 13"/>
          <p:cNvSpPr/>
          <p:nvPr/>
        </p:nvSpPr>
        <p:spPr>
          <a:xfrm>
            <a:off x="877824" y="3877056"/>
            <a:ext cx="8155340" cy="457200"/>
          </a:xfrm>
          <a:prstGeom prst="rect">
            <a:avLst/>
          </a:prstGeom>
          <a:noFill/>
          <a:ln/>
        </p:spPr>
        <p:txBody>
          <a:bodyPr wrap="square" rtlCol="0" anchor="ctr"/>
          <a:lstStyle/>
          <a:p>
            <a:pPr marL="0" indent="0" algn="just">
              <a:buNone/>
            </a:pPr>
            <a:r>
              <a:rPr lang="en-US" sz="1200" dirty="0">
                <a:solidFill>
                  <a:srgbClr val="CCEECC"/>
                </a:solidFill>
                <a:latin typeface="Footlight MT Light" panose="0204060206030A020304" pitchFamily="18" charset="0"/>
                <a:ea typeface="Calibri" pitchFamily="34" charset="-122"/>
                <a:cs typeface="Calibri" pitchFamily="34" charset="-120"/>
              </a:rPr>
              <a:t>Full in-country capacity building ensures Guinea owns and operates these systems long-term, with Guinean nationals trained and manning all operations within 24 months.</a:t>
            </a:r>
            <a:endParaRPr lang="en-US" sz="1200" dirty="0">
              <a:latin typeface="Footlight MT Light" panose="0204060206030A020304" pitchFamily="18" charset="0"/>
            </a:endParaRPr>
          </a:p>
        </p:txBody>
      </p:sp>
      <p:sp>
        <p:nvSpPr>
          <p:cNvPr id="16" name="Text 14"/>
          <p:cNvSpPr/>
          <p:nvPr/>
        </p:nvSpPr>
        <p:spPr>
          <a:xfrm>
            <a:off x="411480" y="4250573"/>
            <a:ext cx="384048" cy="475488"/>
          </a:xfrm>
          <a:prstGeom prst="rect">
            <a:avLst/>
          </a:prstGeom>
          <a:noFill/>
          <a:ln/>
        </p:spPr>
        <p:txBody>
          <a:bodyPr wrap="square" rtlCol="0" anchor="ctr"/>
          <a:lstStyle/>
          <a:p>
            <a:pPr marL="0" indent="0" algn="ctr">
              <a:buNone/>
            </a:pPr>
            <a:r>
              <a:rPr lang="en-US" sz="1800" dirty="0">
                <a:solidFill>
                  <a:srgbClr val="000000"/>
                </a:solidFill>
                <a:latin typeface="Footlight MT Light" panose="0204060206030A020304" pitchFamily="18" charset="0"/>
              </a:rPr>
              <a:t>🤝</a:t>
            </a:r>
            <a:endParaRPr lang="en-US" sz="1800" dirty="0">
              <a:latin typeface="Footlight MT Light" panose="0204060206030A020304" pitchFamily="18" charset="0"/>
            </a:endParaRPr>
          </a:p>
        </p:txBody>
      </p:sp>
      <p:sp>
        <p:nvSpPr>
          <p:cNvPr id="17" name="Text 15"/>
          <p:cNvSpPr/>
          <p:nvPr/>
        </p:nvSpPr>
        <p:spPr>
          <a:xfrm>
            <a:off x="877823" y="4314859"/>
            <a:ext cx="8155339" cy="457200"/>
          </a:xfrm>
          <a:prstGeom prst="rect">
            <a:avLst/>
          </a:prstGeom>
          <a:noFill/>
          <a:ln/>
        </p:spPr>
        <p:txBody>
          <a:bodyPr wrap="square" rtlCol="0" anchor="ctr"/>
          <a:lstStyle/>
          <a:p>
            <a:pPr marL="0" indent="0" algn="just">
              <a:buNone/>
            </a:pPr>
            <a:r>
              <a:rPr lang="en-US" sz="1200" dirty="0">
                <a:solidFill>
                  <a:srgbClr val="CCEECC"/>
                </a:solidFill>
                <a:latin typeface="Footlight MT Light" panose="0204060206030A020304" pitchFamily="18" charset="0"/>
                <a:ea typeface="Calibri" pitchFamily="34" charset="-122"/>
                <a:cs typeface="Calibri" pitchFamily="34" charset="-120"/>
              </a:rPr>
              <a:t>We invite the Government of Guinea, Ministère des Mines, SOGUIPAMI, BCRG, and mining industry partners to engage with us for a phased implementation programme.</a:t>
            </a:r>
            <a:endParaRPr lang="en-US" sz="1200" dirty="0">
              <a:latin typeface="Footlight MT Light" panose="0204060206030A020304" pitchFamily="18" charset="0"/>
            </a:endParaRPr>
          </a:p>
        </p:txBody>
      </p:sp>
      <p:sp>
        <p:nvSpPr>
          <p:cNvPr id="18" name="Shape 16"/>
          <p:cNvSpPr/>
          <p:nvPr/>
        </p:nvSpPr>
        <p:spPr>
          <a:xfrm>
            <a:off x="0" y="4736592"/>
            <a:ext cx="9144000" cy="402336"/>
          </a:xfrm>
          <a:prstGeom prst="rect">
            <a:avLst/>
          </a:prstGeom>
          <a:solidFill>
            <a:srgbClr val="0A3D62"/>
          </a:solidFill>
          <a:ln w="12700">
            <a:solidFill>
              <a:srgbClr val="0A3D62"/>
            </a:solidFill>
            <a:prstDash val="solid"/>
          </a:ln>
        </p:spPr>
      </p:sp>
      <p:sp>
        <p:nvSpPr>
          <p:cNvPr id="19" name="Text 17"/>
          <p:cNvSpPr/>
          <p:nvPr/>
        </p:nvSpPr>
        <p:spPr>
          <a:xfrm>
            <a:off x="0" y="4736592"/>
            <a:ext cx="9144000" cy="402336"/>
          </a:xfrm>
          <a:prstGeom prst="rect">
            <a:avLst/>
          </a:prstGeom>
          <a:noFill/>
          <a:ln/>
        </p:spPr>
        <p:txBody>
          <a:bodyPr wrap="square" rtlCol="0" anchor="ctr"/>
          <a:lstStyle/>
          <a:p>
            <a:pPr marL="0" indent="0" algn="ctr">
              <a:buNone/>
            </a:pPr>
            <a:r>
              <a:rPr lang="en-US" sz="1000" dirty="0">
                <a:solidFill>
                  <a:srgbClr val="FFFFFF"/>
                </a:solidFill>
                <a:latin typeface="Footlight MT Light" panose="0204060206030A020304" pitchFamily="18" charset="0"/>
                <a:ea typeface="Calibri" pitchFamily="34" charset="-122"/>
                <a:cs typeface="Calibri" pitchFamily="34" charset="-120"/>
              </a:rPr>
              <a:t>Smart Innovations Ghana Limited  ·  info@smartinnovationsghana.com  ·  +233 (0) XXX XXX XXXX  ·  www.smartinnovationsghana.com</a:t>
            </a:r>
            <a:endParaRPr lang="en-US" sz="1000" dirty="0">
              <a:latin typeface="Footlight MT Light" panose="0204060206030A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3145</Words>
  <Application>Microsoft Office PowerPoint</Application>
  <PresentationFormat>On-screen Show (16:9)</PresentationFormat>
  <Paragraphs>409</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Footlight MT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Guinea Mining Outlook &amp; Smart Innovations Solutions</dc:title>
  <dc:subject>PptxGenJS Presentation</dc:subject>
  <dc:creator>Smart Innovations Ghana Limited</dc:creator>
  <cp:lastModifiedBy>ADR</cp:lastModifiedBy>
  <cp:revision>2</cp:revision>
  <dcterms:created xsi:type="dcterms:W3CDTF">2026-05-20T09:47:40Z</dcterms:created>
  <dcterms:modified xsi:type="dcterms:W3CDTF">2026-05-20T03:13:03Z</dcterms:modified>
</cp:coreProperties>
</file>