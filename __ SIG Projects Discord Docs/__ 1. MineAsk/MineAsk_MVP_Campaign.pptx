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6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3B66"/>
          </a:solidFill>
          <a:ln/>
        </p:spPr>
      </p:sp>
      <p:sp>
        <p:nvSpPr>
          <p:cNvPr id="3" name="Text 1"/>
          <p:cNvSpPr/>
          <p:nvPr/>
        </p:nvSpPr>
        <p:spPr>
          <a:xfrm>
            <a:off x="548640" y="1554480"/>
            <a:ext cx="10058400" cy="914400"/>
          </a:xfrm>
          <a:prstGeom prst="rect">
            <a:avLst/>
          </a:prstGeom>
          <a:noFill/>
          <a:ln/>
        </p:spPr>
        <p:txBody>
          <a:bodyPr wrap="square" rtlCol="0" anchor="ctr"/>
          <a:lstStyle/>
          <a:p>
            <a:pPr indent="0" marL="0">
              <a:buNone/>
            </a:pPr>
            <a:r>
              <a:rPr lang="en-US" sz="5400" b="1" spc="200" kern="0" dirty="0">
                <a:solidFill>
                  <a:srgbClr val="FFFFFF"/>
                </a:solidFill>
                <a:latin typeface="Cambria" pitchFamily="34" charset="0"/>
                <a:ea typeface="Cambria" pitchFamily="34" charset="-122"/>
                <a:cs typeface="Cambria" pitchFamily="34" charset="-120"/>
              </a:rPr>
              <a:t>MINEASK</a:t>
            </a:r>
            <a:endParaRPr lang="en-US" sz="5400" dirty="0"/>
          </a:p>
        </p:txBody>
      </p:sp>
      <p:sp>
        <p:nvSpPr>
          <p:cNvPr id="4" name="Text 2"/>
          <p:cNvSpPr/>
          <p:nvPr/>
        </p:nvSpPr>
        <p:spPr>
          <a:xfrm>
            <a:off x="548640" y="2514600"/>
            <a:ext cx="10515600" cy="640080"/>
          </a:xfrm>
          <a:prstGeom prst="rect">
            <a:avLst/>
          </a:prstGeom>
          <a:noFill/>
          <a:ln/>
        </p:spPr>
        <p:txBody>
          <a:bodyPr wrap="square" rtlCol="0" anchor="ctr"/>
          <a:lstStyle/>
          <a:p>
            <a:pPr indent="0" marL="0">
              <a:buNone/>
            </a:pPr>
            <a:r>
              <a:rPr lang="en-US" sz="2200" dirty="0">
                <a:solidFill>
                  <a:srgbClr val="BFD7EE"/>
                </a:solidFill>
                <a:latin typeface="Calibri" pitchFamily="34" charset="0"/>
                <a:ea typeface="Calibri" pitchFamily="34" charset="-122"/>
                <a:cs typeface="Calibri" pitchFamily="34" charset="-120"/>
              </a:rPr>
              <a:t>MVP Consultant Recruitment &amp; Validation Campaign</a:t>
            </a:r>
            <a:endParaRPr lang="en-US" sz="2200" dirty="0"/>
          </a:p>
        </p:txBody>
      </p:sp>
      <p:sp>
        <p:nvSpPr>
          <p:cNvPr id="5" name="Shape 3"/>
          <p:cNvSpPr/>
          <p:nvPr/>
        </p:nvSpPr>
        <p:spPr>
          <a:xfrm>
            <a:off x="548640" y="3246120"/>
            <a:ext cx="2926080" cy="0"/>
          </a:xfrm>
          <a:prstGeom prst="line">
            <a:avLst/>
          </a:prstGeom>
          <a:noFill/>
          <a:ln w="38100">
            <a:solidFill>
              <a:srgbClr val="0070C0"/>
            </a:solidFill>
            <a:prstDash val="solid"/>
          </a:ln>
        </p:spPr>
      </p:sp>
      <p:sp>
        <p:nvSpPr>
          <p:cNvPr id="6" name="Text 4"/>
          <p:cNvSpPr/>
          <p:nvPr/>
        </p:nvSpPr>
        <p:spPr>
          <a:xfrm>
            <a:off x="548640" y="3520440"/>
            <a:ext cx="9875520" cy="1188720"/>
          </a:xfrm>
          <a:prstGeom prst="rect">
            <a:avLst/>
          </a:prstGeom>
          <a:noFill/>
          <a:ln/>
        </p:spPr>
        <p:txBody>
          <a:bodyPr wrap="square" rtlCol="0" anchor="ctr"/>
          <a:lstStyle/>
          <a:p>
            <a:pPr indent="0" marL="0">
              <a:lnSpc>
                <a:spcPct val="125000"/>
              </a:lnSpc>
              <a:buNone/>
            </a:pPr>
            <a:r>
              <a:rPr lang="en-US" sz="1400" dirty="0">
                <a:solidFill>
                  <a:srgbClr val="D9E6F2"/>
                </a:solidFill>
                <a:latin typeface="Calibri" pitchFamily="34" charset="0"/>
                <a:ea typeface="Calibri" pitchFamily="34" charset="-122"/>
                <a:cs typeface="Calibri" pitchFamily="34" charset="-120"/>
              </a:rPr>
              <a:t>A precision-account strategy to recruit Ghanaian mining consultancies and law firms as MVP design partners, validate the Ground Readiness Report against real-world engagements, and build the foundation for a consultant-first go-to-market engine.</a:t>
            </a:r>
            <a:endParaRPr lang="en-US" sz="1400" dirty="0"/>
          </a:p>
        </p:txBody>
      </p:sp>
      <p:sp>
        <p:nvSpPr>
          <p:cNvPr id="7" name="Shape 5"/>
          <p:cNvSpPr/>
          <p:nvPr/>
        </p:nvSpPr>
        <p:spPr>
          <a:xfrm>
            <a:off x="548640" y="4892040"/>
            <a:ext cx="2606040" cy="1051560"/>
          </a:xfrm>
          <a:prstGeom prst="roundRect">
            <a:avLst>
              <a:gd name="adj" fmla="val 6957"/>
            </a:avLst>
          </a:prstGeom>
          <a:solidFill>
            <a:srgbClr val="0C4A80"/>
          </a:solidFill>
          <a:ln w="12700">
            <a:solidFill>
              <a:srgbClr val="0070C0"/>
            </a:solidFill>
            <a:prstDash val="solid"/>
          </a:ln>
        </p:spPr>
      </p:sp>
      <p:sp>
        <p:nvSpPr>
          <p:cNvPr id="8" name="Text 6"/>
          <p:cNvSpPr/>
          <p:nvPr/>
        </p:nvSpPr>
        <p:spPr>
          <a:xfrm>
            <a:off x="685800" y="4983480"/>
            <a:ext cx="2331720" cy="274320"/>
          </a:xfrm>
          <a:prstGeom prst="rect">
            <a:avLst/>
          </a:prstGeom>
          <a:noFill/>
          <a:ln/>
        </p:spPr>
        <p:txBody>
          <a:bodyPr wrap="square" rtlCol="0" anchor="ctr"/>
          <a:lstStyle/>
          <a:p>
            <a:pPr indent="0" marL="0">
              <a:buNone/>
            </a:pPr>
            <a:r>
              <a:rPr lang="en-US" sz="900" b="1" spc="100" kern="0" dirty="0">
                <a:solidFill>
                  <a:srgbClr val="8FC1EA"/>
                </a:solidFill>
                <a:latin typeface="Calibri" pitchFamily="34" charset="0"/>
                <a:ea typeface="Calibri" pitchFamily="34" charset="-122"/>
                <a:cs typeface="Calibri" pitchFamily="34" charset="-120"/>
              </a:rPr>
              <a:t>CAMPAIGN TYPE</a:t>
            </a:r>
            <a:endParaRPr lang="en-US" sz="900" dirty="0"/>
          </a:p>
        </p:txBody>
      </p:sp>
      <p:sp>
        <p:nvSpPr>
          <p:cNvPr id="9" name="Text 7"/>
          <p:cNvSpPr/>
          <p:nvPr/>
        </p:nvSpPr>
        <p:spPr>
          <a:xfrm>
            <a:off x="685800" y="5257800"/>
            <a:ext cx="2331720" cy="5943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MVP Validation — No commercial activity</a:t>
            </a:r>
            <a:endParaRPr lang="en-US" sz="1150" dirty="0"/>
          </a:p>
        </p:txBody>
      </p:sp>
      <p:sp>
        <p:nvSpPr>
          <p:cNvPr id="10" name="Shape 8"/>
          <p:cNvSpPr/>
          <p:nvPr/>
        </p:nvSpPr>
        <p:spPr>
          <a:xfrm>
            <a:off x="3291840" y="4892040"/>
            <a:ext cx="2606040" cy="1051560"/>
          </a:xfrm>
          <a:prstGeom prst="roundRect">
            <a:avLst>
              <a:gd name="adj" fmla="val 6957"/>
            </a:avLst>
          </a:prstGeom>
          <a:solidFill>
            <a:srgbClr val="0C4A80"/>
          </a:solidFill>
          <a:ln w="12700">
            <a:solidFill>
              <a:srgbClr val="0070C0"/>
            </a:solidFill>
            <a:prstDash val="solid"/>
          </a:ln>
        </p:spPr>
      </p:sp>
      <p:sp>
        <p:nvSpPr>
          <p:cNvPr id="11" name="Text 9"/>
          <p:cNvSpPr/>
          <p:nvPr/>
        </p:nvSpPr>
        <p:spPr>
          <a:xfrm>
            <a:off x="3429000" y="4983480"/>
            <a:ext cx="2331720" cy="274320"/>
          </a:xfrm>
          <a:prstGeom prst="rect">
            <a:avLst/>
          </a:prstGeom>
          <a:noFill/>
          <a:ln/>
        </p:spPr>
        <p:txBody>
          <a:bodyPr wrap="square" rtlCol="0" anchor="ctr"/>
          <a:lstStyle/>
          <a:p>
            <a:pPr indent="0" marL="0">
              <a:buNone/>
            </a:pPr>
            <a:r>
              <a:rPr lang="en-US" sz="900" b="1" spc="100" kern="0" dirty="0">
                <a:solidFill>
                  <a:srgbClr val="8FC1EA"/>
                </a:solidFill>
                <a:latin typeface="Calibri" pitchFamily="34" charset="0"/>
                <a:ea typeface="Calibri" pitchFamily="34" charset="-122"/>
                <a:cs typeface="Calibri" pitchFamily="34" charset="-120"/>
              </a:rPr>
              <a:t>DURATION</a:t>
            </a:r>
            <a:endParaRPr lang="en-US" sz="900" dirty="0"/>
          </a:p>
        </p:txBody>
      </p:sp>
      <p:sp>
        <p:nvSpPr>
          <p:cNvPr id="12" name="Text 10"/>
          <p:cNvSpPr/>
          <p:nvPr/>
        </p:nvSpPr>
        <p:spPr>
          <a:xfrm>
            <a:off x="3429000" y="5257800"/>
            <a:ext cx="2331720" cy="5943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2 to 4 weeks</a:t>
            </a:r>
            <a:endParaRPr lang="en-US" sz="1150" dirty="0"/>
          </a:p>
        </p:txBody>
      </p:sp>
      <p:sp>
        <p:nvSpPr>
          <p:cNvPr id="13" name="Shape 11"/>
          <p:cNvSpPr/>
          <p:nvPr/>
        </p:nvSpPr>
        <p:spPr>
          <a:xfrm>
            <a:off x="6035040" y="4892040"/>
            <a:ext cx="2606040" cy="1051560"/>
          </a:xfrm>
          <a:prstGeom prst="roundRect">
            <a:avLst>
              <a:gd name="adj" fmla="val 6957"/>
            </a:avLst>
          </a:prstGeom>
          <a:solidFill>
            <a:srgbClr val="0C4A80"/>
          </a:solidFill>
          <a:ln w="12700">
            <a:solidFill>
              <a:srgbClr val="0070C0"/>
            </a:solidFill>
            <a:prstDash val="solid"/>
          </a:ln>
        </p:spPr>
      </p:sp>
      <p:sp>
        <p:nvSpPr>
          <p:cNvPr id="14" name="Text 12"/>
          <p:cNvSpPr/>
          <p:nvPr/>
        </p:nvSpPr>
        <p:spPr>
          <a:xfrm>
            <a:off x="6172200" y="4983480"/>
            <a:ext cx="2331720" cy="274320"/>
          </a:xfrm>
          <a:prstGeom prst="rect">
            <a:avLst/>
          </a:prstGeom>
          <a:noFill/>
          <a:ln/>
        </p:spPr>
        <p:txBody>
          <a:bodyPr wrap="square" rtlCol="0" anchor="ctr"/>
          <a:lstStyle/>
          <a:p>
            <a:pPr indent="0" marL="0">
              <a:buNone/>
            </a:pPr>
            <a:r>
              <a:rPr lang="en-US" sz="900" b="1" spc="100" kern="0" dirty="0">
                <a:solidFill>
                  <a:srgbClr val="8FC1EA"/>
                </a:solidFill>
                <a:latin typeface="Calibri" pitchFamily="34" charset="0"/>
                <a:ea typeface="Calibri" pitchFamily="34" charset="-122"/>
                <a:cs typeface="Calibri" pitchFamily="34" charset="-120"/>
              </a:rPr>
              <a:t>CHANNELS</a:t>
            </a:r>
            <a:endParaRPr lang="en-US" sz="900" dirty="0"/>
          </a:p>
        </p:txBody>
      </p:sp>
      <p:sp>
        <p:nvSpPr>
          <p:cNvPr id="15" name="Text 13"/>
          <p:cNvSpPr/>
          <p:nvPr/>
        </p:nvSpPr>
        <p:spPr>
          <a:xfrm>
            <a:off x="6172200" y="5257800"/>
            <a:ext cx="2331720" cy="5943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LinkedIn · Email · Google Forms</a:t>
            </a:r>
            <a:endParaRPr lang="en-US" sz="1150" dirty="0"/>
          </a:p>
        </p:txBody>
      </p:sp>
      <p:sp>
        <p:nvSpPr>
          <p:cNvPr id="16" name="Shape 14"/>
          <p:cNvSpPr/>
          <p:nvPr/>
        </p:nvSpPr>
        <p:spPr>
          <a:xfrm>
            <a:off x="8778240" y="4892040"/>
            <a:ext cx="2606040" cy="1051560"/>
          </a:xfrm>
          <a:prstGeom prst="roundRect">
            <a:avLst>
              <a:gd name="adj" fmla="val 6957"/>
            </a:avLst>
          </a:prstGeom>
          <a:solidFill>
            <a:srgbClr val="0C4A80"/>
          </a:solidFill>
          <a:ln w="12700">
            <a:solidFill>
              <a:srgbClr val="0070C0"/>
            </a:solidFill>
            <a:prstDash val="solid"/>
          </a:ln>
        </p:spPr>
      </p:sp>
      <p:sp>
        <p:nvSpPr>
          <p:cNvPr id="17" name="Text 15"/>
          <p:cNvSpPr/>
          <p:nvPr/>
        </p:nvSpPr>
        <p:spPr>
          <a:xfrm>
            <a:off x="8915400" y="4983480"/>
            <a:ext cx="2331720" cy="274320"/>
          </a:xfrm>
          <a:prstGeom prst="rect">
            <a:avLst/>
          </a:prstGeom>
          <a:noFill/>
          <a:ln/>
        </p:spPr>
        <p:txBody>
          <a:bodyPr wrap="square" rtlCol="0" anchor="ctr"/>
          <a:lstStyle/>
          <a:p>
            <a:pPr indent="0" marL="0">
              <a:buNone/>
            </a:pPr>
            <a:r>
              <a:rPr lang="en-US" sz="900" b="1" spc="100" kern="0" dirty="0">
                <a:solidFill>
                  <a:srgbClr val="8FC1EA"/>
                </a:solidFill>
                <a:latin typeface="Calibri" pitchFamily="34" charset="0"/>
                <a:ea typeface="Calibri" pitchFamily="34" charset="-122"/>
                <a:cs typeface="Calibri" pitchFamily="34" charset="-120"/>
              </a:rPr>
              <a:t>TARGET TESTERS</a:t>
            </a:r>
            <a:endParaRPr lang="en-US" sz="900" dirty="0"/>
          </a:p>
        </p:txBody>
      </p:sp>
      <p:sp>
        <p:nvSpPr>
          <p:cNvPr id="18" name="Text 16"/>
          <p:cNvSpPr/>
          <p:nvPr/>
        </p:nvSpPr>
        <p:spPr>
          <a:xfrm>
            <a:off x="8915400" y="5257800"/>
            <a:ext cx="2331720" cy="59436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20 to 50 firms</a:t>
            </a:r>
            <a:endParaRPr lang="en-US" sz="1150" dirty="0"/>
          </a:p>
        </p:txBody>
      </p:sp>
      <p:sp>
        <p:nvSpPr>
          <p:cNvPr id="19" name="Text 17"/>
          <p:cNvSpPr/>
          <p:nvPr/>
        </p:nvSpPr>
        <p:spPr>
          <a:xfrm>
            <a:off x="548640" y="6309360"/>
            <a:ext cx="7315200" cy="320040"/>
          </a:xfrm>
          <a:prstGeom prst="rect">
            <a:avLst/>
          </a:prstGeom>
          <a:noFill/>
          <a:ln/>
        </p:spPr>
        <p:txBody>
          <a:bodyPr wrap="square" rtlCol="0" anchor="ctr"/>
          <a:lstStyle/>
          <a:p>
            <a:pPr indent="0" marL="0">
              <a:buNone/>
            </a:pPr>
            <a:r>
              <a:rPr lang="en-US" sz="1100" i="1" dirty="0">
                <a:solidFill>
                  <a:srgbClr val="7FA8CC"/>
                </a:solidFill>
                <a:latin typeface="Calibri" pitchFamily="34" charset="0"/>
                <a:ea typeface="Calibri" pitchFamily="34" charset="-122"/>
                <a:cs typeface="Calibri" pitchFamily="34" charset="-120"/>
              </a:rPr>
              <a:t>Smart Innovations Ghana  ·  July 2026  ·  Internal Use Only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Executive Summary</a:t>
            </a:r>
            <a:endParaRPr lang="en-US" sz="3000" dirty="0"/>
          </a:p>
        </p:txBody>
      </p:sp>
      <p:sp>
        <p:nvSpPr>
          <p:cNvPr id="4" name="Shape 2"/>
          <p:cNvSpPr/>
          <p:nvPr/>
        </p:nvSpPr>
        <p:spPr>
          <a:xfrm>
            <a:off x="548640" y="1508760"/>
            <a:ext cx="7040880" cy="4709160"/>
          </a:xfrm>
          <a:prstGeom prst="roundRect">
            <a:avLst>
              <a:gd name="adj" fmla="val 1165"/>
            </a:avLst>
          </a:prstGeom>
          <a:solidFill>
            <a:srgbClr val="DEEAF6"/>
          </a:solidFill>
          <a:ln w="12700">
            <a:solidFill>
              <a:srgbClr val="DEEAF6"/>
            </a:solidFill>
            <a:prstDash val="solid"/>
          </a:ln>
        </p:spPr>
      </p:sp>
      <p:sp>
        <p:nvSpPr>
          <p:cNvPr id="5" name="Text 3"/>
          <p:cNvSpPr/>
          <p:nvPr/>
        </p:nvSpPr>
        <p:spPr>
          <a:xfrm>
            <a:off x="868680" y="1783080"/>
            <a:ext cx="6400800" cy="4206240"/>
          </a:xfrm>
          <a:prstGeom prst="rect">
            <a:avLst/>
          </a:prstGeom>
          <a:noFill/>
          <a:ln/>
        </p:spPr>
        <p:txBody>
          <a:bodyPr wrap="square" rtlCol="0" anchor="t"/>
          <a:lstStyle/>
          <a:p>
            <a:pPr indent="0" marL="0">
              <a:lnSpc>
                <a:spcPct val="130000"/>
              </a:lnSpc>
              <a:buNone/>
            </a:pPr>
            <a:r>
              <a:rPr lang="en-US" sz="1400" b="1" dirty="0">
                <a:solidFill>
                  <a:srgbClr val="2E2E2E"/>
                </a:solidFill>
                <a:latin typeface="Calibri" pitchFamily="34" charset="0"/>
                <a:ea typeface="Calibri" pitchFamily="34" charset="-122"/>
                <a:cs typeface="Calibri" pitchFamily="34" charset="-120"/>
              </a:rPr>
              <a:t>MineAsk's MVP campaign validates the Ground Readiness Report </a:t>
            </a:r>
            <a:pPr indent="0" marL="0">
              <a:lnSpc>
                <a:spcPct val="130000"/>
              </a:lnSpc>
              <a:buNone/>
            </a:pPr>
            <a:r>
              <a:rPr lang="en-US" sz="1400" dirty="0">
                <a:solidFill>
                  <a:srgbClr val="2E2E2E"/>
                </a:solidFill>
                <a:latin typeface="Calibri" pitchFamily="34" charset="0"/>
                <a:ea typeface="Calibri" pitchFamily="34" charset="-122"/>
                <a:cs typeface="Calibri" pitchFamily="34" charset="-120"/>
              </a:rPr>
              <a:t>— a structured intelligence report for Ghana's mining sector — by recruiting 10 to 15 Ghanaian mining consultancies and law firms as design partners.
</a:t>
            </a:r>
            <a:pPr indent="0" marL="0">
              <a:lnSpc>
                <a:spcPct val="130000"/>
              </a:lnSpc>
              <a:buNone/>
            </a:pPr>
            <a:r>
              <a:rPr lang="en-US" sz="1400" dirty="0">
                <a:solidFill>
                  <a:srgbClr val="2E2E2E"/>
                </a:solidFill>
                <a:latin typeface="Calibri" pitchFamily="34" charset="0"/>
                <a:ea typeface="Calibri" pitchFamily="34" charset="-122"/>
                <a:cs typeface="Calibri" pitchFamily="34" charset="-120"/>
              </a:rPr>
              <a:t>Partners receive free platform access in exchange for feedback, corrections, and real-world validation of outputs. </a:t>
            </a:r>
            <a:pPr indent="0" marL="0">
              <a:lnSpc>
                <a:spcPct val="130000"/>
              </a:lnSpc>
              <a:buNone/>
            </a:pPr>
            <a:r>
              <a:rPr lang="en-US" sz="1400" dirty="0">
                <a:solidFill>
                  <a:srgbClr val="2E2E2E"/>
                </a:solidFill>
                <a:latin typeface="Calibri" pitchFamily="34" charset="0"/>
                <a:ea typeface="Calibri" pitchFamily="34" charset="-122"/>
                <a:cs typeface="Calibri" pitchFamily="34" charset="-120"/>
              </a:rPr>
              <a:t>This is not a sales or fundraising effort — no pricing conversations, no subscription commitments.
</a:t>
            </a:r>
            <a:pPr indent="0" marL="0">
              <a:lnSpc>
                <a:spcPct val="130000"/>
              </a:lnSpc>
              <a:buNone/>
            </a:pPr>
            <a:r>
              <a:rPr lang="en-US" sz="1400" dirty="0">
                <a:solidFill>
                  <a:srgbClr val="2E2E2E"/>
                </a:solidFill>
                <a:latin typeface="Calibri" pitchFamily="34" charset="0"/>
                <a:ea typeface="Calibri" pitchFamily="34" charset="-122"/>
                <a:cs typeface="Calibri" pitchFamily="34" charset="-120"/>
              </a:rPr>
              <a:t>The campaign narrows deliberately to a finite market of 30 to 50 firms concentrated in Accra and Kumasi, prioritizing deep, personalized engagement over broad awareness.</a:t>
            </a:r>
            <a:endParaRPr lang="en-US" sz="1400" dirty="0"/>
          </a:p>
        </p:txBody>
      </p:sp>
      <p:sp>
        <p:nvSpPr>
          <p:cNvPr id="6" name="Shape 4"/>
          <p:cNvSpPr/>
          <p:nvPr/>
        </p:nvSpPr>
        <p:spPr>
          <a:xfrm>
            <a:off x="7909560" y="1508760"/>
            <a:ext cx="3703320" cy="1005840"/>
          </a:xfrm>
          <a:prstGeom prst="roundRect">
            <a:avLst>
              <a:gd name="adj" fmla="val 5455"/>
            </a:avLst>
          </a:prstGeom>
          <a:solidFill>
            <a:srgbClr val="FFFFFF"/>
          </a:solidFill>
          <a:ln w="12700">
            <a:solidFill>
              <a:srgbClr val="C9DCF0"/>
            </a:solidFill>
            <a:prstDash val="solid"/>
          </a:ln>
        </p:spPr>
      </p:sp>
      <p:sp>
        <p:nvSpPr>
          <p:cNvPr id="7" name="Text 5"/>
          <p:cNvSpPr/>
          <p:nvPr/>
        </p:nvSpPr>
        <p:spPr>
          <a:xfrm>
            <a:off x="8092440" y="1581912"/>
            <a:ext cx="1463040" cy="822960"/>
          </a:xfrm>
          <a:prstGeom prst="rect">
            <a:avLst/>
          </a:prstGeom>
          <a:noFill/>
          <a:ln/>
        </p:spPr>
        <p:txBody>
          <a:bodyPr wrap="square" rtlCol="0" anchor="ctr"/>
          <a:lstStyle/>
          <a:p>
            <a:pPr indent="0" marL="0">
              <a:buNone/>
            </a:pPr>
            <a:r>
              <a:rPr lang="en-US" sz="2800" b="1" dirty="0">
                <a:solidFill>
                  <a:srgbClr val="0070C0"/>
                </a:solidFill>
                <a:latin typeface="Cambria" pitchFamily="34" charset="0"/>
                <a:ea typeface="Cambria" pitchFamily="34" charset="-122"/>
                <a:cs typeface="Cambria" pitchFamily="34" charset="-120"/>
              </a:rPr>
              <a:t>10–15</a:t>
            </a:r>
            <a:endParaRPr lang="en-US" sz="2800" dirty="0"/>
          </a:p>
        </p:txBody>
      </p:sp>
      <p:sp>
        <p:nvSpPr>
          <p:cNvPr id="8" name="Text 6"/>
          <p:cNvSpPr/>
          <p:nvPr/>
        </p:nvSpPr>
        <p:spPr>
          <a:xfrm>
            <a:off x="9509760" y="1581912"/>
            <a:ext cx="2011680" cy="822960"/>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Design partner firms</a:t>
            </a:r>
            <a:endParaRPr lang="en-US" sz="1150" dirty="0"/>
          </a:p>
        </p:txBody>
      </p:sp>
      <p:sp>
        <p:nvSpPr>
          <p:cNvPr id="9" name="Shape 7"/>
          <p:cNvSpPr/>
          <p:nvPr/>
        </p:nvSpPr>
        <p:spPr>
          <a:xfrm>
            <a:off x="7909560" y="2679192"/>
            <a:ext cx="3703320" cy="1005840"/>
          </a:xfrm>
          <a:prstGeom prst="roundRect">
            <a:avLst>
              <a:gd name="adj" fmla="val 5455"/>
            </a:avLst>
          </a:prstGeom>
          <a:solidFill>
            <a:srgbClr val="FFFFFF"/>
          </a:solidFill>
          <a:ln w="12700">
            <a:solidFill>
              <a:srgbClr val="C9DCF0"/>
            </a:solidFill>
            <a:prstDash val="solid"/>
          </a:ln>
        </p:spPr>
      </p:sp>
      <p:sp>
        <p:nvSpPr>
          <p:cNvPr id="10" name="Text 8"/>
          <p:cNvSpPr/>
          <p:nvPr/>
        </p:nvSpPr>
        <p:spPr>
          <a:xfrm>
            <a:off x="8092440" y="2752344"/>
            <a:ext cx="1463040" cy="822960"/>
          </a:xfrm>
          <a:prstGeom prst="rect">
            <a:avLst/>
          </a:prstGeom>
          <a:noFill/>
          <a:ln/>
        </p:spPr>
        <p:txBody>
          <a:bodyPr wrap="square" rtlCol="0" anchor="ctr"/>
          <a:lstStyle/>
          <a:p>
            <a:pPr indent="0" marL="0">
              <a:buNone/>
            </a:pPr>
            <a:r>
              <a:rPr lang="en-US" sz="2800" b="1" dirty="0">
                <a:solidFill>
                  <a:srgbClr val="0070C0"/>
                </a:solidFill>
                <a:latin typeface="Cambria" pitchFamily="34" charset="0"/>
                <a:ea typeface="Cambria" pitchFamily="34" charset="-122"/>
                <a:cs typeface="Cambria" pitchFamily="34" charset="-120"/>
              </a:rPr>
              <a:t>30–50</a:t>
            </a:r>
            <a:endParaRPr lang="en-US" sz="2800" dirty="0"/>
          </a:p>
        </p:txBody>
      </p:sp>
      <p:sp>
        <p:nvSpPr>
          <p:cNvPr id="11" name="Text 9"/>
          <p:cNvSpPr/>
          <p:nvPr/>
        </p:nvSpPr>
        <p:spPr>
          <a:xfrm>
            <a:off x="9509760" y="2752344"/>
            <a:ext cx="2011680" cy="822960"/>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Total addressable firms</a:t>
            </a:r>
            <a:endParaRPr lang="en-US" sz="1150" dirty="0"/>
          </a:p>
        </p:txBody>
      </p:sp>
      <p:sp>
        <p:nvSpPr>
          <p:cNvPr id="12" name="Shape 10"/>
          <p:cNvSpPr/>
          <p:nvPr/>
        </p:nvSpPr>
        <p:spPr>
          <a:xfrm>
            <a:off x="7909560" y="3849624"/>
            <a:ext cx="3703320" cy="1005840"/>
          </a:xfrm>
          <a:prstGeom prst="roundRect">
            <a:avLst>
              <a:gd name="adj" fmla="val 5455"/>
            </a:avLst>
          </a:prstGeom>
          <a:solidFill>
            <a:srgbClr val="FFFFFF"/>
          </a:solidFill>
          <a:ln w="12700">
            <a:solidFill>
              <a:srgbClr val="C9DCF0"/>
            </a:solidFill>
            <a:prstDash val="solid"/>
          </a:ln>
        </p:spPr>
      </p:sp>
      <p:sp>
        <p:nvSpPr>
          <p:cNvPr id="13" name="Text 11"/>
          <p:cNvSpPr/>
          <p:nvPr/>
        </p:nvSpPr>
        <p:spPr>
          <a:xfrm>
            <a:off x="8092440" y="3922776"/>
            <a:ext cx="1463040" cy="822960"/>
          </a:xfrm>
          <a:prstGeom prst="rect">
            <a:avLst/>
          </a:prstGeom>
          <a:noFill/>
          <a:ln/>
        </p:spPr>
        <p:txBody>
          <a:bodyPr wrap="square" rtlCol="0" anchor="ctr"/>
          <a:lstStyle/>
          <a:p>
            <a:pPr indent="0" marL="0">
              <a:buNone/>
            </a:pPr>
            <a:r>
              <a:rPr lang="en-US" sz="2800" b="1" dirty="0">
                <a:solidFill>
                  <a:srgbClr val="0070C0"/>
                </a:solidFill>
                <a:latin typeface="Cambria" pitchFamily="34" charset="0"/>
                <a:ea typeface="Cambria" pitchFamily="34" charset="-122"/>
                <a:cs typeface="Cambria" pitchFamily="34" charset="-120"/>
              </a:rPr>
              <a:t>3–5</a:t>
            </a:r>
            <a:endParaRPr lang="en-US" sz="2800" dirty="0"/>
          </a:p>
        </p:txBody>
      </p:sp>
      <p:sp>
        <p:nvSpPr>
          <p:cNvPr id="14" name="Text 12"/>
          <p:cNvSpPr/>
          <p:nvPr/>
        </p:nvSpPr>
        <p:spPr>
          <a:xfrm>
            <a:off x="9509760" y="3922776"/>
            <a:ext cx="2011680" cy="822960"/>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Referenceable firms target</a:t>
            </a:r>
            <a:endParaRPr lang="en-US" sz="1150" dirty="0"/>
          </a:p>
        </p:txBody>
      </p:sp>
      <p:sp>
        <p:nvSpPr>
          <p:cNvPr id="15" name="Shape 13"/>
          <p:cNvSpPr/>
          <p:nvPr/>
        </p:nvSpPr>
        <p:spPr>
          <a:xfrm>
            <a:off x="7909560" y="5020056"/>
            <a:ext cx="3703320" cy="1005840"/>
          </a:xfrm>
          <a:prstGeom prst="roundRect">
            <a:avLst>
              <a:gd name="adj" fmla="val 5455"/>
            </a:avLst>
          </a:prstGeom>
          <a:solidFill>
            <a:srgbClr val="FFFFFF"/>
          </a:solidFill>
          <a:ln w="12700">
            <a:solidFill>
              <a:srgbClr val="C9DCF0"/>
            </a:solidFill>
            <a:prstDash val="solid"/>
          </a:ln>
        </p:spPr>
      </p:sp>
      <p:sp>
        <p:nvSpPr>
          <p:cNvPr id="16" name="Text 14"/>
          <p:cNvSpPr/>
          <p:nvPr/>
        </p:nvSpPr>
        <p:spPr>
          <a:xfrm>
            <a:off x="8092440" y="5093208"/>
            <a:ext cx="1463040" cy="822960"/>
          </a:xfrm>
          <a:prstGeom prst="rect">
            <a:avLst/>
          </a:prstGeom>
          <a:noFill/>
          <a:ln/>
        </p:spPr>
        <p:txBody>
          <a:bodyPr wrap="square" rtlCol="0" anchor="ctr"/>
          <a:lstStyle/>
          <a:p>
            <a:pPr indent="0" marL="0">
              <a:buNone/>
            </a:pPr>
            <a:r>
              <a:rPr lang="en-US" sz="2800" b="1" dirty="0">
                <a:solidFill>
                  <a:srgbClr val="0070C0"/>
                </a:solidFill>
                <a:latin typeface="Cambria" pitchFamily="34" charset="0"/>
                <a:ea typeface="Cambria" pitchFamily="34" charset="-122"/>
                <a:cs typeface="Cambria" pitchFamily="34" charset="-120"/>
              </a:rPr>
              <a:t>2–4 wks</a:t>
            </a:r>
            <a:endParaRPr lang="en-US" sz="2800" dirty="0"/>
          </a:p>
        </p:txBody>
      </p:sp>
      <p:sp>
        <p:nvSpPr>
          <p:cNvPr id="17" name="Text 15"/>
          <p:cNvSpPr/>
          <p:nvPr/>
        </p:nvSpPr>
        <p:spPr>
          <a:xfrm>
            <a:off x="9509760" y="5093208"/>
            <a:ext cx="2011680" cy="822960"/>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Campaign duration</a:t>
            </a:r>
            <a:endParaRPr lang="en-US" sz="11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19" name="Text 17"/>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01 · OBJECTIVES</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Primary Objective</a:t>
            </a:r>
            <a:endParaRPr lang="en-US" sz="3000" dirty="0"/>
          </a:p>
        </p:txBody>
      </p:sp>
      <p:sp>
        <p:nvSpPr>
          <p:cNvPr id="4" name="Shape 2"/>
          <p:cNvSpPr/>
          <p:nvPr/>
        </p:nvSpPr>
        <p:spPr>
          <a:xfrm>
            <a:off x="548640" y="1554480"/>
            <a:ext cx="11064240" cy="1417320"/>
          </a:xfrm>
          <a:prstGeom prst="roundRect">
            <a:avLst>
              <a:gd name="adj" fmla="val 3871"/>
            </a:avLst>
          </a:prstGeom>
          <a:solidFill>
            <a:srgbClr val="0070C0"/>
          </a:solidFill>
          <a:ln w="12700">
            <a:solidFill>
              <a:srgbClr val="0070C0"/>
            </a:solidFill>
            <a:prstDash val="solid"/>
          </a:ln>
        </p:spPr>
      </p:sp>
      <p:sp>
        <p:nvSpPr>
          <p:cNvPr id="5" name="Text 3"/>
          <p:cNvSpPr/>
          <p:nvPr/>
        </p:nvSpPr>
        <p:spPr>
          <a:xfrm>
            <a:off x="868680" y="1691640"/>
            <a:ext cx="10424160" cy="1143000"/>
          </a:xfrm>
          <a:prstGeom prst="rect">
            <a:avLst/>
          </a:prstGeom>
          <a:noFill/>
          <a:ln/>
        </p:spPr>
        <p:txBody>
          <a:bodyPr wrap="square"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Recruit 20 to 50 Ghanaian mining consultancies and law firms as MVP design partners, giving them free access to the Ground Readiness Report platform and collecting structured feedback from at least 8 active users who apply it to real client engagements.</a:t>
            </a:r>
            <a:endParaRPr lang="en-US" sz="1500" dirty="0"/>
          </a:p>
        </p:txBody>
      </p:sp>
      <p:sp>
        <p:nvSpPr>
          <p:cNvPr id="6" name="Text 4"/>
          <p:cNvSpPr/>
          <p:nvPr/>
        </p:nvSpPr>
        <p:spPr>
          <a:xfrm>
            <a:off x="548640" y="3246120"/>
            <a:ext cx="5486400" cy="274320"/>
          </a:xfrm>
          <a:prstGeom prst="rect">
            <a:avLst/>
          </a:prstGeom>
          <a:noFill/>
          <a:ln/>
        </p:spPr>
        <p:txBody>
          <a:bodyPr wrap="square" rtlCol="0" anchor="ctr"/>
          <a:lstStyle/>
          <a:p>
            <a:pPr indent="0" marL="0">
              <a:buNone/>
            </a:pPr>
            <a:r>
              <a:rPr lang="en-US" sz="1200" b="1" spc="100" kern="0" dirty="0">
                <a:solidFill>
                  <a:srgbClr val="0070C0"/>
                </a:solidFill>
                <a:latin typeface="Calibri" pitchFamily="34" charset="0"/>
                <a:ea typeface="Calibri" pitchFamily="34" charset="-122"/>
                <a:cs typeface="Calibri" pitchFamily="34" charset="-120"/>
              </a:rPr>
              <a:t>SUCCESS THRESHOLD</a:t>
            </a:r>
            <a:endParaRPr lang="en-US" sz="1200" dirty="0"/>
          </a:p>
        </p:txBody>
      </p:sp>
      <p:sp>
        <p:nvSpPr>
          <p:cNvPr id="7" name="Text 5"/>
          <p:cNvSpPr/>
          <p:nvPr/>
        </p:nvSpPr>
        <p:spPr>
          <a:xfrm>
            <a:off x="548640" y="3566160"/>
            <a:ext cx="11064240" cy="914400"/>
          </a:xfrm>
          <a:prstGeom prst="rect">
            <a:avLst/>
          </a:prstGeom>
          <a:noFill/>
          <a:ln/>
        </p:spPr>
        <p:txBody>
          <a:bodyPr wrap="square" rtlCol="0" anchor="ctr"/>
          <a:lstStyle/>
          <a:p>
            <a:pPr indent="0" marL="0">
              <a:lnSpc>
                <a:spcPct val="120000"/>
              </a:lnSpc>
              <a:buNone/>
            </a:pPr>
            <a:r>
              <a:rPr lang="en-US" sz="1350" dirty="0">
                <a:solidFill>
                  <a:srgbClr val="2E2E2E"/>
                </a:solidFill>
                <a:latin typeface="Calibri" pitchFamily="34" charset="0"/>
                <a:ea typeface="Calibri" pitchFamily="34" charset="-122"/>
                <a:cs typeface="Calibri" pitchFamily="34" charset="-120"/>
              </a:rPr>
              <a:t>By campaign end, MineAsk must secure 3 to 5 referenceable firms that have used the platform in practice, provided feedback, and agreed to be cited by name in growth-phase sales conversations.</a:t>
            </a:r>
            <a:endParaRPr lang="en-US" sz="1350" dirty="0"/>
          </a:p>
        </p:txBody>
      </p:sp>
      <p:sp>
        <p:nvSpPr>
          <p:cNvPr id="8" name="Shape 6"/>
          <p:cNvSpPr/>
          <p:nvPr/>
        </p:nvSpPr>
        <p:spPr>
          <a:xfrm>
            <a:off x="548640" y="4617720"/>
            <a:ext cx="2651760" cy="1600200"/>
          </a:xfrm>
          <a:prstGeom prst="roundRect">
            <a:avLst>
              <a:gd name="adj" fmla="val 3429"/>
            </a:avLst>
          </a:prstGeom>
          <a:solidFill>
            <a:srgbClr val="DEEAF6"/>
          </a:solidFill>
          <a:ln w="12700">
            <a:solidFill>
              <a:srgbClr val="DEEAF6"/>
            </a:solidFill>
            <a:prstDash val="solid"/>
          </a:ln>
        </p:spPr>
      </p:sp>
      <p:sp>
        <p:nvSpPr>
          <p:cNvPr id="9" name="Text 7"/>
          <p:cNvSpPr/>
          <p:nvPr/>
        </p:nvSpPr>
        <p:spPr>
          <a:xfrm>
            <a:off x="685800" y="4709160"/>
            <a:ext cx="2377440" cy="365760"/>
          </a:xfrm>
          <a:prstGeom prst="rect">
            <a:avLst/>
          </a:prstGeom>
          <a:noFill/>
          <a:ln/>
        </p:spPr>
        <p:txBody>
          <a:bodyPr wrap="square" rtlCol="0" anchor="ctr"/>
          <a:lstStyle/>
          <a:p>
            <a:pPr indent="0" marL="0">
              <a:buNone/>
            </a:pPr>
            <a:r>
              <a:rPr lang="en-US" sz="1250" b="1" dirty="0">
                <a:solidFill>
                  <a:srgbClr val="0070C0"/>
                </a:solidFill>
                <a:latin typeface="Calibri" pitchFamily="34" charset="0"/>
                <a:ea typeface="Calibri" pitchFamily="34" charset="-122"/>
                <a:cs typeface="Calibri" pitchFamily="34" charset="-120"/>
              </a:rPr>
              <a:t>Lawyer Validation</a:t>
            </a:r>
            <a:endParaRPr lang="en-US" sz="1250" dirty="0"/>
          </a:p>
        </p:txBody>
      </p:sp>
      <p:sp>
        <p:nvSpPr>
          <p:cNvPr id="10" name="Text 8"/>
          <p:cNvSpPr/>
          <p:nvPr/>
        </p:nvSpPr>
        <p:spPr>
          <a:xfrm>
            <a:off x="685800" y="5074920"/>
            <a:ext cx="2377440" cy="109728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≥1 sign-up from an Accra mining law practice within 7 days of launch.</a:t>
            </a:r>
            <a:endParaRPr lang="en-US" sz="1050" dirty="0"/>
          </a:p>
        </p:txBody>
      </p:sp>
      <p:sp>
        <p:nvSpPr>
          <p:cNvPr id="11" name="Shape 9"/>
          <p:cNvSpPr/>
          <p:nvPr/>
        </p:nvSpPr>
        <p:spPr>
          <a:xfrm>
            <a:off x="3319272" y="4617720"/>
            <a:ext cx="2651760" cy="1600200"/>
          </a:xfrm>
          <a:prstGeom prst="roundRect">
            <a:avLst>
              <a:gd name="adj" fmla="val 3429"/>
            </a:avLst>
          </a:prstGeom>
          <a:solidFill>
            <a:srgbClr val="DEEAF6"/>
          </a:solidFill>
          <a:ln w="12700">
            <a:solidFill>
              <a:srgbClr val="DEEAF6"/>
            </a:solidFill>
            <a:prstDash val="solid"/>
          </a:ln>
        </p:spPr>
      </p:sp>
      <p:sp>
        <p:nvSpPr>
          <p:cNvPr id="12" name="Text 10"/>
          <p:cNvSpPr/>
          <p:nvPr/>
        </p:nvSpPr>
        <p:spPr>
          <a:xfrm>
            <a:off x="3456432" y="4709160"/>
            <a:ext cx="2377440" cy="365760"/>
          </a:xfrm>
          <a:prstGeom prst="rect">
            <a:avLst/>
          </a:prstGeom>
          <a:noFill/>
          <a:ln/>
        </p:spPr>
        <p:txBody>
          <a:bodyPr wrap="square" rtlCol="0" anchor="ctr"/>
          <a:lstStyle/>
          <a:p>
            <a:pPr indent="0" marL="0">
              <a:buNone/>
            </a:pPr>
            <a:r>
              <a:rPr lang="en-US" sz="1250" b="1" dirty="0">
                <a:solidFill>
                  <a:srgbClr val="0070C0"/>
                </a:solidFill>
                <a:latin typeface="Calibri" pitchFamily="34" charset="0"/>
                <a:ea typeface="Calibri" pitchFamily="34" charset="-122"/>
                <a:cs typeface="Calibri" pitchFamily="34" charset="-120"/>
              </a:rPr>
              <a:t>Explorer Launch</a:t>
            </a:r>
            <a:endParaRPr lang="en-US" sz="1250" dirty="0"/>
          </a:p>
        </p:txBody>
      </p:sp>
      <p:sp>
        <p:nvSpPr>
          <p:cNvPr id="13" name="Text 11"/>
          <p:cNvSpPr/>
          <p:nvPr/>
        </p:nvSpPr>
        <p:spPr>
          <a:xfrm>
            <a:off x="3456432" y="5074920"/>
            <a:ext cx="2377440" cy="109728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80% of sign-ups use ≥1 module; 10% convert to full-report trials.</a:t>
            </a:r>
            <a:endParaRPr lang="en-US" sz="1050" dirty="0"/>
          </a:p>
        </p:txBody>
      </p:sp>
      <p:sp>
        <p:nvSpPr>
          <p:cNvPr id="14" name="Shape 12"/>
          <p:cNvSpPr/>
          <p:nvPr/>
        </p:nvSpPr>
        <p:spPr>
          <a:xfrm>
            <a:off x="6089904" y="4617720"/>
            <a:ext cx="2651760" cy="1600200"/>
          </a:xfrm>
          <a:prstGeom prst="roundRect">
            <a:avLst>
              <a:gd name="adj" fmla="val 3429"/>
            </a:avLst>
          </a:prstGeom>
          <a:solidFill>
            <a:srgbClr val="DEEAF6"/>
          </a:solidFill>
          <a:ln w="12700">
            <a:solidFill>
              <a:srgbClr val="DEEAF6"/>
            </a:solidFill>
            <a:prstDash val="solid"/>
          </a:ln>
        </p:spPr>
      </p:sp>
      <p:sp>
        <p:nvSpPr>
          <p:cNvPr id="15" name="Text 13"/>
          <p:cNvSpPr/>
          <p:nvPr/>
        </p:nvSpPr>
        <p:spPr>
          <a:xfrm>
            <a:off x="6227064" y="4709160"/>
            <a:ext cx="2377440" cy="365760"/>
          </a:xfrm>
          <a:prstGeom prst="rect">
            <a:avLst/>
          </a:prstGeom>
          <a:noFill/>
          <a:ln/>
        </p:spPr>
        <p:txBody>
          <a:bodyPr wrap="square" rtlCol="0" anchor="ctr"/>
          <a:lstStyle/>
          <a:p>
            <a:pPr indent="0" marL="0">
              <a:buNone/>
            </a:pPr>
            <a:r>
              <a:rPr lang="en-US" sz="1250" b="1" dirty="0">
                <a:solidFill>
                  <a:srgbClr val="0070C0"/>
                </a:solidFill>
                <a:latin typeface="Calibri" pitchFamily="34" charset="0"/>
                <a:ea typeface="Calibri" pitchFamily="34" charset="-122"/>
                <a:cs typeface="Calibri" pitchFamily="34" charset="-120"/>
              </a:rPr>
              <a:t>Feedback Completion</a:t>
            </a:r>
            <a:endParaRPr lang="en-US" sz="1250" dirty="0"/>
          </a:p>
        </p:txBody>
      </p:sp>
      <p:sp>
        <p:nvSpPr>
          <p:cNvPr id="16" name="Text 14"/>
          <p:cNvSpPr/>
          <p:nvPr/>
        </p:nvSpPr>
        <p:spPr>
          <a:xfrm>
            <a:off x="6227064" y="5074920"/>
            <a:ext cx="2377440" cy="109728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≥20 community-level data corrections submitted during the campaign.</a:t>
            </a:r>
            <a:endParaRPr lang="en-US" sz="1050" dirty="0"/>
          </a:p>
        </p:txBody>
      </p:sp>
      <p:sp>
        <p:nvSpPr>
          <p:cNvPr id="17" name="Shape 15"/>
          <p:cNvSpPr/>
          <p:nvPr/>
        </p:nvSpPr>
        <p:spPr>
          <a:xfrm>
            <a:off x="8860536" y="4617720"/>
            <a:ext cx="2651760" cy="1600200"/>
          </a:xfrm>
          <a:prstGeom prst="roundRect">
            <a:avLst>
              <a:gd name="adj" fmla="val 3429"/>
            </a:avLst>
          </a:prstGeom>
          <a:solidFill>
            <a:srgbClr val="DEEAF6"/>
          </a:solidFill>
          <a:ln w="12700">
            <a:solidFill>
              <a:srgbClr val="DEEAF6"/>
            </a:solidFill>
            <a:prstDash val="solid"/>
          </a:ln>
        </p:spPr>
      </p:sp>
      <p:sp>
        <p:nvSpPr>
          <p:cNvPr id="18" name="Text 16"/>
          <p:cNvSpPr/>
          <p:nvPr/>
        </p:nvSpPr>
        <p:spPr>
          <a:xfrm>
            <a:off x="8997696" y="4709160"/>
            <a:ext cx="2377440" cy="365760"/>
          </a:xfrm>
          <a:prstGeom prst="rect">
            <a:avLst/>
          </a:prstGeom>
          <a:noFill/>
          <a:ln/>
        </p:spPr>
        <p:txBody>
          <a:bodyPr wrap="square" rtlCol="0" anchor="ctr"/>
          <a:lstStyle/>
          <a:p>
            <a:pPr indent="0" marL="0">
              <a:buNone/>
            </a:pPr>
            <a:r>
              <a:rPr lang="en-US" sz="1250" b="1" dirty="0">
                <a:solidFill>
                  <a:srgbClr val="0070C0"/>
                </a:solidFill>
                <a:latin typeface="Calibri" pitchFamily="34" charset="0"/>
                <a:ea typeface="Calibri" pitchFamily="34" charset="-122"/>
                <a:cs typeface="Calibri" pitchFamily="34" charset="-120"/>
              </a:rPr>
              <a:t>Audience Coverage</a:t>
            </a:r>
            <a:endParaRPr lang="en-US" sz="1250" dirty="0"/>
          </a:p>
        </p:txBody>
      </p:sp>
      <p:sp>
        <p:nvSpPr>
          <p:cNvPr id="19" name="Text 17"/>
          <p:cNvSpPr/>
          <p:nvPr/>
        </p:nvSpPr>
        <p:spPr>
          <a:xfrm>
            <a:off x="8997696" y="5074920"/>
            <a:ext cx="2377440" cy="109728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Feedback from ≥5 live report demonstrations across segments.</a:t>
            </a:r>
            <a:endParaRPr lang="en-US" sz="1050" dirty="0"/>
          </a:p>
        </p:txBody>
      </p:sp>
      <p:sp>
        <p:nvSpPr>
          <p:cNvPr id="20" name="Text 18"/>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21" name="Text 19"/>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02 · TARGET AUDIENCE</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Primary Segments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Recruited first and prioritised throughout the campaign. Every outreach message, demo, and feedback interaction is designed around their workflow.</a:t>
            </a:r>
            <a:endParaRPr lang="en-US" sz="1250" dirty="0"/>
          </a:p>
        </p:txBody>
      </p:sp>
      <p:sp>
        <p:nvSpPr>
          <p:cNvPr id="5" name="Shape 3"/>
          <p:cNvSpPr/>
          <p:nvPr/>
        </p:nvSpPr>
        <p:spPr>
          <a:xfrm>
            <a:off x="548640" y="2011680"/>
            <a:ext cx="5440680" cy="2148840"/>
          </a:xfrm>
          <a:prstGeom prst="roundRect">
            <a:avLst>
              <a:gd name="adj" fmla="val 2553"/>
            </a:avLst>
          </a:prstGeom>
          <a:solidFill>
            <a:srgbClr val="FFFFFF"/>
          </a:solidFill>
          <a:ln w="15875">
            <a:solidFill>
              <a:srgbClr val="C9DCF0"/>
            </a:solidFill>
            <a:prstDash val="solid"/>
          </a:ln>
        </p:spPr>
      </p:sp>
      <p:sp>
        <p:nvSpPr>
          <p:cNvPr id="6" name="Shape 4"/>
          <p:cNvSpPr/>
          <p:nvPr/>
        </p:nvSpPr>
        <p:spPr>
          <a:xfrm>
            <a:off x="731520" y="2194560"/>
            <a:ext cx="411480" cy="411480"/>
          </a:xfrm>
          <a:prstGeom prst="roundRect">
            <a:avLst>
              <a:gd name="adj" fmla="val 111111"/>
            </a:avLst>
          </a:prstGeom>
          <a:solidFill>
            <a:srgbClr val="0070C0"/>
          </a:solidFill>
          <a:ln w="12700">
            <a:solidFill>
              <a:srgbClr val="0070C0"/>
            </a:solidFill>
            <a:prstDash val="solid"/>
          </a:ln>
        </p:spPr>
      </p:sp>
      <p:sp>
        <p:nvSpPr>
          <p:cNvPr id="7" name="Text 5"/>
          <p:cNvSpPr/>
          <p:nvPr/>
        </p:nvSpPr>
        <p:spPr>
          <a:xfrm>
            <a:off x="731520" y="219456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280160" y="2157984"/>
            <a:ext cx="4526280" cy="320040"/>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Mining Consultant</a:t>
            </a:r>
            <a:endParaRPr lang="en-US" sz="1450" dirty="0"/>
          </a:p>
        </p:txBody>
      </p:sp>
      <p:sp>
        <p:nvSpPr>
          <p:cNvPr id="9" name="Text 7"/>
          <p:cNvSpPr/>
          <p:nvPr/>
        </p:nvSpPr>
        <p:spPr>
          <a:xfrm>
            <a:off x="1280160" y="2468880"/>
            <a:ext cx="4526280" cy="274320"/>
          </a:xfrm>
          <a:prstGeom prst="rect">
            <a:avLst/>
          </a:prstGeom>
          <a:noFill/>
          <a:ln/>
        </p:spPr>
        <p:txBody>
          <a:bodyPr wrap="square" rtlCol="0" anchor="ctr"/>
          <a:lstStyle/>
          <a:p>
            <a:pPr indent="0" marL="0">
              <a:buNone/>
            </a:pPr>
            <a:r>
              <a:rPr lang="en-US" sz="1050" i="1" dirty="0">
                <a:solidFill>
                  <a:srgbClr val="0070C0"/>
                </a:solidFill>
                <a:latin typeface="Calibri" pitchFamily="34" charset="0"/>
                <a:ea typeface="Calibri" pitchFamily="34" charset="-122"/>
                <a:cs typeface="Calibri" pitchFamily="34" charset="-120"/>
              </a:rPr>
              <a:t>Firm Principal / Senior Consultant</a:t>
            </a:r>
            <a:endParaRPr lang="en-US" sz="1050" dirty="0"/>
          </a:p>
        </p:txBody>
      </p:sp>
      <p:sp>
        <p:nvSpPr>
          <p:cNvPr id="10" name="Text 8"/>
          <p:cNvSpPr/>
          <p:nvPr/>
        </p:nvSpPr>
        <p:spPr>
          <a:xfrm>
            <a:off x="731520" y="2880360"/>
            <a:ext cx="5074920" cy="114300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Manages 3–8 client engagements/quarter; personally feels the pain of manually assembling regulatory, land, logistics, and environmental data.</a:t>
            </a:r>
            <a:endParaRPr lang="en-US" sz="1050" dirty="0"/>
          </a:p>
        </p:txBody>
      </p:sp>
      <p:sp>
        <p:nvSpPr>
          <p:cNvPr id="11" name="Shape 9"/>
          <p:cNvSpPr/>
          <p:nvPr/>
        </p:nvSpPr>
        <p:spPr>
          <a:xfrm>
            <a:off x="6172200" y="2011680"/>
            <a:ext cx="5440680" cy="2148840"/>
          </a:xfrm>
          <a:prstGeom prst="roundRect">
            <a:avLst>
              <a:gd name="adj" fmla="val 2553"/>
            </a:avLst>
          </a:prstGeom>
          <a:solidFill>
            <a:srgbClr val="FFFFFF"/>
          </a:solidFill>
          <a:ln w="15875">
            <a:solidFill>
              <a:srgbClr val="C9DCF0"/>
            </a:solidFill>
            <a:prstDash val="solid"/>
          </a:ln>
        </p:spPr>
      </p:sp>
      <p:sp>
        <p:nvSpPr>
          <p:cNvPr id="12" name="Shape 10"/>
          <p:cNvSpPr/>
          <p:nvPr/>
        </p:nvSpPr>
        <p:spPr>
          <a:xfrm>
            <a:off x="6355080" y="2194560"/>
            <a:ext cx="411480" cy="411480"/>
          </a:xfrm>
          <a:prstGeom prst="roundRect">
            <a:avLst>
              <a:gd name="adj" fmla="val 111111"/>
            </a:avLst>
          </a:prstGeom>
          <a:solidFill>
            <a:srgbClr val="0070C0"/>
          </a:solidFill>
          <a:ln w="12700">
            <a:solidFill>
              <a:srgbClr val="0070C0"/>
            </a:solidFill>
            <a:prstDash val="solid"/>
          </a:ln>
        </p:spPr>
      </p:sp>
      <p:sp>
        <p:nvSpPr>
          <p:cNvPr id="13" name="Text 11"/>
          <p:cNvSpPr/>
          <p:nvPr/>
        </p:nvSpPr>
        <p:spPr>
          <a:xfrm>
            <a:off x="6355080" y="219456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6903720" y="2157984"/>
            <a:ext cx="4526280" cy="320040"/>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ESG &amp; Compliance</a:t>
            </a:r>
            <a:endParaRPr lang="en-US" sz="1450" dirty="0"/>
          </a:p>
        </p:txBody>
      </p:sp>
      <p:sp>
        <p:nvSpPr>
          <p:cNvPr id="15" name="Text 13"/>
          <p:cNvSpPr/>
          <p:nvPr/>
        </p:nvSpPr>
        <p:spPr>
          <a:xfrm>
            <a:off x="6903720" y="2468880"/>
            <a:ext cx="4526280" cy="274320"/>
          </a:xfrm>
          <a:prstGeom prst="rect">
            <a:avLst/>
          </a:prstGeom>
          <a:noFill/>
          <a:ln/>
        </p:spPr>
        <p:txBody>
          <a:bodyPr wrap="square" rtlCol="0" anchor="ctr"/>
          <a:lstStyle/>
          <a:p>
            <a:pPr indent="0" marL="0">
              <a:buNone/>
            </a:pPr>
            <a:r>
              <a:rPr lang="en-US" sz="1050" i="1" dirty="0">
                <a:solidFill>
                  <a:srgbClr val="0070C0"/>
                </a:solidFill>
                <a:latin typeface="Calibri" pitchFamily="34" charset="0"/>
                <a:ea typeface="Calibri" pitchFamily="34" charset="-122"/>
                <a:cs typeface="Calibri" pitchFamily="34" charset="-120"/>
              </a:rPr>
              <a:t>ESG Officer, Sustainability Manager</a:t>
            </a:r>
            <a:endParaRPr lang="en-US" sz="1050" dirty="0"/>
          </a:p>
        </p:txBody>
      </p:sp>
      <p:sp>
        <p:nvSpPr>
          <p:cNvPr id="16" name="Text 14"/>
          <p:cNvSpPr/>
          <p:nvPr/>
        </p:nvSpPr>
        <p:spPr>
          <a:xfrm>
            <a:off x="6355080" y="2880360"/>
            <a:ext cx="5074920" cy="114300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Needs mine-level ESG data for West Africa that doesn't exist in accessible form. High engagement, strong opinions on completeness.</a:t>
            </a:r>
            <a:endParaRPr lang="en-US" sz="1050" dirty="0"/>
          </a:p>
        </p:txBody>
      </p:sp>
      <p:sp>
        <p:nvSpPr>
          <p:cNvPr id="17" name="Shape 15"/>
          <p:cNvSpPr/>
          <p:nvPr/>
        </p:nvSpPr>
        <p:spPr>
          <a:xfrm>
            <a:off x="548640" y="4343400"/>
            <a:ext cx="5440680" cy="2148840"/>
          </a:xfrm>
          <a:prstGeom prst="roundRect">
            <a:avLst>
              <a:gd name="adj" fmla="val 2553"/>
            </a:avLst>
          </a:prstGeom>
          <a:solidFill>
            <a:srgbClr val="FFFFFF"/>
          </a:solidFill>
          <a:ln w="15875">
            <a:solidFill>
              <a:srgbClr val="C9DCF0"/>
            </a:solidFill>
            <a:prstDash val="solid"/>
          </a:ln>
        </p:spPr>
      </p:sp>
      <p:sp>
        <p:nvSpPr>
          <p:cNvPr id="18" name="Shape 16"/>
          <p:cNvSpPr/>
          <p:nvPr/>
        </p:nvSpPr>
        <p:spPr>
          <a:xfrm>
            <a:off x="731520" y="4526280"/>
            <a:ext cx="411480" cy="411480"/>
          </a:xfrm>
          <a:prstGeom prst="roundRect">
            <a:avLst>
              <a:gd name="adj" fmla="val 111111"/>
            </a:avLst>
          </a:prstGeom>
          <a:solidFill>
            <a:srgbClr val="0070C0"/>
          </a:solidFill>
          <a:ln w="12700">
            <a:solidFill>
              <a:srgbClr val="0070C0"/>
            </a:solidFill>
            <a:prstDash val="solid"/>
          </a:ln>
        </p:spPr>
      </p:sp>
      <p:sp>
        <p:nvSpPr>
          <p:cNvPr id="19" name="Text 17"/>
          <p:cNvSpPr/>
          <p:nvPr/>
        </p:nvSpPr>
        <p:spPr>
          <a:xfrm>
            <a:off x="731520" y="4526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p:nvPr/>
        </p:nvSpPr>
        <p:spPr>
          <a:xfrm>
            <a:off x="1280160" y="4489704"/>
            <a:ext cx="4526280" cy="320040"/>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Mining Company Pros</a:t>
            </a:r>
            <a:endParaRPr lang="en-US" sz="1450" dirty="0"/>
          </a:p>
        </p:txBody>
      </p:sp>
      <p:sp>
        <p:nvSpPr>
          <p:cNvPr id="21" name="Text 19"/>
          <p:cNvSpPr/>
          <p:nvPr/>
        </p:nvSpPr>
        <p:spPr>
          <a:xfrm>
            <a:off x="1280160" y="4800600"/>
            <a:ext cx="4526280" cy="274320"/>
          </a:xfrm>
          <a:prstGeom prst="rect">
            <a:avLst/>
          </a:prstGeom>
          <a:noFill/>
          <a:ln/>
        </p:spPr>
        <p:txBody>
          <a:bodyPr wrap="square" rtlCol="0" anchor="ctr"/>
          <a:lstStyle/>
          <a:p>
            <a:pPr indent="0" marL="0">
              <a:buNone/>
            </a:pPr>
            <a:r>
              <a:rPr lang="en-US" sz="1050" i="1" dirty="0">
                <a:solidFill>
                  <a:srgbClr val="0070C0"/>
                </a:solidFill>
                <a:latin typeface="Calibri" pitchFamily="34" charset="0"/>
                <a:ea typeface="Calibri" pitchFamily="34" charset="-122"/>
                <a:cs typeface="Calibri" pitchFamily="34" charset="-120"/>
              </a:rPr>
              <a:t>Exploration / Concession / Land Manager</a:t>
            </a:r>
            <a:endParaRPr lang="en-US" sz="1050" dirty="0"/>
          </a:p>
        </p:txBody>
      </p:sp>
      <p:sp>
        <p:nvSpPr>
          <p:cNvPr id="22" name="Text 20"/>
          <p:cNvSpPr/>
          <p:nvPr/>
        </p:nvSpPr>
        <p:spPr>
          <a:xfrm>
            <a:off x="731520" y="5212080"/>
            <a:ext cx="5074920" cy="114300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Works daily with GIS data, concession records, regulatory filings. Will stress-test technical modules quickly.</a:t>
            </a:r>
            <a:endParaRPr lang="en-US" sz="1050" dirty="0"/>
          </a:p>
        </p:txBody>
      </p:sp>
      <p:sp>
        <p:nvSpPr>
          <p:cNvPr id="23" name="Shape 21"/>
          <p:cNvSpPr/>
          <p:nvPr/>
        </p:nvSpPr>
        <p:spPr>
          <a:xfrm>
            <a:off x="6172200" y="4343400"/>
            <a:ext cx="5440680" cy="2148840"/>
          </a:xfrm>
          <a:prstGeom prst="roundRect">
            <a:avLst>
              <a:gd name="adj" fmla="val 2553"/>
            </a:avLst>
          </a:prstGeom>
          <a:solidFill>
            <a:srgbClr val="FFFFFF"/>
          </a:solidFill>
          <a:ln w="15875">
            <a:solidFill>
              <a:srgbClr val="C9DCF0"/>
            </a:solidFill>
            <a:prstDash val="solid"/>
          </a:ln>
        </p:spPr>
      </p:sp>
      <p:sp>
        <p:nvSpPr>
          <p:cNvPr id="24" name="Shape 22"/>
          <p:cNvSpPr/>
          <p:nvPr/>
        </p:nvSpPr>
        <p:spPr>
          <a:xfrm>
            <a:off x="6355080" y="4526280"/>
            <a:ext cx="411480" cy="411480"/>
          </a:xfrm>
          <a:prstGeom prst="roundRect">
            <a:avLst>
              <a:gd name="adj" fmla="val 111111"/>
            </a:avLst>
          </a:prstGeom>
          <a:solidFill>
            <a:srgbClr val="0070C0"/>
          </a:solidFill>
          <a:ln w="12700">
            <a:solidFill>
              <a:srgbClr val="0070C0"/>
            </a:solidFill>
            <a:prstDash val="solid"/>
          </a:ln>
        </p:spPr>
      </p:sp>
      <p:sp>
        <p:nvSpPr>
          <p:cNvPr id="25" name="Text 23"/>
          <p:cNvSpPr/>
          <p:nvPr/>
        </p:nvSpPr>
        <p:spPr>
          <a:xfrm>
            <a:off x="6355080" y="4526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p:nvPr/>
        </p:nvSpPr>
        <p:spPr>
          <a:xfrm>
            <a:off x="6903720" y="4489704"/>
            <a:ext cx="4526280" cy="320040"/>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Mining Lawyer</a:t>
            </a:r>
            <a:endParaRPr lang="en-US" sz="1450" dirty="0"/>
          </a:p>
        </p:txBody>
      </p:sp>
      <p:sp>
        <p:nvSpPr>
          <p:cNvPr id="27" name="Text 25"/>
          <p:cNvSpPr/>
          <p:nvPr/>
        </p:nvSpPr>
        <p:spPr>
          <a:xfrm>
            <a:off x="6903720" y="4800600"/>
            <a:ext cx="4526280" cy="274320"/>
          </a:xfrm>
          <a:prstGeom prst="rect">
            <a:avLst/>
          </a:prstGeom>
          <a:noFill/>
          <a:ln/>
        </p:spPr>
        <p:txBody>
          <a:bodyPr wrap="square" rtlCol="0" anchor="ctr"/>
          <a:lstStyle/>
          <a:p>
            <a:pPr indent="0" marL="0">
              <a:buNone/>
            </a:pPr>
            <a:r>
              <a:rPr lang="en-US" sz="1050" i="1" dirty="0">
                <a:solidFill>
                  <a:srgbClr val="0070C0"/>
                </a:solidFill>
                <a:latin typeface="Calibri" pitchFamily="34" charset="0"/>
                <a:ea typeface="Calibri" pitchFamily="34" charset="-122"/>
                <a:cs typeface="Calibri" pitchFamily="34" charset="-120"/>
              </a:rPr>
              <a:t>Partner / Senior Associate</a:t>
            </a:r>
            <a:endParaRPr lang="en-US" sz="1050" dirty="0"/>
          </a:p>
        </p:txBody>
      </p:sp>
      <p:sp>
        <p:nvSpPr>
          <p:cNvPr id="28" name="Text 26"/>
          <p:cNvSpPr/>
          <p:nvPr/>
        </p:nvSpPr>
        <p:spPr>
          <a:xfrm>
            <a:off x="6355080" y="5212080"/>
            <a:ext cx="5074920" cy="1143000"/>
          </a:xfrm>
          <a:prstGeom prst="rect">
            <a:avLst/>
          </a:prstGeom>
          <a:noFill/>
          <a:ln/>
        </p:spPr>
        <p:txBody>
          <a:bodyPr wrap="square" rtlCol="0" anchor="ctr"/>
          <a:lstStyle/>
          <a:p>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Handles title registration, compliance, land acquisition. Most valuable validator for the regulatory rules engine against Act 703.</a:t>
            </a:r>
            <a:endParaRPr lang="en-US" sz="1050" dirty="0"/>
          </a:p>
        </p:txBody>
      </p:sp>
      <p:sp>
        <p:nvSpPr>
          <p:cNvPr id="29" name="Text 27"/>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30" name="Text 28"/>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02 · TARGET AUDIENCE</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Secondary Segments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Approached once primary segment targets are on track — adds breadth and validates utility beyond the core consultancy audience.</a:t>
            </a:r>
            <a:endParaRPr lang="en-US" sz="1250" dirty="0"/>
          </a:p>
        </p:txBody>
      </p:sp>
      <p:sp>
        <p:nvSpPr>
          <p:cNvPr id="5" name="Shape 3"/>
          <p:cNvSpPr/>
          <p:nvPr/>
        </p:nvSpPr>
        <p:spPr>
          <a:xfrm>
            <a:off x="548640" y="2057400"/>
            <a:ext cx="11064240" cy="1234440"/>
          </a:xfrm>
          <a:prstGeom prst="roundRect">
            <a:avLst>
              <a:gd name="adj" fmla="val 4444"/>
            </a:avLst>
          </a:prstGeom>
          <a:solidFill>
            <a:srgbClr val="DEEAF6"/>
          </a:solidFill>
          <a:ln w="12700">
            <a:solidFill>
              <a:srgbClr val="DEEAF6"/>
            </a:solidFill>
            <a:prstDash val="solid"/>
          </a:ln>
        </p:spPr>
      </p:sp>
      <p:sp>
        <p:nvSpPr>
          <p:cNvPr id="6" name="Text 4"/>
          <p:cNvSpPr/>
          <p:nvPr/>
        </p:nvSpPr>
        <p:spPr>
          <a:xfrm>
            <a:off x="777240" y="2167128"/>
            <a:ext cx="3291840" cy="365760"/>
          </a:xfrm>
          <a:prstGeom prst="rect">
            <a:avLst/>
          </a:prstGeom>
          <a:noFill/>
          <a:ln/>
        </p:spPr>
        <p:txBody>
          <a:bodyPr wrap="square" rtlCol="0" anchor="ctr"/>
          <a:lstStyle/>
          <a:p>
            <a:pPr indent="0" marL="0">
              <a:buNone/>
            </a:pPr>
            <a:r>
              <a:rPr lang="en-US" sz="1400" b="1" dirty="0">
                <a:solidFill>
                  <a:srgbClr val="0070C0"/>
                </a:solidFill>
                <a:latin typeface="Calibri" pitchFamily="34" charset="0"/>
                <a:ea typeface="Calibri" pitchFamily="34" charset="-122"/>
                <a:cs typeface="Calibri" pitchFamily="34" charset="-120"/>
              </a:rPr>
              <a:t>Development Finance &amp; Aid</a:t>
            </a:r>
            <a:endParaRPr lang="en-US" sz="1400" dirty="0"/>
          </a:p>
        </p:txBody>
      </p:sp>
      <p:sp>
        <p:nvSpPr>
          <p:cNvPr id="7" name="Text 5"/>
          <p:cNvSpPr/>
          <p:nvPr/>
        </p:nvSpPr>
        <p:spPr>
          <a:xfrm>
            <a:off x="777240" y="2532888"/>
            <a:ext cx="3291840" cy="548640"/>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Investment Officer, ESG Due Diligence Lead</a:t>
            </a:r>
            <a:endParaRPr lang="en-US" sz="1000" dirty="0"/>
          </a:p>
        </p:txBody>
      </p:sp>
      <p:sp>
        <p:nvSpPr>
          <p:cNvPr id="8" name="Text 6"/>
          <p:cNvSpPr/>
          <p:nvPr/>
        </p:nvSpPr>
        <p:spPr>
          <a:xfrm>
            <a:off x="4160520" y="2167128"/>
            <a:ext cx="7223760" cy="1005840"/>
          </a:xfrm>
          <a:prstGeom prst="rect">
            <a:avLst/>
          </a:prstGeom>
          <a:noFill/>
          <a:ln/>
        </p:spPr>
        <p:txBody>
          <a:bodyPr wrap="square"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Funds and oversees mining projects; validates whether reports meet investor-grade expectations for attribution and defensibility.</a:t>
            </a:r>
            <a:endParaRPr lang="en-US" sz="1200" dirty="0"/>
          </a:p>
        </p:txBody>
      </p:sp>
      <p:sp>
        <p:nvSpPr>
          <p:cNvPr id="9" name="Shape 7"/>
          <p:cNvSpPr/>
          <p:nvPr/>
        </p:nvSpPr>
        <p:spPr>
          <a:xfrm>
            <a:off x="548640" y="3474720"/>
            <a:ext cx="11064240" cy="1234440"/>
          </a:xfrm>
          <a:prstGeom prst="roundRect">
            <a:avLst>
              <a:gd name="adj" fmla="val 4444"/>
            </a:avLst>
          </a:prstGeom>
          <a:solidFill>
            <a:srgbClr val="DEEAF6"/>
          </a:solidFill>
          <a:ln w="12700">
            <a:solidFill>
              <a:srgbClr val="DEEAF6"/>
            </a:solidFill>
            <a:prstDash val="solid"/>
          </a:ln>
        </p:spPr>
      </p:sp>
      <p:sp>
        <p:nvSpPr>
          <p:cNvPr id="10" name="Text 8"/>
          <p:cNvSpPr/>
          <p:nvPr/>
        </p:nvSpPr>
        <p:spPr>
          <a:xfrm>
            <a:off x="777240" y="3584448"/>
            <a:ext cx="3291840" cy="365760"/>
          </a:xfrm>
          <a:prstGeom prst="rect">
            <a:avLst/>
          </a:prstGeom>
          <a:noFill/>
          <a:ln/>
        </p:spPr>
        <p:txBody>
          <a:bodyPr wrap="square" rtlCol="0" anchor="ctr"/>
          <a:lstStyle/>
          <a:p>
            <a:pPr indent="0" marL="0">
              <a:buNone/>
            </a:pPr>
            <a:r>
              <a:rPr lang="en-US" sz="1400" b="1" dirty="0">
                <a:solidFill>
                  <a:srgbClr val="0070C0"/>
                </a:solidFill>
                <a:latin typeface="Calibri" pitchFamily="34" charset="0"/>
                <a:ea typeface="Calibri" pitchFamily="34" charset="-122"/>
                <a:cs typeface="Calibri" pitchFamily="34" charset="-120"/>
              </a:rPr>
              <a:t>Technical Consultant</a:t>
            </a:r>
            <a:endParaRPr lang="en-US" sz="1400" dirty="0"/>
          </a:p>
        </p:txBody>
      </p:sp>
      <p:sp>
        <p:nvSpPr>
          <p:cNvPr id="11" name="Text 9"/>
          <p:cNvSpPr/>
          <p:nvPr/>
        </p:nvSpPr>
        <p:spPr>
          <a:xfrm>
            <a:off x="777240" y="3950208"/>
            <a:ext cx="3291840" cy="548640"/>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Environmental / Logistics / GIS Specialist</a:t>
            </a:r>
            <a:endParaRPr lang="en-US" sz="1000" dirty="0"/>
          </a:p>
        </p:txBody>
      </p:sp>
      <p:sp>
        <p:nvSpPr>
          <p:cNvPr id="12" name="Text 10"/>
          <p:cNvSpPr/>
          <p:nvPr/>
        </p:nvSpPr>
        <p:spPr>
          <a:xfrm>
            <a:off x="4160520" y="3584448"/>
            <a:ext cx="7223760" cy="1005840"/>
          </a:xfrm>
          <a:prstGeom prst="rect">
            <a:avLst/>
          </a:prstGeom>
          <a:noFill/>
          <a:ln/>
        </p:spPr>
        <p:txBody>
          <a:bodyPr wrap="square"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Hands-on producers of desk study deliverables; feedback on report accuracy and the Consultant Handoff Pack is operationally critical.</a:t>
            </a:r>
            <a:endParaRPr lang="en-US" sz="1200" dirty="0"/>
          </a:p>
        </p:txBody>
      </p:sp>
      <p:sp>
        <p:nvSpPr>
          <p:cNvPr id="13" name="Shape 11"/>
          <p:cNvSpPr/>
          <p:nvPr/>
        </p:nvSpPr>
        <p:spPr>
          <a:xfrm>
            <a:off x="548640" y="4892040"/>
            <a:ext cx="11064240" cy="1234440"/>
          </a:xfrm>
          <a:prstGeom prst="roundRect">
            <a:avLst>
              <a:gd name="adj" fmla="val 4444"/>
            </a:avLst>
          </a:prstGeom>
          <a:solidFill>
            <a:srgbClr val="DEEAF6"/>
          </a:solidFill>
          <a:ln w="12700">
            <a:solidFill>
              <a:srgbClr val="DEEAF6"/>
            </a:solidFill>
            <a:prstDash val="solid"/>
          </a:ln>
        </p:spPr>
      </p:sp>
      <p:sp>
        <p:nvSpPr>
          <p:cNvPr id="14" name="Text 12"/>
          <p:cNvSpPr/>
          <p:nvPr/>
        </p:nvSpPr>
        <p:spPr>
          <a:xfrm>
            <a:off x="777240" y="5001768"/>
            <a:ext cx="3291840" cy="365760"/>
          </a:xfrm>
          <a:prstGeom prst="rect">
            <a:avLst/>
          </a:prstGeom>
          <a:noFill/>
          <a:ln/>
        </p:spPr>
        <p:txBody>
          <a:bodyPr wrap="square" rtlCol="0" anchor="ctr"/>
          <a:lstStyle/>
          <a:p>
            <a:pPr indent="0" marL="0">
              <a:buNone/>
            </a:pPr>
            <a:r>
              <a:rPr lang="en-US" sz="1400" b="1" dirty="0">
                <a:solidFill>
                  <a:srgbClr val="0070C0"/>
                </a:solidFill>
                <a:latin typeface="Calibri" pitchFamily="34" charset="0"/>
                <a:ea typeface="Calibri" pitchFamily="34" charset="-122"/>
                <a:cs typeface="Calibri" pitchFamily="34" charset="-120"/>
              </a:rPr>
              <a:t>Policy &amp; Government Advisors</a:t>
            </a:r>
            <a:endParaRPr lang="en-US" sz="1400" dirty="0"/>
          </a:p>
        </p:txBody>
      </p:sp>
      <p:sp>
        <p:nvSpPr>
          <p:cNvPr id="15" name="Text 13"/>
          <p:cNvSpPr/>
          <p:nvPr/>
        </p:nvSpPr>
        <p:spPr>
          <a:xfrm>
            <a:off x="777240" y="5367528"/>
            <a:ext cx="3291840" cy="548640"/>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Regulatory Affairs Advisor</a:t>
            </a:r>
            <a:endParaRPr lang="en-US" sz="1000" dirty="0"/>
          </a:p>
        </p:txBody>
      </p:sp>
      <p:sp>
        <p:nvSpPr>
          <p:cNvPr id="16" name="Text 14"/>
          <p:cNvSpPr/>
          <p:nvPr/>
        </p:nvSpPr>
        <p:spPr>
          <a:xfrm>
            <a:off x="4160520" y="5001768"/>
            <a:ext cx="7223760" cy="1005840"/>
          </a:xfrm>
          <a:prstGeom prst="rect">
            <a:avLst/>
          </a:prstGeom>
          <a:noFill/>
          <a:ln/>
        </p:spPr>
        <p:txBody>
          <a:bodyPr wrap="square"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Understands government data needs and can speak to regulatory integration requirements enterprise clients will demand.</a:t>
            </a:r>
            <a:endParaRPr lang="en-US" sz="1200" dirty="0"/>
          </a:p>
        </p:txBody>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18" name="Text 16"/>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03 · MESSAGING STRATEGY</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Core Message &amp; Value Proposition</a:t>
            </a:r>
            <a:endParaRPr lang="en-US" sz="3000" dirty="0"/>
          </a:p>
        </p:txBody>
      </p:sp>
      <p:sp>
        <p:nvSpPr>
          <p:cNvPr id="4" name="Shape 2"/>
          <p:cNvSpPr/>
          <p:nvPr/>
        </p:nvSpPr>
        <p:spPr>
          <a:xfrm>
            <a:off x="548640" y="1508760"/>
            <a:ext cx="11064240" cy="1371600"/>
          </a:xfrm>
          <a:prstGeom prst="roundRect">
            <a:avLst>
              <a:gd name="adj" fmla="val 4000"/>
            </a:avLst>
          </a:prstGeom>
          <a:solidFill>
            <a:srgbClr val="0D3B66"/>
          </a:solidFill>
          <a:ln w="12700">
            <a:solidFill>
              <a:srgbClr val="0D3B66"/>
            </a:solidFill>
            <a:prstDash val="solid"/>
          </a:ln>
        </p:spPr>
      </p:sp>
      <p:sp>
        <p:nvSpPr>
          <p:cNvPr id="5" name="Text 3"/>
          <p:cNvSpPr/>
          <p:nvPr/>
        </p:nvSpPr>
        <p:spPr>
          <a:xfrm>
            <a:off x="868680" y="1627632"/>
            <a:ext cx="10424160" cy="1143000"/>
          </a:xfrm>
          <a:prstGeom prst="rect">
            <a:avLst/>
          </a:prstGeom>
          <a:noFill/>
          <a:ln/>
        </p:spPr>
        <p:txBody>
          <a:bodyPr wrap="square" rtlCol="0" anchor="ctr"/>
          <a:lstStyle/>
          <a:p>
            <a:pPr indent="0" marL="0">
              <a:lnSpc>
                <a:spcPct val="125000"/>
              </a:lnSpc>
              <a:buNone/>
            </a:pPr>
            <a:r>
              <a:rPr lang="en-US" sz="1400" i="1" dirty="0">
                <a:solidFill>
                  <a:srgbClr val="FFFFFF"/>
                </a:solidFill>
                <a:latin typeface="Cambria" pitchFamily="34" charset="0"/>
                <a:ea typeface="Cambria" pitchFamily="34" charset="-122"/>
                <a:cs typeface="Cambria" pitchFamily="34" charset="-120"/>
              </a:rPr>
              <a:t>“Drop a pin on any Ghanaian mining concession. Receive a complete, source-attributed ground intelligence report in under sixty seconds. We are looking for mining consultancies and law firms to test this platform on real engagements and tell us what we got wrong.”</a:t>
            </a:r>
            <a:endParaRPr lang="en-US" sz="1400" dirty="0"/>
          </a:p>
        </p:txBody>
      </p:sp>
      <p:sp>
        <p:nvSpPr>
          <p:cNvPr id="6" name="Text 4"/>
          <p:cNvSpPr/>
          <p:nvPr/>
        </p:nvSpPr>
        <p:spPr>
          <a:xfrm>
            <a:off x="548640" y="3108960"/>
            <a:ext cx="5486400" cy="274320"/>
          </a:xfrm>
          <a:prstGeom prst="rect">
            <a:avLst/>
          </a:prstGeom>
          <a:noFill/>
          <a:ln/>
        </p:spPr>
        <p:txBody>
          <a:bodyPr wrap="square" rtlCol="0" anchor="ctr"/>
          <a:lstStyle/>
          <a:p>
            <a:pPr indent="0" marL="0">
              <a:buNone/>
            </a:pPr>
            <a:r>
              <a:rPr lang="en-US" sz="1200" b="1" spc="100" kern="0" dirty="0">
                <a:solidFill>
                  <a:srgbClr val="0070C0"/>
                </a:solidFill>
                <a:latin typeface="Calibri" pitchFamily="34" charset="0"/>
                <a:ea typeface="Calibri" pitchFamily="34" charset="-122"/>
                <a:cs typeface="Calibri" pitchFamily="34" charset="-120"/>
              </a:rPr>
              <a:t>VALUE PROPOSITION</a:t>
            </a:r>
            <a:endParaRPr lang="en-US" sz="1200" dirty="0"/>
          </a:p>
        </p:txBody>
      </p:sp>
      <p:sp>
        <p:nvSpPr>
          <p:cNvPr id="7" name="Text 5"/>
          <p:cNvSpPr/>
          <p:nvPr/>
        </p:nvSpPr>
        <p:spPr>
          <a:xfrm>
            <a:off x="548640" y="3429000"/>
            <a:ext cx="11064240" cy="1005840"/>
          </a:xfrm>
          <a:prstGeom prst="rect">
            <a:avLst/>
          </a:prstGeom>
          <a:noFill/>
          <a:ln/>
        </p:spPr>
        <p:txBody>
          <a:bodyPr wrap="square" rtlCol="0" anchor="ctr"/>
          <a:lstStyle/>
          <a:p>
            <a:pPr indent="0" marL="0">
              <a:lnSpc>
                <a:spcPct val="120000"/>
              </a:lnSpc>
              <a:buNone/>
            </a:pPr>
            <a:r>
              <a:rPr lang="en-US" sz="1300" dirty="0">
                <a:solidFill>
                  <a:srgbClr val="2E2E2E"/>
                </a:solidFill>
                <a:latin typeface="Calibri" pitchFamily="34" charset="0"/>
                <a:ea typeface="Calibri" pitchFamily="34" charset="-122"/>
                <a:cs typeface="Calibri" pitchFamily="34" charset="-120"/>
              </a:rPr>
              <a:t>The only platform generating a complete, eight-section ground intelligence report for any Ghanaian mining site from a single pin drop — regulatory, title, logistics, land &amp; community, environmental, Galamsey, ESG, and a fieldwork handoff pack. Replaces a desk study process that currently takes 5–8 working days of senior consultant time.</a:t>
            </a:r>
            <a:endParaRPr lang="en-US" sz="1300" dirty="0"/>
          </a:p>
        </p:txBody>
      </p:sp>
      <p:sp>
        <p:nvSpPr>
          <p:cNvPr id="8" name="Text 6"/>
          <p:cNvSpPr/>
          <p:nvPr/>
        </p:nvSpPr>
        <p:spPr>
          <a:xfrm>
            <a:off x="548640" y="4572000"/>
            <a:ext cx="5486400" cy="274320"/>
          </a:xfrm>
          <a:prstGeom prst="rect">
            <a:avLst/>
          </a:prstGeom>
          <a:noFill/>
          <a:ln/>
        </p:spPr>
        <p:txBody>
          <a:bodyPr wrap="square" rtlCol="0" anchor="ctr"/>
          <a:lstStyle/>
          <a:p>
            <a:pPr indent="0" marL="0">
              <a:buNone/>
            </a:pPr>
            <a:r>
              <a:rPr lang="en-US" sz="1200" b="1" spc="100" kern="0" dirty="0">
                <a:solidFill>
                  <a:srgbClr val="0070C0"/>
                </a:solidFill>
                <a:latin typeface="Calibri" pitchFamily="34" charset="0"/>
                <a:ea typeface="Calibri" pitchFamily="34" charset="-122"/>
                <a:cs typeface="Calibri" pitchFamily="34" charset="-120"/>
              </a:rPr>
              <a:t>TONE RULES</a:t>
            </a:r>
            <a:endParaRPr lang="en-US" sz="1200" dirty="0"/>
          </a:p>
        </p:txBody>
      </p:sp>
      <p:sp>
        <p:nvSpPr>
          <p:cNvPr id="9" name="Text 7"/>
          <p:cNvSpPr/>
          <p:nvPr/>
        </p:nvSpPr>
        <p:spPr>
          <a:xfrm>
            <a:off x="548640" y="4892040"/>
            <a:ext cx="5394960" cy="347472"/>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  First person — the message comes from a person, not a company</a:t>
            </a:r>
            <a:endParaRPr lang="en-US" sz="1150" dirty="0"/>
          </a:p>
        </p:txBody>
      </p:sp>
      <p:sp>
        <p:nvSpPr>
          <p:cNvPr id="10" name="Text 8"/>
          <p:cNvSpPr/>
          <p:nvPr/>
        </p:nvSpPr>
        <p:spPr>
          <a:xfrm>
            <a:off x="548640" y="5257800"/>
            <a:ext cx="5394960" cy="347472"/>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  Never lead with AI; position as a deterministic data platform</a:t>
            </a:r>
            <a:endParaRPr lang="en-US" sz="1150" dirty="0"/>
          </a:p>
        </p:txBody>
      </p:sp>
      <p:sp>
        <p:nvSpPr>
          <p:cNvPr id="11" name="Text 9"/>
          <p:cNvSpPr/>
          <p:nvPr/>
        </p:nvSpPr>
        <p:spPr>
          <a:xfrm>
            <a:off x="548640" y="5623560"/>
            <a:ext cx="5394960" cy="347472"/>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  No pitch — this is feedback validation, not a sales conversation</a:t>
            </a:r>
            <a:endParaRPr lang="en-US" sz="1150" dirty="0"/>
          </a:p>
        </p:txBody>
      </p:sp>
      <p:sp>
        <p:nvSpPr>
          <p:cNvPr id="12" name="Text 10"/>
          <p:cNvSpPr/>
          <p:nvPr/>
        </p:nvSpPr>
        <p:spPr>
          <a:xfrm>
            <a:off x="6172200" y="4892040"/>
            <a:ext cx="5394960" cy="347472"/>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  Use their language: Act 703, L.I. 2175, stool land, EITI</a:t>
            </a:r>
            <a:endParaRPr lang="en-US" sz="1150" dirty="0"/>
          </a:p>
        </p:txBody>
      </p:sp>
      <p:sp>
        <p:nvSpPr>
          <p:cNvPr id="13" name="Text 11"/>
          <p:cNvSpPr/>
          <p:nvPr/>
        </p:nvSpPr>
        <p:spPr>
          <a:xfrm>
            <a:off x="6172200" y="5257800"/>
            <a:ext cx="5394960" cy="347472"/>
          </a:xfrm>
          <a:prstGeom prst="rect">
            <a:avLst/>
          </a:prstGeom>
          <a:noFill/>
          <a:ln/>
        </p:spPr>
        <p:txBody>
          <a:bodyPr wrap="square" rtlCol="0" anchor="ctr"/>
          <a:lstStyle/>
          <a:p>
            <a:pPr indent="0" marL="0">
              <a:buNone/>
            </a:pPr>
            <a:r>
              <a:rPr lang="en-US" sz="1150" dirty="0">
                <a:solidFill>
                  <a:srgbClr val="2E2E2E"/>
                </a:solidFill>
                <a:latin typeface="Calibri" pitchFamily="34" charset="0"/>
                <a:ea typeface="Calibri" pitchFamily="34" charset="-122"/>
                <a:cs typeface="Calibri" pitchFamily="34" charset="-120"/>
              </a:rPr>
              <a:t>•  Never disparage manual methods — position as acceleration</a:t>
            </a:r>
            <a:endParaRPr lang="en-US" sz="11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15" name="Text 1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03 · MESSAGING STRATEGY</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Segment-Specific Opening Angles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572000"/>
        </p:xfrm>
        <a:graphic>
          <a:graphicData uri="http://schemas.openxmlformats.org/drawingml/2006/table">
            <a:tbl>
              <a:tblPr/>
              <a:tblGrid>
                <a:gridCol w="3108960"/>
                <a:gridCol w="7955280"/>
              </a:tblGrid>
              <a:tr h="7772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Segment</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Lead With This Pain Point</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777240">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Mining Consultant</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Your week-one desk study takes 5–8 working days of senior time. MineAsk generates the equivalent report in under sixty seconds.</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777240">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ESG &amp; Compliance</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Mine-level ESG data for Ghana doesn't exist in any accessible, current format — investment decisions are made on incomplete information.</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Mining Lawyer</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Regulatory pathway analysis is built from scratch. MineAsk encodes Act 703 logic into a deterministic, versioned, auditable rules engine.</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777240">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Technical Consultant</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Logistics, Galamsey, and environmental checks require 4–5 sources. MineAsk produces them as structured sections from one pin drop.</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Dev. Finance Professional</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indent="0" marL="0">
                        <a:buNone/>
                      </a:pPr>
                      <a:r>
                        <a:rPr lang="en-US" sz="1250" dirty="0">
                          <a:solidFill>
                            <a:srgbClr val="2E2E2E"/>
                          </a:solidFill>
                          <a:latin typeface="Calibri" pitchFamily="34" charset="0"/>
                          <a:ea typeface="Calibri" pitchFamily="34" charset="-122"/>
                          <a:cs typeface="Calibri" pitchFamily="34" charset="-120"/>
                        </a:rPr>
                        <a:t>Desk studies from consulting firms vary wildly in format and attribution. MineAsk standardises structure and embeds sources.</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bl>
          </a:graphicData>
        </a:graphic>
      </p:graphicFrame>
      <p:sp>
        <p:nvSpPr>
          <p:cNvPr id="5" name="Text 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6" name="Text 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04 · CHANNEL PLAN</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Four Channels, Four Roles</a:t>
            </a:r>
            <a:endParaRPr lang="en-US" sz="3000" dirty="0"/>
          </a:p>
        </p:txBody>
      </p:sp>
      <p:sp>
        <p:nvSpPr>
          <p:cNvPr id="4" name="Shape 2"/>
          <p:cNvSpPr/>
          <p:nvPr/>
        </p:nvSpPr>
        <p:spPr>
          <a:xfrm>
            <a:off x="548640" y="1600200"/>
            <a:ext cx="2651760" cy="4480560"/>
          </a:xfrm>
          <a:prstGeom prst="roundRect">
            <a:avLst>
              <a:gd name="adj" fmla="val 2069"/>
            </a:avLst>
          </a:prstGeom>
          <a:solidFill>
            <a:srgbClr val="0070C0"/>
          </a:solidFill>
          <a:ln w="12700">
            <a:solidFill>
              <a:srgbClr val="0070C0"/>
            </a:solidFill>
            <a:prstDash val="solid"/>
          </a:ln>
        </p:spPr>
      </p:sp>
      <p:sp>
        <p:nvSpPr>
          <p:cNvPr id="5" name="Text 3"/>
          <p:cNvSpPr/>
          <p:nvPr/>
        </p:nvSpPr>
        <p:spPr>
          <a:xfrm>
            <a:off x="731520" y="1783080"/>
            <a:ext cx="228600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LinkedIn</a:t>
            </a:r>
            <a:endParaRPr lang="en-US" sz="1600" dirty="0"/>
          </a:p>
        </p:txBody>
      </p:sp>
      <p:sp>
        <p:nvSpPr>
          <p:cNvPr id="6" name="Text 4"/>
          <p:cNvSpPr/>
          <p:nvPr/>
        </p:nvSpPr>
        <p:spPr>
          <a:xfrm>
            <a:off x="731520" y="2377440"/>
            <a:ext cx="2286000" cy="548640"/>
          </a:xfrm>
          <a:prstGeom prst="rect">
            <a:avLst/>
          </a:prstGeom>
          <a:noFill/>
          <a:ln/>
        </p:spPr>
        <p:txBody>
          <a:bodyPr wrap="square" rtlCol="0" anchor="ctr"/>
          <a:lstStyle/>
          <a:p>
            <a:pPr indent="0" marL="0">
              <a:buNone/>
            </a:pPr>
            <a:r>
              <a:rPr lang="en-US" sz="1100" i="1" dirty="0">
                <a:solidFill>
                  <a:srgbClr val="CFE3F5"/>
                </a:solidFill>
                <a:latin typeface="Calibri" pitchFamily="34" charset="0"/>
                <a:ea typeface="Calibri" pitchFamily="34" charset="-122"/>
                <a:cs typeface="Calibri" pitchFamily="34" charset="-120"/>
              </a:rPr>
              <a:t>Primary cold outreach</a:t>
            </a:r>
            <a:endParaRPr lang="en-US" sz="1100" dirty="0"/>
          </a:p>
        </p:txBody>
      </p:sp>
      <p:sp>
        <p:nvSpPr>
          <p:cNvPr id="7" name="Shape 5"/>
          <p:cNvSpPr/>
          <p:nvPr/>
        </p:nvSpPr>
        <p:spPr>
          <a:xfrm>
            <a:off x="731520" y="2971800"/>
            <a:ext cx="2286000" cy="0"/>
          </a:xfrm>
          <a:prstGeom prst="line">
            <a:avLst/>
          </a:prstGeom>
          <a:noFill/>
          <a:ln w="9525">
            <a:solidFill>
              <a:srgbClr val="FFFFFF">
                <a:alpha val="40000"/>
              </a:srgbClr>
            </a:solidFill>
            <a:prstDash val="solid"/>
          </a:ln>
        </p:spPr>
      </p:sp>
      <p:sp>
        <p:nvSpPr>
          <p:cNvPr id="8" name="Text 6"/>
          <p:cNvSpPr/>
          <p:nvPr/>
        </p:nvSpPr>
        <p:spPr>
          <a:xfrm>
            <a:off x="731520" y="3108960"/>
            <a:ext cx="2286000" cy="2834640"/>
          </a:xfrm>
          <a:prstGeom prst="rect">
            <a:avLst/>
          </a:prstGeom>
          <a:noFill/>
          <a:ln/>
        </p:spPr>
        <p:txBody>
          <a:bodyPr wrap="square" rtlCol="0" anchor="ctr"/>
          <a:lstStyle/>
          <a:p>
            <a:pPr indent="0" marL="0">
              <a:lnSpc>
                <a:spcPct val="125000"/>
              </a:lnSpc>
              <a:buNone/>
            </a:pPr>
            <a:r>
              <a:rPr lang="en-US" sz="1100" dirty="0">
                <a:solidFill>
                  <a:srgbClr val="FFFFFF"/>
                </a:solidFill>
                <a:latin typeface="Calibri" pitchFamily="34" charset="0"/>
                <a:ea typeface="Calibri" pitchFamily="34" charset="-122"/>
                <a:cs typeface="Calibri" pitchFamily="34" charset="-120"/>
              </a:rPr>
              <a:t>15–20 connection requests/day · 8–12 DMs/day from a personal profile</a:t>
            </a:r>
            <a:endParaRPr lang="en-US" sz="1100" dirty="0"/>
          </a:p>
        </p:txBody>
      </p:sp>
      <p:sp>
        <p:nvSpPr>
          <p:cNvPr id="9" name="Shape 7"/>
          <p:cNvSpPr/>
          <p:nvPr/>
        </p:nvSpPr>
        <p:spPr>
          <a:xfrm>
            <a:off x="3337560" y="1600200"/>
            <a:ext cx="2651760" cy="4480560"/>
          </a:xfrm>
          <a:prstGeom prst="roundRect">
            <a:avLst>
              <a:gd name="adj" fmla="val 2069"/>
            </a:avLst>
          </a:prstGeom>
          <a:solidFill>
            <a:srgbClr val="0D3B66"/>
          </a:solidFill>
          <a:ln w="12700">
            <a:solidFill>
              <a:srgbClr val="0D3B66"/>
            </a:solidFill>
            <a:prstDash val="solid"/>
          </a:ln>
        </p:spPr>
      </p:sp>
      <p:sp>
        <p:nvSpPr>
          <p:cNvPr id="10" name="Text 8"/>
          <p:cNvSpPr/>
          <p:nvPr/>
        </p:nvSpPr>
        <p:spPr>
          <a:xfrm>
            <a:off x="3520440" y="1783080"/>
            <a:ext cx="228600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Email</a:t>
            </a:r>
            <a:endParaRPr lang="en-US" sz="1600" dirty="0"/>
          </a:p>
        </p:txBody>
      </p:sp>
      <p:sp>
        <p:nvSpPr>
          <p:cNvPr id="11" name="Text 9"/>
          <p:cNvSpPr/>
          <p:nvPr/>
        </p:nvSpPr>
        <p:spPr>
          <a:xfrm>
            <a:off x="3520440" y="2377440"/>
            <a:ext cx="2286000" cy="548640"/>
          </a:xfrm>
          <a:prstGeom prst="rect">
            <a:avLst/>
          </a:prstGeom>
          <a:noFill/>
          <a:ln/>
        </p:spPr>
        <p:txBody>
          <a:bodyPr wrap="square" rtlCol="0" anchor="ctr"/>
          <a:lstStyle/>
          <a:p>
            <a:pPr indent="0" marL="0">
              <a:buNone/>
            </a:pPr>
            <a:r>
              <a:rPr lang="en-US" sz="1100" i="1" dirty="0">
                <a:solidFill>
                  <a:srgbClr val="CFE3F5"/>
                </a:solidFill>
                <a:latin typeface="Calibri" pitchFamily="34" charset="0"/>
                <a:ea typeface="Calibri" pitchFamily="34" charset="-122"/>
                <a:cs typeface="Calibri" pitchFamily="34" charset="-120"/>
              </a:rPr>
              <a:t>Recruitment + personal follow-up</a:t>
            </a:r>
            <a:endParaRPr lang="en-US" sz="1100" dirty="0"/>
          </a:p>
        </p:txBody>
      </p:sp>
      <p:sp>
        <p:nvSpPr>
          <p:cNvPr id="12" name="Shape 10"/>
          <p:cNvSpPr/>
          <p:nvPr/>
        </p:nvSpPr>
        <p:spPr>
          <a:xfrm>
            <a:off x="3520440" y="2971800"/>
            <a:ext cx="2286000" cy="0"/>
          </a:xfrm>
          <a:prstGeom prst="line">
            <a:avLst/>
          </a:prstGeom>
          <a:noFill/>
          <a:ln w="9525">
            <a:solidFill>
              <a:srgbClr val="FFFFFF">
                <a:alpha val="40000"/>
              </a:srgbClr>
            </a:solidFill>
            <a:prstDash val="solid"/>
          </a:ln>
        </p:spPr>
      </p:sp>
      <p:sp>
        <p:nvSpPr>
          <p:cNvPr id="13" name="Text 11"/>
          <p:cNvSpPr/>
          <p:nvPr/>
        </p:nvSpPr>
        <p:spPr>
          <a:xfrm>
            <a:off x="3520440" y="3108960"/>
            <a:ext cx="2286000" cy="2834640"/>
          </a:xfrm>
          <a:prstGeom prst="rect">
            <a:avLst/>
          </a:prstGeom>
          <a:noFill/>
          <a:ln/>
        </p:spPr>
        <p:txBody>
          <a:bodyPr wrap="square" rtlCol="0" anchor="ctr"/>
          <a:lstStyle/>
          <a:p>
            <a:pPr indent="0" marL="0">
              <a:lnSpc>
                <a:spcPct val="125000"/>
              </a:lnSpc>
              <a:buNone/>
            </a:pPr>
            <a:r>
              <a:rPr lang="en-US" sz="1100" dirty="0">
                <a:solidFill>
                  <a:srgbClr val="FFFFFF"/>
                </a:solidFill>
                <a:latin typeface="Calibri" pitchFamily="34" charset="0"/>
                <a:ea typeface="Calibri" pitchFamily="34" charset="-122"/>
                <a:cs typeface="Calibri" pitchFamily="34" charset="-120"/>
              </a:rPr>
              <a:t>10–15 personalised emails/day · one follow-up at Day 5</a:t>
            </a:r>
            <a:endParaRPr lang="en-US" sz="1100" dirty="0"/>
          </a:p>
        </p:txBody>
      </p:sp>
      <p:sp>
        <p:nvSpPr>
          <p:cNvPr id="14" name="Shape 12"/>
          <p:cNvSpPr/>
          <p:nvPr/>
        </p:nvSpPr>
        <p:spPr>
          <a:xfrm>
            <a:off x="6126480" y="1600200"/>
            <a:ext cx="2651760" cy="4480560"/>
          </a:xfrm>
          <a:prstGeom prst="roundRect">
            <a:avLst>
              <a:gd name="adj" fmla="val 2069"/>
            </a:avLst>
          </a:prstGeom>
          <a:solidFill>
            <a:srgbClr val="0070C0"/>
          </a:solidFill>
          <a:ln w="12700">
            <a:solidFill>
              <a:srgbClr val="0070C0"/>
            </a:solidFill>
            <a:prstDash val="solid"/>
          </a:ln>
        </p:spPr>
      </p:sp>
      <p:sp>
        <p:nvSpPr>
          <p:cNvPr id="15" name="Text 13"/>
          <p:cNvSpPr/>
          <p:nvPr/>
        </p:nvSpPr>
        <p:spPr>
          <a:xfrm>
            <a:off x="6309360" y="1783080"/>
            <a:ext cx="228600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Google Forms</a:t>
            </a:r>
            <a:endParaRPr lang="en-US" sz="1600" dirty="0"/>
          </a:p>
        </p:txBody>
      </p:sp>
      <p:sp>
        <p:nvSpPr>
          <p:cNvPr id="16" name="Text 14"/>
          <p:cNvSpPr/>
          <p:nvPr/>
        </p:nvSpPr>
        <p:spPr>
          <a:xfrm>
            <a:off x="6309360" y="2377440"/>
            <a:ext cx="2286000" cy="548640"/>
          </a:xfrm>
          <a:prstGeom prst="rect">
            <a:avLst/>
          </a:prstGeom>
          <a:noFill/>
          <a:ln/>
        </p:spPr>
        <p:txBody>
          <a:bodyPr wrap="square" rtlCol="0" anchor="ctr"/>
          <a:lstStyle/>
          <a:p>
            <a:pPr indent="0" marL="0">
              <a:buNone/>
            </a:pPr>
            <a:r>
              <a:rPr lang="en-US" sz="1100" i="1" dirty="0">
                <a:solidFill>
                  <a:srgbClr val="CFE3F5"/>
                </a:solidFill>
                <a:latin typeface="Calibri" pitchFamily="34" charset="0"/>
                <a:ea typeface="Calibri" pitchFamily="34" charset="-122"/>
                <a:cs typeface="Calibri" pitchFamily="34" charset="-120"/>
              </a:rPr>
              <a:t>Sign-up + feedback collection</a:t>
            </a:r>
            <a:endParaRPr lang="en-US" sz="1100" dirty="0"/>
          </a:p>
        </p:txBody>
      </p:sp>
      <p:sp>
        <p:nvSpPr>
          <p:cNvPr id="17" name="Shape 15"/>
          <p:cNvSpPr/>
          <p:nvPr/>
        </p:nvSpPr>
        <p:spPr>
          <a:xfrm>
            <a:off x="6309360" y="2971800"/>
            <a:ext cx="2286000" cy="0"/>
          </a:xfrm>
          <a:prstGeom prst="line">
            <a:avLst/>
          </a:prstGeom>
          <a:noFill/>
          <a:ln w="9525">
            <a:solidFill>
              <a:srgbClr val="FFFFFF">
                <a:alpha val="40000"/>
              </a:srgbClr>
            </a:solidFill>
            <a:prstDash val="solid"/>
          </a:ln>
        </p:spPr>
      </p:sp>
      <p:sp>
        <p:nvSpPr>
          <p:cNvPr id="18" name="Text 16"/>
          <p:cNvSpPr/>
          <p:nvPr/>
        </p:nvSpPr>
        <p:spPr>
          <a:xfrm>
            <a:off x="6309360" y="3108960"/>
            <a:ext cx="2286000" cy="2834640"/>
          </a:xfrm>
          <a:prstGeom prst="rect">
            <a:avLst/>
          </a:prstGeom>
          <a:noFill/>
          <a:ln/>
        </p:spPr>
        <p:txBody>
          <a:bodyPr wrap="square" rtlCol="0" anchor="ctr"/>
          <a:lstStyle/>
          <a:p>
            <a:pPr indent="0" marL="0">
              <a:lnSpc>
                <a:spcPct val="125000"/>
              </a:lnSpc>
              <a:buNone/>
            </a:pPr>
            <a:r>
              <a:rPr lang="en-US" sz="1100" dirty="0">
                <a:solidFill>
                  <a:srgbClr val="FFFFFF"/>
                </a:solidFill>
                <a:latin typeface="Calibri" pitchFamily="34" charset="0"/>
                <a:ea typeface="Calibri" pitchFamily="34" charset="-122"/>
                <a:cs typeface="Calibri" pitchFamily="34" charset="-120"/>
              </a:rPr>
              <a:t>Mobile-first design; 12-min feedback form; manual review on every sign-up</a:t>
            </a:r>
            <a:endParaRPr lang="en-US" sz="1100" dirty="0"/>
          </a:p>
        </p:txBody>
      </p:sp>
      <p:sp>
        <p:nvSpPr>
          <p:cNvPr id="19" name="Shape 17"/>
          <p:cNvSpPr/>
          <p:nvPr/>
        </p:nvSpPr>
        <p:spPr>
          <a:xfrm>
            <a:off x="8915400" y="1600200"/>
            <a:ext cx="2651760" cy="4480560"/>
          </a:xfrm>
          <a:prstGeom prst="roundRect">
            <a:avLst>
              <a:gd name="adj" fmla="val 2069"/>
            </a:avLst>
          </a:prstGeom>
          <a:solidFill>
            <a:srgbClr val="0D3B66"/>
          </a:solidFill>
          <a:ln w="12700">
            <a:solidFill>
              <a:srgbClr val="0D3B66"/>
            </a:solidFill>
            <a:prstDash val="solid"/>
          </a:ln>
        </p:spPr>
      </p:sp>
      <p:sp>
        <p:nvSpPr>
          <p:cNvPr id="20" name="Text 18"/>
          <p:cNvSpPr/>
          <p:nvPr/>
        </p:nvSpPr>
        <p:spPr>
          <a:xfrm>
            <a:off x="9098280" y="1783080"/>
            <a:ext cx="228600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LinkedIn Content</a:t>
            </a:r>
            <a:endParaRPr lang="en-US" sz="1600" dirty="0"/>
          </a:p>
        </p:txBody>
      </p:sp>
      <p:sp>
        <p:nvSpPr>
          <p:cNvPr id="21" name="Text 19"/>
          <p:cNvSpPr/>
          <p:nvPr/>
        </p:nvSpPr>
        <p:spPr>
          <a:xfrm>
            <a:off x="9098280" y="2377440"/>
            <a:ext cx="2286000" cy="548640"/>
          </a:xfrm>
          <a:prstGeom prst="rect">
            <a:avLst/>
          </a:prstGeom>
          <a:noFill/>
          <a:ln/>
        </p:spPr>
        <p:txBody>
          <a:bodyPr wrap="square" rtlCol="0" anchor="ctr"/>
          <a:lstStyle/>
          <a:p>
            <a:pPr indent="0" marL="0">
              <a:buNone/>
            </a:pPr>
            <a:r>
              <a:rPr lang="en-US" sz="1100" i="1" dirty="0">
                <a:solidFill>
                  <a:srgbClr val="CFE3F5"/>
                </a:solidFill>
                <a:latin typeface="Calibri" pitchFamily="34" charset="0"/>
                <a:ea typeface="Calibri" pitchFamily="34" charset="-122"/>
                <a:cs typeface="Calibri" pitchFamily="34" charset="-120"/>
              </a:rPr>
              <a:t>Credibility &amp; brand</a:t>
            </a:r>
            <a:endParaRPr lang="en-US" sz="1100" dirty="0"/>
          </a:p>
        </p:txBody>
      </p:sp>
      <p:sp>
        <p:nvSpPr>
          <p:cNvPr id="22" name="Shape 20"/>
          <p:cNvSpPr/>
          <p:nvPr/>
        </p:nvSpPr>
        <p:spPr>
          <a:xfrm>
            <a:off x="9098280" y="2971800"/>
            <a:ext cx="2286000" cy="0"/>
          </a:xfrm>
          <a:prstGeom prst="line">
            <a:avLst/>
          </a:prstGeom>
          <a:noFill/>
          <a:ln w="9525">
            <a:solidFill>
              <a:srgbClr val="FFFFFF">
                <a:alpha val="40000"/>
              </a:srgbClr>
            </a:solidFill>
            <a:prstDash val="solid"/>
          </a:ln>
        </p:spPr>
      </p:sp>
      <p:sp>
        <p:nvSpPr>
          <p:cNvPr id="23" name="Text 21"/>
          <p:cNvSpPr/>
          <p:nvPr/>
        </p:nvSpPr>
        <p:spPr>
          <a:xfrm>
            <a:off x="9098280" y="3108960"/>
            <a:ext cx="2286000" cy="2834640"/>
          </a:xfrm>
          <a:prstGeom prst="rect">
            <a:avLst/>
          </a:prstGeom>
          <a:noFill/>
          <a:ln/>
        </p:spPr>
        <p:txBody>
          <a:bodyPr wrap="square" rtlCol="0" anchor="ctr"/>
          <a:lstStyle/>
          <a:p>
            <a:pPr indent="0" marL="0">
              <a:lnSpc>
                <a:spcPct val="125000"/>
              </a:lnSpc>
              <a:buNone/>
            </a:pPr>
            <a:r>
              <a:rPr lang="en-US" sz="1100" dirty="0">
                <a:solidFill>
                  <a:srgbClr val="FFFFFF"/>
                </a:solidFill>
                <a:latin typeface="Calibri" pitchFamily="34" charset="0"/>
                <a:ea typeface="Calibri" pitchFamily="34" charset="-122"/>
                <a:cs typeface="Calibri" pitchFamily="34" charset="-120"/>
              </a:rPr>
              <a:t>1–2 long-form posts/week on Act 703, L.I. 2175, Galamsey &amp; EITI topics</a:t>
            </a:r>
            <a:endParaRPr lang="en-US" sz="1100" dirty="0"/>
          </a:p>
        </p:txBody>
      </p:sp>
      <p:sp>
        <p:nvSpPr>
          <p:cNvPr id="24" name="Text 2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25" name="Text 2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04 · CHANNEL PLAN</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LinkedIn — Outreach Volume &amp; Sequencing</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2377440"/>
        </p:xfrm>
        <a:graphic>
          <a:graphicData uri="http://schemas.openxmlformats.org/drawingml/2006/table">
            <a:tbl>
              <a:tblPr/>
              <a:tblGrid>
                <a:gridCol w="3840480"/>
                <a:gridCol w="1463040"/>
                <a:gridCol w="146304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Daily</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Weekly</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457200">
                <a:tc>
                  <a:txBody>
                    <a:bodyPr/>
                    <a:lstStyle/>
                    <a:p>
                      <a:pPr algn="l" indent="0" marL="0">
                        <a:buNone/>
                      </a:pPr>
                      <a:r>
                        <a:rPr lang="en-US" sz="1250" dirty="0">
                          <a:solidFill>
                            <a:srgbClr val="2E2E2E"/>
                          </a:solidFill>
                          <a:latin typeface="Calibri" pitchFamily="34" charset="0"/>
                          <a:ea typeface="Calibri" pitchFamily="34" charset="-122"/>
                          <a:cs typeface="Calibri" pitchFamily="34" charset="-120"/>
                        </a:rPr>
                        <a:t>Connection requests sent</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15–20</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75–100</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457200">
                <a:tc>
                  <a:txBody>
                    <a:bodyPr/>
                    <a:lstStyle/>
                    <a:p>
                      <a:pPr algn="l" indent="0" marL="0">
                        <a:buNone/>
                      </a:pPr>
                      <a:r>
                        <a:rPr lang="en-US" sz="1250" dirty="0">
                          <a:solidFill>
                            <a:srgbClr val="2E2E2E"/>
                          </a:solidFill>
                          <a:latin typeface="Calibri" pitchFamily="34" charset="0"/>
                          <a:ea typeface="Calibri" pitchFamily="34" charset="-122"/>
                          <a:cs typeface="Calibri" pitchFamily="34" charset="-120"/>
                        </a:rPr>
                        <a:t>Direct messages (after connecting)</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40–60</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2E2E2E"/>
                          </a:solidFill>
                          <a:latin typeface="Calibri" pitchFamily="34" charset="0"/>
                          <a:ea typeface="Calibri" pitchFamily="34" charset="-122"/>
                          <a:cs typeface="Calibri" pitchFamily="34" charset="-120"/>
                        </a:rPr>
                        <a:t>Follow-ups to non-responders</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25–40</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457200">
                <a:tc>
                  <a:txBody>
                    <a:bodyPr/>
                    <a:lstStyle/>
                    <a:p>
                      <a:pPr algn="l" indent="0" marL="0">
                        <a:buNone/>
                      </a:pPr>
                      <a:r>
                        <a:rPr lang="en-US" sz="1250" dirty="0">
                          <a:solidFill>
                            <a:srgbClr val="2E2E2E"/>
                          </a:solidFill>
                          <a:latin typeface="Calibri" pitchFamily="34" charset="0"/>
                          <a:ea typeface="Calibri" pitchFamily="34" charset="-122"/>
                          <a:cs typeface="Calibri" pitchFamily="34" charset="-120"/>
                        </a:rPr>
                        <a:t>New contacts identified &amp; queued</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20–25</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2E2E"/>
                          </a:solidFill>
                          <a:latin typeface="Calibri" pitchFamily="34" charset="0"/>
                          <a:ea typeface="Calibri" pitchFamily="34" charset="-122"/>
                          <a:cs typeface="Calibri" pitchFamily="34" charset="-120"/>
                        </a:rPr>
                        <a:t>100–125</a:t>
                      </a:r>
                      <a:endParaRPr lang="en-US" sz="12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bl>
          </a:graphicData>
        </a:graphic>
      </p:graphicFrame>
      <p:sp>
        <p:nvSpPr>
          <p:cNvPr id="5" name="Text 2"/>
          <p:cNvSpPr/>
          <p:nvPr/>
        </p:nvSpPr>
        <p:spPr>
          <a:xfrm>
            <a:off x="7635240" y="1554480"/>
            <a:ext cx="3931920" cy="274320"/>
          </a:xfrm>
          <a:prstGeom prst="rect">
            <a:avLst/>
          </a:prstGeom>
          <a:noFill/>
          <a:ln/>
        </p:spPr>
        <p:txBody>
          <a:bodyPr wrap="square" rtlCol="0" anchor="ctr"/>
          <a:lstStyle/>
          <a:p>
            <a:pPr indent="0" marL="0">
              <a:buNone/>
            </a:pPr>
            <a:r>
              <a:rPr lang="en-US" sz="1200" b="1" spc="100" kern="0" dirty="0">
                <a:solidFill>
                  <a:srgbClr val="0070C0"/>
                </a:solidFill>
                <a:latin typeface="Calibri" pitchFamily="34" charset="0"/>
                <a:ea typeface="Calibri" pitchFamily="34" charset="-122"/>
                <a:cs typeface="Calibri" pitchFamily="34" charset="-120"/>
              </a:rPr>
              <a:t>SEQUENCING</a:t>
            </a:r>
            <a:endParaRPr lang="en-US" sz="1200" dirty="0"/>
          </a:p>
        </p:txBody>
      </p:sp>
      <p:sp>
        <p:nvSpPr>
          <p:cNvPr id="6" name="Shape 3"/>
          <p:cNvSpPr/>
          <p:nvPr/>
        </p:nvSpPr>
        <p:spPr>
          <a:xfrm>
            <a:off x="7635240" y="1920240"/>
            <a:ext cx="3931920" cy="777240"/>
          </a:xfrm>
          <a:prstGeom prst="roundRect">
            <a:avLst>
              <a:gd name="adj" fmla="val 7059"/>
            </a:avLst>
          </a:prstGeom>
          <a:solidFill>
            <a:srgbClr val="DEEAF6"/>
          </a:solidFill>
          <a:ln w="12700">
            <a:solidFill>
              <a:srgbClr val="DEEAF6"/>
            </a:solidFill>
            <a:prstDash val="solid"/>
          </a:ln>
        </p:spPr>
      </p:sp>
      <p:sp>
        <p:nvSpPr>
          <p:cNvPr id="7" name="Text 4"/>
          <p:cNvSpPr/>
          <p:nvPr/>
        </p:nvSpPr>
        <p:spPr>
          <a:xfrm>
            <a:off x="7818120" y="2011680"/>
            <a:ext cx="1005840" cy="594360"/>
          </a:xfrm>
          <a:prstGeom prst="rect">
            <a:avLst/>
          </a:prstGeom>
          <a:noFill/>
          <a:ln/>
        </p:spPr>
        <p:txBody>
          <a:bodyPr wrap="square" rtlCol="0" anchor="ctr"/>
          <a:lstStyle/>
          <a:p>
            <a:pPr indent="0" marL="0">
              <a:buNone/>
            </a:pPr>
            <a:r>
              <a:rPr lang="en-US" sz="1300" b="1" dirty="0">
                <a:solidFill>
                  <a:srgbClr val="0070C0"/>
                </a:solidFill>
                <a:latin typeface="Cambria" pitchFamily="34" charset="0"/>
                <a:ea typeface="Cambria" pitchFamily="34" charset="-122"/>
                <a:cs typeface="Cambria" pitchFamily="34" charset="-120"/>
              </a:rPr>
              <a:t>Day 1</a:t>
            </a:r>
            <a:endParaRPr lang="en-US" sz="1300" dirty="0"/>
          </a:p>
        </p:txBody>
      </p:sp>
      <p:sp>
        <p:nvSpPr>
          <p:cNvPr id="8" name="Text 5"/>
          <p:cNvSpPr/>
          <p:nvPr/>
        </p:nvSpPr>
        <p:spPr>
          <a:xfrm>
            <a:off x="8778240" y="2011680"/>
            <a:ext cx="2697480" cy="594360"/>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Send connection request — no pitch</a:t>
            </a:r>
            <a:endParaRPr lang="en-US" sz="1050" dirty="0"/>
          </a:p>
        </p:txBody>
      </p:sp>
      <p:sp>
        <p:nvSpPr>
          <p:cNvPr id="9" name="Shape 6"/>
          <p:cNvSpPr/>
          <p:nvPr/>
        </p:nvSpPr>
        <p:spPr>
          <a:xfrm>
            <a:off x="7635240" y="2834640"/>
            <a:ext cx="3931920" cy="777240"/>
          </a:xfrm>
          <a:prstGeom prst="roundRect">
            <a:avLst>
              <a:gd name="adj" fmla="val 7059"/>
            </a:avLst>
          </a:prstGeom>
          <a:solidFill>
            <a:srgbClr val="DEEAF6"/>
          </a:solidFill>
          <a:ln w="12700">
            <a:solidFill>
              <a:srgbClr val="DEEAF6"/>
            </a:solidFill>
            <a:prstDash val="solid"/>
          </a:ln>
        </p:spPr>
      </p:sp>
      <p:sp>
        <p:nvSpPr>
          <p:cNvPr id="10" name="Text 7"/>
          <p:cNvSpPr/>
          <p:nvPr/>
        </p:nvSpPr>
        <p:spPr>
          <a:xfrm>
            <a:off x="7818120" y="2926080"/>
            <a:ext cx="1005840" cy="594360"/>
          </a:xfrm>
          <a:prstGeom prst="rect">
            <a:avLst/>
          </a:prstGeom>
          <a:noFill/>
          <a:ln/>
        </p:spPr>
        <p:txBody>
          <a:bodyPr wrap="square" rtlCol="0" anchor="ctr"/>
          <a:lstStyle/>
          <a:p>
            <a:pPr indent="0" marL="0">
              <a:buNone/>
            </a:pPr>
            <a:r>
              <a:rPr lang="en-US" sz="1300" b="1" dirty="0">
                <a:solidFill>
                  <a:srgbClr val="0070C0"/>
                </a:solidFill>
                <a:latin typeface="Cambria" pitchFamily="34" charset="0"/>
                <a:ea typeface="Cambria" pitchFamily="34" charset="-122"/>
                <a:cs typeface="Cambria" pitchFamily="34" charset="-120"/>
              </a:rPr>
              <a:t>Day 2–3</a:t>
            </a:r>
            <a:endParaRPr lang="en-US" sz="1300" dirty="0"/>
          </a:p>
        </p:txBody>
      </p:sp>
      <p:sp>
        <p:nvSpPr>
          <p:cNvPr id="11" name="Text 8"/>
          <p:cNvSpPr/>
          <p:nvPr/>
        </p:nvSpPr>
        <p:spPr>
          <a:xfrm>
            <a:off x="8778240" y="2926080"/>
            <a:ext cx="2697480" cy="594360"/>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Send direct message upon acceptance</a:t>
            </a:r>
            <a:endParaRPr lang="en-US" sz="1050" dirty="0"/>
          </a:p>
        </p:txBody>
      </p:sp>
      <p:sp>
        <p:nvSpPr>
          <p:cNvPr id="12" name="Shape 9"/>
          <p:cNvSpPr/>
          <p:nvPr/>
        </p:nvSpPr>
        <p:spPr>
          <a:xfrm>
            <a:off x="7635240" y="3749040"/>
            <a:ext cx="3931920" cy="777240"/>
          </a:xfrm>
          <a:prstGeom prst="roundRect">
            <a:avLst>
              <a:gd name="adj" fmla="val 7059"/>
            </a:avLst>
          </a:prstGeom>
          <a:solidFill>
            <a:srgbClr val="DEEAF6"/>
          </a:solidFill>
          <a:ln w="12700">
            <a:solidFill>
              <a:srgbClr val="DEEAF6"/>
            </a:solidFill>
            <a:prstDash val="solid"/>
          </a:ln>
        </p:spPr>
      </p:sp>
      <p:sp>
        <p:nvSpPr>
          <p:cNvPr id="13" name="Text 10"/>
          <p:cNvSpPr/>
          <p:nvPr/>
        </p:nvSpPr>
        <p:spPr>
          <a:xfrm>
            <a:off x="7818120" y="3840480"/>
            <a:ext cx="1005840" cy="594360"/>
          </a:xfrm>
          <a:prstGeom prst="rect">
            <a:avLst/>
          </a:prstGeom>
          <a:noFill/>
          <a:ln/>
        </p:spPr>
        <p:txBody>
          <a:bodyPr wrap="square" rtlCol="0" anchor="ctr"/>
          <a:lstStyle/>
          <a:p>
            <a:pPr indent="0" marL="0">
              <a:buNone/>
            </a:pPr>
            <a:r>
              <a:rPr lang="en-US" sz="1300" b="1" dirty="0">
                <a:solidFill>
                  <a:srgbClr val="0070C0"/>
                </a:solidFill>
                <a:latin typeface="Cambria" pitchFamily="34" charset="0"/>
                <a:ea typeface="Cambria" pitchFamily="34" charset="-122"/>
                <a:cs typeface="Cambria" pitchFamily="34" charset="-120"/>
              </a:rPr>
              <a:t>Day 7</a:t>
            </a:r>
            <a:endParaRPr lang="en-US" sz="1300" dirty="0"/>
          </a:p>
        </p:txBody>
      </p:sp>
      <p:sp>
        <p:nvSpPr>
          <p:cNvPr id="14" name="Text 11"/>
          <p:cNvSpPr/>
          <p:nvPr/>
        </p:nvSpPr>
        <p:spPr>
          <a:xfrm>
            <a:off x="8778240" y="3840480"/>
            <a:ext cx="2697480" cy="594360"/>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One follow-up to non-responders; no third follow-up</a:t>
            </a:r>
            <a:endParaRPr lang="en-US" sz="1050" dirty="0"/>
          </a:p>
        </p:txBody>
      </p:sp>
      <p:sp>
        <p:nvSpPr>
          <p:cNvPr id="15" name="Text 12"/>
          <p:cNvSpPr/>
          <p:nvPr/>
        </p:nvSpPr>
        <p:spPr>
          <a:xfrm>
            <a:off x="548640" y="4160520"/>
            <a:ext cx="7315200" cy="274320"/>
          </a:xfrm>
          <a:prstGeom prst="rect">
            <a:avLst/>
          </a:prstGeom>
          <a:noFill/>
          <a:ln/>
        </p:spPr>
        <p:txBody>
          <a:bodyPr wrap="square" rtlCol="0" anchor="ctr"/>
          <a:lstStyle/>
          <a:p>
            <a:pPr indent="0" marL="0">
              <a:buNone/>
            </a:pPr>
            <a:r>
              <a:rPr lang="en-US" sz="1200" b="1" spc="100" kern="0" dirty="0">
                <a:solidFill>
                  <a:srgbClr val="0070C0"/>
                </a:solidFill>
                <a:latin typeface="Calibri" pitchFamily="34" charset="0"/>
                <a:ea typeface="Calibri" pitchFamily="34" charset="-122"/>
                <a:cs typeface="Calibri" pitchFamily="34" charset="-120"/>
              </a:rPr>
              <a:t>PROFILE REQUIREMENTS BEFORE OUTREACH</a:t>
            </a:r>
            <a:endParaRPr lang="en-US" sz="1200" dirty="0"/>
          </a:p>
        </p:txBody>
      </p:sp>
      <p:sp>
        <p:nvSpPr>
          <p:cNvPr id="16" name="Text 13"/>
          <p:cNvSpPr/>
          <p:nvPr/>
        </p:nvSpPr>
        <p:spPr>
          <a:xfrm>
            <a:off x="548640" y="4480560"/>
            <a:ext cx="10972800" cy="320040"/>
          </a:xfrm>
          <a:prstGeom prst="rect">
            <a:avLst/>
          </a:prstGeom>
          <a:noFill/>
          <a:ln/>
        </p:spPr>
        <p:txBody>
          <a:bodyPr wrap="square" rtlCol="0" anchor="ctr"/>
          <a:lstStyle/>
          <a:p>
            <a:pPr indent="0" marL="0">
              <a:buNone/>
            </a:pPr>
            <a:r>
              <a:rPr lang="en-US" sz="1200" dirty="0">
                <a:solidFill>
                  <a:srgbClr val="2E2E2E"/>
                </a:solidFill>
                <a:latin typeface="Calibri" pitchFamily="34" charset="0"/>
                <a:ea typeface="Calibri" pitchFamily="34" charset="-122"/>
                <a:cs typeface="Calibri" pitchFamily="34" charset="-120"/>
              </a:rPr>
              <a:t>•  Professional headshot photo</a:t>
            </a:r>
            <a:endParaRPr lang="en-US" sz="1200" dirty="0"/>
          </a:p>
        </p:txBody>
      </p:sp>
      <p:sp>
        <p:nvSpPr>
          <p:cNvPr id="17" name="Text 14"/>
          <p:cNvSpPr/>
          <p:nvPr/>
        </p:nvSpPr>
        <p:spPr>
          <a:xfrm>
            <a:off x="548640" y="4846320"/>
            <a:ext cx="10972800" cy="320040"/>
          </a:xfrm>
          <a:prstGeom prst="rect">
            <a:avLst/>
          </a:prstGeom>
          <a:noFill/>
          <a:ln/>
        </p:spPr>
        <p:txBody>
          <a:bodyPr wrap="square" rtlCol="0" anchor="ctr"/>
          <a:lstStyle/>
          <a:p>
            <a:pPr indent="0" marL="0">
              <a:buNone/>
            </a:pPr>
            <a:r>
              <a:rPr lang="en-US" sz="1200" dirty="0">
                <a:solidFill>
                  <a:srgbClr val="2E2E2E"/>
                </a:solidFill>
                <a:latin typeface="Calibri" pitchFamily="34" charset="0"/>
                <a:ea typeface="Calibri" pitchFamily="34" charset="-122"/>
                <a:cs typeface="Calibri" pitchFamily="34" charset="-120"/>
              </a:rPr>
              <a:t>•  Headline states role + MineAsk clearly</a:t>
            </a:r>
            <a:endParaRPr lang="en-US" sz="1200" dirty="0"/>
          </a:p>
        </p:txBody>
      </p:sp>
      <p:sp>
        <p:nvSpPr>
          <p:cNvPr id="18" name="Text 15"/>
          <p:cNvSpPr/>
          <p:nvPr/>
        </p:nvSpPr>
        <p:spPr>
          <a:xfrm>
            <a:off x="548640" y="5212080"/>
            <a:ext cx="10972800" cy="320040"/>
          </a:xfrm>
          <a:prstGeom prst="rect">
            <a:avLst/>
          </a:prstGeom>
          <a:noFill/>
          <a:ln/>
        </p:spPr>
        <p:txBody>
          <a:bodyPr wrap="square" rtlCol="0" anchor="ctr"/>
          <a:lstStyle/>
          <a:p>
            <a:pPr indent="0" marL="0">
              <a:buNone/>
            </a:pPr>
            <a:r>
              <a:rPr lang="en-US" sz="1200" dirty="0">
                <a:solidFill>
                  <a:srgbClr val="2E2E2E"/>
                </a:solidFill>
                <a:latin typeface="Calibri" pitchFamily="34" charset="0"/>
                <a:ea typeface="Calibri" pitchFamily="34" charset="-122"/>
                <a:cs typeface="Calibri" pitchFamily="34" charset="-120"/>
              </a:rPr>
              <a:t>•  About section: audience, problem, MVP note</a:t>
            </a:r>
            <a:endParaRPr lang="en-US" sz="1200" dirty="0"/>
          </a:p>
        </p:txBody>
      </p:sp>
      <p:sp>
        <p:nvSpPr>
          <p:cNvPr id="19" name="Text 16"/>
          <p:cNvSpPr/>
          <p:nvPr/>
        </p:nvSpPr>
        <p:spPr>
          <a:xfrm>
            <a:off x="548640" y="5577840"/>
            <a:ext cx="10972800" cy="320040"/>
          </a:xfrm>
          <a:prstGeom prst="rect">
            <a:avLst/>
          </a:prstGeom>
          <a:noFill/>
          <a:ln/>
        </p:spPr>
        <p:txBody>
          <a:bodyPr wrap="square" rtlCol="0" anchor="ctr"/>
          <a:lstStyle/>
          <a:p>
            <a:pPr indent="0" marL="0">
              <a:buNone/>
            </a:pPr>
            <a:r>
              <a:rPr lang="en-US" sz="1200" dirty="0">
                <a:solidFill>
                  <a:srgbClr val="2E2E2E"/>
                </a:solidFill>
                <a:latin typeface="Calibri" pitchFamily="34" charset="0"/>
                <a:ea typeface="Calibri" pitchFamily="34" charset="-122"/>
                <a:cs typeface="Calibri" pitchFamily="34" charset="-120"/>
              </a:rPr>
              <a:t>•  Featured: link to free Regulatory Roadmap Explorer</a:t>
            </a:r>
            <a:endParaRPr lang="en-US" sz="1200" dirty="0"/>
          </a:p>
        </p:txBody>
      </p:sp>
      <p:sp>
        <p:nvSpPr>
          <p:cNvPr id="20" name="Text 17"/>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21" name="Text 18"/>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04 · CHANNEL PLAN</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Email — Recruitment &amp; Personal Feedback Requests</a:t>
            </a:r>
            <a:endParaRPr lang="en-US" sz="3000" dirty="0"/>
          </a:p>
        </p:txBody>
      </p:sp>
      <p:sp>
        <p:nvSpPr>
          <p:cNvPr id="4" name="Shape 2"/>
          <p:cNvSpPr/>
          <p:nvPr/>
        </p:nvSpPr>
        <p:spPr>
          <a:xfrm>
            <a:off x="548640" y="1554480"/>
            <a:ext cx="5394960" cy="4526280"/>
          </a:xfrm>
          <a:prstGeom prst="roundRect">
            <a:avLst>
              <a:gd name="adj" fmla="val 1212"/>
            </a:avLst>
          </a:prstGeom>
          <a:solidFill>
            <a:srgbClr val="DEEAF6"/>
          </a:solidFill>
          <a:ln w="12700">
            <a:solidFill>
              <a:srgbClr val="DEEAF6"/>
            </a:solidFill>
            <a:prstDash val="solid"/>
          </a:ln>
        </p:spPr>
      </p:sp>
      <p:sp>
        <p:nvSpPr>
          <p:cNvPr id="5" name="Text 3"/>
          <p:cNvSpPr/>
          <p:nvPr/>
        </p:nvSpPr>
        <p:spPr>
          <a:xfrm>
            <a:off x="777240" y="1737360"/>
            <a:ext cx="4937760" cy="274320"/>
          </a:xfrm>
          <a:prstGeom prst="rect">
            <a:avLst/>
          </a:prstGeom>
          <a:noFill/>
          <a:ln/>
        </p:spPr>
        <p:txBody>
          <a:bodyPr wrap="square" rtlCol="0" anchor="ctr"/>
          <a:lstStyle/>
          <a:p>
            <a:pPr indent="0" marL="0">
              <a:buNone/>
            </a:pPr>
            <a:r>
              <a:rPr lang="en-US" sz="1250" b="1" dirty="0">
                <a:solidFill>
                  <a:srgbClr val="0070C0"/>
                </a:solidFill>
                <a:latin typeface="Calibri" pitchFamily="34" charset="0"/>
                <a:ea typeface="Calibri" pitchFamily="34" charset="-122"/>
                <a:cs typeface="Calibri" pitchFamily="34" charset="-120"/>
              </a:rPr>
              <a:t>RECRUITMENT OUTREACH</a:t>
            </a:r>
            <a:endParaRPr lang="en-US" sz="1250" dirty="0"/>
          </a:p>
        </p:txBody>
      </p:sp>
      <p:sp>
        <p:nvSpPr>
          <p:cNvPr id="6" name="Text 4"/>
          <p:cNvSpPr/>
          <p:nvPr/>
        </p:nvSpPr>
        <p:spPr>
          <a:xfrm>
            <a:off x="777240" y="2103120"/>
            <a:ext cx="4937760" cy="502920"/>
          </a:xfrm>
          <a:prstGeom prst="rect">
            <a:avLst/>
          </a:prstGeom>
          <a:noFill/>
          <a:ln/>
        </p:spPr>
        <p:txBody>
          <a:bodyPr wrap="square" rtlCol="0" anchor="ctr"/>
          <a:lstStyle/>
          <a:p>
            <a:pPr indent="0" marL="0">
              <a:lnSpc>
                <a:spcPct val="115000"/>
              </a:lnSpc>
              <a:buNone/>
            </a:pPr>
            <a:r>
              <a:rPr lang="en-US" sz="1200" dirty="0">
                <a:solidFill>
                  <a:srgbClr val="2E2E2E"/>
                </a:solidFill>
                <a:latin typeface="Calibri" pitchFamily="34" charset="0"/>
                <a:ea typeface="Calibri" pitchFamily="34" charset="-122"/>
                <a:cs typeface="Calibri" pitchFamily="34" charset="-120"/>
              </a:rPr>
              <a:t>•  10–15 personalised emails/day to known contacts</a:t>
            </a:r>
            <a:endParaRPr lang="en-US" sz="1200" dirty="0"/>
          </a:p>
        </p:txBody>
      </p:sp>
      <p:sp>
        <p:nvSpPr>
          <p:cNvPr id="7" name="Text 5"/>
          <p:cNvSpPr/>
          <p:nvPr/>
        </p:nvSpPr>
        <p:spPr>
          <a:xfrm>
            <a:off x="777240" y="2606040"/>
            <a:ext cx="4937760" cy="502920"/>
          </a:xfrm>
          <a:prstGeom prst="rect">
            <a:avLst/>
          </a:prstGeom>
          <a:noFill/>
          <a:ln/>
        </p:spPr>
        <p:txBody>
          <a:bodyPr wrap="square" rtlCol="0" anchor="ctr"/>
          <a:lstStyle/>
          <a:p>
            <a:pPr indent="0" marL="0">
              <a:lnSpc>
                <a:spcPct val="115000"/>
              </a:lnSpc>
              <a:buNone/>
            </a:pPr>
            <a:r>
              <a:rPr lang="en-US" sz="1200" dirty="0">
                <a:solidFill>
                  <a:srgbClr val="2E2E2E"/>
                </a:solidFill>
                <a:latin typeface="Calibri" pitchFamily="34" charset="0"/>
                <a:ea typeface="Calibri" pitchFamily="34" charset="-122"/>
                <a:cs typeface="Calibri" pitchFamily="34" charset="-120"/>
              </a:rPr>
              <a:t>•  Every email personalised: name, firm, practice area</a:t>
            </a:r>
            <a:endParaRPr lang="en-US" sz="1200" dirty="0"/>
          </a:p>
        </p:txBody>
      </p:sp>
      <p:sp>
        <p:nvSpPr>
          <p:cNvPr id="8" name="Text 6"/>
          <p:cNvSpPr/>
          <p:nvPr/>
        </p:nvSpPr>
        <p:spPr>
          <a:xfrm>
            <a:off x="777240" y="3108960"/>
            <a:ext cx="4937760" cy="502920"/>
          </a:xfrm>
          <a:prstGeom prst="rect">
            <a:avLst/>
          </a:prstGeom>
          <a:noFill/>
          <a:ln/>
        </p:spPr>
        <p:txBody>
          <a:bodyPr wrap="square" rtlCol="0" anchor="ctr"/>
          <a:lstStyle/>
          <a:p>
            <a:pPr indent="0" marL="0">
              <a:lnSpc>
                <a:spcPct val="115000"/>
              </a:lnSpc>
              <a:buNone/>
            </a:pPr>
            <a:r>
              <a:rPr lang="en-US" sz="1200" dirty="0">
                <a:solidFill>
                  <a:srgbClr val="2E2E2E"/>
                </a:solidFill>
                <a:latin typeface="Calibri" pitchFamily="34" charset="0"/>
                <a:ea typeface="Calibri" pitchFamily="34" charset="-122"/>
                <a:cs typeface="Calibri" pitchFamily="34" charset="-120"/>
              </a:rPr>
              <a:t>•  Direct, specific subject lines — never vague</a:t>
            </a:r>
            <a:endParaRPr lang="en-US" sz="1200" dirty="0"/>
          </a:p>
        </p:txBody>
      </p:sp>
      <p:sp>
        <p:nvSpPr>
          <p:cNvPr id="9" name="Text 7"/>
          <p:cNvSpPr/>
          <p:nvPr/>
        </p:nvSpPr>
        <p:spPr>
          <a:xfrm>
            <a:off x="777240" y="3611880"/>
            <a:ext cx="4937760" cy="502920"/>
          </a:xfrm>
          <a:prstGeom prst="rect">
            <a:avLst/>
          </a:prstGeom>
          <a:noFill/>
          <a:ln/>
        </p:spPr>
        <p:txBody>
          <a:bodyPr wrap="square" rtlCol="0" anchor="ctr"/>
          <a:lstStyle/>
          <a:p>
            <a:pPr indent="0" marL="0">
              <a:lnSpc>
                <a:spcPct val="115000"/>
              </a:lnSpc>
              <a:buNone/>
            </a:pPr>
            <a:r>
              <a:rPr lang="en-US" sz="1200" dirty="0">
                <a:solidFill>
                  <a:srgbClr val="2E2E2E"/>
                </a:solidFill>
                <a:latin typeface="Calibri" pitchFamily="34" charset="0"/>
                <a:ea typeface="Calibri" pitchFamily="34" charset="-122"/>
                <a:cs typeface="Calibri" pitchFamily="34" charset="-120"/>
              </a:rPr>
              <a:t>•  One follow-up 5 days after no response; max 2 emails total</a:t>
            </a:r>
            <a:endParaRPr lang="en-US" sz="1200" dirty="0"/>
          </a:p>
        </p:txBody>
      </p:sp>
      <p:sp>
        <p:nvSpPr>
          <p:cNvPr id="10" name="Text 8"/>
          <p:cNvSpPr/>
          <p:nvPr/>
        </p:nvSpPr>
        <p:spPr>
          <a:xfrm>
            <a:off x="777240" y="4114800"/>
            <a:ext cx="4937760" cy="502920"/>
          </a:xfrm>
          <a:prstGeom prst="rect">
            <a:avLst/>
          </a:prstGeom>
          <a:noFill/>
          <a:ln/>
        </p:spPr>
        <p:txBody>
          <a:bodyPr wrap="square" rtlCol="0" anchor="ctr"/>
          <a:lstStyle/>
          <a:p>
            <a:pPr indent="0" marL="0">
              <a:lnSpc>
                <a:spcPct val="115000"/>
              </a:lnSpc>
              <a:buNone/>
            </a:pPr>
            <a:r>
              <a:rPr lang="en-US" sz="1200" dirty="0">
                <a:solidFill>
                  <a:srgbClr val="2E2E2E"/>
                </a:solidFill>
                <a:latin typeface="Calibri" pitchFamily="34" charset="0"/>
                <a:ea typeface="Calibri" pitchFamily="34" charset="-122"/>
                <a:cs typeface="Calibri" pitchFamily="34" charset="-120"/>
              </a:rPr>
              <a:t>•  Roadmap Explorer link in every recruitment email</a:t>
            </a:r>
            <a:endParaRPr lang="en-US" sz="1200" dirty="0"/>
          </a:p>
        </p:txBody>
      </p:sp>
      <p:sp>
        <p:nvSpPr>
          <p:cNvPr id="11" name="Shape 9"/>
          <p:cNvSpPr/>
          <p:nvPr/>
        </p:nvSpPr>
        <p:spPr>
          <a:xfrm>
            <a:off x="6126480" y="1554480"/>
            <a:ext cx="5394960" cy="4526280"/>
          </a:xfrm>
          <a:prstGeom prst="roundRect">
            <a:avLst>
              <a:gd name="adj" fmla="val 1212"/>
            </a:avLst>
          </a:prstGeom>
          <a:solidFill>
            <a:srgbClr val="0D3B66"/>
          </a:solidFill>
          <a:ln w="12700">
            <a:solidFill>
              <a:srgbClr val="0D3B66"/>
            </a:solidFill>
            <a:prstDash val="solid"/>
          </a:ln>
        </p:spPr>
      </p:sp>
      <p:sp>
        <p:nvSpPr>
          <p:cNvPr id="12" name="Text 10"/>
          <p:cNvSpPr/>
          <p:nvPr/>
        </p:nvSpPr>
        <p:spPr>
          <a:xfrm>
            <a:off x="6355080" y="1737360"/>
            <a:ext cx="4937760" cy="274320"/>
          </a:xfrm>
          <a:prstGeom prst="rect">
            <a:avLst/>
          </a:prstGeom>
          <a:noFill/>
          <a:ln/>
        </p:spPr>
        <p:txBody>
          <a:bodyPr wrap="square" rtlCol="0" anchor="ctr"/>
          <a:lstStyle/>
          <a:p>
            <a:pPr indent="0" marL="0">
              <a:buNone/>
            </a:pPr>
            <a:r>
              <a:rPr lang="en-US" sz="1250" b="1" dirty="0">
                <a:solidFill>
                  <a:srgbClr val="8FC1EA"/>
                </a:solidFill>
                <a:latin typeface="Calibri" pitchFamily="34" charset="0"/>
                <a:ea typeface="Calibri" pitchFamily="34" charset="-122"/>
                <a:cs typeface="Calibri" pitchFamily="34" charset="-120"/>
              </a:rPr>
              <a:t>PERSONAL FEEDBACK EMAIL (WEEK 3)</a:t>
            </a:r>
            <a:endParaRPr lang="en-US" sz="1250" dirty="0"/>
          </a:p>
        </p:txBody>
      </p:sp>
      <p:sp>
        <p:nvSpPr>
          <p:cNvPr id="13" name="Text 11"/>
          <p:cNvSpPr/>
          <p:nvPr/>
        </p:nvSpPr>
        <p:spPr>
          <a:xfrm>
            <a:off x="6355080" y="2103120"/>
            <a:ext cx="493776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  Written individually by the Campaign Manager, not bulk-sent</a:t>
            </a:r>
            <a:endParaRPr lang="en-US" sz="1200" dirty="0"/>
          </a:p>
        </p:txBody>
      </p:sp>
      <p:sp>
        <p:nvSpPr>
          <p:cNvPr id="14" name="Text 12"/>
          <p:cNvSpPr/>
          <p:nvPr/>
        </p:nvSpPr>
        <p:spPr>
          <a:xfrm>
            <a:off x="6355080" y="2606040"/>
            <a:ext cx="493776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  References the tester's sector, country, or sign-up details</a:t>
            </a:r>
            <a:endParaRPr lang="en-US" sz="1200" dirty="0"/>
          </a:p>
        </p:txBody>
      </p:sp>
      <p:sp>
        <p:nvSpPr>
          <p:cNvPr id="15" name="Text 13"/>
          <p:cNvSpPr/>
          <p:nvPr/>
        </p:nvSpPr>
        <p:spPr>
          <a:xfrm>
            <a:off x="6355080" y="3108960"/>
            <a:ext cx="493776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  Feedback form link placed prominently, with a clear deadline</a:t>
            </a:r>
            <a:endParaRPr lang="en-US" sz="1200" dirty="0"/>
          </a:p>
        </p:txBody>
      </p:sp>
      <p:sp>
        <p:nvSpPr>
          <p:cNvPr id="16" name="Text 14"/>
          <p:cNvSpPr/>
          <p:nvPr/>
        </p:nvSpPr>
        <p:spPr>
          <a:xfrm>
            <a:off x="6355080" y="3611880"/>
            <a:ext cx="493776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  Concise — no longer than four sentences</a:t>
            </a:r>
            <a:endParaRPr lang="en-US" sz="1200" dirty="0"/>
          </a:p>
        </p:txBody>
      </p:sp>
      <p:sp>
        <p:nvSpPr>
          <p:cNvPr id="17" name="Text 15"/>
          <p:cNvSpPr/>
          <p:nvPr/>
        </p:nvSpPr>
        <p:spPr>
          <a:xfrm>
            <a:off x="6355080" y="4114800"/>
            <a:ext cx="493776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  One final reminder 2 days before deadline; no further follow-up</a:t>
            </a:r>
            <a:endParaRPr lang="en-US" sz="120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19" name="Text 17"/>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04 · CHANNEL PLAN</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Google Forms — Sign-Up, Feedback &amp; Handoff</a:t>
            </a:r>
            <a:endParaRPr lang="en-US" sz="3000" dirty="0"/>
          </a:p>
        </p:txBody>
      </p:sp>
      <p:sp>
        <p:nvSpPr>
          <p:cNvPr id="4" name="Text 2"/>
          <p:cNvSpPr/>
          <p:nvPr/>
        </p:nvSpPr>
        <p:spPr>
          <a:xfrm>
            <a:off x="548640" y="1417320"/>
            <a:ext cx="11064240" cy="411480"/>
          </a:xfrm>
          <a:prstGeom prst="rect">
            <a:avLst/>
          </a:prstGeom>
          <a:noFill/>
          <a:ln/>
        </p:spPr>
        <p:txBody>
          <a:bodyPr wrap="square" rtlCol="0" anchor="ctr"/>
          <a:lstStyle/>
          <a:p>
            <a:pPr indent="0" marL="0">
              <a:buNone/>
            </a:pPr>
            <a:r>
              <a:rPr lang="en-US" sz="1200" i="1" dirty="0">
                <a:solidFill>
                  <a:srgbClr val="6E6E6E"/>
                </a:solidFill>
                <a:latin typeface="Calibri" pitchFamily="34" charset="0"/>
                <a:ea typeface="Calibri" pitchFamily="34" charset="-122"/>
                <a:cs typeface="Calibri" pitchFamily="34" charset="-120"/>
              </a:rPr>
              <a:t>Mobile-first: previewed on real phones, short question titles, no grid/matrix questions, response editing allowed.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4297680"/>
        </p:xfrm>
        <a:graphic>
          <a:graphicData uri="http://schemas.openxmlformats.org/drawingml/2006/table">
            <a:tbl>
              <a:tblPr/>
              <a:tblGrid>
                <a:gridCol w="914400"/>
                <a:gridCol w="6949440"/>
                <a:gridCol w="3200400"/>
              </a:tblGrid>
              <a:tr h="6126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Timeframe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612648">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Tester submits sign-up form</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Real-time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612648">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Campaign Manager validates the tester profile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Within 4 hours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612648">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Platform login credentials + onboarding guide sent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Within 24 hours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612648">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Tester added to campaign sheet, marked “Access Sent”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Same day</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612648">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Short personal reminder if no login</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48 hours after access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612648">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Feedback form distributed via personal email</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Week 3 / final week</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7" name="Text 4"/>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06 · CALENDAR</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4-Week Campaign Timeline</a:t>
            </a:r>
            <a:endParaRPr lang="en-US" sz="3000" dirty="0"/>
          </a:p>
        </p:txBody>
      </p:sp>
      <p:sp>
        <p:nvSpPr>
          <p:cNvPr id="4" name="Shape 2"/>
          <p:cNvSpPr/>
          <p:nvPr/>
        </p:nvSpPr>
        <p:spPr>
          <a:xfrm>
            <a:off x="548640" y="1600200"/>
            <a:ext cx="1965960" cy="804672"/>
          </a:xfrm>
          <a:prstGeom prst="roundRect">
            <a:avLst>
              <a:gd name="adj" fmla="val 6818"/>
            </a:avLst>
          </a:prstGeom>
          <a:solidFill>
            <a:srgbClr val="0070C0"/>
          </a:solidFill>
          <a:ln w="12700">
            <a:solidFill>
              <a:srgbClr val="0070C0"/>
            </a:solidFill>
            <a:prstDash val="solid"/>
          </a:ln>
        </p:spPr>
      </p:sp>
      <p:sp>
        <p:nvSpPr>
          <p:cNvPr id="5" name="Text 3"/>
          <p:cNvSpPr/>
          <p:nvPr/>
        </p:nvSpPr>
        <p:spPr>
          <a:xfrm>
            <a:off x="640080" y="1655064"/>
            <a:ext cx="1783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Pre-Launch</a:t>
            </a:r>
            <a:endParaRPr lang="en-US" sz="1250" dirty="0"/>
          </a:p>
        </p:txBody>
      </p:sp>
      <p:sp>
        <p:nvSpPr>
          <p:cNvPr id="6" name="Text 4"/>
          <p:cNvSpPr/>
          <p:nvPr/>
        </p:nvSpPr>
        <p:spPr>
          <a:xfrm>
            <a:off x="640080" y="2011680"/>
            <a:ext cx="1783080" cy="320040"/>
          </a:xfrm>
          <a:prstGeom prst="rect">
            <a:avLst/>
          </a:prstGeom>
          <a:noFill/>
          <a:ln/>
        </p:spPr>
        <p:txBody>
          <a:bodyPr wrap="square" rtlCol="0" anchor="ctr"/>
          <a:lstStyle/>
          <a:p>
            <a:pPr indent="0" marL="0">
              <a:buNone/>
            </a:pPr>
            <a:r>
              <a:rPr lang="en-US" sz="950" dirty="0">
                <a:solidFill>
                  <a:srgbClr val="D9EAFB"/>
                </a:solidFill>
                <a:latin typeface="Calibri" pitchFamily="34" charset="0"/>
                <a:ea typeface="Calibri" pitchFamily="34" charset="-122"/>
                <a:cs typeface="Calibri" pitchFamily="34" charset="-120"/>
              </a:rPr>
              <a:t>3 days before</a:t>
            </a:r>
            <a:endParaRPr lang="en-US" sz="950" dirty="0"/>
          </a:p>
        </p:txBody>
      </p:sp>
      <p:sp>
        <p:nvSpPr>
          <p:cNvPr id="7" name="Shape 5"/>
          <p:cNvSpPr/>
          <p:nvPr/>
        </p:nvSpPr>
        <p:spPr>
          <a:xfrm>
            <a:off x="2651760" y="1600200"/>
            <a:ext cx="8961120" cy="804672"/>
          </a:xfrm>
          <a:prstGeom prst="roundRect">
            <a:avLst>
              <a:gd name="adj" fmla="val 6818"/>
            </a:avLst>
          </a:prstGeom>
          <a:solidFill>
            <a:srgbClr val="DEEAF6"/>
          </a:solidFill>
          <a:ln w="12700">
            <a:solidFill>
              <a:srgbClr val="DEEAF6"/>
            </a:solidFill>
            <a:prstDash val="solid"/>
          </a:ln>
        </p:spPr>
      </p:sp>
      <p:sp>
        <p:nvSpPr>
          <p:cNvPr id="8" name="Text 6"/>
          <p:cNvSpPr/>
          <p:nvPr/>
        </p:nvSpPr>
        <p:spPr>
          <a:xfrm>
            <a:off x="2834640" y="1600200"/>
            <a:ext cx="8595360" cy="804672"/>
          </a:xfrm>
          <a:prstGeom prst="rect">
            <a:avLst/>
          </a:prstGeom>
          <a:noFill/>
          <a:ln/>
        </p:spPr>
        <p:txBody>
          <a:bodyPr wrap="square" rtlCol="0" anchor="ctr"/>
          <a:lstStyle/>
          <a:p>
            <a:pPr indent="0" marL="0">
              <a:lnSpc>
                <a:spcPct val="110000"/>
              </a:lnSpc>
              <a:buNone/>
            </a:pPr>
            <a:r>
              <a:rPr lang="en-US" sz="1100" dirty="0">
                <a:solidFill>
                  <a:srgbClr val="2E2E2E"/>
                </a:solidFill>
                <a:latin typeface="Calibri" pitchFamily="34" charset="0"/>
                <a:ea typeface="Calibri" pitchFamily="34" charset="-122"/>
                <a:cs typeface="Calibri" pitchFamily="34" charset="-120"/>
              </a:rPr>
              <a:t>All assets live and tested; tracking sheet set up; LinkedIn optimised; target firm list loaded; Explorer deployed.</a:t>
            </a:r>
            <a:endParaRPr lang="en-US" sz="1100" dirty="0"/>
          </a:p>
        </p:txBody>
      </p:sp>
      <p:sp>
        <p:nvSpPr>
          <p:cNvPr id="9" name="Shape 7"/>
          <p:cNvSpPr/>
          <p:nvPr/>
        </p:nvSpPr>
        <p:spPr>
          <a:xfrm>
            <a:off x="548640" y="2569464"/>
            <a:ext cx="1965960" cy="804672"/>
          </a:xfrm>
          <a:prstGeom prst="roundRect">
            <a:avLst>
              <a:gd name="adj" fmla="val 6818"/>
            </a:avLst>
          </a:prstGeom>
          <a:solidFill>
            <a:srgbClr val="0070C0"/>
          </a:solidFill>
          <a:ln w="12700">
            <a:solidFill>
              <a:srgbClr val="0070C0"/>
            </a:solidFill>
            <a:prstDash val="solid"/>
          </a:ln>
        </p:spPr>
      </p:sp>
      <p:sp>
        <p:nvSpPr>
          <p:cNvPr id="10" name="Text 8"/>
          <p:cNvSpPr/>
          <p:nvPr/>
        </p:nvSpPr>
        <p:spPr>
          <a:xfrm>
            <a:off x="640080" y="2624328"/>
            <a:ext cx="1783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Week 1</a:t>
            </a:r>
            <a:endParaRPr lang="en-US" sz="1250" dirty="0"/>
          </a:p>
        </p:txBody>
      </p:sp>
      <p:sp>
        <p:nvSpPr>
          <p:cNvPr id="11" name="Text 9"/>
          <p:cNvSpPr/>
          <p:nvPr/>
        </p:nvSpPr>
        <p:spPr>
          <a:xfrm>
            <a:off x="640080" y="2980944"/>
            <a:ext cx="1783080" cy="320040"/>
          </a:xfrm>
          <a:prstGeom prst="rect">
            <a:avLst/>
          </a:prstGeom>
          <a:noFill/>
          <a:ln/>
        </p:spPr>
        <p:txBody>
          <a:bodyPr wrap="square" rtlCol="0" anchor="ctr"/>
          <a:lstStyle/>
          <a:p>
            <a:pPr indent="0" marL="0">
              <a:buNone/>
            </a:pPr>
            <a:r>
              <a:rPr lang="en-US" sz="950" dirty="0">
                <a:solidFill>
                  <a:srgbClr val="D9EAFB"/>
                </a:solidFill>
                <a:latin typeface="Calibri" pitchFamily="34" charset="0"/>
                <a:ea typeface="Calibri" pitchFamily="34" charset="-122"/>
                <a:cs typeface="Calibri" pitchFamily="34" charset="-120"/>
              </a:rPr>
              <a:t>Days 1–7</a:t>
            </a:r>
            <a:endParaRPr lang="en-US" sz="950" dirty="0"/>
          </a:p>
        </p:txBody>
      </p:sp>
      <p:sp>
        <p:nvSpPr>
          <p:cNvPr id="12" name="Shape 10"/>
          <p:cNvSpPr/>
          <p:nvPr/>
        </p:nvSpPr>
        <p:spPr>
          <a:xfrm>
            <a:off x="2651760" y="2569464"/>
            <a:ext cx="8961120" cy="804672"/>
          </a:xfrm>
          <a:prstGeom prst="roundRect">
            <a:avLst>
              <a:gd name="adj" fmla="val 6818"/>
            </a:avLst>
          </a:prstGeom>
          <a:solidFill>
            <a:srgbClr val="EEF5FC"/>
          </a:solidFill>
          <a:ln w="12700">
            <a:solidFill>
              <a:srgbClr val="DEEAF6"/>
            </a:solidFill>
            <a:prstDash val="solid"/>
          </a:ln>
        </p:spPr>
      </p:sp>
      <p:sp>
        <p:nvSpPr>
          <p:cNvPr id="13" name="Text 11"/>
          <p:cNvSpPr/>
          <p:nvPr/>
        </p:nvSpPr>
        <p:spPr>
          <a:xfrm>
            <a:off x="2834640" y="2569464"/>
            <a:ext cx="8595360" cy="804672"/>
          </a:xfrm>
          <a:prstGeom prst="rect">
            <a:avLst/>
          </a:prstGeom>
          <a:noFill/>
          <a:ln/>
        </p:spPr>
        <p:txBody>
          <a:bodyPr wrap="square" rtlCol="0" anchor="ctr"/>
          <a:lstStyle/>
          <a:p>
            <a:pPr indent="0" marL="0">
              <a:lnSpc>
                <a:spcPct val="110000"/>
              </a:lnSpc>
              <a:buNone/>
            </a:pPr>
            <a:r>
              <a:rPr lang="en-US" sz="1100" dirty="0">
                <a:solidFill>
                  <a:srgbClr val="2E2E2E"/>
                </a:solidFill>
                <a:latin typeface="Calibri" pitchFamily="34" charset="0"/>
                <a:ea typeface="Calibri" pitchFamily="34" charset="-122"/>
                <a:cs typeface="Calibri" pitchFamily="34" charset="-120"/>
              </a:rPr>
              <a:t>Recruitment &amp; credibility. Open post published, outreach begins, lawyer validation starts, first partners onboarded.</a:t>
            </a:r>
            <a:endParaRPr lang="en-US" sz="1100" dirty="0"/>
          </a:p>
        </p:txBody>
      </p:sp>
      <p:sp>
        <p:nvSpPr>
          <p:cNvPr id="14" name="Shape 12"/>
          <p:cNvSpPr/>
          <p:nvPr/>
        </p:nvSpPr>
        <p:spPr>
          <a:xfrm>
            <a:off x="548640" y="3538728"/>
            <a:ext cx="1965960" cy="804672"/>
          </a:xfrm>
          <a:prstGeom prst="roundRect">
            <a:avLst>
              <a:gd name="adj" fmla="val 6818"/>
            </a:avLst>
          </a:prstGeom>
          <a:solidFill>
            <a:srgbClr val="0070C0"/>
          </a:solidFill>
          <a:ln w="12700">
            <a:solidFill>
              <a:srgbClr val="0070C0"/>
            </a:solidFill>
            <a:prstDash val="solid"/>
          </a:ln>
        </p:spPr>
      </p:sp>
      <p:sp>
        <p:nvSpPr>
          <p:cNvPr id="15" name="Text 13"/>
          <p:cNvSpPr/>
          <p:nvPr/>
        </p:nvSpPr>
        <p:spPr>
          <a:xfrm>
            <a:off x="640080" y="3593592"/>
            <a:ext cx="1783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Week 2</a:t>
            </a:r>
            <a:endParaRPr lang="en-US" sz="1250" dirty="0"/>
          </a:p>
        </p:txBody>
      </p:sp>
      <p:sp>
        <p:nvSpPr>
          <p:cNvPr id="16" name="Text 14"/>
          <p:cNvSpPr/>
          <p:nvPr/>
        </p:nvSpPr>
        <p:spPr>
          <a:xfrm>
            <a:off x="640080" y="3950208"/>
            <a:ext cx="1783080" cy="320040"/>
          </a:xfrm>
          <a:prstGeom prst="rect">
            <a:avLst/>
          </a:prstGeom>
          <a:noFill/>
          <a:ln/>
        </p:spPr>
        <p:txBody>
          <a:bodyPr wrap="square" rtlCol="0" anchor="ctr"/>
          <a:lstStyle/>
          <a:p>
            <a:pPr indent="0" marL="0">
              <a:buNone/>
            </a:pPr>
            <a:r>
              <a:rPr lang="en-US" sz="950" dirty="0">
                <a:solidFill>
                  <a:srgbClr val="D9EAFB"/>
                </a:solidFill>
                <a:latin typeface="Calibri" pitchFamily="34" charset="0"/>
                <a:ea typeface="Calibri" pitchFamily="34" charset="-122"/>
                <a:cs typeface="Calibri" pitchFamily="34" charset="-120"/>
              </a:rPr>
              <a:t>Days 8–14</a:t>
            </a:r>
            <a:endParaRPr lang="en-US" sz="950" dirty="0"/>
          </a:p>
        </p:txBody>
      </p:sp>
      <p:sp>
        <p:nvSpPr>
          <p:cNvPr id="17" name="Shape 15"/>
          <p:cNvSpPr/>
          <p:nvPr/>
        </p:nvSpPr>
        <p:spPr>
          <a:xfrm>
            <a:off x="2651760" y="3538728"/>
            <a:ext cx="8961120" cy="804672"/>
          </a:xfrm>
          <a:prstGeom prst="roundRect">
            <a:avLst>
              <a:gd name="adj" fmla="val 6818"/>
            </a:avLst>
          </a:prstGeom>
          <a:solidFill>
            <a:srgbClr val="DEEAF6"/>
          </a:solidFill>
          <a:ln w="12700">
            <a:solidFill>
              <a:srgbClr val="DEEAF6"/>
            </a:solidFill>
            <a:prstDash val="solid"/>
          </a:ln>
        </p:spPr>
      </p:sp>
      <p:sp>
        <p:nvSpPr>
          <p:cNvPr id="18" name="Text 16"/>
          <p:cNvSpPr/>
          <p:nvPr/>
        </p:nvSpPr>
        <p:spPr>
          <a:xfrm>
            <a:off x="2834640" y="3538728"/>
            <a:ext cx="8595360" cy="804672"/>
          </a:xfrm>
          <a:prstGeom prst="rect">
            <a:avLst/>
          </a:prstGeom>
          <a:noFill/>
          <a:ln/>
        </p:spPr>
        <p:txBody>
          <a:bodyPr wrap="square" rtlCol="0" anchor="ctr"/>
          <a:lstStyle/>
          <a:p>
            <a:pPr indent="0" marL="0">
              <a:lnSpc>
                <a:spcPct val="110000"/>
              </a:lnSpc>
              <a:buNone/>
            </a:pPr>
            <a:r>
              <a:rPr lang="en-US" sz="1100" dirty="0">
                <a:solidFill>
                  <a:srgbClr val="2E2E2E"/>
                </a:solidFill>
                <a:latin typeface="Calibri" pitchFamily="34" charset="0"/>
                <a:ea typeface="Calibri" pitchFamily="34" charset="-122"/>
                <a:cs typeface="Calibri" pitchFamily="34" charset="-120"/>
              </a:rPr>
              <a:t>Testing &amp; monitoring. Partners run reports on real engagements; feedback and corrections flywheel begins.</a:t>
            </a:r>
            <a:endParaRPr lang="en-US" sz="1100" dirty="0"/>
          </a:p>
        </p:txBody>
      </p:sp>
      <p:sp>
        <p:nvSpPr>
          <p:cNvPr id="19" name="Shape 17"/>
          <p:cNvSpPr/>
          <p:nvPr/>
        </p:nvSpPr>
        <p:spPr>
          <a:xfrm>
            <a:off x="548640" y="4507992"/>
            <a:ext cx="1965960" cy="804672"/>
          </a:xfrm>
          <a:prstGeom prst="roundRect">
            <a:avLst>
              <a:gd name="adj" fmla="val 6818"/>
            </a:avLst>
          </a:prstGeom>
          <a:solidFill>
            <a:srgbClr val="0070C0"/>
          </a:solidFill>
          <a:ln w="12700">
            <a:solidFill>
              <a:srgbClr val="0070C0"/>
            </a:solidFill>
            <a:prstDash val="solid"/>
          </a:ln>
        </p:spPr>
      </p:sp>
      <p:sp>
        <p:nvSpPr>
          <p:cNvPr id="20" name="Text 18"/>
          <p:cNvSpPr/>
          <p:nvPr/>
        </p:nvSpPr>
        <p:spPr>
          <a:xfrm>
            <a:off x="640080" y="4562856"/>
            <a:ext cx="1783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Week 3</a:t>
            </a:r>
            <a:endParaRPr lang="en-US" sz="1250" dirty="0"/>
          </a:p>
        </p:txBody>
      </p:sp>
      <p:sp>
        <p:nvSpPr>
          <p:cNvPr id="21" name="Text 19"/>
          <p:cNvSpPr/>
          <p:nvPr/>
        </p:nvSpPr>
        <p:spPr>
          <a:xfrm>
            <a:off x="640080" y="4919472"/>
            <a:ext cx="1783080" cy="320040"/>
          </a:xfrm>
          <a:prstGeom prst="rect">
            <a:avLst/>
          </a:prstGeom>
          <a:noFill/>
          <a:ln/>
        </p:spPr>
        <p:txBody>
          <a:bodyPr wrap="square" rtlCol="0" anchor="ctr"/>
          <a:lstStyle/>
          <a:p>
            <a:pPr indent="0" marL="0">
              <a:buNone/>
            </a:pPr>
            <a:r>
              <a:rPr lang="en-US" sz="950" dirty="0">
                <a:solidFill>
                  <a:srgbClr val="D9EAFB"/>
                </a:solidFill>
                <a:latin typeface="Calibri" pitchFamily="34" charset="0"/>
                <a:ea typeface="Calibri" pitchFamily="34" charset="-122"/>
                <a:cs typeface="Calibri" pitchFamily="34" charset="-120"/>
              </a:rPr>
              <a:t>Days 15–21</a:t>
            </a:r>
            <a:endParaRPr lang="en-US" sz="950" dirty="0"/>
          </a:p>
        </p:txBody>
      </p:sp>
      <p:sp>
        <p:nvSpPr>
          <p:cNvPr id="22" name="Shape 20"/>
          <p:cNvSpPr/>
          <p:nvPr/>
        </p:nvSpPr>
        <p:spPr>
          <a:xfrm>
            <a:off x="2651760" y="4507992"/>
            <a:ext cx="8961120" cy="804672"/>
          </a:xfrm>
          <a:prstGeom prst="roundRect">
            <a:avLst>
              <a:gd name="adj" fmla="val 6818"/>
            </a:avLst>
          </a:prstGeom>
          <a:solidFill>
            <a:srgbClr val="EEF5FC"/>
          </a:solidFill>
          <a:ln w="12700">
            <a:solidFill>
              <a:srgbClr val="DEEAF6"/>
            </a:solidFill>
            <a:prstDash val="solid"/>
          </a:ln>
        </p:spPr>
      </p:sp>
      <p:sp>
        <p:nvSpPr>
          <p:cNvPr id="23" name="Text 21"/>
          <p:cNvSpPr/>
          <p:nvPr/>
        </p:nvSpPr>
        <p:spPr>
          <a:xfrm>
            <a:off x="2834640" y="4507992"/>
            <a:ext cx="8595360" cy="804672"/>
          </a:xfrm>
          <a:prstGeom prst="rect">
            <a:avLst/>
          </a:prstGeom>
          <a:noFill/>
          <a:ln/>
        </p:spPr>
        <p:txBody>
          <a:bodyPr wrap="square" rtlCol="0" anchor="ctr"/>
          <a:lstStyle/>
          <a:p>
            <a:pPr indent="0" marL="0">
              <a:lnSpc>
                <a:spcPct val="110000"/>
              </a:lnSpc>
              <a:buNone/>
            </a:pPr>
            <a:r>
              <a:rPr lang="en-US" sz="1100" dirty="0">
                <a:solidFill>
                  <a:srgbClr val="2E2E2E"/>
                </a:solidFill>
                <a:latin typeface="Calibri" pitchFamily="34" charset="0"/>
                <a:ea typeface="Calibri" pitchFamily="34" charset="-122"/>
                <a:cs typeface="Calibri" pitchFamily="34" charset="-120"/>
              </a:rPr>
              <a:t>Feedback &amp; close-out. Feedback form distributed, demo calls held, 3–5 referenceable firms identified.</a:t>
            </a:r>
            <a:endParaRPr lang="en-US" sz="1100" dirty="0"/>
          </a:p>
        </p:txBody>
      </p:sp>
      <p:sp>
        <p:nvSpPr>
          <p:cNvPr id="24" name="Shape 22"/>
          <p:cNvSpPr/>
          <p:nvPr/>
        </p:nvSpPr>
        <p:spPr>
          <a:xfrm>
            <a:off x="548640" y="5477256"/>
            <a:ext cx="1965960" cy="804672"/>
          </a:xfrm>
          <a:prstGeom prst="roundRect">
            <a:avLst>
              <a:gd name="adj" fmla="val 6818"/>
            </a:avLst>
          </a:prstGeom>
          <a:solidFill>
            <a:srgbClr val="0070C0"/>
          </a:solidFill>
          <a:ln w="12700">
            <a:solidFill>
              <a:srgbClr val="0070C0"/>
            </a:solidFill>
            <a:prstDash val="solid"/>
          </a:ln>
        </p:spPr>
      </p:sp>
      <p:sp>
        <p:nvSpPr>
          <p:cNvPr id="25" name="Text 23"/>
          <p:cNvSpPr/>
          <p:nvPr/>
        </p:nvSpPr>
        <p:spPr>
          <a:xfrm>
            <a:off x="640080" y="5532120"/>
            <a:ext cx="1783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Post-Campaign</a:t>
            </a:r>
            <a:endParaRPr lang="en-US" sz="1250" dirty="0"/>
          </a:p>
        </p:txBody>
      </p:sp>
      <p:sp>
        <p:nvSpPr>
          <p:cNvPr id="26" name="Text 24"/>
          <p:cNvSpPr/>
          <p:nvPr/>
        </p:nvSpPr>
        <p:spPr>
          <a:xfrm>
            <a:off x="640080" y="5888736"/>
            <a:ext cx="1783080" cy="320040"/>
          </a:xfrm>
          <a:prstGeom prst="rect">
            <a:avLst/>
          </a:prstGeom>
          <a:noFill/>
          <a:ln/>
        </p:spPr>
        <p:txBody>
          <a:bodyPr wrap="square" rtlCol="0" anchor="ctr"/>
          <a:lstStyle/>
          <a:p>
            <a:pPr indent="0" marL="0">
              <a:buNone/>
            </a:pPr>
            <a:r>
              <a:rPr lang="en-US" sz="950" dirty="0">
                <a:solidFill>
                  <a:srgbClr val="D9EAFB"/>
                </a:solidFill>
                <a:latin typeface="Calibri" pitchFamily="34" charset="0"/>
                <a:ea typeface="Calibri" pitchFamily="34" charset="-122"/>
                <a:cs typeface="Calibri" pitchFamily="34" charset="-120"/>
              </a:rPr>
              <a:t>Within 3 days of close</a:t>
            </a:r>
            <a:endParaRPr lang="en-US" sz="950" dirty="0"/>
          </a:p>
        </p:txBody>
      </p:sp>
      <p:sp>
        <p:nvSpPr>
          <p:cNvPr id="27" name="Shape 25"/>
          <p:cNvSpPr/>
          <p:nvPr/>
        </p:nvSpPr>
        <p:spPr>
          <a:xfrm>
            <a:off x="2651760" y="5477256"/>
            <a:ext cx="8961120" cy="804672"/>
          </a:xfrm>
          <a:prstGeom prst="roundRect">
            <a:avLst>
              <a:gd name="adj" fmla="val 6818"/>
            </a:avLst>
          </a:prstGeom>
          <a:solidFill>
            <a:srgbClr val="DEEAF6"/>
          </a:solidFill>
          <a:ln w="12700">
            <a:solidFill>
              <a:srgbClr val="DEEAF6"/>
            </a:solidFill>
            <a:prstDash val="solid"/>
          </a:ln>
        </p:spPr>
      </p:sp>
      <p:sp>
        <p:nvSpPr>
          <p:cNvPr id="28" name="Text 26"/>
          <p:cNvSpPr/>
          <p:nvPr/>
        </p:nvSpPr>
        <p:spPr>
          <a:xfrm>
            <a:off x="2834640" y="5477256"/>
            <a:ext cx="8595360" cy="804672"/>
          </a:xfrm>
          <a:prstGeom prst="rect">
            <a:avLst/>
          </a:prstGeom>
          <a:noFill/>
          <a:ln/>
        </p:spPr>
        <p:txBody>
          <a:bodyPr wrap="square" rtlCol="0" anchor="ctr"/>
          <a:lstStyle/>
          <a:p>
            <a:pPr indent="0" marL="0">
              <a:lnSpc>
                <a:spcPct val="110000"/>
              </a:lnSpc>
              <a:buNone/>
            </a:pPr>
            <a:r>
              <a:rPr lang="en-US" sz="1100" dirty="0">
                <a:solidFill>
                  <a:srgbClr val="2E2E2E"/>
                </a:solidFill>
                <a:latin typeface="Calibri" pitchFamily="34" charset="0"/>
                <a:ea typeface="Calibri" pitchFamily="34" charset="-122"/>
                <a:cs typeface="Calibri" pitchFamily="34" charset="-120"/>
              </a:rPr>
              <a:t>Feedback report compiled, personal follow-up with every tester, product team briefed, top 5 fixes identified.</a:t>
            </a:r>
            <a:endParaRPr lang="en-US" sz="1100" dirty="0"/>
          </a:p>
        </p:txBody>
      </p:sp>
      <p:sp>
        <p:nvSpPr>
          <p:cNvPr id="29" name="Text 27"/>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30" name="Text 28"/>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07 · ROLES &amp; OWNERSHIP</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Every Action Has a Named Owner</a:t>
            </a:r>
            <a:endParaRPr lang="en-US" sz="3000" dirty="0"/>
          </a:p>
        </p:txBody>
      </p:sp>
      <p:sp>
        <p:nvSpPr>
          <p:cNvPr id="4" name="Shape 2"/>
          <p:cNvSpPr/>
          <p:nvPr/>
        </p:nvSpPr>
        <p:spPr>
          <a:xfrm>
            <a:off x="548640" y="1691640"/>
            <a:ext cx="3593592" cy="4343400"/>
          </a:xfrm>
          <a:prstGeom prst="roundRect">
            <a:avLst>
              <a:gd name="adj" fmla="val 1527"/>
            </a:avLst>
          </a:prstGeom>
          <a:solidFill>
            <a:srgbClr val="0070C0"/>
          </a:solidFill>
          <a:ln w="15875">
            <a:solidFill>
              <a:srgbClr val="0070C0"/>
            </a:solidFill>
            <a:prstDash val="solid"/>
          </a:ln>
        </p:spPr>
      </p:sp>
      <p:sp>
        <p:nvSpPr>
          <p:cNvPr id="5" name="Text 3"/>
          <p:cNvSpPr/>
          <p:nvPr/>
        </p:nvSpPr>
        <p:spPr>
          <a:xfrm>
            <a:off x="749808" y="1874520"/>
            <a:ext cx="3191256" cy="64008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Campaign Manager</a:t>
            </a:r>
            <a:endParaRPr lang="en-US" sz="1500" dirty="0"/>
          </a:p>
        </p:txBody>
      </p:sp>
      <p:sp>
        <p:nvSpPr>
          <p:cNvPr id="6" name="Text 4"/>
          <p:cNvSpPr/>
          <p:nvPr/>
        </p:nvSpPr>
        <p:spPr>
          <a:xfrm>
            <a:off x="749808" y="2514600"/>
            <a:ext cx="3191256" cy="3383280"/>
          </a:xfrm>
          <a:prstGeom prst="rect">
            <a:avLst/>
          </a:prstGeom>
          <a:noFill/>
          <a:ln/>
        </p:spPr>
        <p:txBody>
          <a:bodyPr wrap="square"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Owns all outreach activity, manages tracking sheet daily, sends all LinkedIn messages and emails, onboards partners, monitors platform usage, collects and compiles feedback, coordinates demos, produces the close-out report.</a:t>
            </a:r>
            <a:endParaRPr lang="en-US" sz="1150" dirty="0"/>
          </a:p>
        </p:txBody>
      </p:sp>
      <p:sp>
        <p:nvSpPr>
          <p:cNvPr id="7" name="Shape 5"/>
          <p:cNvSpPr/>
          <p:nvPr/>
        </p:nvSpPr>
        <p:spPr>
          <a:xfrm>
            <a:off x="4288536" y="1691640"/>
            <a:ext cx="3593592" cy="4343400"/>
          </a:xfrm>
          <a:prstGeom prst="roundRect">
            <a:avLst>
              <a:gd name="adj" fmla="val 1527"/>
            </a:avLst>
          </a:prstGeom>
          <a:solidFill>
            <a:srgbClr val="FFFFFF"/>
          </a:solidFill>
          <a:ln w="15875">
            <a:solidFill>
              <a:srgbClr val="C9DCF0"/>
            </a:solidFill>
            <a:prstDash val="solid"/>
          </a:ln>
        </p:spPr>
      </p:sp>
      <p:sp>
        <p:nvSpPr>
          <p:cNvPr id="8" name="Text 6"/>
          <p:cNvSpPr/>
          <p:nvPr/>
        </p:nvSpPr>
        <p:spPr>
          <a:xfrm>
            <a:off x="4489704" y="1874520"/>
            <a:ext cx="3191256" cy="640080"/>
          </a:xfrm>
          <a:prstGeom prst="rect">
            <a:avLst/>
          </a:prstGeom>
          <a:noFill/>
          <a:ln/>
        </p:spPr>
        <p:txBody>
          <a:bodyPr wrap="square" rtlCol="0" anchor="ctr"/>
          <a:lstStyle/>
          <a:p>
            <a:pPr indent="0" marL="0">
              <a:buNone/>
            </a:pPr>
            <a:r>
              <a:rPr lang="en-US" sz="1500" b="1" dirty="0">
                <a:solidFill>
                  <a:srgbClr val="0070C0"/>
                </a:solidFill>
                <a:latin typeface="Cambria" pitchFamily="34" charset="0"/>
                <a:ea typeface="Cambria" pitchFamily="34" charset="-122"/>
                <a:cs typeface="Cambria" pitchFamily="34" charset="-120"/>
              </a:rPr>
              <a:t>Founder / Campaign Lead</a:t>
            </a:r>
            <a:endParaRPr lang="en-US" sz="1500" dirty="0"/>
          </a:p>
        </p:txBody>
      </p:sp>
      <p:sp>
        <p:nvSpPr>
          <p:cNvPr id="9" name="Text 7"/>
          <p:cNvSpPr/>
          <p:nvPr/>
        </p:nvSpPr>
        <p:spPr>
          <a:xfrm>
            <a:off x="4489704" y="2514600"/>
            <a:ext cx="3191256" cy="3383280"/>
          </a:xfrm>
          <a:prstGeom prst="rect">
            <a:avLst/>
          </a:prstGeom>
          <a:noFill/>
          <a:ln/>
        </p:spPr>
        <p:txBody>
          <a:bodyPr wrap="square" rtlCol="0" anchor="ctr"/>
          <a:lstStyle/>
          <a:p>
            <a:pPr indent="0" marL="0">
              <a:lnSpc>
                <a:spcPct val="125000"/>
              </a:lnSpc>
              <a:buNone/>
            </a:pPr>
            <a:r>
              <a:rPr lang="en-US" sz="1150" dirty="0">
                <a:solidFill>
                  <a:srgbClr val="2E2E2E"/>
                </a:solidFill>
                <a:latin typeface="Calibri" pitchFamily="34" charset="0"/>
                <a:ea typeface="Calibri" pitchFamily="34" charset="-122"/>
                <a:cs typeface="Calibri" pitchFamily="34" charset="-120"/>
              </a:rPr>
              <a:t>Publishes the LinkedIn open post; available for senior contacts requiring founder-level engagement; leads the lawyer validation negotiation; conducts live demos at industry events; attends all partner feedback calls.</a:t>
            </a:r>
            <a:endParaRPr lang="en-US" sz="1150" dirty="0"/>
          </a:p>
        </p:txBody>
      </p:sp>
      <p:sp>
        <p:nvSpPr>
          <p:cNvPr id="10" name="Shape 8"/>
          <p:cNvSpPr/>
          <p:nvPr/>
        </p:nvSpPr>
        <p:spPr>
          <a:xfrm>
            <a:off x="8028432" y="1691640"/>
            <a:ext cx="3593592" cy="4343400"/>
          </a:xfrm>
          <a:prstGeom prst="roundRect">
            <a:avLst>
              <a:gd name="adj" fmla="val 1527"/>
            </a:avLst>
          </a:prstGeom>
          <a:solidFill>
            <a:srgbClr val="FFFFFF"/>
          </a:solidFill>
          <a:ln w="15875">
            <a:solidFill>
              <a:srgbClr val="C9DCF0"/>
            </a:solidFill>
            <a:prstDash val="solid"/>
          </a:ln>
        </p:spPr>
      </p:sp>
      <p:sp>
        <p:nvSpPr>
          <p:cNvPr id="11" name="Text 9"/>
          <p:cNvSpPr/>
          <p:nvPr/>
        </p:nvSpPr>
        <p:spPr>
          <a:xfrm>
            <a:off x="8229600" y="1874520"/>
            <a:ext cx="3191256" cy="640080"/>
          </a:xfrm>
          <a:prstGeom prst="rect">
            <a:avLst/>
          </a:prstGeom>
          <a:noFill/>
          <a:ln/>
        </p:spPr>
        <p:txBody>
          <a:bodyPr wrap="square" rtlCol="0" anchor="ctr"/>
          <a:lstStyle/>
          <a:p>
            <a:pPr indent="0" marL="0">
              <a:buNone/>
            </a:pPr>
            <a:r>
              <a:rPr lang="en-US" sz="1500" b="1" dirty="0">
                <a:solidFill>
                  <a:srgbClr val="0070C0"/>
                </a:solidFill>
                <a:latin typeface="Cambria" pitchFamily="34" charset="0"/>
                <a:ea typeface="Cambria" pitchFamily="34" charset="-122"/>
                <a:cs typeface="Cambria" pitchFamily="34" charset="-120"/>
              </a:rPr>
              <a:t>Product Team</a:t>
            </a:r>
            <a:endParaRPr lang="en-US" sz="1500" dirty="0"/>
          </a:p>
        </p:txBody>
      </p:sp>
      <p:sp>
        <p:nvSpPr>
          <p:cNvPr id="12" name="Text 10"/>
          <p:cNvSpPr/>
          <p:nvPr/>
        </p:nvSpPr>
        <p:spPr>
          <a:xfrm>
            <a:off x="8229600" y="2514600"/>
            <a:ext cx="3191256" cy="3383280"/>
          </a:xfrm>
          <a:prstGeom prst="rect">
            <a:avLst/>
          </a:prstGeom>
          <a:noFill/>
          <a:ln/>
        </p:spPr>
        <p:txBody>
          <a:bodyPr wrap="square" rtlCol="0" anchor="ctr"/>
          <a:lstStyle/>
          <a:p>
            <a:pPr indent="0" marL="0">
              <a:lnSpc>
                <a:spcPct val="125000"/>
              </a:lnSpc>
              <a:buNone/>
            </a:pPr>
            <a:r>
              <a:rPr lang="en-US" sz="1150" dirty="0">
                <a:solidFill>
                  <a:srgbClr val="2E2E2E"/>
                </a:solidFill>
                <a:latin typeface="Calibri" pitchFamily="34" charset="0"/>
                <a:ea typeface="Calibri" pitchFamily="34" charset="-122"/>
                <a:cs typeface="Calibri" pitchFamily="34" charset="-120"/>
              </a:rPr>
              <a:t>Prepares the onboarding guide and white-label export samples; keeps the live demo environment stable; deploys and maintains the Regulatory Roadmap Explorer; processes corrections; implements feedback-driven fixes in real time.</a:t>
            </a:r>
            <a:endParaRPr lang="en-US" sz="1150" dirty="0"/>
          </a:p>
        </p:txBody>
      </p:sp>
      <p:sp>
        <p:nvSpPr>
          <p:cNvPr id="13" name="Text 11"/>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14" name="Text 12"/>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08 · KPIS &amp; MEASUREMENT</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Campaign Performance KPIs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663440"/>
        </p:xfrm>
        <a:graphic>
          <a:graphicData uri="http://schemas.openxmlformats.org/drawingml/2006/table">
            <a:tbl>
              <a:tblPr/>
              <a:tblGrid>
                <a:gridCol w="4846320"/>
                <a:gridCol w="3108960"/>
                <a:gridCol w="310896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KPI</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Measured By</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Outreach volume (LinkedIn)</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15–20 requests/week</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Tracking sheet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Outreach volume (Email)</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10–15 emails/week</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Tracking sheet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LinkedIn response rate</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Responses / messages sent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Email response rate</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Replies / emails sent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Tester sign-up rate</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5–8 sign-ups in 30 days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Google Form responses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Platform activation rate</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≥80% run ≥1 report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Platform login data</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Feedback form completion</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≥80% of sign-ups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Google Form responses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12064">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Roadmap-to-report conversion</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≥10% of Explorer users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Upgrade prompt clicks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6" name="Text 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09 · BUDGET</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Time Investment — No Paid Media Spend</a:t>
            </a:r>
            <a:endParaRPr lang="en-US" sz="3000" dirty="0"/>
          </a:p>
        </p:txBody>
      </p:sp>
      <p:sp>
        <p:nvSpPr>
          <p:cNvPr id="4" name="Text 2"/>
          <p:cNvSpPr/>
          <p:nvPr/>
        </p:nvSpPr>
        <p:spPr>
          <a:xfrm>
            <a:off x="548640" y="1417320"/>
            <a:ext cx="11064240" cy="365760"/>
          </a:xfrm>
          <a:prstGeom prst="rect">
            <a:avLst/>
          </a:prstGeom>
          <a:noFill/>
          <a:ln/>
        </p:spPr>
        <p:txBody>
          <a:bodyPr wrap="square"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All outreach is organic through LinkedIn and email. The primary cost is time.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3931920"/>
        </p:xfrm>
        <a:graphic>
          <a:graphicData uri="http://schemas.openxmlformats.org/drawingml/2006/table">
            <a:tbl>
              <a:tblPr/>
              <a:tblGrid>
                <a:gridCol w="4206240"/>
                <a:gridCol w="2377440"/>
                <a:gridCol w="2194560"/>
                <a:gridCol w="228600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Activity</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Time / Day</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Total (4 wks)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LinkedIn contact research &amp; outreach</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1.5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18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Campaign Manager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Email outreach and follow-up</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 hr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12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Campaign Manager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Tracking sheet updates &amp; reporting</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4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Campaign Manager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Sign-up review &amp; access emails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30 min (Days 1–7)</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3.5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Campaign Manager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Tester check-ins (Week 2)</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30 min</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2.5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Campaign Manager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Follow-up calls (Week 3)</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1.5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7.5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Product Team</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Feedback analysis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50" dirty="0">
                          <a:solidFill>
                            <a:srgbClr val="2E2E2E"/>
                          </a:solidFill>
                          <a:latin typeface="Calibri" pitchFamily="34" charset="0"/>
                          <a:ea typeface="Calibri" pitchFamily="34" charset="-122"/>
                          <a:cs typeface="Calibri" pitchFamily="34" charset="-120"/>
                        </a:rPr>
                        <a:t>4–6 hrs</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50" dirty="0">
                          <a:solidFill>
                            <a:srgbClr val="2E2E2E"/>
                          </a:solidFill>
                          <a:latin typeface="Calibri" pitchFamily="34" charset="0"/>
                          <a:ea typeface="Calibri" pitchFamily="34" charset="-122"/>
                          <a:cs typeface="Calibri" pitchFamily="34" charset="-120"/>
                        </a:rPr>
                        <a:t>Campaign Manager</a:t>
                      </a:r>
                      <a:endParaRPr lang="en-US" sz="115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bl>
          </a:graphicData>
        </a:graphic>
      </p:graphicFrame>
      <p:sp>
        <p:nvSpPr>
          <p:cNvPr id="6" name="Text 3"/>
          <p:cNvSpPr/>
          <p:nvPr/>
        </p:nvSpPr>
        <p:spPr>
          <a:xfrm>
            <a:off x="548640" y="5989320"/>
            <a:ext cx="11064240" cy="365760"/>
          </a:xfrm>
          <a:prstGeom prst="rect">
            <a:avLst/>
          </a:prstGeom>
          <a:noFill/>
          <a:ln/>
        </p:spPr>
        <p:txBody>
          <a:bodyPr wrap="square" rtlCol="0" anchor="ctr"/>
          <a:lstStyle/>
          <a:p>
            <a:pPr indent="0" marL="0">
              <a:buNone/>
            </a:pPr>
            <a:r>
              <a:rPr lang="en-US" sz="1200" b="1" dirty="0">
                <a:solidFill>
                  <a:srgbClr val="0070C0"/>
                </a:solidFill>
                <a:latin typeface="Calibri" pitchFamily="34" charset="0"/>
                <a:ea typeface="Calibri" pitchFamily="34" charset="-122"/>
                <a:cs typeface="Calibri" pitchFamily="34" charset="-120"/>
              </a:rPr>
              <a:t>Total estimated time investment: approximately 77–79 hours across the 4-week campaign.</a:t>
            </a:r>
            <a:endParaRPr lang="en-US" sz="1200" dirty="0"/>
          </a:p>
        </p:txBody>
      </p:sp>
      <p:sp>
        <p:nvSpPr>
          <p:cNvPr id="7"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8" name="Text 5"/>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10 · RISK &amp; CONTINGENCY</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Defined Response for Every Risk</a:t>
            </a:r>
            <a:endParaRPr lang="en-US" sz="3000" dirty="0"/>
          </a:p>
        </p:txBody>
      </p:sp>
      <p:sp>
        <p:nvSpPr>
          <p:cNvPr id="4" name="Shape 2"/>
          <p:cNvSpPr/>
          <p:nvPr/>
        </p:nvSpPr>
        <p:spPr>
          <a:xfrm>
            <a:off x="548640" y="1600200"/>
            <a:ext cx="11064240" cy="841248"/>
          </a:xfrm>
          <a:prstGeom prst="roundRect">
            <a:avLst>
              <a:gd name="adj" fmla="val 6522"/>
            </a:avLst>
          </a:prstGeom>
          <a:solidFill>
            <a:srgbClr val="DEEAF6"/>
          </a:solidFill>
          <a:ln w="12700">
            <a:solidFill>
              <a:srgbClr val="DEEAF6"/>
            </a:solidFill>
            <a:prstDash val="solid"/>
          </a:ln>
        </p:spPr>
      </p:sp>
      <p:sp>
        <p:nvSpPr>
          <p:cNvPr id="5" name="Text 3"/>
          <p:cNvSpPr/>
          <p:nvPr/>
        </p:nvSpPr>
        <p:spPr>
          <a:xfrm>
            <a:off x="731520" y="1673352"/>
            <a:ext cx="2468880" cy="694944"/>
          </a:xfrm>
          <a:prstGeom prst="rect">
            <a:avLst/>
          </a:prstGeom>
          <a:noFill/>
          <a:ln/>
        </p:spPr>
        <p:txBody>
          <a:bodyPr wrap="square" rtlCol="0" anchor="ctr"/>
          <a:lstStyle/>
          <a:p>
            <a:pPr indent="0" marL="0">
              <a:buNone/>
            </a:pPr>
            <a:r>
              <a:rPr lang="en-US" sz="1200" b="1" dirty="0">
                <a:solidFill>
                  <a:srgbClr val="0070C0"/>
                </a:solidFill>
                <a:latin typeface="Calibri" pitchFamily="34" charset="0"/>
                <a:ea typeface="Calibri" pitchFamily="34" charset="-122"/>
                <a:cs typeface="Calibri" pitchFamily="34" charset="-120"/>
              </a:rPr>
              <a:t>Low sign-up volume</a:t>
            </a:r>
            <a:endParaRPr lang="en-US" sz="1200" dirty="0"/>
          </a:p>
        </p:txBody>
      </p:sp>
      <p:sp>
        <p:nvSpPr>
          <p:cNvPr id="6" name="Text 4"/>
          <p:cNvSpPr/>
          <p:nvPr/>
        </p:nvSpPr>
        <p:spPr>
          <a:xfrm>
            <a:off x="3291840" y="1673352"/>
            <a:ext cx="2103120" cy="694944"/>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&lt;5 firms by Day 30</a:t>
            </a:r>
            <a:endParaRPr lang="en-US" sz="1000" dirty="0"/>
          </a:p>
        </p:txBody>
      </p:sp>
      <p:sp>
        <p:nvSpPr>
          <p:cNvPr id="7" name="Text 5"/>
          <p:cNvSpPr/>
          <p:nvPr/>
        </p:nvSpPr>
        <p:spPr>
          <a:xfrm>
            <a:off x="5486400" y="1673352"/>
            <a:ext cx="5943600" cy="694944"/>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Shorten outreach message; shift effort to event demos; founder contacts top 5 firms directly.</a:t>
            </a:r>
            <a:endParaRPr lang="en-US" sz="1050" dirty="0"/>
          </a:p>
        </p:txBody>
      </p:sp>
      <p:sp>
        <p:nvSpPr>
          <p:cNvPr id="8" name="Shape 6"/>
          <p:cNvSpPr/>
          <p:nvPr/>
        </p:nvSpPr>
        <p:spPr>
          <a:xfrm>
            <a:off x="548640" y="2532888"/>
            <a:ext cx="11064240" cy="841248"/>
          </a:xfrm>
          <a:prstGeom prst="roundRect">
            <a:avLst>
              <a:gd name="adj" fmla="val 6522"/>
            </a:avLst>
          </a:prstGeom>
          <a:solidFill>
            <a:srgbClr val="DEEAF6"/>
          </a:solidFill>
          <a:ln w="12700">
            <a:solidFill>
              <a:srgbClr val="DEEAF6"/>
            </a:solidFill>
            <a:prstDash val="solid"/>
          </a:ln>
        </p:spPr>
      </p:sp>
      <p:sp>
        <p:nvSpPr>
          <p:cNvPr id="9" name="Text 7"/>
          <p:cNvSpPr/>
          <p:nvPr/>
        </p:nvSpPr>
        <p:spPr>
          <a:xfrm>
            <a:off x="731520" y="2606040"/>
            <a:ext cx="2468880" cy="694944"/>
          </a:xfrm>
          <a:prstGeom prst="rect">
            <a:avLst/>
          </a:prstGeom>
          <a:noFill/>
          <a:ln/>
        </p:spPr>
        <p:txBody>
          <a:bodyPr wrap="square" rtlCol="0" anchor="ctr"/>
          <a:lstStyle/>
          <a:p>
            <a:pPr indent="0" marL="0">
              <a:buNone/>
            </a:pPr>
            <a:r>
              <a:rPr lang="en-US" sz="1200" b="1" dirty="0">
                <a:solidFill>
                  <a:srgbClr val="0070C0"/>
                </a:solidFill>
                <a:latin typeface="Calibri" pitchFamily="34" charset="0"/>
                <a:ea typeface="Calibri" pitchFamily="34" charset="-122"/>
                <a:cs typeface="Calibri" pitchFamily="34" charset="-120"/>
              </a:rPr>
              <a:t>Low platform activation</a:t>
            </a:r>
            <a:endParaRPr lang="en-US" sz="1200" dirty="0"/>
          </a:p>
        </p:txBody>
      </p:sp>
      <p:sp>
        <p:nvSpPr>
          <p:cNvPr id="10" name="Text 8"/>
          <p:cNvSpPr/>
          <p:nvPr/>
        </p:nvSpPr>
        <p:spPr>
          <a:xfrm>
            <a:off x="3291840" y="2606040"/>
            <a:ext cx="2103120" cy="694944"/>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&lt;60% run a report by Day 15</a:t>
            </a:r>
            <a:endParaRPr lang="en-US" sz="1000" dirty="0"/>
          </a:p>
        </p:txBody>
      </p:sp>
      <p:sp>
        <p:nvSpPr>
          <p:cNvPr id="11" name="Text 9"/>
          <p:cNvSpPr/>
          <p:nvPr/>
        </p:nvSpPr>
        <p:spPr>
          <a:xfrm>
            <a:off x="5486400" y="2606040"/>
            <a:ext cx="5943600" cy="694944"/>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Personal message offering a guided walkthrough; run a report on their site of choice.</a:t>
            </a:r>
            <a:endParaRPr lang="en-US" sz="1050" dirty="0"/>
          </a:p>
        </p:txBody>
      </p:sp>
      <p:sp>
        <p:nvSpPr>
          <p:cNvPr id="12" name="Shape 10"/>
          <p:cNvSpPr/>
          <p:nvPr/>
        </p:nvSpPr>
        <p:spPr>
          <a:xfrm>
            <a:off x="548640" y="3465576"/>
            <a:ext cx="11064240" cy="841248"/>
          </a:xfrm>
          <a:prstGeom prst="roundRect">
            <a:avLst>
              <a:gd name="adj" fmla="val 6522"/>
            </a:avLst>
          </a:prstGeom>
          <a:solidFill>
            <a:srgbClr val="DEEAF6"/>
          </a:solidFill>
          <a:ln w="12700">
            <a:solidFill>
              <a:srgbClr val="DEEAF6"/>
            </a:solidFill>
            <a:prstDash val="solid"/>
          </a:ln>
        </p:spPr>
      </p:sp>
      <p:sp>
        <p:nvSpPr>
          <p:cNvPr id="13" name="Text 11"/>
          <p:cNvSpPr/>
          <p:nvPr/>
        </p:nvSpPr>
        <p:spPr>
          <a:xfrm>
            <a:off x="731520" y="3538728"/>
            <a:ext cx="2468880" cy="694944"/>
          </a:xfrm>
          <a:prstGeom prst="rect">
            <a:avLst/>
          </a:prstGeom>
          <a:noFill/>
          <a:ln/>
        </p:spPr>
        <p:txBody>
          <a:bodyPr wrap="square" rtlCol="0" anchor="ctr"/>
          <a:lstStyle/>
          <a:p>
            <a:pPr indent="0" marL="0">
              <a:buNone/>
            </a:pPr>
            <a:r>
              <a:rPr lang="en-US" sz="1200" b="1" dirty="0">
                <a:solidFill>
                  <a:srgbClr val="0070C0"/>
                </a:solidFill>
                <a:latin typeface="Calibri" pitchFamily="34" charset="0"/>
                <a:ea typeface="Calibri" pitchFamily="34" charset="-122"/>
                <a:cs typeface="Calibri" pitchFamily="34" charset="-120"/>
              </a:rPr>
              <a:t>Low feedback completion</a:t>
            </a:r>
            <a:endParaRPr lang="en-US" sz="1200" dirty="0"/>
          </a:p>
        </p:txBody>
      </p:sp>
      <p:sp>
        <p:nvSpPr>
          <p:cNvPr id="14" name="Text 12"/>
          <p:cNvSpPr/>
          <p:nvPr/>
        </p:nvSpPr>
        <p:spPr>
          <a:xfrm>
            <a:off x="3291840" y="3538728"/>
            <a:ext cx="2103120" cy="694944"/>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&lt;50% submit by Day 18</a:t>
            </a:r>
            <a:endParaRPr lang="en-US" sz="1000" dirty="0"/>
          </a:p>
        </p:txBody>
      </p:sp>
      <p:sp>
        <p:nvSpPr>
          <p:cNvPr id="15" name="Text 13"/>
          <p:cNvSpPr/>
          <p:nvPr/>
        </p:nvSpPr>
        <p:spPr>
          <a:xfrm>
            <a:off x="5486400" y="3538728"/>
            <a:ext cx="5943600" cy="694944"/>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Send form link personally; offer a 10–15 min call as an alternative to the written form.</a:t>
            </a:r>
            <a:endParaRPr lang="en-US" sz="1050" dirty="0"/>
          </a:p>
        </p:txBody>
      </p:sp>
      <p:sp>
        <p:nvSpPr>
          <p:cNvPr id="16" name="Shape 14"/>
          <p:cNvSpPr/>
          <p:nvPr/>
        </p:nvSpPr>
        <p:spPr>
          <a:xfrm>
            <a:off x="548640" y="4398264"/>
            <a:ext cx="11064240" cy="841248"/>
          </a:xfrm>
          <a:prstGeom prst="roundRect">
            <a:avLst>
              <a:gd name="adj" fmla="val 6522"/>
            </a:avLst>
          </a:prstGeom>
          <a:solidFill>
            <a:srgbClr val="DEEAF6"/>
          </a:solidFill>
          <a:ln w="12700">
            <a:solidFill>
              <a:srgbClr val="DEEAF6"/>
            </a:solidFill>
            <a:prstDash val="solid"/>
          </a:ln>
        </p:spPr>
      </p:sp>
      <p:sp>
        <p:nvSpPr>
          <p:cNvPr id="17" name="Text 15"/>
          <p:cNvSpPr/>
          <p:nvPr/>
        </p:nvSpPr>
        <p:spPr>
          <a:xfrm>
            <a:off x="731520" y="4471416"/>
            <a:ext cx="2468880" cy="694944"/>
          </a:xfrm>
          <a:prstGeom prst="rect">
            <a:avLst/>
          </a:prstGeom>
          <a:noFill/>
          <a:ln/>
        </p:spPr>
        <p:txBody>
          <a:bodyPr wrap="square" rtlCol="0" anchor="ctr"/>
          <a:lstStyle/>
          <a:p>
            <a:pPr indent="0" marL="0">
              <a:buNone/>
            </a:pPr>
            <a:r>
              <a:rPr lang="en-US" sz="1200" b="1" dirty="0">
                <a:solidFill>
                  <a:srgbClr val="0070C0"/>
                </a:solidFill>
                <a:latin typeface="Calibri" pitchFamily="34" charset="0"/>
                <a:ea typeface="Calibri" pitchFamily="34" charset="-122"/>
                <a:cs typeface="Calibri" pitchFamily="34" charset="-120"/>
              </a:rPr>
              <a:t>Platform instability</a:t>
            </a:r>
            <a:endParaRPr lang="en-US" sz="1200" dirty="0"/>
          </a:p>
        </p:txBody>
      </p:sp>
      <p:sp>
        <p:nvSpPr>
          <p:cNvPr id="18" name="Text 16"/>
          <p:cNvSpPr/>
          <p:nvPr/>
        </p:nvSpPr>
        <p:spPr>
          <a:xfrm>
            <a:off x="3291840" y="4471416"/>
            <a:ext cx="2103120" cy="694944"/>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Any reported error</a:t>
            </a:r>
            <a:endParaRPr lang="en-US" sz="1000" dirty="0"/>
          </a:p>
        </p:txBody>
      </p:sp>
      <p:sp>
        <p:nvSpPr>
          <p:cNvPr id="19" name="Text 17"/>
          <p:cNvSpPr/>
          <p:nvPr/>
        </p:nvSpPr>
        <p:spPr>
          <a:xfrm>
            <a:off x="5486400" y="4471416"/>
            <a:ext cx="5943600" cy="694944"/>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Product Team responds within 4 hours; pause new access grants if widespread.</a:t>
            </a:r>
            <a:endParaRPr lang="en-US" sz="1050" dirty="0"/>
          </a:p>
        </p:txBody>
      </p:sp>
      <p:sp>
        <p:nvSpPr>
          <p:cNvPr id="20" name="Shape 18"/>
          <p:cNvSpPr/>
          <p:nvPr/>
        </p:nvSpPr>
        <p:spPr>
          <a:xfrm>
            <a:off x="548640" y="5330952"/>
            <a:ext cx="11064240" cy="841248"/>
          </a:xfrm>
          <a:prstGeom prst="roundRect">
            <a:avLst>
              <a:gd name="adj" fmla="val 6522"/>
            </a:avLst>
          </a:prstGeom>
          <a:solidFill>
            <a:srgbClr val="DEEAF6"/>
          </a:solidFill>
          <a:ln w="12700">
            <a:solidFill>
              <a:srgbClr val="DEEAF6"/>
            </a:solidFill>
            <a:prstDash val="solid"/>
          </a:ln>
        </p:spPr>
      </p:sp>
      <p:sp>
        <p:nvSpPr>
          <p:cNvPr id="21" name="Text 19"/>
          <p:cNvSpPr/>
          <p:nvPr/>
        </p:nvSpPr>
        <p:spPr>
          <a:xfrm>
            <a:off x="731520" y="5404104"/>
            <a:ext cx="2468880" cy="694944"/>
          </a:xfrm>
          <a:prstGeom prst="rect">
            <a:avLst/>
          </a:prstGeom>
          <a:noFill/>
          <a:ln/>
        </p:spPr>
        <p:txBody>
          <a:bodyPr wrap="square" rtlCol="0" anchor="ctr"/>
          <a:lstStyle/>
          <a:p>
            <a:pPr indent="0" marL="0">
              <a:buNone/>
            </a:pPr>
            <a:r>
              <a:rPr lang="en-US" sz="1200" b="1" dirty="0">
                <a:solidFill>
                  <a:srgbClr val="0070C0"/>
                </a:solidFill>
                <a:latin typeface="Calibri" pitchFamily="34" charset="0"/>
                <a:ea typeface="Calibri" pitchFamily="34" charset="-122"/>
                <a:cs typeface="Calibri" pitchFamily="34" charset="-120"/>
              </a:rPr>
              <a:t>Negative data accuracy feedback</a:t>
            </a:r>
            <a:endParaRPr lang="en-US" sz="1200" dirty="0"/>
          </a:p>
        </p:txBody>
      </p:sp>
      <p:sp>
        <p:nvSpPr>
          <p:cNvPr id="22" name="Text 20"/>
          <p:cNvSpPr/>
          <p:nvPr/>
        </p:nvSpPr>
        <p:spPr>
          <a:xfrm>
            <a:off x="3291840" y="5404104"/>
            <a:ext cx="2103120" cy="694944"/>
          </a:xfrm>
          <a:prstGeom prst="rect">
            <a:avLst/>
          </a:prstGeom>
          <a:noFill/>
          <a:ln/>
        </p:spPr>
        <p:txBody>
          <a:bodyPr wrap="square" rtlCol="0" anchor="ctr"/>
          <a:lstStyle/>
          <a:p>
            <a:pPr indent="0" marL="0">
              <a:buNone/>
            </a:pPr>
            <a:r>
              <a:rPr lang="en-US" sz="1000" i="1" dirty="0">
                <a:solidFill>
                  <a:srgbClr val="6E6E6E"/>
                </a:solidFill>
                <a:latin typeface="Calibri" pitchFamily="34" charset="0"/>
                <a:ea typeface="Calibri" pitchFamily="34" charset="-122"/>
                <a:cs typeface="Calibri" pitchFamily="34" charset="-120"/>
              </a:rPr>
              <a:t>Multiple reports of the same inaccuracy</a:t>
            </a:r>
            <a:endParaRPr lang="en-US" sz="1000" dirty="0"/>
          </a:p>
        </p:txBody>
      </p:sp>
      <p:sp>
        <p:nvSpPr>
          <p:cNvPr id="23" name="Text 21"/>
          <p:cNvSpPr/>
          <p:nvPr/>
        </p:nvSpPr>
        <p:spPr>
          <a:xfrm>
            <a:off x="5486400" y="5404104"/>
            <a:ext cx="5943600" cy="694944"/>
          </a:xfrm>
          <a:prstGeom prst="rect">
            <a:avLst/>
          </a:prstGeom>
          <a:noFill/>
          <a:ln/>
        </p:spPr>
        <p:txBody>
          <a:bodyPr wrap="square" rtlCol="0" anchor="ctr"/>
          <a:lstStyle/>
          <a:p>
            <a:pPr indent="0" marL="0">
              <a:lnSpc>
                <a:spcPct val="110000"/>
              </a:lnSpc>
              <a:buNone/>
            </a:pPr>
            <a:r>
              <a:rPr lang="en-US" sz="1050" dirty="0">
                <a:solidFill>
                  <a:srgbClr val="2E2E2E"/>
                </a:solidFill>
                <a:latin typeface="Calibri" pitchFamily="34" charset="0"/>
                <a:ea typeface="Calibri" pitchFamily="34" charset="-122"/>
                <a:cs typeface="Calibri" pitchFamily="34" charset="-120"/>
              </a:rPr>
              <a:t>Highest priority; root cause fixed within 1 week; affected partners notified personally.</a:t>
            </a:r>
            <a:endParaRPr lang="en-US" sz="1050" dirty="0"/>
          </a:p>
        </p:txBody>
      </p:sp>
      <p:sp>
        <p:nvSpPr>
          <p:cNvPr id="24" name="Text 2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25" name="Text 2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11 · OPTIMISATION</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Observation → Decision Point → Action</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663440"/>
        </p:xfrm>
        <a:graphic>
          <a:graphicData uri="http://schemas.openxmlformats.org/drawingml/2006/table">
            <a:tbl>
              <a:tblPr/>
              <a:tblGrid>
                <a:gridCol w="3657600"/>
                <a:gridCol w="1463040"/>
                <a:gridCol w="5943600"/>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Observation</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658368">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LinkedIn response rate below 15%</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00" dirty="0">
                          <a:solidFill>
                            <a:srgbClr val="2E2E2E"/>
                          </a:solidFill>
                          <a:latin typeface="Calibri" pitchFamily="34" charset="0"/>
                          <a:ea typeface="Calibri" pitchFamily="34" charset="-122"/>
                          <a:cs typeface="Calibri" pitchFamily="34" charset="-120"/>
                        </a:rPr>
                        <a:t>Day 7</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Shorten DM to 4 sentences; lead with one specific question about the desk study process.</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658368">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Email response rate below 10%</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2E2E"/>
                          </a:solidFill>
                          <a:latin typeface="Calibri" pitchFamily="34" charset="0"/>
                          <a:ea typeface="Calibri" pitchFamily="34" charset="-122"/>
                          <a:cs typeface="Calibri" pitchFamily="34" charset="-120"/>
                        </a:rPr>
                        <a:t>Day 7</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Rewrite subject line; test specificity; reduce body to 3 paragraphs max.</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658368">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One persona segment over-represented</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00" dirty="0">
                          <a:solidFill>
                            <a:srgbClr val="2E2E2E"/>
                          </a:solidFill>
                          <a:latin typeface="Calibri" pitchFamily="34" charset="0"/>
                          <a:ea typeface="Calibri" pitchFamily="34" charset="-122"/>
                          <a:cs typeface="Calibri" pitchFamily="34" charset="-120"/>
                        </a:rPr>
                        <a:t>Day 10</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Redirect outreach to underrepresented segments (e.g. law firms).</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658368">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Sign-ups not engaging with modules</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2E2E"/>
                          </a:solidFill>
                          <a:latin typeface="Calibri" pitchFamily="34" charset="0"/>
                          <a:ea typeface="Calibri" pitchFamily="34" charset="-122"/>
                          <a:cs typeface="Calibri" pitchFamily="34" charset="-120"/>
                        </a:rPr>
                        <a:t>Day 12</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Add onboarding guide notes directing testers to unused modules.</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658368">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Reports run but no feedback given</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ctr" indent="0" marL="0">
                        <a:buNone/>
                      </a:pPr>
                      <a:r>
                        <a:rPr lang="en-US" sz="1100" dirty="0">
                          <a:solidFill>
                            <a:srgbClr val="2E2E2E"/>
                          </a:solidFill>
                          <a:latin typeface="Calibri" pitchFamily="34" charset="0"/>
                          <a:ea typeface="Calibri" pitchFamily="34" charset="-122"/>
                          <a:cs typeface="Calibri" pitchFamily="34" charset="-120"/>
                        </a:rPr>
                        <a:t>As observed</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Replace written form with a 15-minute structured call.</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658368">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All feedback positive, no critical input</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2E2E"/>
                          </a:solidFill>
                          <a:latin typeface="Calibri" pitchFamily="34" charset="0"/>
                          <a:ea typeface="Calibri" pitchFamily="34" charset="-122"/>
                          <a:cs typeface="Calibri" pitchFamily="34" charset="-120"/>
                        </a:rPr>
                        <a:t>Day 18</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E2E2E"/>
                          </a:solidFill>
                          <a:latin typeface="Calibri" pitchFamily="34" charset="0"/>
                          <a:ea typeface="Calibri" pitchFamily="34" charset="-122"/>
                          <a:cs typeface="Calibri" pitchFamily="34" charset="-120"/>
                        </a:rPr>
                        <a:t>Ask engaged testers one direct critical question.</a:t>
                      </a:r>
                      <a:endParaRPr lang="en-US" sz="11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6" name="Text 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12 · CAMPAIGN CLOSE-OUT</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Four Components, Completed Within 3 Days</a:t>
            </a:r>
            <a:endParaRPr lang="en-US" sz="3000" dirty="0"/>
          </a:p>
        </p:txBody>
      </p:sp>
      <p:sp>
        <p:nvSpPr>
          <p:cNvPr id="4" name="Shape 2"/>
          <p:cNvSpPr/>
          <p:nvPr/>
        </p:nvSpPr>
        <p:spPr>
          <a:xfrm>
            <a:off x="548640" y="1691640"/>
            <a:ext cx="5440680" cy="2194560"/>
          </a:xfrm>
          <a:prstGeom prst="roundRect">
            <a:avLst>
              <a:gd name="adj" fmla="val 2500"/>
            </a:avLst>
          </a:prstGeom>
          <a:solidFill>
            <a:srgbClr val="FFFFFF"/>
          </a:solidFill>
          <a:ln w="15875">
            <a:solidFill>
              <a:srgbClr val="C9DCF0"/>
            </a:solidFill>
            <a:prstDash val="solid"/>
          </a:ln>
        </p:spPr>
      </p:sp>
      <p:sp>
        <p:nvSpPr>
          <p:cNvPr id="5" name="Shape 3"/>
          <p:cNvSpPr/>
          <p:nvPr/>
        </p:nvSpPr>
        <p:spPr>
          <a:xfrm>
            <a:off x="731520" y="1874520"/>
            <a:ext cx="457200" cy="457200"/>
          </a:xfrm>
          <a:prstGeom prst="roundRect">
            <a:avLst>
              <a:gd name="adj" fmla="val 100000"/>
            </a:avLst>
          </a:prstGeom>
          <a:solidFill>
            <a:srgbClr val="0070C0"/>
          </a:solidFill>
          <a:ln w="12700">
            <a:solidFill>
              <a:srgbClr val="0070C0"/>
            </a:solidFill>
            <a:prstDash val="solid"/>
          </a:ln>
        </p:spPr>
      </p:sp>
      <p:sp>
        <p:nvSpPr>
          <p:cNvPr id="6" name="Text 4"/>
          <p:cNvSpPr/>
          <p:nvPr/>
        </p:nvSpPr>
        <p:spPr>
          <a:xfrm>
            <a:off x="731520" y="18745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371600" y="1911096"/>
            <a:ext cx="4434840" cy="384048"/>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Partner Follow-Up</a:t>
            </a:r>
            <a:endParaRPr lang="en-US" sz="1450" dirty="0"/>
          </a:p>
        </p:txBody>
      </p:sp>
      <p:sp>
        <p:nvSpPr>
          <p:cNvPr id="8" name="Text 6"/>
          <p:cNvSpPr/>
          <p:nvPr/>
        </p:nvSpPr>
        <p:spPr>
          <a:xfrm>
            <a:off x="731520" y="2560320"/>
            <a:ext cx="5074920" cy="1188720"/>
          </a:xfrm>
          <a:prstGeom prst="rect">
            <a:avLst/>
          </a:prstGeom>
          <a:noFill/>
          <a:ln/>
        </p:spPr>
        <p:txBody>
          <a:bodyPr wrap="square"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Personal message within 24 hours thanking each partner by name; referenceable partners receive a draft testimonial for approval.</a:t>
            </a:r>
            <a:endParaRPr lang="en-US" sz="1100" dirty="0"/>
          </a:p>
        </p:txBody>
      </p:sp>
      <p:sp>
        <p:nvSpPr>
          <p:cNvPr id="9" name="Shape 7"/>
          <p:cNvSpPr/>
          <p:nvPr/>
        </p:nvSpPr>
        <p:spPr>
          <a:xfrm>
            <a:off x="6172200" y="1691640"/>
            <a:ext cx="5440680" cy="2194560"/>
          </a:xfrm>
          <a:prstGeom prst="roundRect">
            <a:avLst>
              <a:gd name="adj" fmla="val 2500"/>
            </a:avLst>
          </a:prstGeom>
          <a:solidFill>
            <a:srgbClr val="FFFFFF"/>
          </a:solidFill>
          <a:ln w="15875">
            <a:solidFill>
              <a:srgbClr val="C9DCF0"/>
            </a:solidFill>
            <a:prstDash val="solid"/>
          </a:ln>
        </p:spPr>
      </p:sp>
      <p:sp>
        <p:nvSpPr>
          <p:cNvPr id="10" name="Shape 8"/>
          <p:cNvSpPr/>
          <p:nvPr/>
        </p:nvSpPr>
        <p:spPr>
          <a:xfrm>
            <a:off x="6355080" y="1874520"/>
            <a:ext cx="457200" cy="457200"/>
          </a:xfrm>
          <a:prstGeom prst="roundRect">
            <a:avLst>
              <a:gd name="adj" fmla="val 100000"/>
            </a:avLst>
          </a:prstGeom>
          <a:solidFill>
            <a:srgbClr val="0070C0"/>
          </a:solidFill>
          <a:ln w="12700">
            <a:solidFill>
              <a:srgbClr val="0070C0"/>
            </a:solidFill>
            <a:prstDash val="solid"/>
          </a:ln>
        </p:spPr>
      </p:sp>
      <p:sp>
        <p:nvSpPr>
          <p:cNvPr id="11" name="Text 9"/>
          <p:cNvSpPr/>
          <p:nvPr/>
        </p:nvSpPr>
        <p:spPr>
          <a:xfrm>
            <a:off x="6355080" y="18745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6995160" y="1911096"/>
            <a:ext cx="4434840" cy="384048"/>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Feedback Compilation Report</a:t>
            </a:r>
            <a:endParaRPr lang="en-US" sz="1450" dirty="0"/>
          </a:p>
        </p:txBody>
      </p:sp>
      <p:sp>
        <p:nvSpPr>
          <p:cNvPr id="13" name="Text 11"/>
          <p:cNvSpPr/>
          <p:nvPr/>
        </p:nvSpPr>
        <p:spPr>
          <a:xfrm>
            <a:off x="6355080" y="2560320"/>
            <a:ext cx="5074920" cy="1188720"/>
          </a:xfrm>
          <a:prstGeom prst="rect">
            <a:avLst/>
          </a:prstGeom>
          <a:noFill/>
          <a:ln/>
        </p:spPr>
        <p:txBody>
          <a:bodyPr wrap="square"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Partner numbers, KPI results, top 5 issues, feature requests, accuracy findings, standout quotes, and priority list for next sprint.</a:t>
            </a:r>
            <a:endParaRPr lang="en-US" sz="1100" dirty="0"/>
          </a:p>
        </p:txBody>
      </p:sp>
      <p:sp>
        <p:nvSpPr>
          <p:cNvPr id="14" name="Shape 12"/>
          <p:cNvSpPr/>
          <p:nvPr/>
        </p:nvSpPr>
        <p:spPr>
          <a:xfrm>
            <a:off x="548640" y="4069080"/>
            <a:ext cx="5440680" cy="2194560"/>
          </a:xfrm>
          <a:prstGeom prst="roundRect">
            <a:avLst>
              <a:gd name="adj" fmla="val 2500"/>
            </a:avLst>
          </a:prstGeom>
          <a:solidFill>
            <a:srgbClr val="FFFFFF"/>
          </a:solidFill>
          <a:ln w="15875">
            <a:solidFill>
              <a:srgbClr val="C9DCF0"/>
            </a:solidFill>
            <a:prstDash val="solid"/>
          </a:ln>
        </p:spPr>
      </p:sp>
      <p:sp>
        <p:nvSpPr>
          <p:cNvPr id="15" name="Shape 13"/>
          <p:cNvSpPr/>
          <p:nvPr/>
        </p:nvSpPr>
        <p:spPr>
          <a:xfrm>
            <a:off x="731520" y="4251960"/>
            <a:ext cx="457200" cy="457200"/>
          </a:xfrm>
          <a:prstGeom prst="roundRect">
            <a:avLst>
              <a:gd name="adj" fmla="val 100000"/>
            </a:avLst>
          </a:prstGeom>
          <a:solidFill>
            <a:srgbClr val="0070C0"/>
          </a:solidFill>
          <a:ln w="12700">
            <a:solidFill>
              <a:srgbClr val="0070C0"/>
            </a:solidFill>
            <a:prstDash val="solid"/>
          </a:ln>
        </p:spPr>
      </p:sp>
      <p:sp>
        <p:nvSpPr>
          <p:cNvPr id="16" name="Text 14"/>
          <p:cNvSpPr/>
          <p:nvPr/>
        </p:nvSpPr>
        <p:spPr>
          <a:xfrm>
            <a:off x="731520" y="425196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371600" y="4288536"/>
            <a:ext cx="4434840" cy="384048"/>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Product Team Briefing</a:t>
            </a:r>
            <a:endParaRPr lang="en-US" sz="1450" dirty="0"/>
          </a:p>
        </p:txBody>
      </p:sp>
      <p:sp>
        <p:nvSpPr>
          <p:cNvPr id="18" name="Text 16"/>
          <p:cNvSpPr/>
          <p:nvPr/>
        </p:nvSpPr>
        <p:spPr>
          <a:xfrm>
            <a:off x="731520" y="4937760"/>
            <a:ext cx="5074920" cy="1188720"/>
          </a:xfrm>
          <a:prstGeom prst="rect">
            <a:avLst/>
          </a:prstGeom>
          <a:noFill/>
          <a:ln/>
        </p:spPr>
        <p:txBody>
          <a:bodyPr wrap="square"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Held within 5 days; regulatory rulebook formally accepted; referenceable firms and testimonial usage agreed.</a:t>
            </a:r>
            <a:endParaRPr lang="en-US" sz="1100" dirty="0"/>
          </a:p>
        </p:txBody>
      </p:sp>
      <p:sp>
        <p:nvSpPr>
          <p:cNvPr id="19" name="Shape 17"/>
          <p:cNvSpPr/>
          <p:nvPr/>
        </p:nvSpPr>
        <p:spPr>
          <a:xfrm>
            <a:off x="6172200" y="4069080"/>
            <a:ext cx="5440680" cy="2194560"/>
          </a:xfrm>
          <a:prstGeom prst="roundRect">
            <a:avLst>
              <a:gd name="adj" fmla="val 2500"/>
            </a:avLst>
          </a:prstGeom>
          <a:solidFill>
            <a:srgbClr val="FFFFFF"/>
          </a:solidFill>
          <a:ln w="15875">
            <a:solidFill>
              <a:srgbClr val="C9DCF0"/>
            </a:solidFill>
            <a:prstDash val="solid"/>
          </a:ln>
        </p:spPr>
      </p:sp>
      <p:sp>
        <p:nvSpPr>
          <p:cNvPr id="20" name="Shape 18"/>
          <p:cNvSpPr/>
          <p:nvPr/>
        </p:nvSpPr>
        <p:spPr>
          <a:xfrm>
            <a:off x="6355080" y="4251960"/>
            <a:ext cx="457200" cy="457200"/>
          </a:xfrm>
          <a:prstGeom prst="roundRect">
            <a:avLst>
              <a:gd name="adj" fmla="val 100000"/>
            </a:avLst>
          </a:prstGeom>
          <a:solidFill>
            <a:srgbClr val="0070C0"/>
          </a:solidFill>
          <a:ln w="12700">
            <a:solidFill>
              <a:srgbClr val="0070C0"/>
            </a:solidFill>
            <a:prstDash val="solid"/>
          </a:ln>
        </p:spPr>
      </p:sp>
      <p:sp>
        <p:nvSpPr>
          <p:cNvPr id="21" name="Text 19"/>
          <p:cNvSpPr/>
          <p:nvPr/>
        </p:nvSpPr>
        <p:spPr>
          <a:xfrm>
            <a:off x="6355080" y="425196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6995160" y="4288536"/>
            <a:ext cx="4434840" cy="384048"/>
          </a:xfrm>
          <a:prstGeom prst="rect">
            <a:avLst/>
          </a:prstGeom>
          <a:noFill/>
          <a:ln/>
        </p:spPr>
        <p:txBody>
          <a:bodyPr wrap="square" rtlCol="0" anchor="ctr"/>
          <a:lstStyle/>
          <a:p>
            <a:pPr indent="0" marL="0">
              <a:buNone/>
            </a:pPr>
            <a:r>
              <a:rPr lang="en-US" sz="1450" b="1" dirty="0">
                <a:solidFill>
                  <a:srgbClr val="2E2E2E"/>
                </a:solidFill>
                <a:latin typeface="Calibri" pitchFamily="34" charset="0"/>
                <a:ea typeface="Calibri" pitchFamily="34" charset="-122"/>
                <a:cs typeface="Calibri" pitchFamily="34" charset="-120"/>
              </a:rPr>
              <a:t>Campaign Performance Summary</a:t>
            </a:r>
            <a:endParaRPr lang="en-US" sz="1450" dirty="0"/>
          </a:p>
        </p:txBody>
      </p:sp>
      <p:sp>
        <p:nvSpPr>
          <p:cNvPr id="23" name="Text 21"/>
          <p:cNvSpPr/>
          <p:nvPr/>
        </p:nvSpPr>
        <p:spPr>
          <a:xfrm>
            <a:off x="6355080" y="4937760"/>
            <a:ext cx="5074920" cy="1188720"/>
          </a:xfrm>
          <a:prstGeom prst="rect">
            <a:avLst/>
          </a:prstGeom>
          <a:noFill/>
          <a:ln/>
        </p:spPr>
        <p:txBody>
          <a:bodyPr wrap="square"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One-page summary of all KPIs — baseline for future validation campaigns and Growth-phase resourcing.</a:t>
            </a:r>
            <a:endParaRPr lang="en-US" sz="1100" dirty="0"/>
          </a:p>
        </p:txBody>
      </p:sp>
      <p:sp>
        <p:nvSpPr>
          <p:cNvPr id="24" name="Text 2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25" name="Text 2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13 · TARGET PROSPECTS</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Top 10 Target Prospects (1 of 2)</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389120"/>
        </p:xfrm>
        <a:graphic>
          <a:graphicData uri="http://schemas.openxmlformats.org/drawingml/2006/table">
            <a:tbl>
              <a:tblPr/>
              <a:tblGrid>
                <a:gridCol w="548640"/>
                <a:gridCol w="4572000"/>
                <a:gridCol w="3657600"/>
                <a:gridCol w="2286000"/>
              </a:tblGrid>
              <a:tr h="7863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 &amp; Role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Organisation</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Martin Ayisi — CEO</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Ghana Minerals Commission</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Policy &amp; Government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John Isaac Kwofie — Principal Mining Engineer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SRK Consulting (Ghana)</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Mining Consultant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Nyam Akuffo Boafo — President &amp; CEO</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Africa Mining Services &amp; Logistics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Mining Consultant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Seth Asante — Managing Partner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Bentsi-Enchill, Letsa &amp; Ankomah</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Mining Lawyer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Kimathi Kuenyehia — Sr. Managing Partner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Kimathi &amp; Partners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Mining Lawyer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bl>
          </a:graphicData>
        </a:graphic>
      </p:graphicFrame>
      <p:sp>
        <p:nvSpPr>
          <p:cNvPr id="5" name="Text 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6" name="Text 3"/>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300" b="1" spc="100" kern="0" dirty="0">
                <a:solidFill>
                  <a:srgbClr val="0070C0"/>
                </a:solidFill>
                <a:latin typeface="Calibri" pitchFamily="34" charset="0"/>
                <a:ea typeface="Calibri" pitchFamily="34" charset="-122"/>
                <a:cs typeface="Calibri" pitchFamily="34" charset="-120"/>
              </a:rPr>
              <a:t>SECTION 13 · TARGET PROSPECTS</a:t>
            </a:r>
            <a:endParaRPr lang="en-US" sz="1300" dirty="0"/>
          </a:p>
        </p:txBody>
      </p:sp>
      <p:sp>
        <p:nvSpPr>
          <p:cNvPr id="3" name="Text 1"/>
          <p:cNvSpPr/>
          <p:nvPr/>
        </p:nvSpPr>
        <p:spPr>
          <a:xfrm>
            <a:off x="548640" y="658368"/>
            <a:ext cx="10972800" cy="640080"/>
          </a:xfrm>
          <a:prstGeom prst="rect">
            <a:avLst/>
          </a:prstGeom>
          <a:noFill/>
          <a:ln/>
        </p:spPr>
        <p:txBody>
          <a:bodyPr wrap="square" rtlCol="0" anchor="ctr"/>
          <a:lstStyle/>
          <a:p>
            <a:pPr indent="0" marL="0">
              <a:buNone/>
            </a:pPr>
            <a:r>
              <a:rPr lang="en-US" sz="3000" b="1" dirty="0">
                <a:solidFill>
                  <a:srgbClr val="2E2E2E"/>
                </a:solidFill>
                <a:latin typeface="Cambria" pitchFamily="34" charset="0"/>
                <a:ea typeface="Cambria" pitchFamily="34" charset="-122"/>
                <a:cs typeface="Cambria" pitchFamily="34" charset="-120"/>
              </a:rPr>
              <a:t>Top 10 Target Prospects (2 of 2)</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389120"/>
        </p:xfrm>
        <a:graphic>
          <a:graphicData uri="http://schemas.openxmlformats.org/drawingml/2006/table">
            <a:tbl>
              <a:tblPr/>
              <a:tblGrid>
                <a:gridCol w="548640"/>
                <a:gridCol w="4572000"/>
                <a:gridCol w="3657600"/>
                <a:gridCol w="2286000"/>
              </a:tblGrid>
              <a:tr h="7863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 &amp; Role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Organisation</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0070C0"/>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Dr. Abdul Baasit Aziz Bamba — Senior Lecturer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University of Ghana School of Law</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Mining Lawyer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Dr. Kojo Busia — Founding Director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Green Africa Minerals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ESG &amp; Compliance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George Ankomah — Tax &amp; Regulatory Partner</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Deloitte Ghana</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Consultant / Dev Finance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Kenneth Asante — Partner, Capital Projects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PwC Ghana</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Consultant / Dev Finance</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FFFFFF"/>
                    </a:solidFill>
                  </a:tcPr>
                </a:tc>
              </a:tr>
              <a:tr h="786384">
                <a:tc>
                  <a:txBody>
                    <a:bodyPr/>
                    <a:lstStyle/>
                    <a:p>
                      <a:pPr algn="ctr" indent="0" marL="0">
                        <a:buNone/>
                      </a:pPr>
                      <a:r>
                        <a:rPr lang="en-US" sz="1200" dirty="0">
                          <a:solidFill>
                            <a:srgbClr val="2E2E2E"/>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Kwesi Enyan — Non-Exec Director, former MD AGA Obuasi</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Induusi Resources</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c>
                  <a:txBody>
                    <a:bodyPr/>
                    <a:lstStyle/>
                    <a:p>
                      <a:pPr algn="l" indent="0" marL="0">
                        <a:buNone/>
                      </a:pPr>
                      <a:r>
                        <a:rPr lang="en-US" sz="1200" dirty="0">
                          <a:solidFill>
                            <a:srgbClr val="2E2E2E"/>
                          </a:solidFill>
                          <a:latin typeface="Calibri" pitchFamily="34" charset="0"/>
                          <a:ea typeface="Calibri" pitchFamily="34" charset="-122"/>
                          <a:cs typeface="Calibri" pitchFamily="34" charset="-120"/>
                        </a:rPr>
                        <a:t>Mining Company Pro</a:t>
                      </a:r>
                      <a:endParaRPr lang="en-US" sz="1200" dirty="0">
                        <a:latin typeface="Calibri" charset="0"/>
                        <a:ea typeface="Calibri" charset="0"/>
                        <a:cs typeface="Calibri" charset="0"/>
                      </a:endParaRPr>
                    </a:p>
                  </a:txBody>
                  <a:tcPr marL="91440" marR="91440" marT="45720" marB="45720" anchor="ctr">
                    <a:lnL w="9525" cap="flat" cmpd="sng" algn="ctr">
                      <a:solidFill>
                        <a:srgbClr val="C9DCF0"/>
                      </a:solidFill>
                      <a:prstDash val="solid"/>
                      <a:round/>
                      <a:headEnd type="none" w="med" len="med"/>
                      <a:tailEnd type="none" w="med" len="med"/>
                    </a:lnL>
                    <a:lnR w="9525" cap="flat" cmpd="sng" algn="ctr">
                      <a:solidFill>
                        <a:srgbClr val="C9DCF0"/>
                      </a:solidFill>
                      <a:prstDash val="solid"/>
                      <a:round/>
                      <a:headEnd type="none" w="med" len="med"/>
                      <a:tailEnd type="none" w="med" len="med"/>
                    </a:lnR>
                    <a:lnT w="9525" cap="flat" cmpd="sng" algn="ctr">
                      <a:solidFill>
                        <a:srgbClr val="C9DCF0"/>
                      </a:solidFill>
                      <a:prstDash val="solid"/>
                      <a:round/>
                      <a:headEnd type="none" w="med" len="med"/>
                      <a:tailEnd type="none" w="med" len="med"/>
                    </a:lnT>
                    <a:lnB w="9525" cap="flat" cmpd="sng" algn="ctr">
                      <a:solidFill>
                        <a:srgbClr val="C9DCF0"/>
                      </a:solidFill>
                      <a:prstDash val="solid"/>
                      <a:round/>
                      <a:headEnd type="none" w="med" len="med"/>
                      <a:tailEnd type="none" w="med" len="med"/>
                    </a:lnB>
                    <a:solidFill>
                      <a:srgbClr val="DEEAF6"/>
                    </a:solidFill>
                  </a:tcPr>
                </a:tc>
              </a:tr>
            </a:tbl>
          </a:graphicData>
        </a:graphic>
      </p:graphicFrame>
      <p:sp>
        <p:nvSpPr>
          <p:cNvPr id="5" name="Text 2"/>
          <p:cNvSpPr/>
          <p:nvPr/>
        </p:nvSpPr>
        <p:spPr>
          <a:xfrm>
            <a:off x="548640" y="6080760"/>
            <a:ext cx="11064240" cy="320040"/>
          </a:xfrm>
          <a:prstGeom prst="rect">
            <a:avLst/>
          </a:prstGeom>
          <a:noFill/>
          <a:ln/>
        </p:spPr>
        <p:txBody>
          <a:bodyPr wrap="square" rtlCol="0" anchor="ctr"/>
          <a:lstStyle/>
          <a:p>
            <a:pPr indent="0" marL="0">
              <a:buNone/>
            </a:pPr>
            <a:r>
              <a:rPr lang="en-US" sz="1050" i="1" dirty="0">
                <a:solidFill>
                  <a:srgbClr val="6E6E6E"/>
                </a:solidFill>
                <a:latin typeface="Calibri" pitchFamily="34" charset="0"/>
                <a:ea typeface="Calibri" pitchFamily="34" charset="-122"/>
                <a:cs typeface="Calibri" pitchFamily="34" charset="-120"/>
              </a:rPr>
              <a:t>Selected from a database of 67 contacts on seniority, firm influence, mining-specific relevance, and accessibility in Accra.</a:t>
            </a:r>
            <a:endParaRPr lang="en-US" sz="1050" dirty="0"/>
          </a:p>
        </p:txBody>
      </p:sp>
      <p:sp>
        <p:nvSpPr>
          <p:cNvPr id="6" name="Text 3"/>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E6E6E"/>
                </a:solidFill>
                <a:latin typeface="Calibri" pitchFamily="34" charset="0"/>
                <a:ea typeface="Calibri" pitchFamily="34" charset="-122"/>
                <a:cs typeface="Calibri" pitchFamily="34" charset="-120"/>
              </a:rPr>
              <a:t>MINEASK · MVP CONSULTANT RECRUITMENT &amp; VALIDATION CAMPAIGN</a:t>
            </a:r>
            <a:endParaRPr lang="en-US" sz="900" dirty="0"/>
          </a:p>
        </p:txBody>
      </p:sp>
      <p:sp>
        <p:nvSpPr>
          <p:cNvPr id="7" name="Text 4"/>
          <p:cNvSpPr/>
          <p:nvPr/>
        </p:nvSpPr>
        <p:spPr>
          <a:xfrm>
            <a:off x="9811512" y="6492240"/>
            <a:ext cx="1828800" cy="274320"/>
          </a:xfrm>
          <a:prstGeom prst="rect">
            <a:avLst/>
          </a:prstGeom>
          <a:noFill/>
          <a:ln/>
        </p:spPr>
        <p:txBody>
          <a:bodyPr wrap="square"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3B66"/>
        </a:solidFill>
      </p:bgPr>
    </p:bg>
    <p:spTree>
      <p:nvGrpSpPr>
        <p:cNvPr id="1" name=""/>
        <p:cNvGrpSpPr/>
        <p:nvPr/>
      </p:nvGrpSpPr>
      <p:grpSpPr>
        <a:xfrm>
          <a:off x="0" y="0"/>
          <a:ext cx="0" cy="0"/>
          <a:chOff x="0" y="0"/>
          <a:chExt cx="0" cy="0"/>
        </a:xfrm>
      </p:grpSpPr>
      <p:sp>
        <p:nvSpPr>
          <p:cNvPr id="2" name="Text 0"/>
          <p:cNvSpPr/>
          <p:nvPr/>
        </p:nvSpPr>
        <p:spPr>
          <a:xfrm>
            <a:off x="548640" y="2377440"/>
            <a:ext cx="100584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Ready for Launch</a:t>
            </a:r>
            <a:endParaRPr lang="en-US" sz="4000" dirty="0"/>
          </a:p>
        </p:txBody>
      </p:sp>
      <p:sp>
        <p:nvSpPr>
          <p:cNvPr id="3" name="Text 1"/>
          <p:cNvSpPr/>
          <p:nvPr/>
        </p:nvSpPr>
        <p:spPr>
          <a:xfrm>
            <a:off x="548640" y="3246120"/>
            <a:ext cx="9601200" cy="822960"/>
          </a:xfrm>
          <a:prstGeom prst="rect">
            <a:avLst/>
          </a:prstGeom>
          <a:noFill/>
          <a:ln/>
        </p:spPr>
        <p:txBody>
          <a:bodyPr wrap="square" rtlCol="0" anchor="ctr"/>
          <a:lstStyle/>
          <a:p>
            <a:pPr indent="0" marL="0">
              <a:lnSpc>
                <a:spcPct val="130000"/>
              </a:lnSpc>
              <a:buNone/>
            </a:pPr>
            <a:r>
              <a:rPr lang="en-US" sz="1500" dirty="0">
                <a:solidFill>
                  <a:srgbClr val="D9E6F2"/>
                </a:solidFill>
                <a:latin typeface="Calibri" pitchFamily="34" charset="0"/>
                <a:ea typeface="Calibri" pitchFamily="34" charset="-122"/>
                <a:cs typeface="Calibri" pitchFamily="34" charset="-120"/>
              </a:rPr>
              <a:t>All assets — sign-up form, feedback form, onboarding guide, tracking sheet, LinkedIn profile, and outreach copy — must be ready and tested before Day 1.</a:t>
            </a:r>
            <a:endParaRPr lang="en-US" sz="1500" dirty="0"/>
          </a:p>
        </p:txBody>
      </p:sp>
      <p:sp>
        <p:nvSpPr>
          <p:cNvPr id="4" name="Shape 2"/>
          <p:cNvSpPr/>
          <p:nvPr/>
        </p:nvSpPr>
        <p:spPr>
          <a:xfrm>
            <a:off x="548640" y="4206240"/>
            <a:ext cx="2926080" cy="0"/>
          </a:xfrm>
          <a:prstGeom prst="line">
            <a:avLst/>
          </a:prstGeom>
          <a:noFill/>
          <a:ln w="38100">
            <a:solidFill>
              <a:srgbClr val="0070C0"/>
            </a:solidFill>
            <a:prstDash val="solid"/>
          </a:ln>
        </p:spPr>
      </p:sp>
      <p:sp>
        <p:nvSpPr>
          <p:cNvPr id="5" name="Text 3"/>
          <p:cNvSpPr/>
          <p:nvPr/>
        </p:nvSpPr>
        <p:spPr>
          <a:xfrm>
            <a:off x="548640" y="6126480"/>
            <a:ext cx="7315200" cy="365760"/>
          </a:xfrm>
          <a:prstGeom prst="rect">
            <a:avLst/>
          </a:prstGeom>
          <a:noFill/>
          <a:ln/>
        </p:spPr>
        <p:txBody>
          <a:bodyPr wrap="square" rtlCol="0" anchor="ctr"/>
          <a:lstStyle/>
          <a:p>
            <a:pPr indent="0" marL="0">
              <a:buNone/>
            </a:pPr>
            <a:r>
              <a:rPr lang="en-US" sz="1100" i="1" dirty="0">
                <a:solidFill>
                  <a:srgbClr val="7FA8CC"/>
                </a:solidFill>
                <a:latin typeface="Calibri" pitchFamily="34" charset="0"/>
                <a:ea typeface="Calibri" pitchFamily="34" charset="-122"/>
                <a:cs typeface="Calibri" pitchFamily="34" charset="-120"/>
              </a:rPr>
              <a:t>Smart Innovations Ghana  ·  July 2026  ·  Internal Use Only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2026-07-22T19:30:45Z</dcterms:created>
  <dcterms:modified xsi:type="dcterms:W3CDTF">2026-07-22T19:30:45Z</dcterms:modified>
</cp:coreProperties>
</file>