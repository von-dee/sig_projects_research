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image" Target="../media/image-10-1.png"/><Relationship Id="rId6" Type="http://schemas.openxmlformats.org/officeDocument/2006/relationships/image" Target="../media/image-10-1.png"/><Relationship Id="rId7" Type="http://schemas.openxmlformats.org/officeDocument/2006/relationships/image" Target="../media/image-10-1.png"/><Relationship Id="rId8" Type="http://schemas.openxmlformats.org/officeDocument/2006/relationships/image" Target="../media/image-10-1.png"/><Relationship Id="rId9" Type="http://schemas.openxmlformats.org/officeDocument/2006/relationships/image" Target="../media/image-10-1.png"/><Relationship Id="rId10" Type="http://schemas.openxmlformats.org/officeDocument/2006/relationships/image" Target="../media/image-10-1.png"/><Relationship Id="rId11" Type="http://schemas.openxmlformats.org/officeDocument/2006/relationships/image" Target="../media/image-10-1.png"/><Relationship Id="rId12" Type="http://schemas.openxmlformats.org/officeDocument/2006/relationships/image" Target="../media/image-10-1.png"/><Relationship Id="rId13" Type="http://schemas.openxmlformats.org/officeDocument/2006/relationships/image" Target="../media/image-10-1.png"/><Relationship Id="rId14" Type="http://schemas.openxmlformats.org/officeDocument/2006/relationships/image" Target="../media/image-10-1.png"/><Relationship Id="rId15" Type="http://schemas.openxmlformats.org/officeDocument/2006/relationships/image" Target="../media/image-10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3.png"/><Relationship Id="rId5" Type="http://schemas.openxmlformats.org/officeDocument/2006/relationships/image" Target="../media/image-11-3.png"/><Relationship Id="rId6" Type="http://schemas.openxmlformats.org/officeDocument/2006/relationships/image" Target="../media/image-11-3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2.png"/><Relationship Id="rId5" Type="http://schemas.openxmlformats.org/officeDocument/2006/relationships/image" Target="../media/image-13-5.png"/><Relationship Id="rId6" Type="http://schemas.openxmlformats.org/officeDocument/2006/relationships/image" Target="../media/image-13-2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rrai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0D">
              <a:alpha val="88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22960" y="10515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PROPOSITION, GO-TO-MARKET &amp; REVENUE MODEL</a:t>
            </a:r>
            <a:endParaRPr lang="en-US" sz="1200" dirty="0"/>
          </a:p>
        </p:txBody>
      </p:sp>
      <p:pic>
        <p:nvPicPr>
          <p:cNvPr id="5" name="Image 1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08760"/>
            <a:ext cx="3657600" cy="11828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2960" y="297180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i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survey data to defensible, evidence-backed drill targets in hours, not weeks.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822960" y="39776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Innovations Ghana (SIG) Ltd  ·  Junior &amp; mid-tier miners, exploration managers, resource geologists, consulting firms and sovereign geological agencies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822960" y="6172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B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 &amp; West Africa first, scaling globally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680960" y="6172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5B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BRIEFING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Exploration economics are working against the industry.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364992" cy="1737360"/>
          </a:xfrm>
          <a:prstGeom prst="roundRect">
            <a:avLst>
              <a:gd name="adj" fmla="val 6316"/>
            </a:avLst>
          </a:prstGeom>
          <a:solidFill>
            <a:srgbClr val="0F1120"/>
          </a:solidFill>
          <a:ln w="12700">
            <a:solidFill>
              <a:srgbClr val="1B1F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103120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$150–$350+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51560" y="2834640"/>
            <a:ext cx="2907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metre for diamond drilling, and rising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98848" y="1920240"/>
            <a:ext cx="3364992" cy="1737360"/>
          </a:xfrm>
          <a:prstGeom prst="roundRect">
            <a:avLst>
              <a:gd name="adj" fmla="val 6316"/>
            </a:avLst>
          </a:prstGeom>
          <a:solidFill>
            <a:srgbClr val="0F1120"/>
          </a:solidFill>
          <a:ln w="12700">
            <a:solidFill>
              <a:srgbClr val="1B1F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27448" y="2103120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40–60%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727448" y="2834640"/>
            <a:ext cx="2907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operational hours lost to fragmented, unformatted data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74736" y="1920240"/>
            <a:ext cx="3364992" cy="1737360"/>
          </a:xfrm>
          <a:prstGeom prst="roundRect">
            <a:avLst>
              <a:gd name="adj" fmla="val 6316"/>
            </a:avLst>
          </a:prstGeom>
          <a:solidFill>
            <a:srgbClr val="0F1120"/>
          </a:solidFill>
          <a:ln w="12700">
            <a:solidFill>
              <a:srgbClr val="1B1F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03336" y="2103120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403336" y="2834640"/>
            <a:ext cx="2907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rates of high-grade deposits, despite bigger budgets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3977640"/>
            <a:ext cx="10543032" cy="1828800"/>
          </a:xfrm>
          <a:prstGeom prst="roundRect">
            <a:avLst>
              <a:gd name="adj" fmla="val 6000"/>
            </a:avLst>
          </a:prstGeom>
          <a:solidFill>
            <a:srgbClr val="141827"/>
          </a:solidFill>
          <a:ln w="12700">
            <a:solidFill>
              <a:srgbClr val="C48E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3000" y="4434840"/>
            <a:ext cx="914400" cy="914400"/>
          </a:xfrm>
          <a:prstGeom prst="ellipse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>
                <a:alpha val="22000"/>
              </a:srgbClr>
            </a:solidFill>
            <a:prstDash val="solid"/>
          </a:ln>
        </p:spPr>
      </p:sp>
      <p:pic>
        <p:nvPicPr>
          <p:cNvPr id="15" name="Image 0" descr="icons/target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4663440"/>
            <a:ext cx="457200" cy="4572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2331720" y="4206240"/>
            <a:ext cx="8732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TerraPulse bridges the gap between raw survey data and defensible drill decisions.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2331720" y="4709160"/>
            <a:ext cx="8732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fusing satellite remote sensing, geophysics, geochemistry and structural geology into an AI-assisted prospectivity engine, TerraPulse delivers ranked, evidence-backed drill targets in hours rather than weeks.</a:t>
            </a:r>
            <a:endParaRPr lang="en-US" sz="1300" dirty="0"/>
          </a:p>
        </p:txBody>
      </p:sp>
      <p:pic>
        <p:nvPicPr>
          <p:cNvPr id="18" name="Image 1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46520"/>
            <a:ext cx="822960" cy="26614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743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TERRAPULSE · VALUE PROPOSITION &amp; PRICING MODEL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10607040" y="65105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B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VALUE PROPOSITION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pillars of differentiation.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2542032" cy="2880360"/>
          </a:xfrm>
          <a:prstGeom prst="roundRect">
            <a:avLst>
              <a:gd name="adj" fmla="val 4317"/>
            </a:avLst>
          </a:prstGeom>
          <a:solidFill>
            <a:srgbClr val="0F1120"/>
          </a:solidFill>
          <a:ln w="12700">
            <a:solidFill>
              <a:srgbClr val="1B1F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5356" y="2171700"/>
            <a:ext cx="777240" cy="777240"/>
          </a:xfrm>
          <a:prstGeom prst="ellipse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>
                <a:alpha val="22000"/>
              </a:srgbClr>
            </a:solidFill>
            <a:prstDash val="solid"/>
          </a:ln>
        </p:spPr>
      </p:sp>
      <p:pic>
        <p:nvPicPr>
          <p:cNvPr id="6" name="Image 0" descr="icons/trendingUp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952" y="236829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10896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Capital ROI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024128" y="3611880"/>
            <a:ext cx="21396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one dry hole = years of SaaS cost recovered in a single decision.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584448" y="1874520"/>
            <a:ext cx="2542032" cy="2880360"/>
          </a:xfrm>
          <a:prstGeom prst="roundRect">
            <a:avLst>
              <a:gd name="adj" fmla="val 4317"/>
            </a:avLst>
          </a:prstGeom>
          <a:solidFill>
            <a:srgbClr val="0F1120"/>
          </a:solidFill>
          <a:ln w="12700">
            <a:solidFill>
              <a:srgbClr val="1B1F3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66844" y="2171700"/>
            <a:ext cx="777240" cy="777240"/>
          </a:xfrm>
          <a:prstGeom prst="ellipse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>
                <a:alpha val="22000"/>
              </a:srgbClr>
            </a:solidFill>
            <a:prstDash val="solid"/>
          </a:ln>
        </p:spPr>
      </p:sp>
      <p:pic>
        <p:nvPicPr>
          <p:cNvPr id="11" name="Image 1" descr="icons/zap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36829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67328" y="310896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Speed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785616" y="3611880"/>
            <a:ext cx="21396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survey data to a ranked drill target list in under 15 minutes.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345936" y="1874520"/>
            <a:ext cx="2542032" cy="2880360"/>
          </a:xfrm>
          <a:prstGeom prst="roundRect">
            <a:avLst>
              <a:gd name="adj" fmla="val 4317"/>
            </a:avLst>
          </a:prstGeom>
          <a:solidFill>
            <a:srgbClr val="0F1120"/>
          </a:solidFill>
          <a:ln w="12700">
            <a:solidFill>
              <a:srgbClr val="1B1F3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228332" y="2171700"/>
            <a:ext cx="777240" cy="777240"/>
          </a:xfrm>
          <a:prstGeom prst="ellipse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>
                <a:alpha val="22000"/>
              </a:srgbClr>
            </a:solidFill>
            <a:prstDash val="solid"/>
          </a:ln>
        </p:spPr>
      </p:sp>
      <p:pic>
        <p:nvPicPr>
          <p:cNvPr id="16" name="Image 2" descr="icons/award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928" y="236829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28816" y="310896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AI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547104" y="3611880"/>
            <a:ext cx="21396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SHAP-backed evidence matrix and deposit-model templates, not a black box.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107424" y="1874520"/>
            <a:ext cx="2542032" cy="2880360"/>
          </a:xfrm>
          <a:prstGeom prst="roundRect">
            <a:avLst>
              <a:gd name="adj" fmla="val 4317"/>
            </a:avLst>
          </a:prstGeom>
          <a:solidFill>
            <a:srgbClr val="0F1120"/>
          </a:solidFill>
          <a:ln w="12700">
            <a:solidFill>
              <a:srgbClr val="1B1F3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989820" y="2171700"/>
            <a:ext cx="777240" cy="777240"/>
          </a:xfrm>
          <a:prstGeom prst="ellipse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>
                <a:alpha val="22000"/>
              </a:srgbClr>
            </a:solidFill>
            <a:prstDash val="solid"/>
          </a:ln>
        </p:spPr>
      </p:sp>
      <p:pic>
        <p:nvPicPr>
          <p:cNvPr id="21" name="Image 3" descr="icons/server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6416" y="2368296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90304" y="310896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Sovereignty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308592" y="3611880"/>
            <a:ext cx="21396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tenant isolation; client data never trains outside models.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822960" y="5029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9298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“Not a black box: classical geophysical filtering and deposit-model templates, with an auditable evidence matrix behind every ranked target.”</a:t>
            </a:r>
            <a:endParaRPr lang="en-US" sz="1400" dirty="0"/>
          </a:p>
        </p:txBody>
      </p:sp>
      <p:pic>
        <p:nvPicPr>
          <p:cNvPr id="25" name="Image 4" descr="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446520"/>
            <a:ext cx="822960" cy="2661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2743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TERRAPULSE · VALUE PROPOSITION &amp; PRICING MODEL</a:t>
            </a:r>
            <a:endParaRPr lang="en-US" sz="800" dirty="0"/>
          </a:p>
        </p:txBody>
      </p:sp>
      <p:sp>
        <p:nvSpPr>
          <p:cNvPr id="27" name="Text 20"/>
          <p:cNvSpPr/>
          <p:nvPr/>
        </p:nvSpPr>
        <p:spPr>
          <a:xfrm>
            <a:off x="10607040" y="65105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B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WE SERVE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proposition by stakeholder persona.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91640"/>
          <a:ext cx="10543032" cy="4572000"/>
        </p:xfrm>
        <a:graphic>
          <a:graphicData uri="http://schemas.openxmlformats.org/drawingml/2006/table">
            <a:tbl>
              <a:tblPr/>
              <a:tblGrid>
                <a:gridCol w="2926080"/>
                <a:gridCol w="3749040"/>
                <a:gridCol w="3867912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607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8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607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Pains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8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607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TerraPulse Value &amp; Deliverable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84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0F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Exploration Manager / VP Exploration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2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normalizing scattered datasets; risk of misallocated budgets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2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 workspace: ranked targets with an auditable evidence matrix, in minutes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0F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Junior Mining CEO / Technical Director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2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cost of capital; can't afford a $500k dry hole; needs investor-grade proof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2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preservation and board-ready, JORC/NI 43-101 supportive Target Prospectus reports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0F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 &amp; Consulting Geologist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2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tools cost $15k–$40k/seat/yr; black-box AI lacking rationale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2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Geologist-in-the-loop co-pilot: explainable scoring you can accept, modify or override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0F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Government &amp; Geological Survey Authority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2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to aggregate regional inventories; unmonitored illegal mining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2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Sovereign mineral intelligence, cadastre integration (MCAS) and ESG monitoring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46520"/>
            <a:ext cx="822960" cy="26614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43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TERRAPULSE · VALUE PROPOSITION &amp; PRICING MODEL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10607040" y="65105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B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 SPOTLIGHT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Exploration Manager &amp; Resource Geologist.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617720"/>
          </a:xfrm>
          <a:prstGeom prst="roundRect">
            <a:avLst>
              <a:gd name="adj" fmla="val 2376"/>
            </a:avLst>
          </a:prstGeom>
          <a:solidFill>
            <a:srgbClr val="0F1120"/>
          </a:solidFill>
          <a:ln w="12700">
            <a:solidFill>
              <a:srgbClr val="1B1F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89280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Exploration Manager / VP Exploration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2514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Multi-Modal Data Ingestion &amp; Auto-Harmonization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97280" y="289864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</a:t>
            </a:r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2–3 weeks per campaign    </a:t>
            </a:r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</a:t>
            </a:r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$8k–$15k in GIS data-prep fees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1097280" y="37764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Anomaly Detection &amp; Target Ranking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97280" y="41605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</a:t>
            </a:r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weeks cut to under 30 minutes    </a:t>
            </a:r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</a:t>
            </a:r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$100k–$250k avoiding misallocated drill budget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1097280" y="503834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Matrix &amp; Justification Drawer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97280" y="542239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</a:t>
            </a:r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3–5 days per committee review    </a:t>
            </a:r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</a:t>
            </a:r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1–2 false-target holes ($60k–$140k)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245352" y="1691640"/>
            <a:ext cx="5120640" cy="4617720"/>
          </a:xfrm>
          <a:prstGeom prst="roundRect">
            <a:avLst>
              <a:gd name="adj" fmla="val 2376"/>
            </a:avLst>
          </a:prstGeom>
          <a:solidFill>
            <a:srgbClr val="0F1120"/>
          </a:solidFill>
          <a:ln w="12700">
            <a:solidFill>
              <a:srgbClr val="1B1F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9672" y="189280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&amp; Senior Project Geologist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9672" y="2514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Geologist-in-the-Loop Feedback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19672" y="289864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</a:t>
            </a:r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8–10 hours per project    </a:t>
            </a:r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</a:t>
            </a:r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redundant reviews ($5k+)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6519672" y="37764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SHAP-Based Driver Transparency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19672" y="41605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</a:t>
            </a:r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target vetting time by 75%    </a:t>
            </a:r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</a:t>
            </a:r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chasing false positives ($30k–$80k)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519672" y="503834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Language Geoscience Co-Pilot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19672" y="542239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</a:t>
            </a:r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2–4 hours a day querying data    </a:t>
            </a:r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</a:t>
            </a:r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$10k/yr in lost productivity per geologist</a:t>
            </a:r>
            <a:endParaRPr lang="en-US" sz="1080" dirty="0"/>
          </a:p>
        </p:txBody>
      </p:sp>
      <p:pic>
        <p:nvPicPr>
          <p:cNvPr id="20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46520"/>
            <a:ext cx="822960" cy="26614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2743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TERRAPULSE · VALUE PROPOSITION &amp; PRICING MODEL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0607040" y="65105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B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 SPOTLIGHT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CEO, consulting firms, field crews &amp; regulators.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2542032" cy="4251960"/>
          </a:xfrm>
          <a:prstGeom prst="roundRect">
            <a:avLst>
              <a:gd name="adj" fmla="val 4317"/>
            </a:avLst>
          </a:prstGeom>
          <a:solidFill>
            <a:srgbClr val="0F1120"/>
          </a:solidFill>
          <a:ln w="12700">
            <a:solidFill>
              <a:srgbClr val="1B1F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5356" y="2171700"/>
            <a:ext cx="777240" cy="777240"/>
          </a:xfrm>
          <a:prstGeom prst="ellipse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>
                <a:alpha val="22000"/>
              </a:srgbClr>
            </a:solidFill>
            <a:prstDash val="solid"/>
          </a:ln>
        </p:spPr>
      </p:sp>
      <p:pic>
        <p:nvPicPr>
          <p:cNvPr id="6" name="Image 0" descr="icons/briefcase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952" y="236829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108960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Junior Mining CEO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24128" y="3749040"/>
            <a:ext cx="21396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Target Prospectus PDF replaces $15k–$35k in compilation fees; ClaimRank compresses portfolio review from 3 weeks to 1–2 days.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584448" y="1783080"/>
            <a:ext cx="2542032" cy="4251960"/>
          </a:xfrm>
          <a:prstGeom prst="roundRect">
            <a:avLst>
              <a:gd name="adj" fmla="val 4317"/>
            </a:avLst>
          </a:prstGeom>
          <a:solidFill>
            <a:srgbClr val="0F1120"/>
          </a:solidFill>
          <a:ln w="12700">
            <a:solidFill>
              <a:srgbClr val="1B1F3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66844" y="2171700"/>
            <a:ext cx="777240" cy="777240"/>
          </a:xfrm>
          <a:prstGeom prst="ellipse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>
                <a:alpha val="22000"/>
              </a:srgbClr>
            </a:solidFill>
            <a:prstDash val="solid"/>
          </a:ln>
        </p:spPr>
      </p:sp>
      <p:pic>
        <p:nvPicPr>
          <p:cNvPr id="11" name="Image 1" descr="icons/users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36829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67328" y="3108960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Consulting Geologist Firm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785616" y="3749040"/>
            <a:ext cx="21396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client isolation triples billable capacity, 2 to 6 concurrent projects, without adding headcount.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345936" y="1783080"/>
            <a:ext cx="2542032" cy="4251960"/>
          </a:xfrm>
          <a:prstGeom prst="roundRect">
            <a:avLst>
              <a:gd name="adj" fmla="val 4317"/>
            </a:avLst>
          </a:prstGeom>
          <a:solidFill>
            <a:srgbClr val="0F1120"/>
          </a:solidFill>
          <a:ln w="12700">
            <a:solidFill>
              <a:srgbClr val="1B1F3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228332" y="2171700"/>
            <a:ext cx="777240" cy="777240"/>
          </a:xfrm>
          <a:prstGeom prst="ellipse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>
                <a:alpha val="22000"/>
              </a:srgbClr>
            </a:solidFill>
            <a:prstDash val="solid"/>
          </a:ln>
        </p:spPr>
      </p:sp>
      <p:pic>
        <p:nvPicPr>
          <p:cNvPr id="16" name="Image 2" descr="icons/map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928" y="236829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28816" y="3108960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Exploration Geologist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547104" y="3749040"/>
            <a:ext cx="21396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FieldProof KML/GPX export and offline caching save 1–2 days per mobilization and prevent costly coordinate errors.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107424" y="1783080"/>
            <a:ext cx="2542032" cy="4251960"/>
          </a:xfrm>
          <a:prstGeom prst="roundRect">
            <a:avLst>
              <a:gd name="adj" fmla="val 4317"/>
            </a:avLst>
          </a:prstGeom>
          <a:solidFill>
            <a:srgbClr val="0F1120"/>
          </a:solidFill>
          <a:ln w="12700">
            <a:solidFill>
              <a:srgbClr val="1B1F3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989820" y="2171700"/>
            <a:ext cx="777240" cy="777240"/>
          </a:xfrm>
          <a:prstGeom prst="ellipse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>
                <a:alpha val="22000"/>
              </a:srgbClr>
            </a:solidFill>
            <a:prstDash val="solid"/>
          </a:ln>
        </p:spPr>
      </p:sp>
      <p:pic>
        <p:nvPicPr>
          <p:cNvPr id="21" name="Image 3" descr="icons/globe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6416" y="2368296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90304" y="3108960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Government / Geological Survey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308592" y="3749040"/>
            <a:ext cx="21396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Cadastre (MCAS) sync gives instant concession clearance; regional inventories drop from 18–24 months to 3–4 months.</a:t>
            </a:r>
            <a:endParaRPr lang="en-US" sz="1100" dirty="0"/>
          </a:p>
        </p:txBody>
      </p:sp>
      <p:pic>
        <p:nvPicPr>
          <p:cNvPr id="24" name="Image 4" descr="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446520"/>
            <a:ext cx="822960" cy="26614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2743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TERRAPULSE · VALUE PROPOSITION &amp; PRICING MODEL</a:t>
            </a:r>
            <a:endParaRPr lang="en-US" sz="800" dirty="0"/>
          </a:p>
        </p:txBody>
      </p:sp>
      <p:sp>
        <p:nvSpPr>
          <p:cNvPr id="26" name="Text 19"/>
          <p:cNvSpPr/>
          <p:nvPr/>
        </p:nvSpPr>
        <p:spPr>
          <a:xfrm>
            <a:off x="10607040" y="65105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B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Feature-to-value mapping, at a glance.</a:t>
            </a:r>
            <a:endParaRPr lang="en-US" sz="2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91640"/>
          <a:ext cx="10543032" cy="4572000"/>
        </p:xfrm>
        <a:graphic>
          <a:graphicData uri="http://schemas.openxmlformats.org/drawingml/2006/table">
            <a:tbl>
              <a:tblPr/>
              <a:tblGrid>
                <a:gridCol w="2834640"/>
                <a:gridCol w="2651760"/>
                <a:gridCol w="2377440"/>
                <a:gridCol w="2679192"/>
              </a:tblGrid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607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Feature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8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607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Persona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8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607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Saved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8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607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($) Saved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84B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0F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Ingestion &amp; Auto-Grid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2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Exploration Mgr, Geo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2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weeks / campaign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2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$8k – $15k data-prep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0F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Anomaly Detection Engine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2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 Exploration, Chief Geo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2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weeks → 30 minutes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2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$100k – $250k drilling 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0F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 Evidence Matrix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2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 / Senior Geo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2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 faster vetting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2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$60k – $140k dry holes avoided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0F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Prospectus PDF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2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CEO, Technical Director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2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2–4 weeks drafting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2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$15k – $35k compilation fees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0F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ClaimRank Optimizer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2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CEO, Portfolio Manager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2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weeks → 2 days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2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$30k – $100k holding fees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0F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Geoscience Co-Pilot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2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/ Senior Geo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2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2–4 hrs/day querying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2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$10k/yr analyst overhead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0F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FieldProof KML/CSV Export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2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Geologist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2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 days / mobilization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2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$10k – $25k collar errors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0F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Cadastre / MCAS Sync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2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Government, VP Exploration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2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weeks → instant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2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Millions in boundary disputes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46520"/>
            <a:ext cx="822960" cy="26614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43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TERRAPULSE · VALUE PROPOSITION &amp; PRICING MODEL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10607040" y="65105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B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IN 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economic scenarios.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3364992" cy="3931920"/>
          </a:xfrm>
          <a:prstGeom prst="roundRect">
            <a:avLst>
              <a:gd name="adj" fmla="val 3261"/>
            </a:avLst>
          </a:prstGeom>
          <a:solidFill>
            <a:srgbClr val="0F1120"/>
          </a:solidFill>
          <a:ln w="12700">
            <a:solidFill>
              <a:srgbClr val="1B1F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16836" y="2034540"/>
            <a:ext cx="777240" cy="777240"/>
          </a:xfrm>
          <a:prstGeom prst="ellipse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>
                <a:alpha val="22000"/>
              </a:srgbClr>
            </a:solidFill>
            <a:prstDash val="solid"/>
          </a:ln>
        </p:spPr>
      </p:sp>
      <p:pic>
        <p:nvPicPr>
          <p:cNvPr id="6" name="Image 0" descr="icons/target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3432" y="223113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2926080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Junior Gold Explorer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51560" y="3273552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Ashanti Greenstone Belt, Ghana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97280" y="3703320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6-week prep compressed to 2 days.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051560" y="4343400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$95,000 saved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97280" y="4864608"/>
            <a:ext cx="2816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1,189% ROI on a Team Explorer licence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498848" y="1737360"/>
            <a:ext cx="3364992" cy="3931920"/>
          </a:xfrm>
          <a:prstGeom prst="roundRect">
            <a:avLst>
              <a:gd name="adj" fmla="val 3261"/>
            </a:avLst>
          </a:prstGeom>
          <a:solidFill>
            <a:srgbClr val="0F1120"/>
          </a:solidFill>
          <a:ln w="12700">
            <a:solidFill>
              <a:srgbClr val="1B1F3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92724" y="2034540"/>
            <a:ext cx="777240" cy="777240"/>
          </a:xfrm>
          <a:prstGeom prst="ellipse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>
                <a:alpha val="22000"/>
              </a:srgbClr>
            </a:solidFill>
            <a:prstDash val="solid"/>
          </a:ln>
        </p:spPr>
      </p:sp>
      <p:pic>
        <p:nvPicPr>
          <p:cNvPr id="14" name="Image 1" descr="icons/users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231136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27448" y="2926080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Consulting Firm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727448" y="3273552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senior geologists, 5 clients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773168" y="3703320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expanded from 6 to 18 client projects/year.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4727448" y="4343400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+$180,000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4773168" y="4864608"/>
            <a:ext cx="2816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new top-line revenue, plus $32k/yr software savings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174736" y="1737360"/>
            <a:ext cx="3364992" cy="3931920"/>
          </a:xfrm>
          <a:prstGeom prst="roundRect">
            <a:avLst>
              <a:gd name="adj" fmla="val 3261"/>
            </a:avLst>
          </a:prstGeom>
          <a:solidFill>
            <a:srgbClr val="0F1120"/>
          </a:solidFill>
          <a:ln w="12700">
            <a:solidFill>
              <a:srgbClr val="1B1F33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9468612" y="2034540"/>
            <a:ext cx="777240" cy="777240"/>
          </a:xfrm>
          <a:prstGeom prst="ellipse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>
                <a:alpha val="22000"/>
              </a:srgbClr>
            </a:solidFill>
            <a:prstDash val="solid"/>
          </a:ln>
        </p:spPr>
      </p:sp>
      <p:pic>
        <p:nvPicPr>
          <p:cNvPr id="22" name="Image 2" descr="icons/pieChart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5208" y="2231136"/>
            <a:ext cx="384048" cy="38404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403336" y="2926080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Mid-Tier Producer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8403336" y="3273552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14-permit renewal review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8449056" y="3703320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4-week manual review compressed to 2 days.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8403336" y="4343400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$90,000 saved</a:t>
            </a:r>
            <a:endParaRPr lang="en-US" sz="2200" dirty="0"/>
          </a:p>
        </p:txBody>
      </p:sp>
      <p:sp>
        <p:nvSpPr>
          <p:cNvPr id="27" name="Text 22"/>
          <p:cNvSpPr/>
          <p:nvPr/>
        </p:nvSpPr>
        <p:spPr>
          <a:xfrm>
            <a:off x="8449056" y="4864608"/>
            <a:ext cx="2816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statutory holding costs, capital refocused on top targets</a:t>
            </a:r>
            <a:endParaRPr lang="en-US" sz="1050" dirty="0"/>
          </a:p>
        </p:txBody>
      </p:sp>
      <p:pic>
        <p:nvPicPr>
          <p:cNvPr id="28" name="Image 3" descr="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46520"/>
            <a:ext cx="822960" cy="26614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2743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TERRAPULSE · VALUE PROPOSITION &amp; PRICING MODEL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10607040" y="65105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B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hybrid SaaS, campaign and enterprise model.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budgets swing between active field seasons and dormant analysis phases; pricing is built to follow that rhythm.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65960"/>
          <a:ext cx="10543032" cy="4206240"/>
        </p:xfrm>
        <a:graphic>
          <a:graphicData uri="http://schemas.openxmlformats.org/drawingml/2006/table">
            <a:tbl>
              <a:tblPr/>
              <a:tblGrid>
                <a:gridCol w="2651760"/>
                <a:gridCol w="2743200"/>
                <a:gridCol w="2834640"/>
                <a:gridCol w="2313432"/>
              </a:tblGrid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07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8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07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Segment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8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07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Point (USD)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8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07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84B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0F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Geologist Solo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2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Consultants &amp; solo pros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2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$199/mo ($1,990/yr)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2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/ annual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0F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Explorer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2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Junior mining companies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2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$799/mo ($7,990/yr)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2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(recommended)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0F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 Pro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2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Mid-tier mining houses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2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$2,200/mo ($22,000/yr)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2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0F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 Project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2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Seasonal explorers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2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$2,500 – $4,500 / project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2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90–120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0F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/ Gov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2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Majors &amp; regulators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2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$50,000 – $150,000+/yr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2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0F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/ Add-On Credits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2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 / high-res satellite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2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Usage-based (credits)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2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Pay-as-you-go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0F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Modernization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2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 data ingestion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2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$5,000 – $25,000 (one-off)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2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Professional 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0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46520"/>
            <a:ext cx="822960" cy="2661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43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TERRAPULSE · VALUE PROPOSITION &amp; PRICING MODEL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10607040" y="65105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B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RECURRING SAAS SUBSCRIPTIONS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tiers, built to grow with the customer.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3364992" cy="4526280"/>
          </a:xfrm>
          <a:prstGeom prst="roundRect">
            <a:avLst>
              <a:gd name="adj" fmla="val 3261"/>
            </a:avLst>
          </a:prstGeom>
          <a:solidFill>
            <a:srgbClr val="0F1120"/>
          </a:solidFill>
          <a:ln w="12700">
            <a:solidFill>
              <a:srgbClr val="1B1F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965960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Geologist Solo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51560" y="237744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$199</a:t>
            </a:r>
            <a:pPr algn="ctr" indent="0" marL="0">
              <a:buNone/>
            </a:pPr>
            <a:r>
              <a:rPr lang="en-US" sz="1300" dirty="0">
                <a:solidFill>
                  <a:srgbClr val="9298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/month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51560" y="283464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$1,990/year</a:t>
            </a:r>
            <a:endParaRPr lang="en-US" sz="1050" dirty="0"/>
          </a:p>
        </p:txBody>
      </p:sp>
      <p:pic>
        <p:nvPicPr>
          <p:cNvPr id="8" name="Image 0" descr="icons/checkCircle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331927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53312" y="3291840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user seat</a:t>
            </a:r>
            <a:endParaRPr lang="en-US" sz="1080" dirty="0"/>
          </a:p>
        </p:txBody>
      </p:sp>
      <p:pic>
        <p:nvPicPr>
          <p:cNvPr id="10" name="Image 1" descr="icons/checkCircle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3849624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53312" y="3822192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3 active projects</a:t>
            </a:r>
            <a:endParaRPr lang="en-US" sz="1080" dirty="0"/>
          </a:p>
        </p:txBody>
      </p:sp>
      <p:pic>
        <p:nvPicPr>
          <p:cNvPr id="12" name="Image 2" descr="icons/checkCircl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4379976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53312" y="4352544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imagery &amp; geochem processing</a:t>
            </a:r>
            <a:endParaRPr lang="en-US" sz="1080" dirty="0"/>
          </a:p>
        </p:txBody>
      </p:sp>
      <p:pic>
        <p:nvPicPr>
          <p:cNvPr id="14" name="Image 3" descr="icons/checkCircle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910328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53312" y="4882896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Exportable target lists (CSV/GeoJSON)</a:t>
            </a:r>
            <a:endParaRPr lang="en-US" sz="1080" dirty="0"/>
          </a:p>
        </p:txBody>
      </p:sp>
      <p:sp>
        <p:nvSpPr>
          <p:cNvPr id="16" name="Shape 10"/>
          <p:cNvSpPr/>
          <p:nvPr/>
        </p:nvSpPr>
        <p:spPr>
          <a:xfrm>
            <a:off x="4498848" y="1691640"/>
            <a:ext cx="3364992" cy="4526280"/>
          </a:xfrm>
          <a:prstGeom prst="roundRect">
            <a:avLst>
              <a:gd name="adj" fmla="val 3261"/>
            </a:avLst>
          </a:prstGeom>
          <a:solidFill>
            <a:srgbClr val="141827"/>
          </a:solidFill>
          <a:ln w="19050">
            <a:solidFill>
              <a:srgbClr val="E8B84B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4727448" y="187452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POPULAR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4727448" y="2194560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Explorer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4727448" y="260604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$799</a:t>
            </a:r>
            <a:pPr algn="ctr" indent="0" marL="0">
              <a:buNone/>
            </a:pPr>
            <a:r>
              <a:rPr lang="en-US" sz="1300" dirty="0">
                <a:solidFill>
                  <a:srgbClr val="9298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/month</a:t>
            </a:r>
            <a:endParaRPr lang="en-US" sz="2600" dirty="0"/>
          </a:p>
        </p:txBody>
      </p:sp>
      <p:sp>
        <p:nvSpPr>
          <p:cNvPr id="20" name="Text 14"/>
          <p:cNvSpPr/>
          <p:nvPr/>
        </p:nvSpPr>
        <p:spPr>
          <a:xfrm>
            <a:off x="4727448" y="306324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$7,990/year</a:t>
            </a:r>
            <a:endParaRPr lang="en-US" sz="1050" dirty="0"/>
          </a:p>
        </p:txBody>
      </p:sp>
      <p:pic>
        <p:nvPicPr>
          <p:cNvPr id="21" name="Image 4" descr="icons/checkCircle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547872"/>
            <a:ext cx="201168" cy="20116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029200" y="3520440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user seats, role-based permissions</a:t>
            </a:r>
            <a:endParaRPr lang="en-US" sz="1080" dirty="0"/>
          </a:p>
        </p:txBody>
      </p:sp>
      <p:pic>
        <p:nvPicPr>
          <p:cNvPr id="23" name="Image 5" descr="icons/checkCircle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4078224"/>
            <a:ext cx="201168" cy="20116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029200" y="4050792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 active projects</a:t>
            </a:r>
            <a:endParaRPr lang="en-US" sz="1080" dirty="0"/>
          </a:p>
        </p:txBody>
      </p:sp>
      <p:pic>
        <p:nvPicPr>
          <p:cNvPr id="25" name="Image 6" descr="icons/checkCircle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4608576"/>
            <a:ext cx="201168" cy="20116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029200" y="4581144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multi-modal data fusion</a:t>
            </a:r>
            <a:endParaRPr lang="en-US" sz="1080" dirty="0"/>
          </a:p>
        </p:txBody>
      </p:sp>
      <p:pic>
        <p:nvPicPr>
          <p:cNvPr id="27" name="Image 7" descr="icons/checkCircle_gol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5138928"/>
            <a:ext cx="201168" cy="20116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029200" y="5111496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Investor-ready Target Prospectus</a:t>
            </a:r>
            <a:endParaRPr lang="en-US" sz="1080" dirty="0"/>
          </a:p>
        </p:txBody>
      </p:sp>
      <p:pic>
        <p:nvPicPr>
          <p:cNvPr id="29" name="Image 8" descr="icons/checkCircle_gol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4880" y="5669280"/>
            <a:ext cx="201168" cy="201168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5029200" y="5641848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validation export (KML/CSV)</a:t>
            </a:r>
            <a:endParaRPr lang="en-US" sz="1080" dirty="0"/>
          </a:p>
        </p:txBody>
      </p:sp>
      <p:sp>
        <p:nvSpPr>
          <p:cNvPr id="31" name="Shape 20"/>
          <p:cNvSpPr/>
          <p:nvPr/>
        </p:nvSpPr>
        <p:spPr>
          <a:xfrm>
            <a:off x="8174736" y="1691640"/>
            <a:ext cx="3364992" cy="4526280"/>
          </a:xfrm>
          <a:prstGeom prst="roundRect">
            <a:avLst>
              <a:gd name="adj" fmla="val 3261"/>
            </a:avLst>
          </a:prstGeom>
          <a:solidFill>
            <a:srgbClr val="0F1120"/>
          </a:solidFill>
          <a:ln w="12700">
            <a:solidFill>
              <a:srgbClr val="1B1F33"/>
            </a:solidFill>
            <a:prstDash val="solid"/>
          </a:ln>
        </p:spPr>
      </p:sp>
      <p:sp>
        <p:nvSpPr>
          <p:cNvPr id="32" name="Text 21"/>
          <p:cNvSpPr/>
          <p:nvPr/>
        </p:nvSpPr>
        <p:spPr>
          <a:xfrm>
            <a:off x="8403336" y="1965960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Pro</a:t>
            </a:r>
            <a:endParaRPr lang="en-US" sz="1700" dirty="0"/>
          </a:p>
        </p:txBody>
      </p:sp>
      <p:sp>
        <p:nvSpPr>
          <p:cNvPr id="33" name="Text 22"/>
          <p:cNvSpPr/>
          <p:nvPr/>
        </p:nvSpPr>
        <p:spPr>
          <a:xfrm>
            <a:off x="8403336" y="237744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$2,200</a:t>
            </a:r>
            <a:pPr algn="ctr" indent="0" marL="0">
              <a:buNone/>
            </a:pPr>
            <a:r>
              <a:rPr lang="en-US" sz="1300" dirty="0">
                <a:solidFill>
                  <a:srgbClr val="9298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/month</a:t>
            </a:r>
            <a:endParaRPr lang="en-US" sz="2600" dirty="0"/>
          </a:p>
        </p:txBody>
      </p:sp>
      <p:sp>
        <p:nvSpPr>
          <p:cNvPr id="34" name="Text 23"/>
          <p:cNvSpPr/>
          <p:nvPr/>
        </p:nvSpPr>
        <p:spPr>
          <a:xfrm>
            <a:off x="8403336" y="283464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$22,000/year</a:t>
            </a:r>
            <a:endParaRPr lang="en-US" sz="1050" dirty="0"/>
          </a:p>
        </p:txBody>
      </p:sp>
      <p:pic>
        <p:nvPicPr>
          <p:cNvPr id="35" name="Image 9" descr="icons/checkCircle_gol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30768" y="3319272"/>
            <a:ext cx="201168" cy="201168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8705088" y="3291840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user seats</a:t>
            </a:r>
            <a:endParaRPr lang="en-US" sz="1080" dirty="0"/>
          </a:p>
        </p:txBody>
      </p:sp>
      <p:pic>
        <p:nvPicPr>
          <p:cNvPr id="37" name="Image 10" descr="icons/checkCircle_gol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30768" y="3849624"/>
            <a:ext cx="201168" cy="201168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8705088" y="3822192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projects &amp; analysis runs</a:t>
            </a:r>
            <a:endParaRPr lang="en-US" sz="1080" dirty="0"/>
          </a:p>
        </p:txBody>
      </p:sp>
      <p:pic>
        <p:nvPicPr>
          <p:cNvPr id="39" name="Image 11" descr="icons/checkCircle_gol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30768" y="4379976"/>
            <a:ext cx="201168" cy="201168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8705088" y="4352544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ClaimRank Portfolio Optimizer</a:t>
            </a:r>
            <a:endParaRPr lang="en-US" sz="1080" dirty="0"/>
          </a:p>
        </p:txBody>
      </p:sp>
      <p:pic>
        <p:nvPicPr>
          <p:cNvPr id="41" name="Image 12" descr="icons/checkCircle_gol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30768" y="4910328"/>
            <a:ext cx="201168" cy="201168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8705088" y="4882896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Multi-commodity deposit templates</a:t>
            </a:r>
            <a:endParaRPr lang="en-US" sz="1080" dirty="0"/>
          </a:p>
        </p:txBody>
      </p:sp>
      <p:pic>
        <p:nvPicPr>
          <p:cNvPr id="43" name="Image 13" descr="icons/checkCircle_gol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30768" y="5440680"/>
            <a:ext cx="201168" cy="201168"/>
          </a:xfrm>
          <a:prstGeom prst="rect">
            <a:avLst/>
          </a:prstGeom>
        </p:spPr>
      </p:pic>
      <p:sp>
        <p:nvSpPr>
          <p:cNvPr id="44" name="Text 28"/>
          <p:cNvSpPr/>
          <p:nvPr/>
        </p:nvSpPr>
        <p:spPr>
          <a:xfrm>
            <a:off x="8705088" y="5413248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compute queue</a:t>
            </a:r>
            <a:endParaRPr lang="en-US" sz="1080" dirty="0"/>
          </a:p>
        </p:txBody>
      </p:sp>
      <p:pic>
        <p:nvPicPr>
          <p:cNvPr id="45" name="Image 14" descr="logo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8640" y="6446520"/>
            <a:ext cx="822960" cy="266144"/>
          </a:xfrm>
          <a:prstGeom prst="rect">
            <a:avLst/>
          </a:prstGeom>
        </p:spPr>
      </p:pic>
      <p:sp>
        <p:nvSpPr>
          <p:cNvPr id="46" name="Text 29"/>
          <p:cNvSpPr/>
          <p:nvPr/>
        </p:nvSpPr>
        <p:spPr>
          <a:xfrm>
            <a:off x="2743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TERRAPULSE · VALUE PROPOSITION &amp; PRICING MODEL</a:t>
            </a:r>
            <a:endParaRPr lang="en-US" sz="800" dirty="0"/>
          </a:p>
        </p:txBody>
      </p:sp>
      <p:sp>
        <p:nvSpPr>
          <p:cNvPr id="47" name="Text 30"/>
          <p:cNvSpPr/>
          <p:nvPr/>
        </p:nvSpPr>
        <p:spPr>
          <a:xfrm>
            <a:off x="10607040" y="65105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B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RECURRING SAAS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Seasonal access and enterprise licensing.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074920" cy="4572000"/>
          </a:xfrm>
          <a:prstGeom prst="roundRect">
            <a:avLst>
              <a:gd name="adj" fmla="val 2400"/>
            </a:avLst>
          </a:prstGeom>
          <a:solidFill>
            <a:srgbClr val="0F1120"/>
          </a:solidFill>
          <a:ln w="12700">
            <a:solidFill>
              <a:srgbClr val="1B1F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1920240"/>
            <a:ext cx="731520" cy="731520"/>
          </a:xfrm>
          <a:prstGeom prst="ellipse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>
                <a:alpha val="22000"/>
              </a:srgbClr>
            </a:solidFill>
            <a:prstDash val="solid"/>
          </a:ln>
        </p:spPr>
      </p:sp>
      <p:pic>
        <p:nvPicPr>
          <p:cNvPr id="6" name="Image 0" descr="icons/clock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1031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01168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Exploration Campaign Pass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74520" y="24688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$2,500 – $4,500 / project · 90–120 days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43000" y="3063240"/>
            <a:ext cx="4434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juniors run 3–6 month seasonal campaigns and resist paying for a full 12-month subscription through dormant seasons.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fixed-duration pass with full Team Explorer access for a specific area of interest, ideal for pre-drilling planning or financing rounds.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path: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of the project pass fee is creditable toward an annual subscription upgrade.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08776" y="1691640"/>
            <a:ext cx="5166360" cy="4572000"/>
          </a:xfrm>
          <a:prstGeom prst="roundRect">
            <a:avLst>
              <a:gd name="adj" fmla="val 2400"/>
            </a:avLst>
          </a:prstGeom>
          <a:solidFill>
            <a:srgbClr val="141827"/>
          </a:solidFill>
          <a:ln w="12700">
            <a:solidFill>
              <a:srgbClr val="C48E1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37376" y="1920240"/>
            <a:ext cx="731520" cy="731520"/>
          </a:xfrm>
          <a:prstGeom prst="ellipse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>
                <a:alpha val="22000"/>
              </a:srgbClr>
            </a:solidFill>
            <a:prstDash val="solid"/>
          </a:ln>
        </p:spPr>
      </p:sp>
      <p:pic>
        <p:nvPicPr>
          <p:cNvPr id="12" name="Image 1" descr="icons/briefcase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21031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0336" y="201168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&amp; Sovereign Licensing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260336" y="246888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$50,000 – $150,000+ / year · multi-year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528816" y="306324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customers: major producers (Gold Fields, AngloGold Ashanti, Newmont) and state institutions (Minerals Commission, Ghana Geological Survey Authority).</a:t>
            </a:r>
            <a:endParaRPr lang="en-US" sz="1200" dirty="0"/>
          </a:p>
        </p:txBody>
      </p:sp>
      <p:pic>
        <p:nvPicPr>
          <p:cNvPr id="16" name="Image 2" descr="icons/checkCircl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16" y="4041648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12280" y="402336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cloud / dedicated on-premise deployment</a:t>
            </a:r>
            <a:endParaRPr lang="en-US" sz="1150" dirty="0"/>
          </a:p>
        </p:txBody>
      </p:sp>
      <p:pic>
        <p:nvPicPr>
          <p:cNvPr id="18" name="Image 3" descr="icons/checkCircle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16" y="4544568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12280" y="452628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model calibration with confidential drill data</a:t>
            </a:r>
            <a:endParaRPr lang="en-US" sz="1150" dirty="0"/>
          </a:p>
        </p:txBody>
      </p:sp>
      <p:pic>
        <p:nvPicPr>
          <p:cNvPr id="20" name="Image 4" descr="icons/checkCircle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8816" y="5047488"/>
            <a:ext cx="201168" cy="20116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812280" y="502920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Bi-directional sync with national cadastre (MCAS)</a:t>
            </a:r>
            <a:endParaRPr lang="en-US" sz="1150" dirty="0"/>
          </a:p>
        </p:txBody>
      </p:sp>
      <p:pic>
        <p:nvPicPr>
          <p:cNvPr id="22" name="Image 5" descr="icons/checkCircle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8816" y="5550408"/>
            <a:ext cx="201168" cy="20116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812280" y="553212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SLA &amp; geological training support</a:t>
            </a:r>
            <a:endParaRPr lang="en-US" sz="1150" dirty="0"/>
          </a:p>
        </p:txBody>
      </p:sp>
      <p:pic>
        <p:nvPicPr>
          <p:cNvPr id="24" name="Image 6" descr="log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6446520"/>
            <a:ext cx="822960" cy="266144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2743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TERRAPULSE · VALUE PROPOSITION &amp; PRICING MODEL</a:t>
            </a:r>
            <a:endParaRPr lang="en-US" sz="800" dirty="0"/>
          </a:p>
        </p:txBody>
      </p:sp>
      <p:sp>
        <p:nvSpPr>
          <p:cNvPr id="26" name="Text 17"/>
          <p:cNvSpPr/>
          <p:nvPr/>
        </p:nvSpPr>
        <p:spPr>
          <a:xfrm>
            <a:off x="10607040" y="65105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B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HIGH-MARGIN ADD-ONS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 services beyond the core licence.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364992" cy="3749040"/>
          </a:xfrm>
          <a:prstGeom prst="roundRect">
            <a:avLst>
              <a:gd name="adj" fmla="val 3261"/>
            </a:avLst>
          </a:prstGeom>
          <a:solidFill>
            <a:srgbClr val="0F1120"/>
          </a:solidFill>
          <a:ln w="12700">
            <a:solidFill>
              <a:srgbClr val="1B1F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16836" y="2171700"/>
            <a:ext cx="777240" cy="777240"/>
          </a:xfrm>
          <a:prstGeom prst="ellipse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>
                <a:alpha val="22000"/>
              </a:srgbClr>
            </a:solidFill>
            <a:prstDash val="solid"/>
          </a:ln>
        </p:spPr>
      </p:sp>
      <p:pic>
        <p:nvPicPr>
          <p:cNvPr id="6" name="Image 0" descr="icons/globe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3432" y="236829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310896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High-Resolution Satellite Imagery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097280" y="3840480"/>
            <a:ext cx="28163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Resell task-specific commercial imagery (PlanetScope 3m, Maxar/WorldView 30–50cm) with a platform margin.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078992" y="5074920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20–30% margin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98848" y="1828800"/>
            <a:ext cx="3364992" cy="3749040"/>
          </a:xfrm>
          <a:prstGeom prst="roundRect">
            <a:avLst>
              <a:gd name="adj" fmla="val 3261"/>
            </a:avLst>
          </a:prstGeom>
          <a:solidFill>
            <a:srgbClr val="0F1120"/>
          </a:solidFill>
          <a:ln w="12700">
            <a:solidFill>
              <a:srgbClr val="1B1F3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92724" y="2171700"/>
            <a:ext cx="777240" cy="777240"/>
          </a:xfrm>
          <a:prstGeom prst="ellipse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>
                <a:alpha val="22000"/>
              </a:srgbClr>
            </a:solidFill>
            <a:prstDash val="solid"/>
          </a:ln>
        </p:spPr>
      </p:sp>
      <p:pic>
        <p:nvPicPr>
          <p:cNvPr id="12" name="Image 1" descr="icons/zap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36829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54880" y="310896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&amp; Inversion Compute Credits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773168" y="3840480"/>
            <a:ext cx="28163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3D geophysical inversion, structural extraction and LLM synthesis billed via consumption credit packs.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754880" y="5074920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$0.10 – $0.50 / credit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74736" y="1828800"/>
            <a:ext cx="3364992" cy="3749040"/>
          </a:xfrm>
          <a:prstGeom prst="roundRect">
            <a:avLst>
              <a:gd name="adj" fmla="val 3261"/>
            </a:avLst>
          </a:prstGeom>
          <a:solidFill>
            <a:srgbClr val="0F1120"/>
          </a:solidFill>
          <a:ln w="12700">
            <a:solidFill>
              <a:srgbClr val="1B1F3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468612" y="2171700"/>
            <a:ext cx="777240" cy="777240"/>
          </a:xfrm>
          <a:prstGeom prst="ellipse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>
                <a:alpha val="22000"/>
              </a:srgbClr>
            </a:solidFill>
            <a:prstDash val="solid"/>
          </a:ln>
        </p:spPr>
      </p:sp>
      <p:pic>
        <p:nvPicPr>
          <p:cNvPr id="18" name="Image 2" descr="icons/fileText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5208" y="2368296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30768" y="310896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Legacy Data Modernization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449056" y="3840480"/>
            <a:ext cx="28163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Turnkey digitization, spatial rectification and database onboarding for decades of paper maps and scanned logs.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8430768" y="5074920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$5,000 – $25,000 / project</a:t>
            </a:r>
            <a:endParaRPr lang="en-US" sz="1300" dirty="0"/>
          </a:p>
        </p:txBody>
      </p:sp>
      <p:pic>
        <p:nvPicPr>
          <p:cNvPr id="22" name="Image 3" descr="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46520"/>
            <a:ext cx="822960" cy="2661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743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TERRAPULSE · VALUE PROPOSITION &amp; PRICING MODEL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10607040" y="65105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B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EXECUTION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“Proof of Ground Truth” funnel.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 executives are cautious buyers who trust empirical proof over marketing claims.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75892" y="2267712"/>
            <a:ext cx="347472" cy="347472"/>
          </a:xfrm>
          <a:prstGeom prst="ellipse">
            <a:avLst/>
          </a:prstGeom>
          <a:solidFill>
            <a:srgbClr val="C48E1C"/>
          </a:solidFill>
          <a:ln w="25400">
            <a:solidFill>
              <a:srgbClr val="06070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75892" y="2267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07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569568" y="2354580"/>
            <a:ext cx="960120" cy="960120"/>
          </a:xfrm>
          <a:prstGeom prst="ellipse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>
                <a:alpha val="22000"/>
              </a:srgbClr>
            </a:solidFill>
            <a:prstDash val="solid"/>
          </a:ln>
        </p:spPr>
      </p:sp>
      <p:pic>
        <p:nvPicPr>
          <p:cNvPr id="8" name="Image 0" descr="icons/database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1884" y="2596896"/>
            <a:ext cx="475488" cy="475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0908" y="3520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Historical Blind Test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06628" y="40690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historic pre-discovery data to prove TerraPulse flags the known orebody in the Top 3 targets.</a:t>
            </a:r>
            <a:endParaRPr lang="en-US" sz="1050" dirty="0"/>
          </a:p>
        </p:txBody>
      </p:sp>
      <p:pic>
        <p:nvPicPr>
          <p:cNvPr id="11" name="Image 1" descr="icons/arrowRight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6636" y="2670048"/>
            <a:ext cx="292608" cy="29260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3372" y="2267712"/>
            <a:ext cx="347472" cy="347472"/>
          </a:xfrm>
          <a:prstGeom prst="ellipse">
            <a:avLst/>
          </a:prstGeom>
          <a:solidFill>
            <a:srgbClr val="C48E1C"/>
          </a:solidFill>
          <a:ln w="25400">
            <a:solidFill>
              <a:srgbClr val="06070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3372" y="2267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07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267048" y="2354580"/>
            <a:ext cx="960120" cy="960120"/>
          </a:xfrm>
          <a:prstGeom prst="ellipse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>
                <a:alpha val="22000"/>
              </a:srgbClr>
            </a:solidFill>
            <a:prstDash val="solid"/>
          </a:ln>
        </p:spPr>
      </p:sp>
      <p:pic>
        <p:nvPicPr>
          <p:cNvPr id="15" name="Image 2" descr="icons/clock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9364" y="2596896"/>
            <a:ext cx="475488" cy="4754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558388" y="3520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60-Day Paid Pilot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3604108" y="40690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MOU/NDA on one active concession ($3k–$5k), with weekly SIG geoscientist alignment.</a:t>
            </a:r>
            <a:endParaRPr lang="en-US" sz="1050" dirty="0"/>
          </a:p>
        </p:txBody>
      </p:sp>
      <p:pic>
        <p:nvPicPr>
          <p:cNvPr id="18" name="Image 3" descr="icons/arrowRight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4116" y="2670048"/>
            <a:ext cx="292608" cy="292608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7270852" y="2267712"/>
            <a:ext cx="347472" cy="347472"/>
          </a:xfrm>
          <a:prstGeom prst="ellipse">
            <a:avLst/>
          </a:prstGeom>
          <a:solidFill>
            <a:srgbClr val="C48E1C"/>
          </a:solidFill>
          <a:ln w="25400">
            <a:solidFill>
              <a:srgbClr val="06070D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7270852" y="2267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07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964528" y="2354580"/>
            <a:ext cx="960120" cy="960120"/>
          </a:xfrm>
          <a:prstGeom prst="ellipse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>
                <a:alpha val="22000"/>
              </a:srgbClr>
            </a:solidFill>
            <a:prstDash val="solid"/>
          </a:ln>
        </p:spPr>
      </p:sp>
      <p:pic>
        <p:nvPicPr>
          <p:cNvPr id="22" name="Image 4" descr="icons/fileText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6844" y="2596896"/>
            <a:ext cx="475488" cy="47548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255868" y="3520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Report for the Board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6301588" y="40690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defensible Target Prospectus ready for executive or technical director sign-off.</a:t>
            </a:r>
            <a:endParaRPr lang="en-US" sz="1050" dirty="0"/>
          </a:p>
        </p:txBody>
      </p:sp>
      <p:pic>
        <p:nvPicPr>
          <p:cNvPr id="25" name="Image 5" descr="icons/arrowRight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1596" y="2670048"/>
            <a:ext cx="292608" cy="292608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9968332" y="2267712"/>
            <a:ext cx="347472" cy="347472"/>
          </a:xfrm>
          <a:prstGeom prst="ellipse">
            <a:avLst/>
          </a:prstGeom>
          <a:solidFill>
            <a:srgbClr val="C48E1C"/>
          </a:solidFill>
          <a:ln w="25400">
            <a:solidFill>
              <a:srgbClr val="06070D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9968332" y="2267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07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9662008" y="2354580"/>
            <a:ext cx="960120" cy="960120"/>
          </a:xfrm>
          <a:prstGeom prst="ellipse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>
                <a:alpha val="22000"/>
              </a:srgbClr>
            </a:solidFill>
            <a:prstDash val="solid"/>
          </a:ln>
        </p:spPr>
      </p:sp>
      <p:pic>
        <p:nvPicPr>
          <p:cNvPr id="29" name="Image 6" descr="icons/award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4324" y="2596896"/>
            <a:ext cx="475488" cy="47548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8953348" y="3520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Annual Enterprise Contract</a:t>
            </a:r>
            <a:endParaRPr lang="en-US" sz="1400" dirty="0"/>
          </a:p>
        </p:txBody>
      </p:sp>
      <p:sp>
        <p:nvSpPr>
          <p:cNvPr id="31" name="Text 22"/>
          <p:cNvSpPr/>
          <p:nvPr/>
        </p:nvSpPr>
        <p:spPr>
          <a:xfrm>
            <a:off x="8999068" y="40690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Company Pro / Enterprise, rolled into the annual exploration budget.</a:t>
            </a:r>
            <a:endParaRPr lang="en-US" sz="1050" dirty="0"/>
          </a:p>
        </p:txBody>
      </p:sp>
      <p:pic>
        <p:nvPicPr>
          <p:cNvPr id="32" name="Image 7" descr="logo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6446520"/>
            <a:ext cx="822960" cy="266144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2743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TERRAPULSE · VALUE PROPOSITION &amp; PRICING MODEL</a:t>
            </a:r>
            <a:endParaRPr lang="en-US" sz="800" dirty="0"/>
          </a:p>
        </p:txBody>
      </p:sp>
      <p:sp>
        <p:nvSpPr>
          <p:cNvPr id="34" name="Text 24"/>
          <p:cNvSpPr/>
          <p:nvPr/>
        </p:nvSpPr>
        <p:spPr>
          <a:xfrm>
            <a:off x="10607040" y="65105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B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OBJECTION HANDLING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Addressing the room's real concerns.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10543032" cy="1417320"/>
          </a:xfrm>
          <a:prstGeom prst="roundRect">
            <a:avLst>
              <a:gd name="adj" fmla="val 6452"/>
            </a:avLst>
          </a:prstGeom>
          <a:solidFill>
            <a:srgbClr val="0F1120"/>
          </a:solidFill>
          <a:ln w="12700">
            <a:solidFill>
              <a:srgbClr val="1B1F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5860" y="2057400"/>
            <a:ext cx="685800" cy="685800"/>
          </a:xfrm>
          <a:prstGeom prst="ellipse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>
                <a:alpha val="22000"/>
              </a:srgbClr>
            </a:solidFill>
            <a:prstDash val="solid"/>
          </a:ln>
        </p:spPr>
      </p:sp>
      <p:pic>
        <p:nvPicPr>
          <p:cNvPr id="6" name="Image 0" descr="icons/helpCircle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5024" y="222656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18288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do we know the AI isn't hallucinating anomalies from random noise?”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2011680" y="2221992"/>
            <a:ext cx="9052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use generative AI to guess where minerals are. Classical geophysical filtering, geochem thresholding and structural intersections feed transparent deposit-model templates, backed by an auditable evidence matrix.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22960" y="3264408"/>
            <a:ext cx="10543032" cy="1417320"/>
          </a:xfrm>
          <a:prstGeom prst="roundRect">
            <a:avLst>
              <a:gd name="adj" fmla="val 6452"/>
            </a:avLst>
          </a:prstGeom>
          <a:solidFill>
            <a:srgbClr val="0F1120"/>
          </a:solidFill>
          <a:ln w="12700">
            <a:solidFill>
              <a:srgbClr val="1B1F3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65860" y="3630168"/>
            <a:ext cx="685800" cy="685800"/>
          </a:xfrm>
          <a:prstGeom prst="ellipse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>
                <a:alpha val="22000"/>
              </a:srgbClr>
            </a:solidFill>
            <a:prstDash val="solid"/>
          </a:ln>
        </p:spPr>
      </p:sp>
      <p:pic>
        <p:nvPicPr>
          <p:cNvPr id="11" name="Image 1" descr="icons/helpCircle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024" y="3799332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11680" y="340156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“Our concession data is confidential — we don't want competitors or your models trained on it.”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2011680" y="3794760"/>
            <a:ext cx="9052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tenant isolation, encrypted at rest and in transit. Project data is never used to train global or third-party models — and our track record securing Minerals Commission and Chamber of Mines data speaks for itself.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22960" y="4837176"/>
            <a:ext cx="10543032" cy="1417320"/>
          </a:xfrm>
          <a:prstGeom prst="roundRect">
            <a:avLst>
              <a:gd name="adj" fmla="val 6452"/>
            </a:avLst>
          </a:prstGeom>
          <a:solidFill>
            <a:srgbClr val="0F1120"/>
          </a:solidFill>
          <a:ln w="12700">
            <a:solidFill>
              <a:srgbClr val="1B1F3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65860" y="5202936"/>
            <a:ext cx="685800" cy="685800"/>
          </a:xfrm>
          <a:prstGeom prst="ellipse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>
                <a:alpha val="22000"/>
              </a:srgbClr>
            </a:solidFill>
            <a:prstDash val="solid"/>
          </a:ln>
        </p:spPr>
      </p:sp>
      <p:pic>
        <p:nvPicPr>
          <p:cNvPr id="16" name="Image 2" descr="icons/helpCircl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24" y="537210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11680" y="4974336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“Our geologists already use Leapfrog and QGIS.”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2011680" y="5367528"/>
            <a:ext cx="9052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TerraPulse doesn't replace Leapfrog's wireframing or QGIS's map composition — it's the upstream discovery engine, exporting clean KMLs and shapefiles straight into your existing workflow.</a:t>
            </a:r>
            <a:endParaRPr lang="en-US" sz="1100" dirty="0"/>
          </a:p>
        </p:txBody>
      </p:sp>
      <p:pic>
        <p:nvPicPr>
          <p:cNvPr id="19" name="Image 3" descr="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46520"/>
            <a:ext cx="822960" cy="2661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743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TERRAPULSE · VALUE PROPOSITION &amp; PRICING MODEL</a:t>
            </a:r>
            <a:endParaRPr lang="en-US" sz="800" dirty="0"/>
          </a:p>
        </p:txBody>
      </p:sp>
      <p:sp>
        <p:nvSpPr>
          <p:cNvPr id="21" name="Text 15"/>
          <p:cNvSpPr/>
          <p:nvPr/>
        </p:nvSpPr>
        <p:spPr>
          <a:xfrm>
            <a:off x="10607040" y="65105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B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rrai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0D">
              <a:alpha val="9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0" y="82296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CLOSING FORMULA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22960" y="118872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 Value = (Cost of 1 Avoided Dry Hole) + (Geologist Hours Saved) − (Licence Fee)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737360" y="21488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1 dry diamond drill hole (250m @ $250/m)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046720" y="2148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$62,500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37360" y="265176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geologist hours saved from data cleaning &amp; gridding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46720" y="2651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$7,500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737360" y="31546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TerraPulse Team Explorer licence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046720" y="31546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−$7,990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737360" y="3703320"/>
            <a:ext cx="8686800" cy="0"/>
          </a:xfrm>
          <a:prstGeom prst="line">
            <a:avLst/>
          </a:prstGeom>
          <a:noFill/>
          <a:ln w="12700">
            <a:solidFill>
              <a:srgbClr val="5B607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737360" y="388620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 Immediate Customer ROI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8046720" y="37947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+$62,010</a:t>
            </a:r>
            <a:pPr algn="r" indent="0" marL="0">
              <a:buNone/>
            </a:pPr>
            <a:r>
              <a:rPr lang="en-US" sz="1600" dirty="0">
                <a:solidFill>
                  <a:srgbClr val="9298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(8.7x return)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1280160" y="5806440"/>
            <a:ext cx="9628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2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TerraPulse: a risk-reduction and capital-efficiency instrument, easily justified out of routine drilling contingencies.</a:t>
            </a:r>
            <a:endParaRPr lang="en-US" sz="1300" dirty="0"/>
          </a:p>
        </p:txBody>
      </p:sp>
      <p:pic>
        <p:nvPicPr>
          <p:cNvPr id="16" name="Image 1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2888" y="6355080"/>
            <a:ext cx="1645920" cy="53228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2026-09-10T10:36:06Z</dcterms:created>
  <dcterms:modified xsi:type="dcterms:W3CDTF">2026-09-10T10:36:06Z</dcterms:modified>
</cp:coreProperties>
</file>