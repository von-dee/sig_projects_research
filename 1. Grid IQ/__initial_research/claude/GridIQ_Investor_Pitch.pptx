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Losses %</c:v>
                </c:pt>
              </c:strCache>
            </c:strRef>
          </c:tx>
          <c:spPr>
            <a:solidFill>
              <a:srgbClr val="0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CIE (Côte d'Ivoire)</c:v>
                  </c:pt>
                  <c:pt idx="1">
                    <c:v>SENELEC (Senegal)</c:v>
                  </c:pt>
                  <c:pt idx="2">
                    <c:v>SBEE (Benin)</c:v>
                  </c:pt>
                  <c:pt idx="3">
                    <c:v>NAWEC (Gambia)</c:v>
                  </c:pt>
                  <c:pt idx="4">
                    <c:v>NEDCO (Ghana)</c:v>
                  </c:pt>
                  <c:pt idx="5">
                    <c:v>ECG (Ghana)</c:v>
                  </c:pt>
                  <c:pt idx="6">
                    <c:v>EDSA (Sierra Leone)</c:v>
                  </c:pt>
                  <c:pt idx="7">
                    <c:v>EDG (Guinea)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8.7</c:v>
                </c:pt>
                <c:pt idx="1">
                  <c:v>17.4</c:v>
                </c:pt>
                <c:pt idx="2">
                  <c:v>22.2</c:v>
                </c:pt>
                <c:pt idx="3">
                  <c:v>22.7</c:v>
                </c:pt>
                <c:pt idx="4">
                  <c:v>26.5</c:v>
                </c:pt>
                <c:pt idx="5">
                  <c:v>28.4</c:v>
                </c:pt>
                <c:pt idx="6">
                  <c:v>38</c:v>
                </c:pt>
                <c:pt idx="7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NTL Component %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CIE (Côte d'Ivoire)</c:v>
                  </c:pt>
                  <c:pt idx="1">
                    <c:v>SENELEC (Senegal)</c:v>
                  </c:pt>
                  <c:pt idx="2">
                    <c:v>SBEE (Benin)</c:v>
                  </c:pt>
                  <c:pt idx="3">
                    <c:v>NAWEC (Gambia)</c:v>
                  </c:pt>
                  <c:pt idx="4">
                    <c:v>NEDCO (Ghana)</c:v>
                  </c:pt>
                  <c:pt idx="5">
                    <c:v>ECG (Ghana)</c:v>
                  </c:pt>
                  <c:pt idx="6">
                    <c:v>EDSA (Sierra Leone)</c:v>
                  </c:pt>
                  <c:pt idx="7">
                    <c:v>EDG (Guinea)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14</c:v>
                </c:pt>
                <c:pt idx="6">
                  <c:v>25</c:v>
                </c:pt>
                <c:pt idx="7">
                  <c:v>31.9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F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SaaS + Hardware</c:v>
                </c:pt>
              </c:strCache>
            </c:strRef>
          </c:tx>
          <c:spPr>
            <a:solidFill>
              <a:srgbClr val="0D9E75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0.28</c:v>
                </c:pt>
                <c:pt idx="1">
                  <c:v>0.55</c:v>
                </c:pt>
                <c:pt idx="2">
                  <c:v>1.1</c:v>
                </c:pt>
                <c:pt idx="3">
                  <c:v>2.2</c:v>
                </c:pt>
                <c:pt idx="4">
                  <c:v>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Recovery Fees</c:v>
                </c:pt>
              </c:strCache>
            </c:strRef>
          </c:tx>
          <c:spPr>
            <a:solidFill>
              <a:srgbClr val="EF9F27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0.12</c:v>
                </c:pt>
                <c:pt idx="2">
                  <c:v>0.4</c:v>
                </c:pt>
                <c:pt idx="3">
                  <c:v>0.9</c:v>
                </c:pt>
                <c:pt idx="4">
                  <c:v>1.7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Grant/DFI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0.35</c:v>
                </c:pt>
                <c:pt idx="1">
                  <c:v>0.5</c:v>
                </c:pt>
                <c:pt idx="2">
                  <c:v>0.7</c:v>
                </c:pt>
                <c:pt idx="3">
                  <c:v>0.8</c:v>
                </c:pt>
                <c:pt idx="4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 + Services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$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0.05</c:v>
                </c:pt>
                <c:pt idx="2">
                  <c:v>0.15</c:v>
                </c:pt>
                <c:pt idx="3">
                  <c:v>0.35</c:v>
                </c:pt>
                <c:pt idx="4">
                  <c:v>0.65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F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E75"/>
              </a:solidFill>
              <a:effectLst/>
            </c:spPr>
          </c:dPt>
          <c:dPt>
            <c:idx val="1"/>
            <c:bubble3D val="0"/>
            <c:spPr>
              <a:solidFill>
                <a:srgbClr val="1A3A4A"/>
              </a:solidFill>
              <a:effectLst/>
            </c:spPr>
          </c:dPt>
          <c:dPt>
            <c:idx val="2"/>
            <c:bubble3D val="0"/>
            <c:spPr>
              <a:solidFill>
                <a:srgbClr val="EF9F27"/>
              </a:solidFill>
              <a:effectLst/>
            </c:spPr>
          </c:dPt>
          <c:dPt>
            <c:idx val="3"/>
            <c:bubble3D val="0"/>
            <c:spPr>
              <a:solidFill>
                <a:srgbClr val="D85A30"/>
              </a:solidFill>
              <a:effectLst/>
            </c:spPr>
          </c:dPt>
          <c:dPt>
            <c:idx val="4"/>
            <c:bubble3D val="0"/>
            <c:spPr>
              <a:solidFill>
                <a:srgbClr val="9CA3AF"/>
              </a:solidFill>
              <a:effectLst/>
            </c:spPr>
          </c:dPt>
          <c:dPt>
            <c:idx val="5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D1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D1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D1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D1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D1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D1F2D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IoT Hardware + Deployment</c:v>
                </c:pt>
                <c:pt idx="1">
                  <c:v>Platform Engineering</c:v>
                </c:pt>
                <c:pt idx="2">
                  <c:v>AI Model Development</c:v>
                </c:pt>
                <c:pt idx="3">
                  <c:v>Operations + Field Staff</c:v>
                </c:pt>
                <c:pt idx="4">
                  <c:v>Regulatory + Legal</c:v>
                </c:pt>
                <c:pt idx="5">
                  <c:v>Working Capital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28</c:v>
                </c:pt>
                <c:pt idx="1">
                  <c:v>24</c:v>
                </c:pt>
                <c:pt idx="2">
                  <c:v>18</c:v>
                </c:pt>
                <c:pt idx="3">
                  <c:v>16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7F8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12D3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457200"/>
            <a:ext cx="2468880" cy="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234440"/>
            <a:ext cx="2468880" cy="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2011680"/>
            <a:ext cx="2468880" cy="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788920"/>
            <a:ext cx="2468880" cy="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3566160"/>
            <a:ext cx="2468880" cy="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4343400"/>
            <a:ext cx="2468880" cy="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22592" y="0"/>
            <a:ext cx="0" cy="514350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44384" y="0"/>
            <a:ext cx="0" cy="514350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6176" y="0"/>
            <a:ext cx="0" cy="514350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87968" y="0"/>
            <a:ext cx="0" cy="514350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731520"/>
            <a:ext cx="64008" cy="6400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3760" y="1371600"/>
            <a:ext cx="64008" cy="6400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0" y="548640"/>
            <a:ext cx="64008" cy="6400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19" name="Shape 17"/>
          <p:cNvSpPr/>
          <p:nvPr/>
        </p:nvSpPr>
        <p:spPr>
          <a:xfrm>
            <a:off x="8321040" y="1737360"/>
            <a:ext cx="64008" cy="6400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0" y="2560320"/>
            <a:ext cx="64008" cy="6400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0" y="3108960"/>
            <a:ext cx="64008" cy="6400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2743200"/>
            <a:ext cx="64008" cy="6400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0" y="3840480"/>
            <a:ext cx="64008" cy="6400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4389120"/>
            <a:ext cx="64008" cy="6400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0" y="2286000"/>
            <a:ext cx="64008" cy="64008"/>
          </a:xfrm>
          <a:prstGeom prst="ellipse">
            <a:avLst/>
          </a:prstGeom>
          <a:solidFill>
            <a:srgbClr val="0D9E75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315200" y="1645920"/>
            <a:ext cx="1097280" cy="10972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200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— INVESTOR BRIEF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20040" y="10058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GridIQ</a:t>
            </a:r>
            <a:endParaRPr lang="en-US" sz="6800" dirty="0"/>
          </a:p>
        </p:txBody>
      </p:sp>
      <p:sp>
        <p:nvSpPr>
          <p:cNvPr id="29" name="Text 26"/>
          <p:cNvSpPr/>
          <p:nvPr/>
        </p:nvSpPr>
        <p:spPr>
          <a:xfrm>
            <a:off x="320040" y="1783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 Africa</a:t>
            </a:r>
            <a:endParaRPr lang="en-US" sz="3400" dirty="0"/>
          </a:p>
        </p:txBody>
      </p:sp>
      <p:sp>
        <p:nvSpPr>
          <p:cNvPr id="30" name="Text 27"/>
          <p:cNvSpPr/>
          <p:nvPr/>
        </p:nvSpPr>
        <p:spPr>
          <a:xfrm>
            <a:off x="320040" y="26060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Grid Loss Intelligence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ECOWAS Distribution Utilities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20040" y="3520440"/>
            <a:ext cx="5029200" cy="0"/>
          </a:xfrm>
          <a:prstGeom prst="line">
            <a:avLst/>
          </a:prstGeom>
          <a:noFill/>
          <a:ln w="19050">
            <a:solidFill>
              <a:srgbClr val="0D9E7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RenewBiz  ·  AFCEN  ·  Smart Innovation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20040" y="4251960"/>
            <a:ext cx="1737360" cy="594360"/>
          </a:xfrm>
          <a:prstGeom prst="rect">
            <a:avLst/>
          </a:prstGeom>
          <a:solidFill>
            <a:srgbClr val="1A3A4A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42702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21.3%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20040" y="45079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ECOWAS Losses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2240280" y="4251960"/>
            <a:ext cx="1737360" cy="594360"/>
          </a:xfrm>
          <a:prstGeom prst="rect">
            <a:avLst/>
          </a:prstGeom>
          <a:solidFill>
            <a:srgbClr val="1A3A4A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240280" y="42702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$89B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2240280" y="45079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Global NTL Cost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160520" y="4251960"/>
            <a:ext cx="1737360" cy="594360"/>
          </a:xfrm>
          <a:prstGeom prst="rect">
            <a:avLst/>
          </a:prstGeom>
          <a:solidFill>
            <a:srgbClr val="1A3A4A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60520" y="42702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170M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4160520" y="45079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Without Access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STRUCTURAL PARADOX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1A3A4A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2412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 African utilities cannot account for, bill, and collect revenue from the electricity they already generate.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28600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286000"/>
            <a:ext cx="2651760" cy="411480"/>
          </a:xfrm>
          <a:prstGeom prst="rect">
            <a:avLst/>
          </a:prstGeom>
          <a:solidFill>
            <a:srgbClr val="EF9F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3500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 Growing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26.6 GW installed capacity.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96,057 GWh generated in 2023.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7.4% year-on-year growth.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154680" y="228600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2286000"/>
            <a:ext cx="2651760" cy="411480"/>
          </a:xfrm>
          <a:prstGeom prst="rect">
            <a:avLst/>
          </a:prstGeom>
          <a:solidFill>
            <a:srgbClr val="D85A3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34086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23500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Losses Accelerating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4612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21.3% average grid losses 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than 2× the global 8–10%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benchmark. Invisible and untracked.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89320" y="228600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89320" y="2286000"/>
            <a:ext cx="2651760" cy="411480"/>
          </a:xfrm>
          <a:prstGeom prst="rect">
            <a:avLst/>
          </a:prstGeom>
          <a:solidFill>
            <a:srgbClr val="0D9E7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34086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3500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Collapsing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08076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Utilities cannot service PPA debt,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maintain infrastructure, or attract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investment.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GridIQ breaks this cycle — by making invisible loss visible, recoverable, and bankable.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LOSS LANDSCAPE — ECOWAS UTILITY BENCHMARKS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4864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960120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89320" y="960120"/>
            <a:ext cx="54864" cy="8686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9966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21.3%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126480" y="1371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ECOWAS avg losses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89320" y="1984248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89320" y="1984248"/>
            <a:ext cx="54864" cy="868680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20208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8–10%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126480" y="23957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International benchmark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89320" y="3008376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89320" y="3008376"/>
            <a:ext cx="54864" cy="86868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0449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$1.2B+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26480" y="341985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Est. annual revenue lost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across ECOWAS utilities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89320" y="4032504"/>
            <a:ext cx="28346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4032504"/>
            <a:ext cx="54864" cy="868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4069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2–8 yr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126480" y="444398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EIS reporting lag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most ECOWAS members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target: EDSA Sierra Leone — 38% losses, ~25% NTL — highest-impact entry point in the region.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8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PREVIOUS INTERVENTIONS HAVE FAILED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691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D4A5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2471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1247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spatial loss attribution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29768" y="15544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feeder/transformer metering means losses are geographically invisible until month-end. By then, attribution is impossible.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960120"/>
            <a:ext cx="2743200" cy="1691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D4A5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2471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760" y="11247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collusion unaddressed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355848" y="15544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Significant NTL originates inside utilities — fraudulent tokens, billing manipulation. Technology alone, deployed naively, is neutered.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72200" y="960120"/>
            <a:ext cx="2743200" cy="1691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D4A5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24712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112471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Prepaid meter data siloed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281928" y="15544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Conlog/Hexing token data sits in vendor-proprietary systems with no utility GIS integration. No platform has bridged this gap.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20040" y="2880360"/>
            <a:ext cx="2743200" cy="1691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D4A5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4495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30449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Enforcement gap ignored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29768" y="34747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without enforcement is a cost centre. Most utilities lack legal authority and field capacity to act on alerts.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246120" y="2880360"/>
            <a:ext cx="2743200" cy="1691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D4A5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044952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94760" y="30449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resistance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355848" y="34747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Informal settlements treat grid access as a survival right. Enforcement without regularisation pathways triggers backlash.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72200" y="2880360"/>
            <a:ext cx="2743200" cy="1691640"/>
          </a:xfrm>
          <a:prstGeom prst="rect">
            <a:avLst/>
          </a:prstGeom>
          <a:solidFill>
            <a:srgbClr val="1A3A4A"/>
          </a:solidFill>
          <a:ln w="12700">
            <a:solidFill>
              <a:srgbClr val="1D4A5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044952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30449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EIS data blindness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281928" y="34747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2–8 year reporting lags mean DFIs and regulators are flying blind. Capital cannot price or deploy into an information vacuum.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320040" y="4800600"/>
            <a:ext cx="8503920" cy="0"/>
          </a:xfrm>
          <a:prstGeom prst="line">
            <a:avLst/>
          </a:prstGeom>
          <a:noFill/>
          <a:ln w="9525">
            <a:solidFill>
              <a:srgbClr val="0D9E75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GridIQ is the first platform to address all six failure modes simultaneously — with an architecture designed around them, not retrofitted to avoid them.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GRIDIQ 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1005840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0241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11556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6642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01168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sensors at distribution transformers + AI analysis of Conlog/Hexing token streams. Loss zones isolated in real time — with spatial attribution no previous system has achieved in this market.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2148840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0" y="914400"/>
            <a:ext cx="278892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0" y="914400"/>
            <a:ext cx="2788920" cy="100584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3" name="Shape 9"/>
          <p:cNvSpPr/>
          <p:nvPr/>
        </p:nvSpPr>
        <p:spPr>
          <a:xfrm>
            <a:off x="4251960" y="10241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1155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00400" y="16642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37560" y="201168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Georeferenced alerts + ranked investigation queue delivered to field teams. Community regularisation programme built into deployment. Internal fraud detection layer protects alert integrity.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148840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26480" y="914400"/>
            <a:ext cx="278892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126480" y="914400"/>
            <a:ext cx="2788920" cy="100584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0" name="Shape 14"/>
          <p:cNvSpPr/>
          <p:nvPr/>
        </p:nvSpPr>
        <p:spPr>
          <a:xfrm>
            <a:off x="7178040" y="1024128"/>
            <a:ext cx="685800" cy="6858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1115568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26480" y="166420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263640" y="201168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grid data exported via REST API to ECOWAS EIS monthly. DFI-format impact reports (AfDB, IFC, AFD, EU) auto-generated. The region's first live EIS pipeline — replacing 8-year reporting lags.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ARCHITECTURE — SIX COMPONENTS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1207008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399032"/>
            <a:ext cx="466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0332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Meter Analytics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130759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ML + Token-Stream AI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15270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NTL detection calibrated to Conlog/Hexing token-purchase events — the only such engine in the ECOWAS market.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502920" cy="1207008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1399032"/>
            <a:ext cx="466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0332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Grid Sensors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0" y="130759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4G/LoRaWAN · IP65 · 48hr Battery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03520" y="15270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ruggedised sensors at transformers and feeders. Voltage, current, power factor at 15-min intervals.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13432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13432"/>
            <a:ext cx="502920" cy="1207008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" y="2752344"/>
            <a:ext cx="466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38658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GIS Loss Dashboard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26609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Web · EN/FR · 2G/3G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68680" y="2880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loss map, zone drill-down, alert feed, investigation queue. Six modules. Bilingual, low-bandwidth.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313432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313432"/>
            <a:ext cx="502920" cy="1207008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24" name="Text 22"/>
          <p:cNvSpPr/>
          <p:nvPr/>
        </p:nvSpPr>
        <p:spPr>
          <a:xfrm>
            <a:off x="4727448" y="2752344"/>
            <a:ext cx="466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38658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EIS Reporting Pipeline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03520" y="26609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 · JSON Schema · Co-Validated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03520" y="28803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structured feed to ECOWAS EIS. Replaces 2–8 year manual reporting lags with live, verified data.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66744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66744"/>
            <a:ext cx="502920" cy="1207008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30" name="Text 28"/>
          <p:cNvSpPr/>
          <p:nvPr/>
        </p:nvSpPr>
        <p:spPr>
          <a:xfrm>
            <a:off x="292608" y="4105656"/>
            <a:ext cx="466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37398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Maintenance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68680" y="401421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Anomaly Detection · Monthly Rankings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68680" y="423367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 transformer degradation detection. Targets 15–25% reduction in unplanned outages by Year 2.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3666744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666744"/>
            <a:ext cx="502920" cy="1207008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36" name="Text 34"/>
          <p:cNvSpPr/>
          <p:nvPr/>
        </p:nvSpPr>
        <p:spPr>
          <a:xfrm>
            <a:off x="4727448" y="4105656"/>
            <a:ext cx="466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7398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ROI Tracker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03520" y="401421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AfDB · IFC · AFD · EU Export Formats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03520" y="423367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Auditable revenue recovery accounting. Grant reporting auto-generated — making accountability frictionless.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8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GRIDIQ SOLVES WHAT OTHERS COULDN'T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961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 Mode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63440" y="8961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GridIQ Response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61872"/>
            <a:ext cx="8595360" cy="566928"/>
          </a:xfrm>
          <a:prstGeom prst="rect">
            <a:avLst/>
          </a:prstGeom>
          <a:solidFill>
            <a:srgbClr val="1A3A4A"/>
          </a:solidFill>
          <a:ln w="12700">
            <a:solidFill>
              <a:srgbClr val="1D4A5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0817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3533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staff corruption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0817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56048" y="13075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Two-tier alert access: field alerts visible to inspectors; internal fraud flags visible only to MD/CEO. Immutable audit log prevents suppression.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1874520"/>
            <a:ext cx="8595360" cy="566928"/>
          </a:xfrm>
          <a:prstGeom prst="rect">
            <a:avLst/>
          </a:prstGeom>
          <a:solidFill>
            <a:srgbClr val="122535"/>
          </a:solidFill>
          <a:ln w="12700">
            <a:solidFill>
              <a:srgbClr val="1D4A5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208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" y="196596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without enforcement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02082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56048" y="19202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enforcement MOU with Ministry of Energy embedded in every deployment. Community liaison officers on-contract as part of field operations.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274320" y="2487168"/>
            <a:ext cx="8595360" cy="566928"/>
          </a:xfrm>
          <a:prstGeom prst="rect">
            <a:avLst/>
          </a:prstGeom>
          <a:solidFill>
            <a:srgbClr val="1A3A4A"/>
          </a:solidFill>
          <a:ln w="12700">
            <a:solidFill>
              <a:srgbClr val="1D4A5E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633472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8368" y="257860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resistance to enforcement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2633472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56048" y="253288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Regularisation Programme: customers with anomalous profiles offered legal connection at subsidised rate before enforcement action is taken.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274320" y="3099816"/>
            <a:ext cx="8595360" cy="566928"/>
          </a:xfrm>
          <a:prstGeom prst="rect">
            <a:avLst/>
          </a:prstGeom>
          <a:solidFill>
            <a:srgbClr val="122535"/>
          </a:solidFill>
          <a:ln w="12700">
            <a:solidFill>
              <a:srgbClr val="1D4A5E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3246120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58368" y="319125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models degrading over time</a:t>
            </a:r>
            <a:endParaRPr lang="en-US" sz="1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3246120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956048" y="314553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Confirmed field outcomes feed monthly model retraining. False-positive tracking dashboard. Model accuracy KPI reported to utility board quarterly.</a:t>
            </a:r>
            <a:endParaRPr lang="en-US" sz="1000" dirty="0"/>
          </a:p>
        </p:txBody>
      </p:sp>
      <p:sp>
        <p:nvSpPr>
          <p:cNvPr id="27" name="Shape 17"/>
          <p:cNvSpPr/>
          <p:nvPr/>
        </p:nvSpPr>
        <p:spPr>
          <a:xfrm>
            <a:off x="274320" y="3712464"/>
            <a:ext cx="8595360" cy="566928"/>
          </a:xfrm>
          <a:prstGeom prst="rect">
            <a:avLst/>
          </a:prstGeom>
          <a:solidFill>
            <a:srgbClr val="1A3A4A"/>
          </a:solidFill>
          <a:ln w="12700">
            <a:solidFill>
              <a:srgbClr val="1D4A5E"/>
            </a:solidFill>
            <a:prstDash val="solid"/>
          </a:ln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" y="3858768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58368" y="380390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Tariff below cost-recovery level</a:t>
            </a:r>
            <a:endParaRPr lang="en-US" sz="11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720" y="3858768"/>
            <a:ext cx="256032" cy="25603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956048" y="375818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ROI model accounts for prevailing tariff explicitly. Revenue recovery framed as loss-reduction, not billing — politically defensible framing.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274320" y="4325112"/>
            <a:ext cx="8595360" cy="566928"/>
          </a:xfrm>
          <a:prstGeom prst="rect">
            <a:avLst/>
          </a:prstGeom>
          <a:solidFill>
            <a:srgbClr val="122535"/>
          </a:solidFill>
          <a:ln w="12700">
            <a:solidFill>
              <a:srgbClr val="1D4A5E"/>
            </a:solidFill>
            <a:prstDash val="solid"/>
          </a:ln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" y="4471416"/>
            <a:ext cx="256032" cy="25603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58368" y="441655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Telecom/Chinese competitor entry</a:t>
            </a:r>
            <a:endParaRPr lang="en-US" sz="110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7720" y="4471416"/>
            <a:ext cx="256032" cy="25603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956048" y="43708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ECOWAS EIS integration and prepaid token-stream IP create switching costs. Utility data assets accrue to GridIQ — not reproducible without re-deployment.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MODEL — SIX MONETISATION STREAMS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61288"/>
            <a:ext cx="594360" cy="594360"/>
          </a:xfrm>
          <a:prstGeom prst="ellipse">
            <a:avLst/>
          </a:prstGeom>
          <a:solidFill>
            <a:srgbClr val="0D9E7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6187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0332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Utility SaaS Licence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15568" y="12984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/ Per Utility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97280" y="1271016"/>
            <a:ext cx="2011680" cy="237744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127101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/ Per Utility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15568" y="15544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access, AI analytics, EIS pipeline, maintenance. Scales with feeder count.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115568" y="1901952"/>
            <a:ext cx="3337560" cy="182880"/>
          </a:xfrm>
          <a:prstGeom prst="rect">
            <a:avLst/>
          </a:prstGeom>
          <a:solidFill>
            <a:srgbClr val="F0FBF6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190195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50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$80–150K/yr per utility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09160" y="96012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1161288"/>
            <a:ext cx="594360" cy="594360"/>
          </a:xfrm>
          <a:prstGeom prst="ellipse">
            <a:avLst/>
          </a:prstGeom>
          <a:solidFill>
            <a:srgbClr val="0D9E75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26187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50408" y="10332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Hardware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550408" y="12984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Capex or Lease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532120" y="1271016"/>
            <a:ext cx="2011680" cy="237744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20" name="Text 16"/>
          <p:cNvSpPr/>
          <p:nvPr/>
        </p:nvSpPr>
        <p:spPr>
          <a:xfrm>
            <a:off x="5532120" y="127101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Capex or Lease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550408" y="155448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Ruggedised sensors, LoRaWAN gateways, installation. Lease option for cash-constrained utilities.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550408" y="1901952"/>
            <a:ext cx="3337560" cy="182880"/>
          </a:xfrm>
          <a:prstGeom prst="rect">
            <a:avLst/>
          </a:prstGeom>
          <a:solidFill>
            <a:srgbClr val="F0FBF6"/>
          </a:solidFill>
          <a:ln/>
        </p:spPr>
      </p:sp>
      <p:sp>
        <p:nvSpPr>
          <p:cNvPr id="23" name="Text 19"/>
          <p:cNvSpPr/>
          <p:nvPr/>
        </p:nvSpPr>
        <p:spPr>
          <a:xfrm>
            <a:off x="5550408" y="190195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50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$120–200K per 10-sensor deploy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274320" y="22860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11480" y="2487168"/>
            <a:ext cx="594360" cy="594360"/>
          </a:xfrm>
          <a:prstGeom prst="ellipse">
            <a:avLst/>
          </a:prstGeom>
          <a:solidFill>
            <a:srgbClr val="0D9E75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587752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15568" y="23591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Performance Fee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115568" y="2624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 of Verified Recovery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1097280" y="2596896"/>
            <a:ext cx="2011680" cy="237744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30" name="Text 25"/>
          <p:cNvSpPr/>
          <p:nvPr/>
        </p:nvSpPr>
        <p:spPr>
          <a:xfrm>
            <a:off x="1097280" y="25968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 of Verified Recovery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115568" y="28803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of auditable NTL revenue recovered via platform alerts. Aligns GridIQ incentives with utility outcomes.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1115568" y="3227832"/>
            <a:ext cx="3337560" cy="182880"/>
          </a:xfrm>
          <a:prstGeom prst="rect">
            <a:avLst/>
          </a:prstGeom>
          <a:solidFill>
            <a:srgbClr val="F0FBF6"/>
          </a:solidFill>
          <a:ln/>
        </p:spPr>
      </p:sp>
      <p:sp>
        <p:nvSpPr>
          <p:cNvPr id="33" name="Text 28"/>
          <p:cNvSpPr/>
          <p:nvPr/>
        </p:nvSpPr>
        <p:spPr>
          <a:xfrm>
            <a:off x="1115568" y="322783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50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8–12% of recovered revenue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4709160" y="228600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4846320" y="2487168"/>
            <a:ext cx="594360" cy="594360"/>
          </a:xfrm>
          <a:prstGeom prst="ellipse">
            <a:avLst/>
          </a:prstGeom>
          <a:solidFill>
            <a:srgbClr val="0D9E75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587752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550408" y="23591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Grant &amp; DFI Project Fees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5550408" y="2624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Programme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5532120" y="2596896"/>
            <a:ext cx="2011680" cy="237744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40" name="Text 34"/>
          <p:cNvSpPr/>
          <p:nvPr/>
        </p:nvSpPr>
        <p:spPr>
          <a:xfrm>
            <a:off x="5532120" y="25968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Programme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5550408" y="288036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 fees embedded in AfDB, EU, IFC energy programmes. ROI Tracker makes GridIQ the natural grant-accounting tool.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5550408" y="3227832"/>
            <a:ext cx="3337560" cy="182880"/>
          </a:xfrm>
          <a:prstGeom prst="rect">
            <a:avLst/>
          </a:prstGeom>
          <a:solidFill>
            <a:srgbClr val="F0FBF6"/>
          </a:solidFill>
          <a:ln/>
        </p:spPr>
      </p:sp>
      <p:sp>
        <p:nvSpPr>
          <p:cNvPr id="43" name="Text 37"/>
          <p:cNvSpPr/>
          <p:nvPr/>
        </p:nvSpPr>
        <p:spPr>
          <a:xfrm>
            <a:off x="5550408" y="322783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50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$200–500K per programme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274320" y="361188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411480" y="3813048"/>
            <a:ext cx="594360" cy="594360"/>
          </a:xfrm>
          <a:prstGeom prst="ellipse">
            <a:avLst/>
          </a:prstGeom>
          <a:solidFill>
            <a:srgbClr val="0D9E75"/>
          </a:solidFill>
          <a:ln/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913632"/>
            <a:ext cx="384048" cy="38404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1115568" y="36850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ECOWAS EIS Data Licence</a:t>
            </a:r>
            <a:endParaRPr lang="en-US" sz="1150" dirty="0"/>
          </a:p>
        </p:txBody>
      </p:sp>
      <p:sp>
        <p:nvSpPr>
          <p:cNvPr id="48" name="Text 41"/>
          <p:cNvSpPr/>
          <p:nvPr/>
        </p:nvSpPr>
        <p:spPr>
          <a:xfrm>
            <a:off x="1115568" y="39502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Subscription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1097280" y="3922776"/>
            <a:ext cx="2011680" cy="237744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50" name="Text 43"/>
          <p:cNvSpPr/>
          <p:nvPr/>
        </p:nvSpPr>
        <p:spPr>
          <a:xfrm>
            <a:off x="1097280" y="39227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Subscription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1115568" y="42062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Aggregated regional grid intelligence sold to ECOWAS Secretariat, DFIs, and private investors.</a:t>
            </a:r>
            <a:endParaRPr lang="en-US" sz="950" dirty="0"/>
          </a:p>
        </p:txBody>
      </p:sp>
      <p:sp>
        <p:nvSpPr>
          <p:cNvPr id="52" name="Shape 45"/>
          <p:cNvSpPr/>
          <p:nvPr/>
        </p:nvSpPr>
        <p:spPr>
          <a:xfrm>
            <a:off x="1115568" y="4553712"/>
            <a:ext cx="3337560" cy="182880"/>
          </a:xfrm>
          <a:prstGeom prst="rect">
            <a:avLst/>
          </a:prstGeom>
          <a:solidFill>
            <a:srgbClr val="F0FBF6"/>
          </a:solidFill>
          <a:ln/>
        </p:spPr>
      </p:sp>
      <p:sp>
        <p:nvSpPr>
          <p:cNvPr id="53" name="Text 46"/>
          <p:cNvSpPr/>
          <p:nvPr/>
        </p:nvSpPr>
        <p:spPr>
          <a:xfrm>
            <a:off x="1115568" y="455371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50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$50–100K/yr (ECOWAS + DFIs)</a:t>
            </a:r>
            <a:endParaRPr lang="en-US" sz="850" dirty="0"/>
          </a:p>
        </p:txBody>
      </p:sp>
      <p:sp>
        <p:nvSpPr>
          <p:cNvPr id="54" name="Shape 47"/>
          <p:cNvSpPr/>
          <p:nvPr/>
        </p:nvSpPr>
        <p:spPr>
          <a:xfrm>
            <a:off x="4709160" y="3611880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48"/>
          <p:cNvSpPr/>
          <p:nvPr/>
        </p:nvSpPr>
        <p:spPr>
          <a:xfrm>
            <a:off x="4846320" y="3813048"/>
            <a:ext cx="594360" cy="594360"/>
          </a:xfrm>
          <a:prstGeom prst="ellipse">
            <a:avLst/>
          </a:prstGeom>
          <a:solidFill>
            <a:srgbClr val="0D9E75"/>
          </a:solidFill>
          <a:ln/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913632"/>
            <a:ext cx="384048" cy="384048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5550408" y="36850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Services</a:t>
            </a:r>
            <a:endParaRPr lang="en-US" sz="1150" dirty="0"/>
          </a:p>
        </p:txBody>
      </p:sp>
      <p:sp>
        <p:nvSpPr>
          <p:cNvPr id="58" name="Text 50"/>
          <p:cNvSpPr/>
          <p:nvPr/>
        </p:nvSpPr>
        <p:spPr>
          <a:xfrm>
            <a:off x="5550408" y="39502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Contract</a:t>
            </a:r>
            <a:endParaRPr lang="en-US" sz="900" dirty="0"/>
          </a:p>
        </p:txBody>
      </p:sp>
      <p:sp>
        <p:nvSpPr>
          <p:cNvPr id="59" name="Shape 51"/>
          <p:cNvSpPr/>
          <p:nvPr/>
        </p:nvSpPr>
        <p:spPr>
          <a:xfrm>
            <a:off x="5532120" y="3922776"/>
            <a:ext cx="2011680" cy="237744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60" name="Text 52"/>
          <p:cNvSpPr/>
          <p:nvPr/>
        </p:nvSpPr>
        <p:spPr>
          <a:xfrm>
            <a:off x="5532120" y="39227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Contract</a:t>
            </a:r>
            <a:endParaRPr lang="en-US" sz="850" dirty="0"/>
          </a:p>
        </p:txBody>
      </p:sp>
      <p:sp>
        <p:nvSpPr>
          <p:cNvPr id="61" name="Text 53"/>
          <p:cNvSpPr/>
          <p:nvPr/>
        </p:nvSpPr>
        <p:spPr>
          <a:xfrm>
            <a:off x="5550408" y="420624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calibration, firmware, field support, quarterly board reports for utilities with limited technical staff.</a:t>
            </a:r>
            <a:endParaRPr lang="en-US" sz="950" dirty="0"/>
          </a:p>
        </p:txBody>
      </p:sp>
      <p:sp>
        <p:nvSpPr>
          <p:cNvPr id="62" name="Shape 54"/>
          <p:cNvSpPr/>
          <p:nvPr/>
        </p:nvSpPr>
        <p:spPr>
          <a:xfrm>
            <a:off x="5550408" y="4553712"/>
            <a:ext cx="3337560" cy="182880"/>
          </a:xfrm>
          <a:prstGeom prst="rect">
            <a:avLst/>
          </a:prstGeom>
          <a:solidFill>
            <a:srgbClr val="F0FBF6"/>
          </a:solidFill>
          <a:ln/>
        </p:spPr>
      </p:sp>
      <p:sp>
        <p:nvSpPr>
          <p:cNvPr id="63" name="Text 55"/>
          <p:cNvSpPr/>
          <p:nvPr/>
        </p:nvSpPr>
        <p:spPr>
          <a:xfrm>
            <a:off x="5550408" y="4553712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50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$30–60K/yr per utility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 — 5-YEAR MODEL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 rot="16200000">
            <a:off x="0" y="2194560"/>
            <a:ext cx="640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(USD Millions)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989320" y="960120"/>
            <a:ext cx="2834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80760" y="10058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1 Revenue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80760" y="119786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$630K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080760" y="149047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pilot utility + grant funding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989320" y="1764792"/>
            <a:ext cx="2834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80760" y="18105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Break-even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80760" y="20025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080760" y="2295144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base-case assumptions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989320" y="2569464"/>
            <a:ext cx="2834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80760" y="261518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3 Revenue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80760" y="2807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$2.35M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080760" y="309981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utilities + EIS data product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89320" y="3374136"/>
            <a:ext cx="2834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80760" y="341985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5 Revenue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80760" y="3611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$7.15M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080760" y="390448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8+ utilities, regional platform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89320" y="4178808"/>
            <a:ext cx="28346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080760" y="42245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Gross Margin (Y3)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080760" y="44165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080760" y="470916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Predominantly software + fees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Projections based on: 1 pilot utility Y1 → 3 utilities Y3 → 8+ utilities Y5. SaaS at $100K avg/utility/yr. Recovery fee = 10% of verified NTL reduction.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MOAT — FIVE STRUCTURAL ADVANTAGES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96112"/>
            <a:ext cx="54864" cy="704088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033272"/>
            <a:ext cx="438912" cy="438912"/>
          </a:xfrm>
          <a:prstGeom prst="ellipse">
            <a:avLst/>
          </a:prstGeom>
          <a:solidFill>
            <a:srgbClr val="0D9E7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1155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9692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Token-stream AI (proprietary)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26187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only NTL engine trained on Conlog/Hexing token-purchase event streams. Competitors require monthly AMI data no ECOWAS utility currently has. Training data is a non-transferable asset.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1700784"/>
            <a:ext cx="8595360" cy="704088"/>
          </a:xfrm>
          <a:prstGeom prst="rect">
            <a:avLst/>
          </a:prstGeom>
          <a:solidFill>
            <a:srgbClr val="F7F8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700784"/>
            <a:ext cx="54864" cy="704088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12" name="Shape 9"/>
          <p:cNvSpPr/>
          <p:nvPr/>
        </p:nvSpPr>
        <p:spPr>
          <a:xfrm>
            <a:off x="384048" y="1837944"/>
            <a:ext cx="438912" cy="438912"/>
          </a:xfrm>
          <a:prstGeom prst="ellipse">
            <a:avLst/>
          </a:prstGeom>
          <a:solidFill>
            <a:srgbClr val="0D9E7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02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17739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ECOWAS EIS API (first-mover)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14400" y="206654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standardised connection to the ECOWAS Energy Information System. GridIQ becomes the path of least resistance for every ECOWAS utility seeking to meet reporting obligations — before any competitor can engage.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74320" y="2505456"/>
            <a:ext cx="859536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2505456"/>
            <a:ext cx="54864" cy="704088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18" name="Shape 14"/>
          <p:cNvSpPr/>
          <p:nvPr/>
        </p:nvSpPr>
        <p:spPr>
          <a:xfrm>
            <a:off x="384048" y="2642616"/>
            <a:ext cx="438912" cy="438912"/>
          </a:xfrm>
          <a:prstGeom prst="ellipse">
            <a:avLst/>
          </a:prstGeom>
          <a:solidFill>
            <a:srgbClr val="0D9E7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72491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400" y="2578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ECOWAS-spec hardware stack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14400" y="287121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IP65 sensors + LoRaWAN fallback + 48-hr battery — purpose-built for West African substations. Not repurposed from European deployments. Field-tested specifications Western and Chinese competitors have not validated for this context.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74320" y="3310128"/>
            <a:ext cx="8595360" cy="704088"/>
          </a:xfrm>
          <a:prstGeom prst="rect">
            <a:avLst/>
          </a:prstGeom>
          <a:solidFill>
            <a:srgbClr val="F7F8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74320" y="3310128"/>
            <a:ext cx="54864" cy="704088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24" name="Shape 19"/>
          <p:cNvSpPr/>
          <p:nvPr/>
        </p:nvSpPr>
        <p:spPr>
          <a:xfrm>
            <a:off x="384048" y="3447288"/>
            <a:ext cx="438912" cy="438912"/>
          </a:xfrm>
          <a:prstGeom prst="ellipse">
            <a:avLst/>
          </a:prstGeom>
          <a:solidFill>
            <a:srgbClr val="0D9E7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52958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44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DFI reporting native (not add-on)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14400" y="367588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AfDB, IFC, AFD, and EU formats built into the core product, not bolted on. Makes GridIQ the de facto standard for any DFI-funded utility modernisation programme — turning every grant programme into a sales channel.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274320" y="4114800"/>
            <a:ext cx="8595360" cy="704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274320" y="4114800"/>
            <a:ext cx="54864" cy="704088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30" name="Shape 24"/>
          <p:cNvSpPr/>
          <p:nvPr/>
        </p:nvSpPr>
        <p:spPr>
          <a:xfrm>
            <a:off x="384048" y="4251960"/>
            <a:ext cx="438912" cy="438912"/>
          </a:xfrm>
          <a:prstGeom prst="ellipse">
            <a:avLst/>
          </a:prstGeom>
          <a:solidFill>
            <a:srgbClr val="0D9E75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334256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14400" y="4187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Enforcement + community design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14400" y="44805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Regularisation programme and enforcement MOU are part of the deployment package. Competitors who copy the technology still cannot copy the operational model — community trust and legal framework take years to build.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8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GO-TO-MARKET STRATEGY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57400" cy="39776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2057400" cy="685800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5097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6642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Sierra Leone Pilot — EDSA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2057400"/>
            <a:ext cx="1920240" cy="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194560"/>
            <a:ext cx="91440" cy="91440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1396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IoT sensors deployed; baseline NTL measured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542032"/>
            <a:ext cx="91440" cy="91440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487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calibrated to EDSA Hexing token data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889504"/>
            <a:ext cx="91440" cy="91440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834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live ECOWAS EIS report generated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236976"/>
            <a:ext cx="91440" cy="91440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182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ROI documented; enforcement MOU signed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3584448"/>
            <a:ext cx="91440" cy="91440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5295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Regularisation programme launched in pilot zone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0592" y="914400"/>
            <a:ext cx="2057400" cy="39776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450592" y="914400"/>
            <a:ext cx="2057400" cy="68580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1" name="Text 19"/>
          <p:cNvSpPr/>
          <p:nvPr/>
        </p:nvSpPr>
        <p:spPr>
          <a:xfrm>
            <a:off x="2496312" y="95097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23744" y="16642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Ghana Expansion — ECG + NEDCO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23744" y="2057400"/>
            <a:ext cx="1920240" cy="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2194560"/>
            <a:ext cx="91440" cy="914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5" name="Text 23"/>
          <p:cNvSpPr/>
          <p:nvPr/>
        </p:nvSpPr>
        <p:spPr>
          <a:xfrm>
            <a:off x="2706624" y="21396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 outcomes data used as sales evidence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0" y="2542032"/>
            <a:ext cx="91440" cy="914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7" name="Text 25"/>
          <p:cNvSpPr/>
          <p:nvPr/>
        </p:nvSpPr>
        <p:spPr>
          <a:xfrm>
            <a:off x="2706624" y="2487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Dual-utility deployment; sensor network scaled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0" y="2889504"/>
            <a:ext cx="91440" cy="914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9" name="Text 27"/>
          <p:cNvSpPr/>
          <p:nvPr/>
        </p:nvSpPr>
        <p:spPr>
          <a:xfrm>
            <a:off x="2706624" y="2834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retrained on second national meter dataset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3236976"/>
            <a:ext cx="91440" cy="914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1" name="Text 29"/>
          <p:cNvSpPr/>
          <p:nvPr/>
        </p:nvSpPr>
        <p:spPr>
          <a:xfrm>
            <a:off x="2706624" y="3182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AfDB/EU grant pipeline activated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0" y="3584448"/>
            <a:ext cx="91440" cy="914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33" name="Text 31"/>
          <p:cNvSpPr/>
          <p:nvPr/>
        </p:nvSpPr>
        <p:spPr>
          <a:xfrm>
            <a:off x="2706624" y="35295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EIS data product launched for ECOWAS Secretariat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26864" y="914400"/>
            <a:ext cx="2057400" cy="39776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4626864" y="914400"/>
            <a:ext cx="2057400" cy="6858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36" name="Text 34"/>
          <p:cNvSpPr/>
          <p:nvPr/>
        </p:nvSpPr>
        <p:spPr>
          <a:xfrm>
            <a:off x="4672584" y="95097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Yrs 3–4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0016" y="16642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ECOWAS Regional — 5 Utilities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0016" y="2057400"/>
            <a:ext cx="1920240" cy="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36592" y="2194560"/>
            <a:ext cx="91440" cy="914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40" name="Text 38"/>
          <p:cNvSpPr/>
          <p:nvPr/>
        </p:nvSpPr>
        <p:spPr>
          <a:xfrm>
            <a:off x="4882896" y="21396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NAWEC (Gambia), SBEE (Benin), SENELEC (Senegal)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36592" y="2542032"/>
            <a:ext cx="91440" cy="914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42" name="Text 40"/>
          <p:cNvSpPr/>
          <p:nvPr/>
        </p:nvSpPr>
        <p:spPr>
          <a:xfrm>
            <a:off x="4882896" y="2487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GridIQ positioned as ECOWAS utility standard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36592" y="2889504"/>
            <a:ext cx="91440" cy="914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44" name="Text 42"/>
          <p:cNvSpPr/>
          <p:nvPr/>
        </p:nvSpPr>
        <p:spPr>
          <a:xfrm>
            <a:off x="4882896" y="2834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EIS data feed as standalone subscription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36592" y="3236976"/>
            <a:ext cx="91440" cy="914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46" name="Text 44"/>
          <p:cNvSpPr/>
          <p:nvPr/>
        </p:nvSpPr>
        <p:spPr>
          <a:xfrm>
            <a:off x="4882896" y="3182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DFI embedding in lending covenants initiated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36592" y="3584448"/>
            <a:ext cx="91440" cy="914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48" name="Text 46"/>
          <p:cNvSpPr/>
          <p:nvPr/>
        </p:nvSpPr>
        <p:spPr>
          <a:xfrm>
            <a:off x="4882896" y="35295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services contracts at scale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03136" y="914400"/>
            <a:ext cx="2057400" cy="39776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50" name="Shape 48"/>
          <p:cNvSpPr/>
          <p:nvPr/>
        </p:nvSpPr>
        <p:spPr>
          <a:xfrm>
            <a:off x="6803136" y="914400"/>
            <a:ext cx="2057400" cy="68580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51" name="Text 49"/>
          <p:cNvSpPr/>
          <p:nvPr/>
        </p:nvSpPr>
        <p:spPr>
          <a:xfrm>
            <a:off x="6848856" y="95097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Yr 5+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76288" y="16642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Continental Platform Licensing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6288" y="2057400"/>
            <a:ext cx="1920240" cy="0"/>
          </a:xfrm>
          <a:prstGeom prst="line">
            <a:avLst/>
          </a:prstGeom>
          <a:noFill/>
          <a:ln w="6350">
            <a:solidFill>
              <a:srgbClr val="1D4A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12864" y="2194560"/>
            <a:ext cx="91440" cy="91440"/>
          </a:xfrm>
          <a:prstGeom prst="ellipse">
            <a:avLst/>
          </a:prstGeom>
          <a:solidFill>
            <a:srgbClr val="1A3A4A"/>
          </a:solidFill>
          <a:ln/>
        </p:spPr>
      </p:sp>
      <p:sp>
        <p:nvSpPr>
          <p:cNvPr id="55" name="Text 53"/>
          <p:cNvSpPr/>
          <p:nvPr/>
        </p:nvSpPr>
        <p:spPr>
          <a:xfrm>
            <a:off x="7059168" y="21396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License AI models to EAPP/SAPP corridor utilities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12864" y="2542032"/>
            <a:ext cx="91440" cy="91440"/>
          </a:xfrm>
          <a:prstGeom prst="ellipse">
            <a:avLst/>
          </a:prstGeom>
          <a:solidFill>
            <a:srgbClr val="1A3A4A"/>
          </a:solidFill>
          <a:ln/>
        </p:spPr>
      </p:sp>
      <p:sp>
        <p:nvSpPr>
          <p:cNvPr id="57" name="Text 55"/>
          <p:cNvSpPr/>
          <p:nvPr/>
        </p:nvSpPr>
        <p:spPr>
          <a:xfrm>
            <a:off x="7059168" y="2487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 GridIQ as DFI programme requirement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12864" y="2889504"/>
            <a:ext cx="91440" cy="91440"/>
          </a:xfrm>
          <a:prstGeom prst="ellipse">
            <a:avLst/>
          </a:prstGeom>
          <a:solidFill>
            <a:srgbClr val="1A3A4A"/>
          </a:solidFill>
          <a:ln/>
        </p:spPr>
      </p:sp>
      <p:sp>
        <p:nvSpPr>
          <p:cNvPr id="59" name="Text 57"/>
          <p:cNvSpPr/>
          <p:nvPr/>
        </p:nvSpPr>
        <p:spPr>
          <a:xfrm>
            <a:off x="7059168" y="2834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 JV with regional telecom for agent network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12864" y="3236976"/>
            <a:ext cx="91440" cy="91440"/>
          </a:xfrm>
          <a:prstGeom prst="ellipse">
            <a:avLst/>
          </a:prstGeom>
          <a:solidFill>
            <a:srgbClr val="1A3A4A"/>
          </a:solidFill>
          <a:ln/>
        </p:spPr>
      </p:sp>
      <p:sp>
        <p:nvSpPr>
          <p:cNvPr id="61" name="Text 59"/>
          <p:cNvSpPr/>
          <p:nvPr/>
        </p:nvSpPr>
        <p:spPr>
          <a:xfrm>
            <a:off x="7059168" y="3182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Seek ECOWAS Secretariat institutional partnership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DFI-as-channel: Every grant-funded deployment is also a sales case study. Each ROI report is a credentialed proof point for the next utility.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PLAN — YEAR 1 EXECUTION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194560" y="896112"/>
            <a:ext cx="6583680" cy="256032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5" name="Text 3"/>
          <p:cNvSpPr/>
          <p:nvPr/>
        </p:nvSpPr>
        <p:spPr>
          <a:xfrm>
            <a:off x="2194560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0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91840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0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89120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37760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0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35040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M8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83680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0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80960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8961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7160" y="12390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Utility MOU + Enforcement Agreement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94560" y="1243584"/>
            <a:ext cx="1097280" cy="219456"/>
          </a:xfrm>
          <a:prstGeom prst="rect">
            <a:avLst/>
          </a:prstGeom>
          <a:solidFill>
            <a:srgbClr val="0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15453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procurement + shipping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0" y="1549908"/>
            <a:ext cx="1097280" cy="219456"/>
          </a:xfrm>
          <a:prstGeom prst="rect">
            <a:avLst/>
          </a:prstGeom>
          <a:solidFill>
            <a:srgbClr val="1A3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8516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installation + calibration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91840" y="1856232"/>
            <a:ext cx="1097280" cy="219456"/>
          </a:xfrm>
          <a:prstGeom prst="rect">
            <a:avLst/>
          </a:prstGeom>
          <a:solidFill>
            <a:srgbClr val="1A3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" y="21579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baseline training (token data)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0" y="2162556"/>
            <a:ext cx="1645920" cy="219456"/>
          </a:xfrm>
          <a:prstGeom prst="rect">
            <a:avLst/>
          </a:prstGeom>
          <a:solidFill>
            <a:srgbClr val="0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24643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deployment (EDSA)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0" y="2468880"/>
            <a:ext cx="548640" cy="219456"/>
          </a:xfrm>
          <a:prstGeom prst="rect">
            <a:avLst/>
          </a:prstGeom>
          <a:solidFill>
            <a:srgbClr val="0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" y="27706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Regularisation programme launch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40480" y="2775204"/>
            <a:ext cx="109728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30769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team training + alert workflow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89120" y="3081528"/>
            <a:ext cx="109728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" y="3383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live EIS report to ECOWAS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937760" y="3387852"/>
            <a:ext cx="548640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36896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retraining (cycle 1)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0" y="3694176"/>
            <a:ext cx="548640" cy="219456"/>
          </a:xfrm>
          <a:prstGeom prst="rect">
            <a:avLst/>
          </a:prstGeom>
          <a:solidFill>
            <a:srgbClr val="0D9E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39959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fraud detection layer live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937760" y="4000500"/>
            <a:ext cx="1097280" cy="219456"/>
          </a:xfrm>
          <a:prstGeom prst="rect">
            <a:avLst/>
          </a:prstGeom>
          <a:solidFill>
            <a:srgbClr val="D85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43022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Mid-year utility board ROI review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0" y="4306824"/>
            <a:ext cx="548640" cy="219456"/>
          </a:xfrm>
          <a:prstGeom prst="rect">
            <a:avLst/>
          </a:prstGeom>
          <a:solidFill>
            <a:srgbClr val="EF9F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608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pipeline (Ghana) initiated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132320" y="4613148"/>
            <a:ext cx="1645920" cy="219456"/>
          </a:xfrm>
          <a:prstGeom prst="rect">
            <a:avLst/>
          </a:prstGeom>
          <a:solidFill>
            <a:srgbClr val="1A3A4A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82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REGISTER &amp; MITIGATIONS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292608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05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286000" y="905256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17520" y="9052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23360" y="9052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216152"/>
            <a:ext cx="8595360" cy="493776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Enforcement gap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1335024"/>
            <a:ext cx="594360" cy="23774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33502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71800" y="13533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77640" y="127101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Enforcement MOU with Ministry embedded in every deployment. Community regularisation programme reduces confrontation risk.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1755648"/>
            <a:ext cx="8595360" cy="493776"/>
          </a:xfrm>
          <a:prstGeom prst="rect">
            <a:avLst/>
          </a:prstGeom>
          <a:solidFill>
            <a:srgbClr val="122535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8196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utility corruption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0" y="1874520"/>
            <a:ext cx="594360" cy="23774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87452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71800" y="18928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977640" y="181051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Two-tier alert access. Immutable audit log. Independent validation of recovery data by third-party auditor.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295144"/>
            <a:ext cx="8595360" cy="493776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3591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Procurement cycle delay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2414016"/>
            <a:ext cx="594360" cy="23774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241401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71800" y="243230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Commercial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77640" y="235000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DFI TA framing bypasses standard tender. Pilot structured as non-procurement technical advisory.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8595360" cy="493776"/>
          </a:xfrm>
          <a:prstGeom prst="rect">
            <a:avLst/>
          </a:prstGeom>
          <a:solidFill>
            <a:srgbClr val="122535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8986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degradation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2953512"/>
            <a:ext cx="594360" cy="23774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0" name="Text 28"/>
          <p:cNvSpPr/>
          <p:nvPr/>
        </p:nvSpPr>
        <p:spPr>
          <a:xfrm>
            <a:off x="2286000" y="295351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971800" y="29718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977640" y="288950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retraining on confirmed field outcomes. False-positive dashboard. Model accuracy KPI at board level.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374136"/>
            <a:ext cx="8595360" cy="493776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4381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Tariff below cost-recovery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0" y="3493008"/>
            <a:ext cx="594360" cy="23774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0" y="349300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971800" y="35112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Macro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977640" y="342900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framed as loss-reduction vs. billing. Political economy analysis conducted pre-deployment.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913632"/>
            <a:ext cx="8595360" cy="493776"/>
          </a:xfrm>
          <a:prstGeom prst="rect">
            <a:avLst/>
          </a:prstGeom>
          <a:solidFill>
            <a:srgbClr val="122535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utility leadership change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0" y="4032504"/>
            <a:ext cx="594360" cy="23774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0" y="403250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971800" y="40507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977640" y="396849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Contractual data portability. MOU signed at Ministry level, not just utility CEO. Parallel pipeline of backup pilot utilities.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453128"/>
            <a:ext cx="8595360" cy="493776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5171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 / Chinese competitor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0" y="4572000"/>
            <a:ext cx="594360" cy="237744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48" name="Text 46"/>
          <p:cNvSpPr/>
          <p:nvPr/>
        </p:nvSpPr>
        <p:spPr>
          <a:xfrm>
            <a:off x="2286000" y="457200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971800" y="45902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977640" y="45079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Token-stream IP + EIS integration create switching costs. Utility data assets accrue to GridIQ — not portable.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ORGANISATIONAL STRUCTURE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88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502920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RenewBiz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Commercial Lead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591056"/>
            <a:ext cx="109728" cy="10972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4996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West Africa utility relationships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109728" cy="10972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385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DFI programme pipeline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109728" cy="10972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77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Francophone market access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907792"/>
            <a:ext cx="109728" cy="109728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8163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partnership structuring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2788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914400"/>
            <a:ext cx="2788920" cy="50292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AFCEN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10128" y="12070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&amp; Policy Lead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1591056"/>
            <a:ext cx="109728" cy="109728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14996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ECOWAS Secretariat relationships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2029968"/>
            <a:ext cx="109728" cy="109728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19385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Ministry-level engagement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37560" y="2468880"/>
            <a:ext cx="109728" cy="109728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2377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EIS integration pathway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37560" y="2907792"/>
            <a:ext cx="109728" cy="109728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28163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compliance framework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914400"/>
            <a:ext cx="2788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914400"/>
            <a:ext cx="2788920" cy="50292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30" name="Text 28"/>
          <p:cNvSpPr/>
          <p:nvPr/>
        </p:nvSpPr>
        <p:spPr>
          <a:xfrm>
            <a:off x="6236208" y="950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Innovation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36208" y="12070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Lead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1591056"/>
            <a:ext cx="109728" cy="10972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14996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 + IoT platform engineering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2029968"/>
            <a:ext cx="109728" cy="10972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19385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Conlog/Hexing SDK integration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2468880"/>
            <a:ext cx="109728" cy="10972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2377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infrastructure + GIS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2907792"/>
            <a:ext cx="109728" cy="10972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28163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roadmap + QA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611880"/>
            <a:ext cx="8595360" cy="27432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63016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9F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HIRES — FUNDED FROM RAISE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950208"/>
            <a:ext cx="2788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4078224"/>
            <a:ext cx="164592" cy="164592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" y="40416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Engineering Lead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0" y="3950208"/>
            <a:ext cx="2788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10128" y="4078224"/>
            <a:ext cx="164592" cy="164592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47" name="Text 45"/>
          <p:cNvSpPr/>
          <p:nvPr/>
        </p:nvSpPr>
        <p:spPr>
          <a:xfrm>
            <a:off x="3547872" y="40416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 Data Scientist (NTL)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3950208"/>
            <a:ext cx="2788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36208" y="4078224"/>
            <a:ext cx="164592" cy="164592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50" name="Text 48"/>
          <p:cNvSpPr/>
          <p:nvPr/>
        </p:nvSpPr>
        <p:spPr>
          <a:xfrm>
            <a:off x="6473952" y="40416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Hardware Engineer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453128"/>
            <a:ext cx="2788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4048" y="4581144"/>
            <a:ext cx="164592" cy="164592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53" name="Text 51"/>
          <p:cNvSpPr/>
          <p:nvPr/>
        </p:nvSpPr>
        <p:spPr>
          <a:xfrm>
            <a:off x="621792" y="45445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GIS &amp; Geospatial Analyst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0" y="4453128"/>
            <a:ext cx="2788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10128" y="4581144"/>
            <a:ext cx="164592" cy="164592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56" name="Text 54"/>
          <p:cNvSpPr/>
          <p:nvPr/>
        </p:nvSpPr>
        <p:spPr>
          <a:xfrm>
            <a:off x="3547872" y="45445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Utility Partnerships Manager (Francophone)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26480" y="4453128"/>
            <a:ext cx="2788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36208" y="4581144"/>
            <a:ext cx="164592" cy="164592"/>
          </a:xfrm>
          <a:prstGeom prst="ellipse">
            <a:avLst/>
          </a:prstGeom>
          <a:solidFill>
            <a:srgbClr val="0D9E75"/>
          </a:solidFill>
          <a:ln/>
        </p:spPr>
      </p:sp>
      <p:sp>
        <p:nvSpPr>
          <p:cNvPr id="59" name="Text 57"/>
          <p:cNvSpPr/>
          <p:nvPr/>
        </p:nvSpPr>
        <p:spPr>
          <a:xfrm>
            <a:off x="6473952" y="45445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DFI Grants &amp; Reporting Specialist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 — $1.5M SEED RAISE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4389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987552"/>
            <a:ext cx="3840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0" y="987552"/>
            <a:ext cx="54864" cy="566928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7" name="Text 4"/>
          <p:cNvSpPr/>
          <p:nvPr/>
        </p:nvSpPr>
        <p:spPr>
          <a:xfrm>
            <a:off x="5148072" y="10241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87568" y="1033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$420K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10241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Hardware +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48072" y="1325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sensors × 2 pilots, gateways, installation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029200" y="1645920"/>
            <a:ext cx="3840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1645920"/>
            <a:ext cx="54864" cy="566928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13" name="Text 10"/>
          <p:cNvSpPr/>
          <p:nvPr/>
        </p:nvSpPr>
        <p:spPr>
          <a:xfrm>
            <a:off x="5148072" y="168249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87568" y="1691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$360K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0" y="16824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Engineering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148072" y="19842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12-month build + QA, cloud infra, CI/CD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029200" y="2304288"/>
            <a:ext cx="3840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0" y="2304288"/>
            <a:ext cx="54864" cy="56692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9" name="Text 16"/>
          <p:cNvSpPr/>
          <p:nvPr/>
        </p:nvSpPr>
        <p:spPr>
          <a:xfrm>
            <a:off x="5148072" y="23408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687568" y="23500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$270K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0" y="23408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 Development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48072" y="26426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Token-stream NTL + predictive maintenance models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029200" y="2962656"/>
            <a:ext cx="3840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029200" y="2962656"/>
            <a:ext cx="54864" cy="56692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5" name="Text 22"/>
          <p:cNvSpPr/>
          <p:nvPr/>
        </p:nvSpPr>
        <p:spPr>
          <a:xfrm>
            <a:off x="5148072" y="2999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16%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687568" y="30083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$240K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58000" y="29992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+ Field Staff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148072" y="330098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liaisons, field team, local partnerships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029200" y="3621024"/>
            <a:ext cx="3840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029200" y="3621024"/>
            <a:ext cx="54864" cy="566928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1" name="Text 28"/>
          <p:cNvSpPr/>
          <p:nvPr/>
        </p:nvSpPr>
        <p:spPr>
          <a:xfrm>
            <a:off x="5148072" y="36576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687568" y="36667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$120K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858000" y="36576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+ Legal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148072" y="39593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Enforcement MOUs, data agreements, IP registration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029200" y="4279392"/>
            <a:ext cx="3840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029200" y="4279392"/>
            <a:ext cx="54864" cy="56692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4"/>
          <p:cNvSpPr/>
          <p:nvPr/>
        </p:nvSpPr>
        <p:spPr>
          <a:xfrm>
            <a:off x="5148072" y="431596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6%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687568" y="43251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$90K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858000" y="43159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Capital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148072" y="4617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18-month runway contingency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E7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9144000" cy="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3776"/>
            <a:ext cx="9144000" cy="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335024"/>
            <a:ext cx="9144000" cy="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1755648"/>
            <a:ext cx="9144000" cy="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2176272"/>
            <a:ext cx="9144000" cy="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2596896"/>
            <a:ext cx="9144000" cy="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858768"/>
            <a:ext cx="9144000" cy="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279392"/>
            <a:ext cx="9144000" cy="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700016"/>
            <a:ext cx="9144000" cy="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9888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48256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06624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64992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0096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98464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56832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73568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31936" y="0"/>
            <a:ext cx="0" cy="5143500"/>
          </a:xfrm>
          <a:prstGeom prst="line">
            <a:avLst/>
          </a:prstGeom>
          <a:noFill/>
          <a:ln w="5080">
            <a:solidFill>
              <a:srgbClr val="1A3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revenue is already being generated.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57200" y="14813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GridIQ makes it collectable.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2286000" y="2148840"/>
            <a:ext cx="4572000" cy="0"/>
          </a:xfrm>
          <a:prstGeom prst="line">
            <a:avLst/>
          </a:prstGeom>
          <a:noFill/>
          <a:ln w="19050">
            <a:solidFill>
              <a:srgbClr val="0D9E7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280" y="2331720"/>
            <a:ext cx="2194560" cy="1188720"/>
          </a:xfrm>
          <a:prstGeom prst="rect">
            <a:avLst/>
          </a:prstGeom>
          <a:solidFill>
            <a:srgbClr val="1A3A4A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23957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$1.5M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1097280" y="28712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Raise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97280" y="31272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Convertible note or equity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0" y="2331720"/>
            <a:ext cx="2194560" cy="1188720"/>
          </a:xfrm>
          <a:prstGeom prst="rect">
            <a:avLst/>
          </a:prstGeom>
          <a:solidFill>
            <a:srgbClr val="1A3A4A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23957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mo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3657600" y="28712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Break-even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0" y="31272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base-case assumptions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17920" y="2331720"/>
            <a:ext cx="2194560" cy="1188720"/>
          </a:xfrm>
          <a:prstGeom prst="rect">
            <a:avLst/>
          </a:prstGeom>
          <a:solidFill>
            <a:srgbClr val="1A3A4A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3957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Utils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6217920" y="28712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3 Target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17920" y="312724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$2.35M revenue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RenewBiz  ·  AFCEN  ·  Smart Innovation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 Africa's grid loss crisis is the region's largest untapped revenue recovery opportunity.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3344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— FOR AUTHORISED RECIPIENTS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GridIQ West Africa — Investor Pitch</dc:title>
  <dc:subject>PptxGenJS Presentation</dc:subject>
  <dc:creator>RenewBiz · AFCEN · Smart Innovation</dc:creator>
  <cp:lastModifiedBy>RenewBiz · AFCEN · Smart Innovation</cp:lastModifiedBy>
  <cp:revision>1</cp:revision>
  <dcterms:created xsi:type="dcterms:W3CDTF">2026-05-30T23:59:13Z</dcterms:created>
  <dcterms:modified xsi:type="dcterms:W3CDTF">2026-05-30T23:59:13Z</dcterms:modified>
</cp:coreProperties>
</file>